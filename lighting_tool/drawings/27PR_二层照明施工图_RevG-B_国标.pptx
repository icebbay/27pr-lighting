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84" r:id="rId17"/>
    <p:sldId id="285" r:id="rId18"/>
    <p:sldId id="286" r:id="rId19"/>
    <p:sldId id="287" r:id="rId20"/>
    <p:sldId id="288" r:id="rId21"/>
    <p:sldId id="28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ED4"/>
    <a:srgbClr val="469990"/>
    <a:srgbClr val="E6194B"/>
    <a:srgbClr val="AAFFC3"/>
    <a:srgbClr val="BFEF45"/>
    <a:srgbClr val="F032E6"/>
    <a:srgbClr val="4363D8"/>
    <a:srgbClr val="808000"/>
    <a:srgbClr val="800000"/>
    <a:srgbClr val="FFF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>
        <p:scale>
          <a:sx n="125" d="100"/>
          <a:sy n="125" d="100"/>
        </p:scale>
        <p:origin x="-1152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 设计说明 · 图例 · 灯具表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50000" y="620000"/>
            <a:ext cx="8100000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设计说明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依据：GB 50034-2013《建筑照明设计标准》、GB/T 50786-2012《建筑电气制图标准》、09DX001《建筑电气工程设计常用图形和文字符号》。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   本工程位于英国，实际施工、器材与验收以 BS 7671 及 Part P 为准；本套图为国标表达方式，供沟通与核对。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二层照明由照明配电箱 AL1沿楼梯井引上引出 1 个回路：WL4 二层照明（B6），均为 30 mA RCBO。本图为方案 B · 精简 17 路；楼梯壁灯在一层、楼梯吊灯在二层，任一路跳闸楼梯仍有照明。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导线 BV-3×2.5（L、N、PE），穿 PC20 管沿墙 / 顶板暗敷（WC/CC）。线上短斜线为导线根数，未标注者为 3 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开关：古铜色 86 型（NAB 系列）暗装，中心距地 1.2 m（国内常用 1.3 m，本工程按英国 1.2 m），距门框 0.15–0.20 m，设在门开启（锁）侧，开门即可开灯。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双控 / 三控：同一字母的灯可在多处开关控制；两处为单极双控开关，三处时中间一处为中途开关（三控），开关间敷设联络线（长虚线）。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楼梯吊灯 F06 三控：一层 S6（楼梯底）、二层 S12（楼梯顶）为两路开关，二层 S11 第 2 键为中途开关。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7. 卫生间灯具防护等级 ≥ IP44，户外灯具 ≥ IP65。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8. 卫生间排气扇不设单独隔离开关，接所在卫生间灯回路（随灯开、带延时关）。Rev C 起开关编号重排。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9. 按常理补全（Rev B）：原图“6+”作为西卫筒灯独立单联开关 S2；主卧主灯位 b 预留（产品待选）。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10. Rev F：二层照明曾按区域分 3 路；Rev G 起按全屋 18 路方案合为 1 路 WL4（约 320 W）。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11. 本套图：方案 B · 精简 17 路，全屋照明 3 路（WL1 一层照明 / WL3 户外照明 / WL4 二层照明）。两个方案的灯、开关和联动完全相同，只是照明回路分组不同；插座与专线见网页「配电箱」页。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0000" y="3250000"/>
            <a:ext cx="3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图例</a:t>
            </a:r>
          </a:p>
        </p:txBody>
      </p:sp>
      <p:sp>
        <p:nvSpPr>
          <p:cNvPr id="25" name="Oval 24"/>
          <p:cNvSpPr/>
          <p:nvPr/>
        </p:nvSpPr>
        <p:spPr>
          <a:xfrm>
            <a:off x="3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吊灯 / 吸顶灯　｜ 按产品　｜ 吊装 / 吸顶</a:t>
            </a:r>
          </a:p>
        </p:txBody>
      </p:sp>
      <p:sp>
        <p:nvSpPr>
          <p:cNvPr id="29" name="Oval 28"/>
          <p:cNvSpPr/>
          <p:nvPr/>
        </p:nvSpPr>
        <p:spPr>
          <a:xfrm>
            <a:off x="4434000" y="3434000"/>
            <a:ext cx="132000" cy="13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53338" y="3453338"/>
            <a:ext cx="93324" cy="933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000" y="34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主灯位（产品待选）　｜ 待选　｜ 吊装</a:t>
            </a:r>
          </a:p>
        </p:txBody>
      </p:sp>
      <p:sp>
        <p:nvSpPr>
          <p:cNvPr id="33" name="Oval 32"/>
          <p:cNvSpPr/>
          <p:nvPr/>
        </p:nvSpPr>
        <p:spPr>
          <a:xfrm>
            <a:off x="356000" y="3756000"/>
            <a:ext cx="88000" cy="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6250" y="3786250"/>
            <a:ext cx="27500" cy="27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筒灯 GU10　｜ LED 5W 3000K　｜ 嵌入式</a:t>
            </a:r>
          </a:p>
        </p:txBody>
      </p:sp>
      <p:sp>
        <p:nvSpPr>
          <p:cNvPr id="36" name="Oval 35"/>
          <p:cNvSpPr/>
          <p:nvPr/>
        </p:nvSpPr>
        <p:spPr>
          <a:xfrm>
            <a:off x="4435250" y="381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460000" y="374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553338" y="374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4536537" y="3763462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50000" y="37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单极开关（短线数 = 联数）　｜ 86 型 10A　｜ 暗装 1.2 m</a:t>
            </a:r>
          </a:p>
        </p:txBody>
      </p:sp>
      <p:sp>
        <p:nvSpPr>
          <p:cNvPr id="41" name="Oval 40"/>
          <p:cNvSpPr/>
          <p:nvPr/>
        </p:nvSpPr>
        <p:spPr>
          <a:xfrm>
            <a:off x="375250" y="4095250"/>
            <a:ext cx="49500" cy="495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400000" y="4026661"/>
            <a:ext cx="93338" cy="9333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93338" y="4026661"/>
            <a:ext cx="23334" cy="233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329996" y="4120000"/>
            <a:ext cx="70004" cy="70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306661" y="4166669"/>
            <a:ext cx="23335" cy="233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单极双控开关　｜ 86 型 10A　｜ 暗装 1.2 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1000" y="4051600"/>
            <a:ext cx="198000" cy="96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401000" y="4051600"/>
            <a:ext cx="198000" cy="96800"/>
          </a:xfrm>
          <a:custGeom>
            <a:avLst/>
            <a:gdLst/>
            <a:ahLst/>
            <a:cxnLst/>
            <a:rect l="l" t="t" r="r" b="b"/>
            <a:pathLst>
              <a:path w="198000" h="96800">
                <a:moveTo>
                  <a:pt x="0" y="96800"/>
                </a:moveTo>
                <a:lnTo>
                  <a:pt x="198000" y="0"/>
                </a:lnTo>
                <a:lnTo>
                  <a:pt x="198000" y="96800"/>
                </a:lnTo>
                <a:close/>
              </a:path>
            </a:pathLst>
          </a:custGeom>
          <a:solidFill>
            <a:srgbClr val="1A1A1A"/>
          </a:solidFill>
          <a:ln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68000" y="4157200"/>
            <a:ext cx="264000" cy="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A1A"/>
                </a:solidFill>
                <a:latin typeface="Microsoft YaHei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0000" y="4020000"/>
            <a:ext cx="3700000" cy="17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照明配电箱 AL1　｜ 见系统图　｜ 暗装 1.5 m（底边）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0000" y="300000"/>
            <a:ext cx="33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1A1A"/>
                </a:solidFill>
                <a:latin typeface="Microsoft YaHei"/>
              </a:rPr>
              <a:t>灯具表</a:t>
            </a:r>
          </a:p>
        </p:txBody>
      </p:sp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8710000" y="560000"/>
          <a:ext cx="3480000" cy="300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300000"/>
                <a:gridCol w="850000"/>
                <a:gridCol w="650000"/>
                <a:gridCol w="300000"/>
              </a:tblGrid>
              <a:tr h="300000"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名称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光源 / 功率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防护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1">
                          <a:solidFill>
                            <a:srgbClr val="1A1A1A"/>
                          </a:solidFill>
                          <a:latin typeface="Microsoft YaHei"/>
                        </a:rPr>
                        <a:t>数量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F06 贝壳吊灯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 玄关吸顶灯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F11#2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F19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F20 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F22 云朵吸顶灯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F23 海派吸顶灯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GU10 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LED 5W 3000K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IP44（卫生间）/IP20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D9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主灯（待选）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按产品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IP20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2343008" y="1211026"/>
            <a:ext cx="3938598" cy="5196365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700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7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7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sp>
        <p:nvSpPr>
          <p:cNvPr id="413" name="Rectangle 412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TextBox 413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16" name="Connector 415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7" name="TextBox 416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二层照明平面图</a:t>
            </a:r>
          </a:p>
        </p:txBody>
      </p:sp>
      <p:cxnSp>
        <p:nvCxnSpPr>
          <p:cNvPr id="419" name="Connector 418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0" name="TextBox 419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电施-12</a:t>
            </a:r>
          </a:p>
        </p:txBody>
      </p:sp>
      <p:cxnSp>
        <p:nvCxnSpPr>
          <p:cNvPr id="422" name="Connector 421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3" name="TextBox 422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1:100（A3）</a:t>
            </a:r>
          </a:p>
        </p:txBody>
      </p:sp>
      <p:cxnSp>
        <p:nvCxnSpPr>
          <p:cNvPr id="425" name="Connector 424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9" name="TextBox 428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1" name="Connector 430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 flipV="1">
            <a:off x="3897302" y="3462513"/>
            <a:ext cx="0" cy="102633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H="1">
            <a:off x="3884155" y="3462513"/>
            <a:ext cx="1314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3250174" y="3696131"/>
            <a:ext cx="0" cy="3166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3250174" y="4012738"/>
            <a:ext cx="1392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3354134" y="4582164"/>
            <a:ext cx="0" cy="68992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3354134" y="5272091"/>
            <a:ext cx="22527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 flipV="1">
            <a:off x="1950897" y="3896282"/>
            <a:ext cx="0" cy="45974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950897" y="3896282"/>
            <a:ext cx="30092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251820" y="3896282"/>
            <a:ext cx="58094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 flipV="1">
            <a:off x="2832769" y="3428179"/>
            <a:ext cx="0" cy="468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832769" y="3428179"/>
            <a:ext cx="764846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597615" y="3123076"/>
            <a:ext cx="0" cy="3051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597615" y="3123076"/>
            <a:ext cx="0" cy="47646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>
            <a:off x="3597615" y="3599538"/>
            <a:ext cx="45556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053179" y="3599538"/>
            <a:ext cx="0" cy="32182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053179" y="3921358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H="1">
            <a:off x="3442974" y="3921358"/>
            <a:ext cx="756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3442974" y="3921358"/>
            <a:ext cx="0" cy="48064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3442974" y="4402000"/>
            <a:ext cx="0" cy="54751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3442974" y="4949512"/>
            <a:ext cx="14628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>
            <a:off x="3589256" y="4949512"/>
            <a:ext cx="72305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>
            <a:off x="4312307" y="4949512"/>
            <a:ext cx="0" cy="417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>
            <a:off x="4312307" y="4991307"/>
            <a:ext cx="58512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4897435" y="4966230"/>
            <a:ext cx="0" cy="2507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4897435" y="4966230"/>
            <a:ext cx="42630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323743" y="4870102"/>
            <a:ext cx="0" cy="9612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5323743" y="4870102"/>
            <a:ext cx="852615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6176358" y="4473051"/>
            <a:ext cx="0" cy="3970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3597615" y="3123076"/>
            <a:ext cx="94874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4546358" y="2496153"/>
            <a:ext cx="0" cy="62692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1950897" y="4356025"/>
            <a:ext cx="0" cy="127474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1950897" y="5630769"/>
            <a:ext cx="10448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5145358" y="4966230"/>
            <a:ext cx="0" cy="65200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H="1">
            <a:off x="4897435" y="4966230"/>
            <a:ext cx="247923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V="1">
            <a:off x="1950897" y="3916838"/>
            <a:ext cx="0" cy="43918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1950897" y="3916838"/>
            <a:ext cx="105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2251820" y="3896282"/>
            <a:ext cx="35738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609202" y="3896282"/>
            <a:ext cx="0" cy="2129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2832769" y="2807454"/>
            <a:ext cx="0" cy="620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2832769" y="2807454"/>
            <a:ext cx="18593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 flipH="1">
            <a:off x="3018708" y="3123076"/>
            <a:ext cx="57890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 flipV="1">
            <a:off x="3018708" y="2807454"/>
            <a:ext cx="0" cy="31562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3597615" y="2290825"/>
            <a:ext cx="0" cy="8322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>
            <a:off x="3597615" y="2290825"/>
            <a:ext cx="57593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442974" y="4012738"/>
            <a:ext cx="0" cy="38926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H="1">
            <a:off x="3251566" y="4012738"/>
            <a:ext cx="19140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2055384" y="4952014"/>
            <a:ext cx="0" cy="6787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>
            <a:off x="2055384" y="4952014"/>
            <a:ext cx="4878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>
            <a:off x="2055384" y="5630769"/>
            <a:ext cx="1321277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3376661" y="5272091"/>
            <a:ext cx="0" cy="3586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H="1">
            <a:off x="2543258" y="4949512"/>
            <a:ext cx="104599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2543258" y="4949512"/>
            <a:ext cx="0" cy="250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>
            <a:off x="3589256" y="4949512"/>
            <a:ext cx="0" cy="322579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5" name="Connector 484"/>
          <p:cNvCxnSpPr/>
          <p:nvPr/>
        </p:nvCxnSpPr>
        <p:spPr>
          <a:xfrm flipH="1">
            <a:off x="3376661" y="5272091"/>
            <a:ext cx="21259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4053179" y="3462513"/>
            <a:ext cx="0" cy="1370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H="1">
            <a:off x="3884155" y="3462513"/>
            <a:ext cx="16902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4546358" y="2496153"/>
            <a:ext cx="27943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>
            <a:off x="4825789" y="2496153"/>
            <a:ext cx="0" cy="48106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0" name="Connector 489"/>
          <p:cNvCxnSpPr/>
          <p:nvPr/>
        </p:nvCxnSpPr>
        <p:spPr>
          <a:xfrm>
            <a:off x="4199461" y="3921358"/>
            <a:ext cx="49136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>
            <a:off x="4690825" y="3921358"/>
            <a:ext cx="0" cy="27670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2" name="Connector 491"/>
          <p:cNvCxnSpPr/>
          <p:nvPr/>
        </p:nvCxnSpPr>
        <p:spPr>
          <a:xfrm flipH="1">
            <a:off x="3897302" y="4991307"/>
            <a:ext cx="4150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3" name="Connector 492"/>
          <p:cNvCxnSpPr/>
          <p:nvPr/>
        </p:nvCxnSpPr>
        <p:spPr>
          <a:xfrm flipV="1">
            <a:off x="3897302" y="4488847"/>
            <a:ext cx="0" cy="50246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4" name="Connector 493"/>
          <p:cNvCxnSpPr/>
          <p:nvPr/>
        </p:nvCxnSpPr>
        <p:spPr>
          <a:xfrm>
            <a:off x="4312307" y="4991307"/>
            <a:ext cx="3125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5" name="Connector 494"/>
          <p:cNvCxnSpPr/>
          <p:nvPr/>
        </p:nvCxnSpPr>
        <p:spPr>
          <a:xfrm>
            <a:off x="4624881" y="4991307"/>
            <a:ext cx="0" cy="44869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>
            <a:off x="4897435" y="4966230"/>
            <a:ext cx="0" cy="47376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H="1">
            <a:off x="4624881" y="5439997"/>
            <a:ext cx="27255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>
            <a:off x="5323743" y="4870102"/>
            <a:ext cx="57537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>
            <a:off x="5899117" y="4870102"/>
            <a:ext cx="0" cy="52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0" name="Connector 499"/>
          <p:cNvCxnSpPr/>
          <p:nvPr/>
        </p:nvCxnSpPr>
        <p:spPr>
          <a:xfrm>
            <a:off x="6176358" y="4473051"/>
            <a:ext cx="40317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1" name="Connector 500"/>
          <p:cNvCxnSpPr/>
          <p:nvPr/>
        </p:nvCxnSpPr>
        <p:spPr>
          <a:xfrm>
            <a:off x="6579533" y="4473051"/>
            <a:ext cx="0" cy="51685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 flipV="1">
            <a:off x="2832769" y="3123076"/>
            <a:ext cx="764846" cy="30510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>
            <a:off x="4053179" y="3599538"/>
            <a:ext cx="259128" cy="1391769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2055384" y="4949512"/>
            <a:ext cx="1533872" cy="68125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2787957" y="5277881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2800615" y="5272259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2813274" y="5266637"/>
            <a:ext cx="18092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 flipV="1">
            <a:off x="2825932" y="5261015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2838590" y="5255393"/>
            <a:ext cx="18093" cy="4700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H="1">
            <a:off x="4312307" y="4966230"/>
            <a:ext cx="585128" cy="25077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1" name="Oval 510"/>
          <p:cNvSpPr/>
          <p:nvPr/>
        </p:nvSpPr>
        <p:spPr>
          <a:xfrm>
            <a:off x="5137444" y="5586572"/>
            <a:ext cx="63316" cy="633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2" name="Connector 511"/>
          <p:cNvCxnSpPr/>
          <p:nvPr/>
        </p:nvCxnSpPr>
        <p:spPr>
          <a:xfrm flipV="1">
            <a:off x="5147337" y="5596465"/>
            <a:ext cx="43530" cy="4353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729529" y="5657803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514" name="Oval 513"/>
          <p:cNvSpPr/>
          <p:nvPr/>
        </p:nvSpPr>
        <p:spPr>
          <a:xfrm>
            <a:off x="4577394" y="539251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4591308" y="540642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7" name="TextBox 516"/>
          <p:cNvSpPr txBox="1"/>
          <p:nvPr/>
        </p:nvSpPr>
        <p:spPr>
          <a:xfrm>
            <a:off x="4668411" y="534898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18" name="Oval 517"/>
          <p:cNvSpPr/>
          <p:nvPr/>
        </p:nvSpPr>
        <p:spPr>
          <a:xfrm>
            <a:off x="3849815" y="444136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9" name="Connector 518"/>
          <p:cNvCxnSpPr/>
          <p:nvPr/>
        </p:nvCxnSpPr>
        <p:spPr>
          <a:xfrm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Connector 519"/>
          <p:cNvCxnSpPr/>
          <p:nvPr/>
        </p:nvCxnSpPr>
        <p:spPr>
          <a:xfrm flipV="1">
            <a:off x="3863729" y="445527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1" name="TextBox 520"/>
          <p:cNvSpPr txBox="1"/>
          <p:nvPr/>
        </p:nvSpPr>
        <p:spPr>
          <a:xfrm>
            <a:off x="3940832" y="439783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22" name="Oval 521"/>
          <p:cNvSpPr/>
          <p:nvPr/>
        </p:nvSpPr>
        <p:spPr>
          <a:xfrm>
            <a:off x="2971220" y="275996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Connector 522"/>
          <p:cNvCxnSpPr/>
          <p:nvPr/>
        </p:nvCxnSpPr>
        <p:spPr>
          <a:xfrm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V="1">
            <a:off x="2985134" y="277388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5" name="TextBox 524"/>
          <p:cNvSpPr txBox="1"/>
          <p:nvPr/>
        </p:nvSpPr>
        <p:spPr>
          <a:xfrm>
            <a:off x="3062238" y="271643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526" name="Oval 525"/>
          <p:cNvSpPr/>
          <p:nvPr/>
        </p:nvSpPr>
        <p:spPr>
          <a:xfrm>
            <a:off x="2495770" y="490452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7" name="Connector 526"/>
          <p:cNvCxnSpPr/>
          <p:nvPr/>
        </p:nvCxnSpPr>
        <p:spPr>
          <a:xfrm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" name="Connector 527"/>
          <p:cNvCxnSpPr/>
          <p:nvPr/>
        </p:nvCxnSpPr>
        <p:spPr>
          <a:xfrm flipV="1">
            <a:off x="2509684" y="4918440"/>
            <a:ext cx="67147" cy="6714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TextBox 528"/>
          <p:cNvSpPr txBox="1"/>
          <p:nvPr/>
        </p:nvSpPr>
        <p:spPr>
          <a:xfrm>
            <a:off x="2586788" y="486099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530" name="Oval 529"/>
          <p:cNvSpPr/>
          <p:nvPr/>
        </p:nvSpPr>
        <p:spPr>
          <a:xfrm>
            <a:off x="4643338" y="4150570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1" name="Connector 530"/>
          <p:cNvCxnSpPr/>
          <p:nvPr/>
        </p:nvCxnSpPr>
        <p:spPr>
          <a:xfrm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 flipV="1">
            <a:off x="4657252" y="4164484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TextBox 532"/>
          <p:cNvSpPr txBox="1"/>
          <p:nvPr/>
        </p:nvSpPr>
        <p:spPr>
          <a:xfrm>
            <a:off x="4734355" y="410704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34" name="Oval 533"/>
          <p:cNvSpPr/>
          <p:nvPr/>
        </p:nvSpPr>
        <p:spPr>
          <a:xfrm>
            <a:off x="5851630" y="4874701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5" name="Connector 534"/>
          <p:cNvCxnSpPr/>
          <p:nvPr/>
        </p:nvCxnSpPr>
        <p:spPr>
          <a:xfrm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6" name="Connector 535"/>
          <p:cNvCxnSpPr/>
          <p:nvPr/>
        </p:nvCxnSpPr>
        <p:spPr>
          <a:xfrm flipV="1">
            <a:off x="5865544" y="4888615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7" name="TextBox 536"/>
          <p:cNvSpPr txBox="1"/>
          <p:nvPr/>
        </p:nvSpPr>
        <p:spPr>
          <a:xfrm>
            <a:off x="5942647" y="483117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38" name="Oval 537"/>
          <p:cNvSpPr/>
          <p:nvPr/>
        </p:nvSpPr>
        <p:spPr>
          <a:xfrm>
            <a:off x="4794131" y="2945561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4815896" y="2967326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TextBox 539"/>
          <p:cNvSpPr txBox="1"/>
          <p:nvPr/>
        </p:nvSpPr>
        <p:spPr>
          <a:xfrm>
            <a:off x="4869319" y="288620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41" name="Oval 540"/>
          <p:cNvSpPr/>
          <p:nvPr/>
        </p:nvSpPr>
        <p:spPr>
          <a:xfrm>
            <a:off x="6547875" y="495824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Oval 541"/>
          <p:cNvSpPr/>
          <p:nvPr/>
        </p:nvSpPr>
        <p:spPr>
          <a:xfrm>
            <a:off x="6569640" y="498001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6623063" y="489888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44" name="Oval 543"/>
          <p:cNvSpPr/>
          <p:nvPr/>
        </p:nvSpPr>
        <p:spPr>
          <a:xfrm>
            <a:off x="2024620" y="38851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2046386" y="39069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2099809" y="3825821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47" name="Oval 546"/>
          <p:cNvSpPr/>
          <p:nvPr/>
        </p:nvSpPr>
        <p:spPr>
          <a:xfrm>
            <a:off x="3218516" y="3664472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3240281" y="3686237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3293704" y="360511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50" name="Oval 549"/>
          <p:cNvSpPr/>
          <p:nvPr/>
        </p:nvSpPr>
        <p:spPr>
          <a:xfrm>
            <a:off x="3322476" y="4550506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3344241" y="4572271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3397664" y="449114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3" name="Oval 552"/>
          <p:cNvSpPr/>
          <p:nvPr/>
        </p:nvSpPr>
        <p:spPr>
          <a:xfrm>
            <a:off x="3345003" y="5240433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Oval 553"/>
          <p:cNvSpPr/>
          <p:nvPr/>
        </p:nvSpPr>
        <p:spPr>
          <a:xfrm>
            <a:off x="3366768" y="5262198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TextBox 554"/>
          <p:cNvSpPr txBox="1"/>
          <p:nvPr/>
        </p:nvSpPr>
        <p:spPr>
          <a:xfrm>
            <a:off x="3420191" y="5181073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56" name="Oval 555"/>
          <p:cNvSpPr/>
          <p:nvPr/>
        </p:nvSpPr>
        <p:spPr>
          <a:xfrm>
            <a:off x="4126058" y="2243337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7" name="Connector 556"/>
          <p:cNvCxnSpPr/>
          <p:nvPr/>
        </p:nvCxnSpPr>
        <p:spPr>
          <a:xfrm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4139971" y="2257251"/>
            <a:ext cx="67148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TextBox 558"/>
          <p:cNvSpPr txBox="1"/>
          <p:nvPr/>
        </p:nvSpPr>
        <p:spPr>
          <a:xfrm>
            <a:off x="4217075" y="2199807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60" name="Oval 559"/>
          <p:cNvSpPr/>
          <p:nvPr/>
        </p:nvSpPr>
        <p:spPr>
          <a:xfrm>
            <a:off x="2577543" y="3885918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2599308" y="3907683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2652732" y="3826559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63" name="Oval 562"/>
          <p:cNvSpPr/>
          <p:nvPr/>
        </p:nvSpPr>
        <p:spPr>
          <a:xfrm>
            <a:off x="3219908" y="3981080"/>
            <a:ext cx="63316" cy="6331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3241673" y="4002845"/>
            <a:ext cx="19786" cy="197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3295096" y="3921720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66" name="Oval 565"/>
          <p:cNvSpPr/>
          <p:nvPr/>
        </p:nvSpPr>
        <p:spPr>
          <a:xfrm>
            <a:off x="3836667" y="3415026"/>
            <a:ext cx="94974" cy="9497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7" name="Connector 566"/>
          <p:cNvCxnSpPr/>
          <p:nvPr/>
        </p:nvCxnSpPr>
        <p:spPr>
          <a:xfrm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8" name="Connector 567"/>
          <p:cNvCxnSpPr/>
          <p:nvPr/>
        </p:nvCxnSpPr>
        <p:spPr>
          <a:xfrm flipV="1">
            <a:off x="3850581" y="3428940"/>
            <a:ext cx="67147" cy="67147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3927685" y="3371496"/>
            <a:ext cx="79145" cy="59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70" name="Oval 569"/>
          <p:cNvSpPr/>
          <p:nvPr/>
        </p:nvSpPr>
        <p:spPr>
          <a:xfrm>
            <a:off x="1936651" y="4341779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 flipV="1">
            <a:off x="1950897" y="4302299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>
            <a:off x="2004623" y="4302299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2012537" y="423898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74" name="Oval 573"/>
          <p:cNvSpPr/>
          <p:nvPr/>
        </p:nvSpPr>
        <p:spPr>
          <a:xfrm>
            <a:off x="2237574" y="388203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 flipV="1">
            <a:off x="2251820" y="384255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>
            <a:off x="2305546" y="3842556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2313460" y="377923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78" name="Oval 577"/>
          <p:cNvSpPr/>
          <p:nvPr/>
        </p:nvSpPr>
        <p:spPr>
          <a:xfrm>
            <a:off x="2818523" y="341393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 flipV="1">
            <a:off x="2832769" y="337445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0" name="Connector 579"/>
          <p:cNvCxnSpPr/>
          <p:nvPr/>
        </p:nvCxnSpPr>
        <p:spPr>
          <a:xfrm>
            <a:off x="2886495" y="337445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1" name="Connector 580"/>
          <p:cNvCxnSpPr/>
          <p:nvPr/>
        </p:nvCxnSpPr>
        <p:spPr>
          <a:xfrm flipH="1">
            <a:off x="2792474" y="3428179"/>
            <a:ext cx="40295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H="1" flipV="1">
            <a:off x="2779043" y="3455042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2894409" y="331113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84" name="Oval 583"/>
          <p:cNvSpPr/>
          <p:nvPr/>
        </p:nvSpPr>
        <p:spPr>
          <a:xfrm>
            <a:off x="3583369" y="3108830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5" name="Connector 584"/>
          <p:cNvCxnSpPr/>
          <p:nvPr/>
        </p:nvCxnSpPr>
        <p:spPr>
          <a:xfrm flipV="1">
            <a:off x="3597615" y="3069351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6" name="Connector 585"/>
          <p:cNvCxnSpPr/>
          <p:nvPr/>
        </p:nvCxnSpPr>
        <p:spPr>
          <a:xfrm>
            <a:off x="3651341" y="3069351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7" name="Connector 586"/>
          <p:cNvCxnSpPr/>
          <p:nvPr/>
        </p:nvCxnSpPr>
        <p:spPr>
          <a:xfrm>
            <a:off x="3641670" y="307902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8" name="Connector 587"/>
          <p:cNvCxnSpPr/>
          <p:nvPr/>
        </p:nvCxnSpPr>
        <p:spPr>
          <a:xfrm flipH="1">
            <a:off x="3557321" y="3123076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9" name="Connector 588"/>
          <p:cNvCxnSpPr/>
          <p:nvPr/>
        </p:nvCxnSpPr>
        <p:spPr>
          <a:xfrm flipH="1" flipV="1">
            <a:off x="3543889" y="3149939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3659255" y="3006034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91" name="Oval 590"/>
          <p:cNvSpPr/>
          <p:nvPr/>
        </p:nvSpPr>
        <p:spPr>
          <a:xfrm>
            <a:off x="3428728" y="438775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3442974" y="434827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3496700" y="4348274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4" name="TextBox 593"/>
          <p:cNvSpPr txBox="1"/>
          <p:nvPr/>
        </p:nvSpPr>
        <p:spPr>
          <a:xfrm>
            <a:off x="3504614" y="428495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95" name="Oval 594"/>
          <p:cNvSpPr/>
          <p:nvPr/>
        </p:nvSpPr>
        <p:spPr>
          <a:xfrm>
            <a:off x="2041138" y="5616523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6" name="Connector 595"/>
          <p:cNvCxnSpPr/>
          <p:nvPr/>
        </p:nvCxnSpPr>
        <p:spPr>
          <a:xfrm flipV="1">
            <a:off x="2055384" y="5577043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7" name="Connector 596"/>
          <p:cNvCxnSpPr/>
          <p:nvPr/>
        </p:nvCxnSpPr>
        <p:spPr>
          <a:xfrm>
            <a:off x="2109110" y="557704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8" name="Connector 597"/>
          <p:cNvCxnSpPr/>
          <p:nvPr/>
        </p:nvCxnSpPr>
        <p:spPr>
          <a:xfrm>
            <a:off x="2099439" y="5586714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9" name="Connector 598"/>
          <p:cNvCxnSpPr/>
          <p:nvPr/>
        </p:nvCxnSpPr>
        <p:spPr>
          <a:xfrm flipH="1">
            <a:off x="2015090" y="5630769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 flipH="1" flipV="1">
            <a:off x="2001658" y="565763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/>
          <p:cNvSpPr txBox="1"/>
          <p:nvPr/>
        </p:nvSpPr>
        <p:spPr>
          <a:xfrm>
            <a:off x="2117024" y="551372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02" name="Oval 601"/>
          <p:cNvSpPr/>
          <p:nvPr/>
        </p:nvSpPr>
        <p:spPr>
          <a:xfrm>
            <a:off x="3575010" y="493526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Connector 602"/>
          <p:cNvCxnSpPr/>
          <p:nvPr/>
        </p:nvCxnSpPr>
        <p:spPr>
          <a:xfrm flipV="1">
            <a:off x="3589256" y="4895787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3642982" y="4895787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5" name="Connector 604"/>
          <p:cNvCxnSpPr/>
          <p:nvPr/>
        </p:nvCxnSpPr>
        <p:spPr>
          <a:xfrm>
            <a:off x="3633311" y="4905457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6" name="Connector 605"/>
          <p:cNvCxnSpPr/>
          <p:nvPr/>
        </p:nvCxnSpPr>
        <p:spPr>
          <a:xfrm flipH="1">
            <a:off x="3548962" y="4949512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 flipH="1" flipV="1">
            <a:off x="3535530" y="4976375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8" name="TextBox 607"/>
          <p:cNvSpPr txBox="1"/>
          <p:nvPr/>
        </p:nvSpPr>
        <p:spPr>
          <a:xfrm>
            <a:off x="3650896" y="483247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09" name="Oval 608"/>
          <p:cNvSpPr/>
          <p:nvPr/>
        </p:nvSpPr>
        <p:spPr>
          <a:xfrm>
            <a:off x="4038933" y="358529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0" name="Connector 609"/>
          <p:cNvCxnSpPr/>
          <p:nvPr/>
        </p:nvCxnSpPr>
        <p:spPr>
          <a:xfrm flipV="1">
            <a:off x="4053179" y="3545812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4106905" y="3545812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 flipH="1">
            <a:off x="4012885" y="3599538"/>
            <a:ext cx="40294" cy="4029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 flipH="1" flipV="1">
            <a:off x="3999453" y="3626401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/>
          <p:cNvSpPr txBox="1"/>
          <p:nvPr/>
        </p:nvSpPr>
        <p:spPr>
          <a:xfrm>
            <a:off x="4114819" y="348249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15" name="Oval 614"/>
          <p:cNvSpPr/>
          <p:nvPr/>
        </p:nvSpPr>
        <p:spPr>
          <a:xfrm>
            <a:off x="4532112" y="2481907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4546358" y="2442428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4600084" y="2442428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TextBox 617"/>
          <p:cNvSpPr txBox="1"/>
          <p:nvPr/>
        </p:nvSpPr>
        <p:spPr>
          <a:xfrm>
            <a:off x="4607999" y="2379111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9" name="Oval 618"/>
          <p:cNvSpPr/>
          <p:nvPr/>
        </p:nvSpPr>
        <p:spPr>
          <a:xfrm>
            <a:off x="4185215" y="3907112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0" name="Connector 619"/>
          <p:cNvCxnSpPr/>
          <p:nvPr/>
        </p:nvCxnSpPr>
        <p:spPr>
          <a:xfrm flipV="1">
            <a:off x="4199461" y="3867633"/>
            <a:ext cx="53726" cy="5372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0"/>
          <p:cNvCxnSpPr/>
          <p:nvPr/>
        </p:nvCxnSpPr>
        <p:spPr>
          <a:xfrm>
            <a:off x="4253187" y="3867633"/>
            <a:ext cx="13431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TextBox 621"/>
          <p:cNvSpPr txBox="1"/>
          <p:nvPr/>
        </p:nvSpPr>
        <p:spPr>
          <a:xfrm>
            <a:off x="4261101" y="380431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3" name="Oval 622"/>
          <p:cNvSpPr/>
          <p:nvPr/>
        </p:nvSpPr>
        <p:spPr>
          <a:xfrm>
            <a:off x="4298061" y="4977061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4" name="Connector 623"/>
          <p:cNvCxnSpPr/>
          <p:nvPr/>
        </p:nvCxnSpPr>
        <p:spPr>
          <a:xfrm flipV="1">
            <a:off x="4312307" y="4937581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4"/>
          <p:cNvCxnSpPr/>
          <p:nvPr/>
        </p:nvCxnSpPr>
        <p:spPr>
          <a:xfrm>
            <a:off x="4366033" y="4937581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5"/>
          <p:cNvCxnSpPr/>
          <p:nvPr/>
        </p:nvCxnSpPr>
        <p:spPr>
          <a:xfrm>
            <a:off x="4356362" y="4947252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6"/>
          <p:cNvCxnSpPr/>
          <p:nvPr/>
        </p:nvCxnSpPr>
        <p:spPr>
          <a:xfrm flipH="1">
            <a:off x="4272013" y="4991307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7"/>
          <p:cNvCxnSpPr/>
          <p:nvPr/>
        </p:nvCxnSpPr>
        <p:spPr>
          <a:xfrm flipH="1" flipV="1">
            <a:off x="4258581" y="5018170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9" name="TextBox 628"/>
          <p:cNvSpPr txBox="1"/>
          <p:nvPr/>
        </p:nvSpPr>
        <p:spPr>
          <a:xfrm>
            <a:off x="4373948" y="487426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630" name="Oval 629"/>
          <p:cNvSpPr/>
          <p:nvPr/>
        </p:nvSpPr>
        <p:spPr>
          <a:xfrm>
            <a:off x="4883189" y="4951984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1" name="Connector 630"/>
          <p:cNvCxnSpPr/>
          <p:nvPr/>
        </p:nvCxnSpPr>
        <p:spPr>
          <a:xfrm flipV="1">
            <a:off x="4897435" y="4912504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2" name="Connector 631"/>
          <p:cNvCxnSpPr/>
          <p:nvPr/>
        </p:nvCxnSpPr>
        <p:spPr>
          <a:xfrm>
            <a:off x="4951161" y="4912504"/>
            <a:ext cx="13432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3" name="Connector 632"/>
          <p:cNvCxnSpPr/>
          <p:nvPr/>
        </p:nvCxnSpPr>
        <p:spPr>
          <a:xfrm flipH="1">
            <a:off x="4857141" y="4966230"/>
            <a:ext cx="40294" cy="4029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4" name="Connector 633"/>
          <p:cNvCxnSpPr/>
          <p:nvPr/>
        </p:nvCxnSpPr>
        <p:spPr>
          <a:xfrm flipH="1" flipV="1">
            <a:off x="4843710" y="4993093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" name="TextBox 634"/>
          <p:cNvSpPr txBox="1"/>
          <p:nvPr/>
        </p:nvSpPr>
        <p:spPr>
          <a:xfrm>
            <a:off x="4959076" y="4849188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36" name="Oval 635"/>
          <p:cNvSpPr/>
          <p:nvPr/>
        </p:nvSpPr>
        <p:spPr>
          <a:xfrm>
            <a:off x="5309497" y="4855856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323743" y="4816376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8" name="Connector 637"/>
          <p:cNvCxnSpPr/>
          <p:nvPr/>
        </p:nvCxnSpPr>
        <p:spPr>
          <a:xfrm>
            <a:off x="5377469" y="4816376"/>
            <a:ext cx="13431" cy="134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9" name="TextBox 638"/>
          <p:cNvSpPr txBox="1"/>
          <p:nvPr/>
        </p:nvSpPr>
        <p:spPr>
          <a:xfrm>
            <a:off x="5385383" y="475306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40" name="Oval 639"/>
          <p:cNvSpPr/>
          <p:nvPr/>
        </p:nvSpPr>
        <p:spPr>
          <a:xfrm>
            <a:off x="6162112" y="4458805"/>
            <a:ext cx="28492" cy="28492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1" name="Connector 640"/>
          <p:cNvCxnSpPr/>
          <p:nvPr/>
        </p:nvCxnSpPr>
        <p:spPr>
          <a:xfrm flipV="1">
            <a:off x="6176358" y="4419325"/>
            <a:ext cx="53726" cy="537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2" name="Connector 641"/>
          <p:cNvCxnSpPr/>
          <p:nvPr/>
        </p:nvCxnSpPr>
        <p:spPr>
          <a:xfrm>
            <a:off x="6230084" y="4419325"/>
            <a:ext cx="13432" cy="1343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3" name="TextBox 642"/>
          <p:cNvSpPr txBox="1"/>
          <p:nvPr/>
        </p:nvSpPr>
        <p:spPr>
          <a:xfrm>
            <a:off x="6237999" y="4356009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710000" y="300000"/>
            <a:ext cx="330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灯旁字母 = 控制它的开关键，见电施-16。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粗实线 = AL1 引出回路 WL4（先到开关盒）；细实线 = 同一字母灯具之间；点线 = 开关到所控灯；长虚线 = 双控联络线。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线上短斜线 = 导线根数，未标注为 3 根。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分区放大见电施-13~电施-14。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5. S# = 开关编号；MK = 门控开关。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1637435" y="1806538"/>
            <a:ext cx="2716666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TextBox 645"/>
          <p:cNvSpPr txBox="1"/>
          <p:nvPr/>
        </p:nvSpPr>
        <p:spPr>
          <a:xfrm>
            <a:off x="1677435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电施-13</a:t>
            </a:r>
          </a:p>
        </p:txBody>
      </p:sp>
      <p:sp>
        <p:nvSpPr>
          <p:cNvPr id="647" name="Rectangle 646"/>
          <p:cNvSpPr/>
          <p:nvPr/>
        </p:nvSpPr>
        <p:spPr>
          <a:xfrm>
            <a:off x="3643589" y="1806538"/>
            <a:ext cx="3343589" cy="3970512"/>
          </a:xfrm>
          <a:prstGeom prst="rect">
            <a:avLst/>
          </a:prstGeom>
          <a:noFill/>
          <a:ln w="12700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3683589" y="1836538"/>
            <a:ext cx="20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电施-14</a:t>
            </a:r>
          </a:p>
        </p:txBody>
      </p:sp>
      <p:sp>
        <p:nvSpPr>
          <p:cNvPr id="649" name="Rectangle 648"/>
          <p:cNvSpPr/>
          <p:nvPr/>
        </p:nvSpPr>
        <p:spPr>
          <a:xfrm>
            <a:off x="400000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Rectangle 649"/>
          <p:cNvSpPr/>
          <p:nvPr/>
        </p:nvSpPr>
        <p:spPr>
          <a:xfrm>
            <a:off x="839697" y="6540000"/>
            <a:ext cx="43969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1279395" y="6540000"/>
            <a:ext cx="43969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7590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421468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二层照明平面放大图（主卧 · 盥洗室 · 西卫 · 衣帽间 · 卧室2）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电施-13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4746627" y="3610257"/>
            <a:ext cx="0" cy="46249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4746627" y="4072747"/>
            <a:ext cx="2034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4898489" y="4904547"/>
            <a:ext cx="0" cy="100782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4898489" y="5912370"/>
            <a:ext cx="32906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 flipV="1">
            <a:off x="2848684" y="3902631"/>
            <a:ext cx="0" cy="67157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848684" y="3902631"/>
            <a:ext cx="43957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3288263" y="3902631"/>
            <a:ext cx="848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4136894" y="3218842"/>
            <a:ext cx="0" cy="683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4136894" y="3218842"/>
            <a:ext cx="111726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5254157" y="2773157"/>
            <a:ext cx="0" cy="44568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136894" y="3218842"/>
            <a:ext cx="0" cy="142252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>
            <a:off x="4136894" y="4641368"/>
            <a:ext cx="891369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>
            <a:off x="5028263" y="4641368"/>
            <a:ext cx="0" cy="799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5028263" y="5441157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>
            <a:off x="2848684" y="4574210"/>
            <a:ext cx="0" cy="18621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>
            <a:off x="2848684" y="6436315"/>
            <a:ext cx="15263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H="1">
            <a:off x="5241947" y="6418000"/>
            <a:ext cx="2265398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3" name="Connector 452"/>
          <p:cNvCxnSpPr/>
          <p:nvPr/>
        </p:nvCxnSpPr>
        <p:spPr>
          <a:xfrm flipV="1">
            <a:off x="5241947" y="5441157"/>
            <a:ext cx="0" cy="976843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4" name="TextBox 453"/>
          <p:cNvSpPr txBox="1"/>
          <p:nvPr/>
        </p:nvSpPr>
        <p:spPr>
          <a:xfrm>
            <a:off x="5743757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5" name="Connector 454"/>
          <p:cNvCxnSpPr/>
          <p:nvPr/>
        </p:nvCxnSpPr>
        <p:spPr>
          <a:xfrm flipV="1">
            <a:off x="2848684" y="3932660"/>
            <a:ext cx="0" cy="64155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2848684" y="3932660"/>
            <a:ext cx="1539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3288263" y="3902631"/>
            <a:ext cx="52205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810314" y="3902631"/>
            <a:ext cx="0" cy="3110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V="1">
            <a:off x="4136894" y="2312106"/>
            <a:ext cx="0" cy="90673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4136894" y="2312106"/>
            <a:ext cx="27161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 flipV="1">
            <a:off x="5254157" y="2312106"/>
            <a:ext cx="0" cy="46105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H="1">
            <a:off x="4408508" y="2312106"/>
            <a:ext cx="84564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5254157" y="2773157"/>
            <a:ext cx="84130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095458" y="1557430"/>
            <a:ext cx="0" cy="1215727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5028263" y="4072747"/>
            <a:ext cx="0" cy="56862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 flipH="1">
            <a:off x="4748661" y="4072747"/>
            <a:ext cx="27960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 flipV="1">
            <a:off x="3001315" y="5444812"/>
            <a:ext cx="0" cy="99150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3001315" y="5444812"/>
            <a:ext cx="71267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3001315" y="6436315"/>
            <a:ext cx="1930080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4931395" y="5912370"/>
            <a:ext cx="0" cy="52394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H="1">
            <a:off x="3713986" y="5441157"/>
            <a:ext cx="1527961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3713986" y="5441157"/>
            <a:ext cx="0" cy="365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5241947" y="5441157"/>
            <a:ext cx="0" cy="47121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H="1">
            <a:off x="4931395" y="5912370"/>
            <a:ext cx="310552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4136894" y="2773157"/>
            <a:ext cx="1117263" cy="445685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001315" y="5441157"/>
            <a:ext cx="2240632" cy="995158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4060280" y="591684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8" name="Connector 477"/>
          <p:cNvCxnSpPr/>
          <p:nvPr/>
        </p:nvCxnSpPr>
        <p:spPr>
          <a:xfrm flipV="1">
            <a:off x="4082880" y="5906812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9" name="Connector 478"/>
          <p:cNvCxnSpPr/>
          <p:nvPr/>
        </p:nvCxnSpPr>
        <p:spPr>
          <a:xfrm flipV="1">
            <a:off x="4105480" y="5896774"/>
            <a:ext cx="32302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4128079" y="5886737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4150679" y="5876699"/>
            <a:ext cx="32303" cy="8392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Oval 481"/>
          <p:cNvSpPr/>
          <p:nvPr/>
        </p:nvSpPr>
        <p:spPr>
          <a:xfrm>
            <a:off x="7493214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 flipV="1">
            <a:off x="7510877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5079084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485" name="Oval 484"/>
          <p:cNvSpPr/>
          <p:nvPr/>
        </p:nvSpPr>
        <p:spPr>
          <a:xfrm>
            <a:off x="4323725" y="222732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Connector 485"/>
          <p:cNvCxnSpPr/>
          <p:nvPr/>
        </p:nvCxnSpPr>
        <p:spPr>
          <a:xfrm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4348566" y="2252164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TextBox 487"/>
          <p:cNvSpPr txBox="1"/>
          <p:nvPr/>
        </p:nvSpPr>
        <p:spPr>
          <a:xfrm>
            <a:off x="4486226" y="214960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489" name="Oval 488"/>
          <p:cNvSpPr/>
          <p:nvPr/>
        </p:nvSpPr>
        <p:spPr>
          <a:xfrm>
            <a:off x="3629203" y="536002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Connector 489"/>
          <p:cNvCxnSpPr/>
          <p:nvPr/>
        </p:nvCxnSpPr>
        <p:spPr>
          <a:xfrm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1" name="Connector 490"/>
          <p:cNvCxnSpPr/>
          <p:nvPr/>
        </p:nvCxnSpPr>
        <p:spPr>
          <a:xfrm flipV="1">
            <a:off x="3654044" y="5384870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2" name="TextBox 491"/>
          <p:cNvSpPr txBox="1"/>
          <p:nvPr/>
        </p:nvSpPr>
        <p:spPr>
          <a:xfrm>
            <a:off x="3791704" y="528231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493" name="Oval 492"/>
          <p:cNvSpPr/>
          <p:nvPr/>
        </p:nvSpPr>
        <p:spPr>
          <a:xfrm>
            <a:off x="2946100" y="387613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2984959" y="391499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3080340" y="377015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496" name="Oval 495"/>
          <p:cNvSpPr/>
          <p:nvPr/>
        </p:nvSpPr>
        <p:spPr>
          <a:xfrm>
            <a:off x="4690105" y="355373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4728964" y="359259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TextBox 497"/>
          <p:cNvSpPr txBox="1"/>
          <p:nvPr/>
        </p:nvSpPr>
        <p:spPr>
          <a:xfrm>
            <a:off x="4824345" y="344775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499" name="Oval 498"/>
          <p:cNvSpPr/>
          <p:nvPr/>
        </p:nvSpPr>
        <p:spPr>
          <a:xfrm>
            <a:off x="4841967" y="48480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4880826" y="48868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TextBox 500"/>
          <p:cNvSpPr txBox="1"/>
          <p:nvPr/>
        </p:nvSpPr>
        <p:spPr>
          <a:xfrm>
            <a:off x="4976207" y="47420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2" name="Oval 501"/>
          <p:cNvSpPr/>
          <p:nvPr/>
        </p:nvSpPr>
        <p:spPr>
          <a:xfrm>
            <a:off x="4874873" y="5855848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4913732" y="5894707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TextBox 503"/>
          <p:cNvSpPr txBox="1"/>
          <p:nvPr/>
        </p:nvSpPr>
        <p:spPr>
          <a:xfrm>
            <a:off x="5009113" y="574986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05" name="Oval 504"/>
          <p:cNvSpPr/>
          <p:nvPr/>
        </p:nvSpPr>
        <p:spPr>
          <a:xfrm>
            <a:off x="6010675" y="1472647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6" name="Connector 505"/>
          <p:cNvCxnSpPr/>
          <p:nvPr/>
        </p:nvCxnSpPr>
        <p:spPr>
          <a:xfrm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7" name="Connector 506"/>
          <p:cNvCxnSpPr/>
          <p:nvPr/>
        </p:nvCxnSpPr>
        <p:spPr>
          <a:xfrm flipV="1">
            <a:off x="6035516" y="1497489"/>
            <a:ext cx="119884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TextBox 507"/>
          <p:cNvSpPr txBox="1"/>
          <p:nvPr/>
        </p:nvSpPr>
        <p:spPr>
          <a:xfrm>
            <a:off x="6173176" y="1394929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sp>
        <p:nvSpPr>
          <p:cNvPr id="509" name="Oval 508"/>
          <p:cNvSpPr/>
          <p:nvPr/>
        </p:nvSpPr>
        <p:spPr>
          <a:xfrm>
            <a:off x="3753792" y="387721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3792651" y="391607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TextBox 510"/>
          <p:cNvSpPr txBox="1"/>
          <p:nvPr/>
        </p:nvSpPr>
        <p:spPr>
          <a:xfrm>
            <a:off x="3888032" y="3771237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512" name="Oval 511"/>
          <p:cNvSpPr/>
          <p:nvPr/>
        </p:nvSpPr>
        <p:spPr>
          <a:xfrm>
            <a:off x="4692139" y="4016225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4730997" y="4055084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Box 513"/>
          <p:cNvSpPr txBox="1"/>
          <p:nvPr/>
        </p:nvSpPr>
        <p:spPr>
          <a:xfrm>
            <a:off x="4826379" y="3910246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15" name="Oval 514"/>
          <p:cNvSpPr/>
          <p:nvPr/>
        </p:nvSpPr>
        <p:spPr>
          <a:xfrm>
            <a:off x="2823249" y="4548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6" name="Connector 515"/>
          <p:cNvCxnSpPr/>
          <p:nvPr/>
        </p:nvCxnSpPr>
        <p:spPr>
          <a:xfrm flipV="1">
            <a:off x="2848684" y="4478289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44605" y="4478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2958735" y="4365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519" name="Oval 518"/>
          <p:cNvSpPr/>
          <p:nvPr/>
        </p:nvSpPr>
        <p:spPr>
          <a:xfrm>
            <a:off x="3262828" y="3877196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0" name="Connector 519"/>
          <p:cNvCxnSpPr/>
          <p:nvPr/>
        </p:nvCxnSpPr>
        <p:spPr>
          <a:xfrm flipV="1">
            <a:off x="3288263" y="3806710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Connector 520"/>
          <p:cNvCxnSpPr/>
          <p:nvPr/>
        </p:nvCxnSpPr>
        <p:spPr>
          <a:xfrm>
            <a:off x="3384184" y="380671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3398314" y="369366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523" name="Oval 522"/>
          <p:cNvSpPr/>
          <p:nvPr/>
        </p:nvSpPr>
        <p:spPr>
          <a:xfrm>
            <a:off x="4111459" y="3193407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4" name="Connector 523"/>
          <p:cNvCxnSpPr/>
          <p:nvPr/>
        </p:nvCxnSpPr>
        <p:spPr>
          <a:xfrm flipV="1">
            <a:off x="4136894" y="3122920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>
            <a:off x="4232815" y="3122920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Connector 525"/>
          <p:cNvCxnSpPr/>
          <p:nvPr/>
        </p:nvCxnSpPr>
        <p:spPr>
          <a:xfrm flipH="1">
            <a:off x="4064953" y="3218842"/>
            <a:ext cx="71941" cy="7194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7" name="Connector 526"/>
          <p:cNvCxnSpPr/>
          <p:nvPr/>
        </p:nvCxnSpPr>
        <p:spPr>
          <a:xfrm flipH="1" flipV="1">
            <a:off x="4040973" y="32668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TextBox 527"/>
          <p:cNvSpPr txBox="1"/>
          <p:nvPr/>
        </p:nvSpPr>
        <p:spPr>
          <a:xfrm>
            <a:off x="4246946" y="3009876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529" name="Oval 528"/>
          <p:cNvSpPr/>
          <p:nvPr/>
        </p:nvSpPr>
        <p:spPr>
          <a:xfrm>
            <a:off x="5228722" y="2747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0" name="Connector 529"/>
          <p:cNvCxnSpPr/>
          <p:nvPr/>
        </p:nvCxnSpPr>
        <p:spPr>
          <a:xfrm flipV="1">
            <a:off x="5254157" y="2677236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1" name="Connector 530"/>
          <p:cNvCxnSpPr/>
          <p:nvPr/>
        </p:nvCxnSpPr>
        <p:spPr>
          <a:xfrm>
            <a:off x="5350079" y="2677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2" name="Connector 531"/>
          <p:cNvCxnSpPr/>
          <p:nvPr/>
        </p:nvCxnSpPr>
        <p:spPr>
          <a:xfrm>
            <a:off x="5332813" y="2694502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 flipH="1">
            <a:off x="5182217" y="2773157"/>
            <a:ext cx="71940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4" name="Connector 533"/>
          <p:cNvCxnSpPr/>
          <p:nvPr/>
        </p:nvCxnSpPr>
        <p:spPr>
          <a:xfrm flipH="1" flipV="1">
            <a:off x="5158236" y="2821118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5" name="TextBox 534"/>
          <p:cNvSpPr txBox="1"/>
          <p:nvPr/>
        </p:nvSpPr>
        <p:spPr>
          <a:xfrm>
            <a:off x="5364209" y="2564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536" name="Oval 535"/>
          <p:cNvSpPr/>
          <p:nvPr/>
        </p:nvSpPr>
        <p:spPr>
          <a:xfrm>
            <a:off x="5002828" y="4615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7" name="Connector 536"/>
          <p:cNvCxnSpPr/>
          <p:nvPr/>
        </p:nvCxnSpPr>
        <p:spPr>
          <a:xfrm flipV="1">
            <a:off x="5028263" y="4545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8" name="Connector 537"/>
          <p:cNvCxnSpPr/>
          <p:nvPr/>
        </p:nvCxnSpPr>
        <p:spPr>
          <a:xfrm>
            <a:off x="5124184" y="4545447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5138314" y="4432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540" name="Oval 539"/>
          <p:cNvSpPr/>
          <p:nvPr/>
        </p:nvSpPr>
        <p:spPr>
          <a:xfrm>
            <a:off x="2975880" y="6410880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1" name="Connector 540"/>
          <p:cNvCxnSpPr/>
          <p:nvPr/>
        </p:nvCxnSpPr>
        <p:spPr>
          <a:xfrm flipV="1">
            <a:off x="3001315" y="6340394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>
            <a:off x="3097236" y="6340394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>
            <a:off x="3079971" y="6357660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4" name="Connector 543"/>
          <p:cNvCxnSpPr/>
          <p:nvPr/>
        </p:nvCxnSpPr>
        <p:spPr>
          <a:xfrm flipH="1">
            <a:off x="2929374" y="6436315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5" name="Connector 544"/>
          <p:cNvCxnSpPr/>
          <p:nvPr/>
        </p:nvCxnSpPr>
        <p:spPr>
          <a:xfrm flipH="1" flipV="1">
            <a:off x="2905394" y="6484276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" name="TextBox 545"/>
          <p:cNvSpPr txBox="1"/>
          <p:nvPr/>
        </p:nvSpPr>
        <p:spPr>
          <a:xfrm>
            <a:off x="3111367" y="6227350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547" name="Oval 546"/>
          <p:cNvSpPr/>
          <p:nvPr/>
        </p:nvSpPr>
        <p:spPr>
          <a:xfrm>
            <a:off x="5216512" y="5415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8" name="Connector 547"/>
          <p:cNvCxnSpPr/>
          <p:nvPr/>
        </p:nvCxnSpPr>
        <p:spPr>
          <a:xfrm flipV="1">
            <a:off x="5241947" y="5345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9" name="Connector 548"/>
          <p:cNvCxnSpPr/>
          <p:nvPr/>
        </p:nvCxnSpPr>
        <p:spPr>
          <a:xfrm>
            <a:off x="5337868" y="5345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0" name="Connector 549"/>
          <p:cNvCxnSpPr/>
          <p:nvPr/>
        </p:nvCxnSpPr>
        <p:spPr>
          <a:xfrm>
            <a:off x="5320602" y="5362502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1" name="Connector 550"/>
          <p:cNvCxnSpPr/>
          <p:nvPr/>
        </p:nvCxnSpPr>
        <p:spPr>
          <a:xfrm flipH="1">
            <a:off x="5170006" y="5441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2" name="Connector 551"/>
          <p:cNvCxnSpPr/>
          <p:nvPr/>
        </p:nvCxnSpPr>
        <p:spPr>
          <a:xfrm flipH="1" flipV="1">
            <a:off x="5146026" y="5489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TextBox 552"/>
          <p:cNvSpPr txBox="1"/>
          <p:nvPr/>
        </p:nvSpPr>
        <p:spPr>
          <a:xfrm>
            <a:off x="5351999" y="5232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554" name="TextBox 553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盥洗室门旁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西卫生间门外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键1=h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主卧门旁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</a:t>
            </a:r>
          </a:p>
        </p:txBody>
      </p:sp>
      <p:sp>
        <p:nvSpPr>
          <p:cNvPr id="561" name="TextBox 560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主卧东墙 · 床头侧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衣帽间门旁</a:t>
            </a:r>
          </a:p>
        </p:txBody>
      </p:sp>
      <p:sp>
        <p:nvSpPr>
          <p:cNvPr id="564" name="TextBox 563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卧室2 门旁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卧室2 床头侧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键1=i  键2=j</a:t>
            </a:r>
          </a:p>
        </p:txBody>
      </p:sp>
      <p:sp>
        <p:nvSpPr>
          <p:cNvPr id="569" name="Rectangle 568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TextBox 570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10" name="二层平面（横向）"/>
          <p:cNvGrpSpPr/>
          <p:nvPr/>
        </p:nvGrpSpPr>
        <p:grpSpPr>
          <a:xfrm rot="5400000">
            <a:off x="33047" y="-19904"/>
            <a:ext cx="5753380" cy="7590686"/>
            <a:chOff x="356311" y="926340"/>
            <a:chExt cx="3635855" cy="4796943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F8B5F234-FA8A-924F-BCB9-E3B494015B5B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6311" y="926340"/>
              <a:ext cx="3635855" cy="4796943"/>
              <a:chOff x="356311" y="926340"/>
              <a:chExt cx="3635855" cy="4796943"/>
            </a:xfrm>
          </p:grpSpPr>
          <p:sp>
            <p:nvSpPr>
              <p:cNvPr id="5" name="墙_GF_Wall_Shell">
                <a:extLst>
                  <a:ext uri="{FF2B5EF4-FFF2-40B4-BE49-F238E27FC236}">
                    <a16:creationId xmlns:a16="http://schemas.microsoft.com/office/drawing/2014/main" id="{36090254-C9EF-9A5F-197B-A425633E0A8F}"/>
                  </a:ext>
                </a:extLst>
              </p:cNvPr>
              <p:cNvSpPr/>
              <p:nvPr/>
            </p:nvSpPr>
            <p:spPr>
              <a:xfrm>
                <a:off x="2603764" y="4099465"/>
                <a:ext cx="49507" cy="415573"/>
              </a:xfrm>
              <a:custGeom>
                <a:avLst/>
                <a:gdLst/>
                <a:ahLst/>
                <a:cxnLst/>
                <a:rect l="l" t="t" r="r" b="b"/>
                <a:pathLst>
                  <a:path w="49507" h="415573">
                    <a:moveTo>
                      <a:pt x="49507" y="76297"/>
                    </a:moveTo>
                    <a:lnTo>
                      <a:pt x="49507" y="0"/>
                    </a:lnTo>
                    <a:lnTo>
                      <a:pt x="0" y="0"/>
                    </a:lnTo>
                    <a:lnTo>
                      <a:pt x="0" y="76297"/>
                    </a:lnTo>
                    <a:close/>
                    <a:moveTo>
                      <a:pt x="49507" y="415573"/>
                    </a:moveTo>
                    <a:lnTo>
                      <a:pt x="49507" y="353886"/>
                    </a:lnTo>
                    <a:lnTo>
                      <a:pt x="0" y="353886"/>
                    </a:lnTo>
                    <a:lnTo>
                      <a:pt x="0" y="41557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FF_Wall_Shell">
                <a:extLst>
                  <a:ext uri="{FF2B5EF4-FFF2-40B4-BE49-F238E27FC236}">
                    <a16:creationId xmlns:a16="http://schemas.microsoft.com/office/drawing/2014/main" id="{D6149830-E1C6-E65A-A4FE-0F7ADADC412D}"/>
                  </a:ext>
                </a:extLst>
              </p:cNvPr>
              <p:cNvSpPr/>
              <p:nvPr/>
            </p:nvSpPr>
            <p:spPr>
              <a:xfrm>
                <a:off x="356311" y="926340"/>
                <a:ext cx="3635855" cy="4796943"/>
              </a:xfrm>
              <a:custGeom>
                <a:avLst/>
                <a:gdLst/>
                <a:ahLst/>
                <a:cxnLst/>
                <a:rect l="l" t="t" r="r" b="b"/>
                <a:pathLst>
                  <a:path w="3635855" h="4796943">
                    <a:moveTo>
                      <a:pt x="1498370" y="4271390"/>
                    </a:moveTo>
                    <a:lnTo>
                      <a:pt x="1498370" y="4222690"/>
                    </a:lnTo>
                    <a:lnTo>
                      <a:pt x="1509529" y="4222690"/>
                    </a:lnTo>
                    <a:lnTo>
                      <a:pt x="1509529" y="3735690"/>
                    </a:lnTo>
                    <a:lnTo>
                      <a:pt x="1509529" y="2997075"/>
                    </a:lnTo>
                    <a:lnTo>
                      <a:pt x="1032932" y="2997075"/>
                    </a:lnTo>
                    <a:lnTo>
                      <a:pt x="1032932" y="2972644"/>
                    </a:lnTo>
                    <a:lnTo>
                      <a:pt x="1533876" y="2972644"/>
                    </a:lnTo>
                    <a:lnTo>
                      <a:pt x="1533876" y="2972725"/>
                    </a:lnTo>
                    <a:lnTo>
                      <a:pt x="2272409" y="2972725"/>
                    </a:lnTo>
                    <a:lnTo>
                      <a:pt x="2820222" y="2972725"/>
                    </a:lnTo>
                    <a:lnTo>
                      <a:pt x="2915217" y="2972725"/>
                    </a:lnTo>
                    <a:lnTo>
                      <a:pt x="2915217" y="3021425"/>
                    </a:lnTo>
                    <a:lnTo>
                      <a:pt x="2820222" y="3021425"/>
                    </a:lnTo>
                    <a:lnTo>
                      <a:pt x="2296757" y="3021425"/>
                    </a:lnTo>
                    <a:lnTo>
                      <a:pt x="2296757" y="3183880"/>
                    </a:lnTo>
                    <a:lnTo>
                      <a:pt x="2248062" y="3183880"/>
                    </a:lnTo>
                    <a:lnTo>
                      <a:pt x="2248062" y="3021425"/>
                    </a:lnTo>
                    <a:lnTo>
                      <a:pt x="1558224" y="3021425"/>
                    </a:lnTo>
                    <a:lnTo>
                      <a:pt x="1558224" y="3711340"/>
                    </a:lnTo>
                    <a:lnTo>
                      <a:pt x="2248062" y="3711340"/>
                    </a:lnTo>
                    <a:lnTo>
                      <a:pt x="2248062" y="3588251"/>
                    </a:lnTo>
                    <a:lnTo>
                      <a:pt x="2296757" y="3588251"/>
                    </a:lnTo>
                    <a:lnTo>
                      <a:pt x="2296757" y="3735690"/>
                    </a:lnTo>
                    <a:lnTo>
                      <a:pt x="2296757" y="4247040"/>
                    </a:lnTo>
                    <a:lnTo>
                      <a:pt x="2248062" y="4247040"/>
                    </a:lnTo>
                    <a:lnTo>
                      <a:pt x="2248062" y="3760040"/>
                    </a:lnTo>
                    <a:lnTo>
                      <a:pt x="1558224" y="3760040"/>
                    </a:lnTo>
                    <a:lnTo>
                      <a:pt x="1558224" y="4222690"/>
                    </a:lnTo>
                    <a:lnTo>
                      <a:pt x="1947739" y="4222690"/>
                    </a:lnTo>
                    <a:lnTo>
                      <a:pt x="1947739" y="4271390"/>
                    </a:lnTo>
                    <a:lnTo>
                      <a:pt x="1558224" y="4271390"/>
                    </a:lnTo>
                    <a:lnTo>
                      <a:pt x="1558224" y="4502714"/>
                    </a:lnTo>
                    <a:lnTo>
                      <a:pt x="1558224" y="4703601"/>
                    </a:lnTo>
                    <a:lnTo>
                      <a:pt x="1893607" y="4703601"/>
                    </a:lnTo>
                    <a:lnTo>
                      <a:pt x="1893607" y="4750272"/>
                    </a:lnTo>
                    <a:lnTo>
                      <a:pt x="1893607" y="4796943"/>
                    </a:lnTo>
                    <a:lnTo>
                      <a:pt x="1533876" y="4796943"/>
                    </a:lnTo>
                    <a:lnTo>
                      <a:pt x="1533876" y="4750272"/>
                    </a:lnTo>
                    <a:lnTo>
                      <a:pt x="1522717" y="4750272"/>
                    </a:lnTo>
                    <a:lnTo>
                      <a:pt x="1487211" y="4750272"/>
                    </a:lnTo>
                    <a:lnTo>
                      <a:pt x="1487211" y="4549385"/>
                    </a:lnTo>
                    <a:lnTo>
                      <a:pt x="256458" y="4549385"/>
                    </a:lnTo>
                    <a:lnTo>
                      <a:pt x="46666" y="4549385"/>
                    </a:lnTo>
                    <a:lnTo>
                      <a:pt x="46666" y="4502714"/>
                    </a:lnTo>
                    <a:lnTo>
                      <a:pt x="0" y="4502714"/>
                    </a:lnTo>
                    <a:lnTo>
                      <a:pt x="0" y="1523902"/>
                    </a:lnTo>
                    <a:lnTo>
                      <a:pt x="46666" y="1523902"/>
                    </a:lnTo>
                    <a:lnTo>
                      <a:pt x="46666" y="1477231"/>
                    </a:lnTo>
                    <a:lnTo>
                      <a:pt x="700673" y="1477231"/>
                    </a:lnTo>
                    <a:lnTo>
                      <a:pt x="764341" y="1477231"/>
                    </a:lnTo>
                    <a:lnTo>
                      <a:pt x="1533876" y="1477231"/>
                    </a:lnTo>
                    <a:lnTo>
                      <a:pt x="1638772" y="1477231"/>
                    </a:lnTo>
                    <a:lnTo>
                      <a:pt x="1638772" y="1523902"/>
                    </a:lnTo>
                    <a:lnTo>
                      <a:pt x="1638772" y="1570573"/>
                    </a:lnTo>
                    <a:lnTo>
                      <a:pt x="1558224" y="1570573"/>
                    </a:lnTo>
                    <a:lnTo>
                      <a:pt x="1558224" y="2215400"/>
                    </a:lnTo>
                    <a:lnTo>
                      <a:pt x="1558224" y="2546600"/>
                    </a:lnTo>
                    <a:lnTo>
                      <a:pt x="1985234" y="2546600"/>
                    </a:lnTo>
                    <a:lnTo>
                      <a:pt x="1985234" y="2595300"/>
                    </a:lnTo>
                    <a:lnTo>
                      <a:pt x="1533876" y="2595300"/>
                    </a:lnTo>
                    <a:lnTo>
                      <a:pt x="1533876" y="2570950"/>
                    </a:lnTo>
                    <a:lnTo>
                      <a:pt x="1509529" y="2570950"/>
                    </a:lnTo>
                    <a:lnTo>
                      <a:pt x="1509529" y="2239994"/>
                    </a:lnTo>
                    <a:lnTo>
                      <a:pt x="1057847" y="2239994"/>
                    </a:lnTo>
                    <a:lnTo>
                      <a:pt x="1057847" y="2570950"/>
                    </a:lnTo>
                    <a:lnTo>
                      <a:pt x="1008016" y="2570950"/>
                    </a:lnTo>
                    <a:lnTo>
                      <a:pt x="1008016" y="2239994"/>
                    </a:lnTo>
                    <a:lnTo>
                      <a:pt x="692395" y="2239994"/>
                    </a:lnTo>
                    <a:lnTo>
                      <a:pt x="692395" y="2190847"/>
                    </a:lnTo>
                    <a:lnTo>
                      <a:pt x="667480" y="2190847"/>
                    </a:lnTo>
                    <a:lnTo>
                      <a:pt x="667480" y="2141701"/>
                    </a:lnTo>
                    <a:lnTo>
                      <a:pt x="717310" y="2141701"/>
                    </a:lnTo>
                    <a:lnTo>
                      <a:pt x="717310" y="2190847"/>
                    </a:lnTo>
                    <a:lnTo>
                      <a:pt x="1032932" y="2190847"/>
                    </a:lnTo>
                    <a:lnTo>
                      <a:pt x="1509529" y="2190847"/>
                    </a:lnTo>
                    <a:lnTo>
                      <a:pt x="1509529" y="1570573"/>
                    </a:lnTo>
                    <a:lnTo>
                      <a:pt x="764341" y="1570573"/>
                    </a:lnTo>
                    <a:lnTo>
                      <a:pt x="717310" y="1570573"/>
                    </a:lnTo>
                    <a:lnTo>
                      <a:pt x="717310" y="1854940"/>
                    </a:lnTo>
                    <a:lnTo>
                      <a:pt x="667480" y="1854940"/>
                    </a:lnTo>
                    <a:lnTo>
                      <a:pt x="667480" y="1570573"/>
                    </a:lnTo>
                    <a:lnTo>
                      <a:pt x="93331" y="1570573"/>
                    </a:lnTo>
                    <a:lnTo>
                      <a:pt x="93331" y="4456043"/>
                    </a:lnTo>
                    <a:lnTo>
                      <a:pt x="256458" y="4456043"/>
                    </a:lnTo>
                    <a:lnTo>
                      <a:pt x="1509529" y="4456043"/>
                    </a:lnTo>
                    <a:lnTo>
                      <a:pt x="1509529" y="4271390"/>
                    </a:lnTo>
                    <a:close/>
                    <a:moveTo>
                      <a:pt x="2296757" y="4583881"/>
                    </a:moveTo>
                    <a:lnTo>
                      <a:pt x="2296757" y="4673164"/>
                    </a:lnTo>
                    <a:lnTo>
                      <a:pt x="2464428" y="4673164"/>
                    </a:lnTo>
                    <a:lnTo>
                      <a:pt x="2464428" y="4697514"/>
                    </a:lnTo>
                    <a:lnTo>
                      <a:pt x="2488978" y="4697514"/>
                    </a:lnTo>
                    <a:lnTo>
                      <a:pt x="2488978" y="4703601"/>
                    </a:lnTo>
                    <a:lnTo>
                      <a:pt x="2610674" y="4703601"/>
                    </a:lnTo>
                    <a:lnTo>
                      <a:pt x="2610674" y="4750272"/>
                    </a:lnTo>
                    <a:lnTo>
                      <a:pt x="2610674" y="4796943"/>
                    </a:lnTo>
                    <a:lnTo>
                      <a:pt x="2464428" y="4796943"/>
                    </a:lnTo>
                    <a:lnTo>
                      <a:pt x="2306090" y="4796943"/>
                    </a:lnTo>
                    <a:lnTo>
                      <a:pt x="2306090" y="4750272"/>
                    </a:lnTo>
                    <a:lnTo>
                      <a:pt x="2306090" y="4721864"/>
                    </a:lnTo>
                    <a:lnTo>
                      <a:pt x="2272409" y="4721864"/>
                    </a:lnTo>
                    <a:lnTo>
                      <a:pt x="2272409" y="4697514"/>
                    </a:lnTo>
                    <a:lnTo>
                      <a:pt x="2248062" y="4697514"/>
                    </a:lnTo>
                    <a:lnTo>
                      <a:pt x="2248062" y="4583881"/>
                    </a:lnTo>
                    <a:close/>
                    <a:moveTo>
                      <a:pt x="3535828" y="582370"/>
                    </a:moveTo>
                    <a:lnTo>
                      <a:pt x="3535828" y="533670"/>
                    </a:lnTo>
                    <a:lnTo>
                      <a:pt x="3538466" y="533670"/>
                    </a:lnTo>
                    <a:lnTo>
                      <a:pt x="3538466" y="93342"/>
                    </a:lnTo>
                    <a:lnTo>
                      <a:pt x="3221505" y="93342"/>
                    </a:lnTo>
                    <a:lnTo>
                      <a:pt x="2319075" y="93342"/>
                    </a:lnTo>
                    <a:lnTo>
                      <a:pt x="2319075" y="682611"/>
                    </a:lnTo>
                    <a:lnTo>
                      <a:pt x="2272409" y="682611"/>
                    </a:lnTo>
                    <a:lnTo>
                      <a:pt x="2225663" y="682611"/>
                    </a:lnTo>
                    <a:lnTo>
                      <a:pt x="2225663" y="46671"/>
                    </a:lnTo>
                    <a:lnTo>
                      <a:pt x="2272409" y="46671"/>
                    </a:lnTo>
                    <a:lnTo>
                      <a:pt x="2272409" y="0"/>
                    </a:lnTo>
                    <a:lnTo>
                      <a:pt x="3221505" y="0"/>
                    </a:lnTo>
                    <a:lnTo>
                      <a:pt x="3587161" y="0"/>
                    </a:lnTo>
                    <a:lnTo>
                      <a:pt x="3587161" y="46671"/>
                    </a:lnTo>
                    <a:lnTo>
                      <a:pt x="3635855" y="46671"/>
                    </a:lnTo>
                    <a:lnTo>
                      <a:pt x="3635855" y="558020"/>
                    </a:lnTo>
                    <a:lnTo>
                      <a:pt x="3635855" y="1174886"/>
                    </a:lnTo>
                    <a:lnTo>
                      <a:pt x="3635855" y="1523902"/>
                    </a:lnTo>
                    <a:lnTo>
                      <a:pt x="3635855" y="2497901"/>
                    </a:lnTo>
                    <a:lnTo>
                      <a:pt x="3635855" y="2997075"/>
                    </a:lnTo>
                    <a:lnTo>
                      <a:pt x="3635855" y="4750272"/>
                    </a:lnTo>
                    <a:lnTo>
                      <a:pt x="3587161" y="4750272"/>
                    </a:lnTo>
                    <a:lnTo>
                      <a:pt x="3587161" y="4796943"/>
                    </a:lnTo>
                    <a:lnTo>
                      <a:pt x="3027093" y="4796943"/>
                    </a:lnTo>
                    <a:lnTo>
                      <a:pt x="3027093" y="4750272"/>
                    </a:lnTo>
                    <a:lnTo>
                      <a:pt x="3027093" y="4703601"/>
                    </a:lnTo>
                    <a:lnTo>
                      <a:pt x="3538466" y="4703601"/>
                    </a:lnTo>
                    <a:lnTo>
                      <a:pt x="3538466" y="3021425"/>
                    </a:lnTo>
                    <a:lnTo>
                      <a:pt x="3331433" y="3021425"/>
                    </a:lnTo>
                    <a:lnTo>
                      <a:pt x="3332042" y="3001174"/>
                    </a:lnTo>
                    <a:lnTo>
                      <a:pt x="3333178" y="2972725"/>
                    </a:lnTo>
                    <a:lnTo>
                      <a:pt x="3538466" y="2972725"/>
                    </a:lnTo>
                    <a:lnTo>
                      <a:pt x="3538466" y="2497901"/>
                    </a:lnTo>
                    <a:lnTo>
                      <a:pt x="3538466" y="1548252"/>
                    </a:lnTo>
                    <a:lnTo>
                      <a:pt x="3166197" y="1548252"/>
                    </a:lnTo>
                    <a:lnTo>
                      <a:pt x="3166197" y="1499552"/>
                    </a:lnTo>
                    <a:lnTo>
                      <a:pt x="3166197" y="1499065"/>
                    </a:lnTo>
                    <a:lnTo>
                      <a:pt x="3217245" y="1499065"/>
                    </a:lnTo>
                    <a:lnTo>
                      <a:pt x="3217245" y="1499552"/>
                    </a:lnTo>
                    <a:lnTo>
                      <a:pt x="3538466" y="1499552"/>
                    </a:lnTo>
                    <a:lnTo>
                      <a:pt x="3538466" y="1491435"/>
                    </a:lnTo>
                    <a:lnTo>
                      <a:pt x="3538466" y="1174886"/>
                    </a:lnTo>
                    <a:lnTo>
                      <a:pt x="3538466" y="582370"/>
                    </a:lnTo>
                    <a:close/>
                    <a:moveTo>
                      <a:pt x="2795875" y="2558775"/>
                    </a:moveTo>
                    <a:lnTo>
                      <a:pt x="2795875" y="2530367"/>
                    </a:lnTo>
                    <a:lnTo>
                      <a:pt x="2456231" y="2530367"/>
                    </a:lnTo>
                    <a:lnTo>
                      <a:pt x="2456231" y="2570950"/>
                    </a:lnTo>
                    <a:lnTo>
                      <a:pt x="2431640" y="2570950"/>
                    </a:lnTo>
                    <a:lnTo>
                      <a:pt x="2431640" y="2595300"/>
                    </a:lnTo>
                    <a:lnTo>
                      <a:pt x="2362291" y="2595300"/>
                    </a:lnTo>
                    <a:lnTo>
                      <a:pt x="2361074" y="2546600"/>
                    </a:lnTo>
                    <a:lnTo>
                      <a:pt x="2407050" y="2546600"/>
                    </a:lnTo>
                    <a:lnTo>
                      <a:pt x="2407050" y="2506017"/>
                    </a:lnTo>
                    <a:lnTo>
                      <a:pt x="2431640" y="2506017"/>
                    </a:lnTo>
                    <a:lnTo>
                      <a:pt x="2431640" y="2481667"/>
                    </a:lnTo>
                    <a:lnTo>
                      <a:pt x="2795875" y="2481667"/>
                    </a:lnTo>
                    <a:lnTo>
                      <a:pt x="2795875" y="1548252"/>
                    </a:lnTo>
                    <a:lnTo>
                      <a:pt x="2272409" y="1548252"/>
                    </a:lnTo>
                    <a:lnTo>
                      <a:pt x="2272409" y="1570573"/>
                    </a:lnTo>
                    <a:lnTo>
                      <a:pt x="2052229" y="1570573"/>
                    </a:lnTo>
                    <a:lnTo>
                      <a:pt x="2052229" y="1523902"/>
                    </a:lnTo>
                    <a:lnTo>
                      <a:pt x="2052229" y="1477231"/>
                    </a:lnTo>
                    <a:lnTo>
                      <a:pt x="2225663" y="1477231"/>
                    </a:lnTo>
                    <a:lnTo>
                      <a:pt x="2225663" y="1441112"/>
                    </a:lnTo>
                    <a:lnTo>
                      <a:pt x="2272409" y="1441112"/>
                    </a:lnTo>
                    <a:lnTo>
                      <a:pt x="2319075" y="1441112"/>
                    </a:lnTo>
                    <a:lnTo>
                      <a:pt x="2319075" y="1499552"/>
                    </a:lnTo>
                    <a:lnTo>
                      <a:pt x="2828338" y="1499552"/>
                    </a:lnTo>
                    <a:lnTo>
                      <a:pt x="2828338" y="1523902"/>
                    </a:lnTo>
                    <a:lnTo>
                      <a:pt x="2844570" y="1523902"/>
                    </a:lnTo>
                    <a:lnTo>
                      <a:pt x="2844570" y="2506017"/>
                    </a:lnTo>
                    <a:lnTo>
                      <a:pt x="2844570" y="2558775"/>
                    </a:lnTo>
                    <a:close/>
                    <a:moveTo>
                      <a:pt x="2272409" y="1090878"/>
                    </a:moveTo>
                    <a:lnTo>
                      <a:pt x="2225663" y="1090878"/>
                    </a:lnTo>
                    <a:lnTo>
                      <a:pt x="2225663" y="1174886"/>
                    </a:lnTo>
                    <a:lnTo>
                      <a:pt x="2225663" y="1247936"/>
                    </a:lnTo>
                    <a:lnTo>
                      <a:pt x="2272409" y="1247936"/>
                    </a:lnTo>
                    <a:lnTo>
                      <a:pt x="2319075" y="1247936"/>
                    </a:lnTo>
                    <a:lnTo>
                      <a:pt x="2319075" y="1174886"/>
                    </a:lnTo>
                    <a:lnTo>
                      <a:pt x="2319075" y="109087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Wall_FF_MasterBath_DoorInfill">
                <a:extLst>
                  <a:ext uri="{FF2B5EF4-FFF2-40B4-BE49-F238E27FC236}">
                    <a16:creationId xmlns:a16="http://schemas.microsoft.com/office/drawing/2014/main" id="{D4065AA6-F08C-A92B-989C-F38B0ADEAD7B}"/>
                  </a:ext>
                </a:extLst>
              </p:cNvPr>
              <p:cNvSpPr/>
              <p:nvPr/>
            </p:nvSpPr>
            <p:spPr>
              <a:xfrm>
                <a:off x="2303888" y="5148949"/>
                <a:ext cx="348977" cy="361191"/>
              </a:xfrm>
              <a:custGeom>
                <a:avLst/>
                <a:gdLst/>
                <a:ahLst/>
                <a:cxnLst/>
                <a:rect l="l" t="t" r="r" b="b"/>
                <a:pathLst>
                  <a:path w="348977" h="361191">
                    <a:moveTo>
                      <a:pt x="0" y="48699"/>
                    </a:moveTo>
                    <a:lnTo>
                      <a:pt x="0" y="0"/>
                    </a:lnTo>
                    <a:lnTo>
                      <a:pt x="23535" y="0"/>
                    </a:lnTo>
                    <a:lnTo>
                      <a:pt x="23535" y="48699"/>
                    </a:lnTo>
                    <a:close/>
                    <a:moveTo>
                      <a:pt x="348977" y="333594"/>
                    </a:moveTo>
                    <a:lnTo>
                      <a:pt x="348977" y="361191"/>
                    </a:lnTo>
                    <a:lnTo>
                      <a:pt x="300282" y="361191"/>
                    </a:lnTo>
                    <a:lnTo>
                      <a:pt x="300282" y="3335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Wall_FF_Corridor_NorthEnd_Infill">
                <a:extLst>
                  <a:ext uri="{FF2B5EF4-FFF2-40B4-BE49-F238E27FC236}">
                    <a16:creationId xmlns:a16="http://schemas.microsoft.com/office/drawing/2014/main" id="{6FE94703-347E-5AA9-EBCD-A4BA6C8C610F}"/>
                  </a:ext>
                </a:extLst>
              </p:cNvPr>
              <p:cNvSpPr/>
              <p:nvPr/>
            </p:nvSpPr>
            <p:spPr>
              <a:xfrm>
                <a:off x="1865637" y="3497615"/>
                <a:ext cx="48695" cy="23944"/>
              </a:xfrm>
              <a:custGeom>
                <a:avLst/>
                <a:gdLst/>
                <a:ahLst/>
                <a:cxnLst/>
                <a:rect l="l" t="t" r="r" b="b"/>
                <a:pathLst>
                  <a:path w="48695" h="23944">
                    <a:moveTo>
                      <a:pt x="48695" y="0"/>
                    </a:moveTo>
                    <a:lnTo>
                      <a:pt x="48695" y="23944"/>
                    </a:lnTo>
                    <a:lnTo>
                      <a:pt x="0" y="239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Wall_FF_Study_North_FlushInfill">
                <a:extLst>
                  <a:ext uri="{FF2B5EF4-FFF2-40B4-BE49-F238E27FC236}">
                    <a16:creationId xmlns:a16="http://schemas.microsoft.com/office/drawing/2014/main" id="{6CBA934C-8B14-5DE7-5288-2C5C4A954CC4}"/>
                  </a:ext>
                </a:extLst>
              </p:cNvPr>
              <p:cNvSpPr/>
              <p:nvPr/>
            </p:nvSpPr>
            <p:spPr>
              <a:xfrm>
                <a:off x="2628517" y="2474511"/>
                <a:ext cx="523466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523466" h="22321">
                    <a:moveTo>
                      <a:pt x="523466" y="0"/>
                    </a:moveTo>
                    <a:lnTo>
                      <a:pt x="523466" y="22321"/>
                    </a:lnTo>
                    <a:lnTo>
                      <a:pt x="0" y="2232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Wall_FF_NarrowWindow_LowerInfill">
                <a:extLst>
                  <a:ext uri="{FF2B5EF4-FFF2-40B4-BE49-F238E27FC236}">
                    <a16:creationId xmlns:a16="http://schemas.microsoft.com/office/drawing/2014/main" id="{5AAA951F-7EA2-9F88-1DFF-E488B9075678}"/>
                  </a:ext>
                </a:extLst>
              </p:cNvPr>
              <p:cNvSpPr/>
              <p:nvPr/>
            </p:nvSpPr>
            <p:spPr>
              <a:xfrm>
                <a:off x="2581852" y="2174195"/>
                <a:ext cx="93331" cy="193176"/>
              </a:xfrm>
              <a:custGeom>
                <a:avLst/>
                <a:gdLst/>
                <a:ahLst/>
                <a:cxnLst/>
                <a:rect l="l" t="t" r="r" b="b"/>
                <a:pathLst>
                  <a:path w="93331" h="193176">
                    <a:moveTo>
                      <a:pt x="93331" y="0"/>
                    </a:moveTo>
                    <a:lnTo>
                      <a:pt x="93331" y="193176"/>
                    </a:lnTo>
                    <a:lnTo>
                      <a:pt x="0" y="19317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V35_Partition_Study_Bath">
                <a:extLst>
                  <a:ext uri="{FF2B5EF4-FFF2-40B4-BE49-F238E27FC236}">
                    <a16:creationId xmlns:a16="http://schemas.microsoft.com/office/drawing/2014/main" id="{D106B129-B0A9-2A70-E4C2-3EE326CDF4EE}"/>
                  </a:ext>
                </a:extLst>
              </p:cNvPr>
              <p:cNvSpPr/>
              <p:nvPr/>
            </p:nvSpPr>
            <p:spPr>
              <a:xfrm>
                <a:off x="2673154" y="1425027"/>
                <a:ext cx="1225478" cy="44642"/>
              </a:xfrm>
              <a:custGeom>
                <a:avLst/>
                <a:gdLst/>
                <a:ahLst/>
                <a:cxnLst/>
                <a:rect l="l" t="t" r="r" b="b"/>
                <a:pathLst>
                  <a:path w="1225478" h="44642">
                    <a:moveTo>
                      <a:pt x="1225478" y="0"/>
                    </a:moveTo>
                    <a:lnTo>
                      <a:pt x="1225478" y="44642"/>
                    </a:lnTo>
                    <a:lnTo>
                      <a:pt x="409845" y="44642"/>
                    </a:lnTo>
                    <a:lnTo>
                      <a:pt x="409845" y="0"/>
                    </a:lnTo>
                    <a:close/>
                    <a:moveTo>
                      <a:pt x="142026" y="0"/>
                    </a:moveTo>
                    <a:lnTo>
                      <a:pt x="142026" y="44642"/>
                    </a:lnTo>
                    <a:lnTo>
                      <a:pt x="0" y="446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V35_DoorLeaf_Bath245">
                <a:extLst>
                  <a:ext uri="{FF2B5EF4-FFF2-40B4-BE49-F238E27FC236}">
                    <a16:creationId xmlns:a16="http://schemas.microsoft.com/office/drawing/2014/main" id="{74B8227F-0476-BA74-FCC2-02FF628D3440}"/>
                  </a:ext>
                </a:extLst>
              </p:cNvPr>
              <p:cNvSpPr/>
              <p:nvPr/>
            </p:nvSpPr>
            <p:spPr>
              <a:xfrm>
                <a:off x="3066768" y="1473727"/>
                <a:ext cx="16231" cy="259733"/>
              </a:xfrm>
              <a:custGeom>
                <a:avLst/>
                <a:gdLst/>
                <a:ahLst/>
                <a:cxnLst/>
                <a:rect l="l" t="t" r="r" b="b"/>
                <a:pathLst>
                  <a:path w="16231" h="259733">
                    <a:moveTo>
                      <a:pt x="16231" y="0"/>
                    </a:moveTo>
                    <a:lnTo>
                      <a:pt x="16231" y="259733"/>
                    </a:lnTo>
                    <a:lnTo>
                      <a:pt x="0" y="2597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Landing_Guard">
                <a:extLst>
                  <a:ext uri="{FF2B5EF4-FFF2-40B4-BE49-F238E27FC236}">
                    <a16:creationId xmlns:a16="http://schemas.microsoft.com/office/drawing/2014/main" id="{0F12960E-200E-E42B-CF0F-19FB66E17FDB}"/>
                  </a:ext>
                </a:extLst>
              </p:cNvPr>
              <p:cNvSpPr/>
              <p:nvPr/>
            </p:nvSpPr>
            <p:spPr>
              <a:xfrm>
                <a:off x="3522508" y="3016257"/>
                <a:ext cx="21263" cy="197437"/>
              </a:xfrm>
              <a:custGeom>
                <a:avLst/>
                <a:gdLst/>
                <a:ahLst/>
                <a:cxnLst/>
                <a:rect l="l" t="t" r="r" b="b"/>
                <a:pathLst>
                  <a:path w="21263" h="197437">
                    <a:moveTo>
                      <a:pt x="18138" y="28895"/>
                    </a:moveTo>
                    <a:lnTo>
                      <a:pt x="14689" y="7508"/>
                    </a:lnTo>
                    <a:lnTo>
                      <a:pt x="10631" y="0"/>
                    </a:lnTo>
                    <a:lnTo>
                      <a:pt x="6573" y="7508"/>
                    </a:lnTo>
                    <a:lnTo>
                      <a:pt x="3124" y="28895"/>
                    </a:lnTo>
                    <a:lnTo>
                      <a:pt x="811" y="60915"/>
                    </a:lnTo>
                    <a:lnTo>
                      <a:pt x="0" y="98698"/>
                    </a:lnTo>
                    <a:lnTo>
                      <a:pt x="811" y="136481"/>
                    </a:lnTo>
                    <a:lnTo>
                      <a:pt x="3124" y="168502"/>
                    </a:lnTo>
                    <a:lnTo>
                      <a:pt x="6573" y="189889"/>
                    </a:lnTo>
                    <a:lnTo>
                      <a:pt x="10631" y="197437"/>
                    </a:lnTo>
                    <a:lnTo>
                      <a:pt x="14689" y="189889"/>
                    </a:lnTo>
                    <a:lnTo>
                      <a:pt x="18138" y="168502"/>
                    </a:lnTo>
                    <a:lnTo>
                      <a:pt x="20451" y="136481"/>
                    </a:lnTo>
                    <a:lnTo>
                      <a:pt x="21263" y="98698"/>
                    </a:lnTo>
                    <a:lnTo>
                      <a:pt x="20451" y="6091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Landing_Baluster.009">
                <a:extLst>
                  <a:ext uri="{FF2B5EF4-FFF2-40B4-BE49-F238E27FC236}">
                    <a16:creationId xmlns:a16="http://schemas.microsoft.com/office/drawing/2014/main" id="{FC76F062-C556-7052-B8F8-1C522EE46B32}"/>
                  </a:ext>
                </a:extLst>
              </p:cNvPr>
              <p:cNvSpPr/>
              <p:nvPr/>
            </p:nvSpPr>
            <p:spPr>
              <a:xfrm>
                <a:off x="3528879" y="3506422"/>
                <a:ext cx="8521" cy="8116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6">
                    <a:moveTo>
                      <a:pt x="7263" y="6939"/>
                    </a:moveTo>
                    <a:lnTo>
                      <a:pt x="5883" y="7832"/>
                    </a:lnTo>
                    <a:lnTo>
                      <a:pt x="4260" y="8116"/>
                    </a:lnTo>
                    <a:lnTo>
                      <a:pt x="2637" y="7832"/>
                    </a:lnTo>
                    <a:lnTo>
                      <a:pt x="1257" y="6939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Landing_Baluster.010">
                <a:extLst>
                  <a:ext uri="{FF2B5EF4-FFF2-40B4-BE49-F238E27FC236}">
                    <a16:creationId xmlns:a16="http://schemas.microsoft.com/office/drawing/2014/main" id="{AB2B220B-D5E3-118B-AD32-9B7C25BAA328}"/>
                  </a:ext>
                </a:extLst>
              </p:cNvPr>
              <p:cNvSpPr/>
              <p:nvPr/>
            </p:nvSpPr>
            <p:spPr>
              <a:xfrm>
                <a:off x="3528879" y="347091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1"/>
                    </a:lnTo>
                    <a:lnTo>
                      <a:pt x="0" y="405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9"/>
                    </a:lnTo>
                    <a:lnTo>
                      <a:pt x="8196" y="560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Landing_Baluster.011">
                <a:extLst>
                  <a:ext uri="{FF2B5EF4-FFF2-40B4-BE49-F238E27FC236}">
                    <a16:creationId xmlns:a16="http://schemas.microsoft.com/office/drawing/2014/main" id="{3280A4AE-87A8-5BA7-914A-F1E2CDE4CD46}"/>
                  </a:ext>
                </a:extLst>
              </p:cNvPr>
              <p:cNvSpPr/>
              <p:nvPr/>
            </p:nvSpPr>
            <p:spPr>
              <a:xfrm>
                <a:off x="3528879" y="3435401"/>
                <a:ext cx="8521" cy="811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17">
                    <a:moveTo>
                      <a:pt x="7263" y="6940"/>
                    </a:moveTo>
                    <a:lnTo>
                      <a:pt x="5883" y="7792"/>
                    </a:lnTo>
                    <a:lnTo>
                      <a:pt x="4260" y="8117"/>
                    </a:lnTo>
                    <a:lnTo>
                      <a:pt x="2637" y="7792"/>
                    </a:lnTo>
                    <a:lnTo>
                      <a:pt x="1257" y="6940"/>
                    </a:lnTo>
                    <a:lnTo>
                      <a:pt x="324" y="5600"/>
                    </a:lnTo>
                    <a:lnTo>
                      <a:pt x="0" y="4058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58"/>
                    </a:lnTo>
                    <a:lnTo>
                      <a:pt x="8196" y="560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Landing_Baluster.012">
                <a:extLst>
                  <a:ext uri="{FF2B5EF4-FFF2-40B4-BE49-F238E27FC236}">
                    <a16:creationId xmlns:a16="http://schemas.microsoft.com/office/drawing/2014/main" id="{D48B5122-8658-CEE7-DDD5-B243AA759C14}"/>
                  </a:ext>
                </a:extLst>
              </p:cNvPr>
              <p:cNvSpPr/>
              <p:nvPr/>
            </p:nvSpPr>
            <p:spPr>
              <a:xfrm>
                <a:off x="3528879" y="339980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325"/>
                    </a:lnTo>
                    <a:lnTo>
                      <a:pt x="4260" y="0"/>
                    </a:lnTo>
                    <a:lnTo>
                      <a:pt x="5883" y="325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Landing_Baluster.013">
                <a:extLst>
                  <a:ext uri="{FF2B5EF4-FFF2-40B4-BE49-F238E27FC236}">
                    <a16:creationId xmlns:a16="http://schemas.microsoft.com/office/drawing/2014/main" id="{50B6F500-57D4-B827-7DD9-10FC08FC6BCC}"/>
                  </a:ext>
                </a:extLst>
              </p:cNvPr>
              <p:cNvSpPr/>
              <p:nvPr/>
            </p:nvSpPr>
            <p:spPr>
              <a:xfrm>
                <a:off x="3528879" y="336397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6981"/>
                    </a:moveTo>
                    <a:lnTo>
                      <a:pt x="5883" y="7874"/>
                    </a:lnTo>
                    <a:lnTo>
                      <a:pt x="4260" y="8198"/>
                    </a:lnTo>
                    <a:lnTo>
                      <a:pt x="2637" y="7874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7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7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Landing_Baluster.014">
                <a:extLst>
                  <a:ext uri="{FF2B5EF4-FFF2-40B4-BE49-F238E27FC236}">
                    <a16:creationId xmlns:a16="http://schemas.microsoft.com/office/drawing/2014/main" id="{20D9CF46-D1C9-06BA-5733-504801C88AC0}"/>
                  </a:ext>
                </a:extLst>
              </p:cNvPr>
              <p:cNvSpPr/>
              <p:nvPr/>
            </p:nvSpPr>
            <p:spPr>
              <a:xfrm>
                <a:off x="3528879" y="3328139"/>
                <a:ext cx="8521" cy="815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58">
                    <a:moveTo>
                      <a:pt x="7263" y="6981"/>
                    </a:moveTo>
                    <a:lnTo>
                      <a:pt x="5883" y="7873"/>
                    </a:lnTo>
                    <a:lnTo>
                      <a:pt x="4260" y="8158"/>
                    </a:lnTo>
                    <a:lnTo>
                      <a:pt x="2637" y="7873"/>
                    </a:lnTo>
                    <a:lnTo>
                      <a:pt x="1257" y="6981"/>
                    </a:lnTo>
                    <a:lnTo>
                      <a:pt x="324" y="564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177"/>
                    </a:lnTo>
                    <a:lnTo>
                      <a:pt x="2637" y="284"/>
                    </a:lnTo>
                    <a:lnTo>
                      <a:pt x="4260" y="0"/>
                    </a:lnTo>
                    <a:lnTo>
                      <a:pt x="5883" y="284"/>
                    </a:lnTo>
                    <a:lnTo>
                      <a:pt x="7263" y="117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4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Landing_Baluster.015">
                <a:extLst>
                  <a:ext uri="{FF2B5EF4-FFF2-40B4-BE49-F238E27FC236}">
                    <a16:creationId xmlns:a16="http://schemas.microsoft.com/office/drawing/2014/main" id="{4D35CEA2-D85D-5EB4-49CB-62FAECD9C892}"/>
                  </a:ext>
                </a:extLst>
              </p:cNvPr>
              <p:cNvSpPr/>
              <p:nvPr/>
            </p:nvSpPr>
            <p:spPr>
              <a:xfrm>
                <a:off x="3528879" y="3292264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913"/>
                    </a:lnTo>
                    <a:lnTo>
                      <a:pt x="4260" y="8198"/>
                    </a:lnTo>
                    <a:lnTo>
                      <a:pt x="2637" y="791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Landing_Baluster.016">
                <a:extLst>
                  <a:ext uri="{FF2B5EF4-FFF2-40B4-BE49-F238E27FC236}">
                    <a16:creationId xmlns:a16="http://schemas.microsoft.com/office/drawing/2014/main" id="{EBC5A500-DCAB-11F1-B9BF-83F493C6B333}"/>
                  </a:ext>
                </a:extLst>
              </p:cNvPr>
              <p:cNvSpPr/>
              <p:nvPr/>
            </p:nvSpPr>
            <p:spPr>
              <a:xfrm>
                <a:off x="3528879" y="3256429"/>
                <a:ext cx="8521" cy="8198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8">
                    <a:moveTo>
                      <a:pt x="7263" y="7021"/>
                    </a:moveTo>
                    <a:lnTo>
                      <a:pt x="5883" y="7873"/>
                    </a:lnTo>
                    <a:lnTo>
                      <a:pt x="4260" y="8198"/>
                    </a:lnTo>
                    <a:lnTo>
                      <a:pt x="2637" y="7873"/>
                    </a:lnTo>
                    <a:lnTo>
                      <a:pt x="1257" y="7021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5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5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Landing_Baluster.017">
                <a:extLst>
                  <a:ext uri="{FF2B5EF4-FFF2-40B4-BE49-F238E27FC236}">
                    <a16:creationId xmlns:a16="http://schemas.microsoft.com/office/drawing/2014/main" id="{FDA16E81-991B-020E-2BEA-D0FFCC95F7F8}"/>
                  </a:ext>
                </a:extLst>
              </p:cNvPr>
              <p:cNvSpPr/>
              <p:nvPr/>
            </p:nvSpPr>
            <p:spPr>
              <a:xfrm>
                <a:off x="3528879" y="3220594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anding_Baluster.018">
                <a:extLst>
                  <a:ext uri="{FF2B5EF4-FFF2-40B4-BE49-F238E27FC236}">
                    <a16:creationId xmlns:a16="http://schemas.microsoft.com/office/drawing/2014/main" id="{9837DC46-5458-0980-BC4B-FEB40C2EF57E}"/>
                  </a:ext>
                </a:extLst>
              </p:cNvPr>
              <p:cNvSpPr/>
              <p:nvPr/>
            </p:nvSpPr>
            <p:spPr>
              <a:xfrm>
                <a:off x="3528879" y="3184759"/>
                <a:ext cx="8521" cy="8197"/>
              </a:xfrm>
              <a:custGeom>
                <a:avLst/>
                <a:gdLst/>
                <a:ahLst/>
                <a:cxnLst/>
                <a:rect l="l" t="t" r="r" b="b"/>
                <a:pathLst>
                  <a:path w="8521" h="8197">
                    <a:moveTo>
                      <a:pt x="7263" y="6980"/>
                    </a:moveTo>
                    <a:lnTo>
                      <a:pt x="5883" y="7873"/>
                    </a:lnTo>
                    <a:lnTo>
                      <a:pt x="4260" y="8197"/>
                    </a:lnTo>
                    <a:lnTo>
                      <a:pt x="2637" y="7873"/>
                    </a:lnTo>
                    <a:lnTo>
                      <a:pt x="1257" y="6980"/>
                    </a:lnTo>
                    <a:lnTo>
                      <a:pt x="324" y="5681"/>
                    </a:lnTo>
                    <a:lnTo>
                      <a:pt x="0" y="4099"/>
                    </a:lnTo>
                    <a:lnTo>
                      <a:pt x="324" y="2516"/>
                    </a:lnTo>
                    <a:lnTo>
                      <a:pt x="1257" y="1217"/>
                    </a:lnTo>
                    <a:lnTo>
                      <a:pt x="2637" y="324"/>
                    </a:lnTo>
                    <a:lnTo>
                      <a:pt x="4260" y="0"/>
                    </a:lnTo>
                    <a:lnTo>
                      <a:pt x="5883" y="324"/>
                    </a:lnTo>
                    <a:lnTo>
                      <a:pt x="7263" y="1217"/>
                    </a:lnTo>
                    <a:lnTo>
                      <a:pt x="8196" y="2516"/>
                    </a:lnTo>
                    <a:lnTo>
                      <a:pt x="8521" y="4099"/>
                    </a:lnTo>
                    <a:lnTo>
                      <a:pt x="8196" y="568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-1">
                <a:extLst>
                  <a:ext uri="{FF2B5EF4-FFF2-40B4-BE49-F238E27FC236}">
                    <a16:creationId xmlns:a16="http://schemas.microsoft.com/office/drawing/2014/main" id="{564FDBC6-D875-3E4A-BE94-F34E95887F6D}"/>
                  </a:ext>
                </a:extLst>
              </p:cNvPr>
              <p:cNvSpPr/>
              <p:nvPr/>
            </p:nvSpPr>
            <p:spPr>
              <a:xfrm>
                <a:off x="1418054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Lift_Guide_Duo_1">
                <a:extLst>
                  <a:ext uri="{FF2B5EF4-FFF2-40B4-BE49-F238E27FC236}">
                    <a16:creationId xmlns:a16="http://schemas.microsoft.com/office/drawing/2014/main" id="{41B18154-8CBF-3D4E-CAD4-36024E7E5524}"/>
                  </a:ext>
                </a:extLst>
              </p:cNvPr>
              <p:cNvSpPr/>
              <p:nvPr/>
            </p:nvSpPr>
            <p:spPr>
              <a:xfrm>
                <a:off x="1817957" y="3333334"/>
                <a:ext cx="24956" cy="56817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56817">
                    <a:moveTo>
                      <a:pt x="0" y="0"/>
                    </a:moveTo>
                    <a:lnTo>
                      <a:pt x="24956" y="0"/>
                    </a:lnTo>
                    <a:lnTo>
                      <a:pt x="24956" y="56817"/>
                    </a:lnTo>
                    <a:lnTo>
                      <a:pt x="0" y="568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28">
                <a:extLst>
                  <a:ext uri="{FF2B5EF4-FFF2-40B4-BE49-F238E27FC236}">
                    <a16:creationId xmlns:a16="http://schemas.microsoft.com/office/drawing/2014/main" id="{50AC45B7-5F8C-0778-5E05-59E59BB191ED}"/>
                  </a:ext>
                </a:extLst>
              </p:cNvPr>
              <p:cNvSpPr/>
              <p:nvPr/>
            </p:nvSpPr>
            <p:spPr>
              <a:xfrm>
                <a:off x="2341545" y="3467868"/>
                <a:ext cx="12336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336" h="58845">
                    <a:moveTo>
                      <a:pt x="0" y="0"/>
                    </a:moveTo>
                    <a:lnTo>
                      <a:pt x="12336" y="0"/>
                    </a:lnTo>
                    <a:lnTo>
                      <a:pt x="12336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29">
                <a:extLst>
                  <a:ext uri="{FF2B5EF4-FFF2-40B4-BE49-F238E27FC236}">
                    <a16:creationId xmlns:a16="http://schemas.microsoft.com/office/drawing/2014/main" id="{A438263E-0007-5606-6BDE-5A90C2873A43}"/>
                  </a:ext>
                </a:extLst>
              </p:cNvPr>
              <p:cNvSpPr/>
              <p:nvPr/>
            </p:nvSpPr>
            <p:spPr>
              <a:xfrm>
                <a:off x="2714220" y="3467868"/>
                <a:ext cx="12295" cy="58845"/>
              </a:xfrm>
              <a:custGeom>
                <a:avLst/>
                <a:gdLst/>
                <a:ahLst/>
                <a:cxnLst/>
                <a:rect l="l" t="t" r="r" b="b"/>
                <a:pathLst>
                  <a:path w="12295" h="58845">
                    <a:moveTo>
                      <a:pt x="0" y="0"/>
                    </a:moveTo>
                    <a:lnTo>
                      <a:pt x="12295" y="0"/>
                    </a:lnTo>
                    <a:lnTo>
                      <a:pt x="12295" y="58845"/>
                    </a:lnTo>
                    <a:lnTo>
                      <a:pt x="0" y="58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DoorLeaf.009">
                <a:extLst>
                  <a:ext uri="{FF2B5EF4-FFF2-40B4-BE49-F238E27FC236}">
                    <a16:creationId xmlns:a16="http://schemas.microsoft.com/office/drawing/2014/main" id="{9C35A2A1-1583-DF5A-9A84-FD36ED700446}"/>
                  </a:ext>
                </a:extLst>
              </p:cNvPr>
              <p:cNvSpPr/>
              <p:nvPr/>
            </p:nvSpPr>
            <p:spPr>
              <a:xfrm>
                <a:off x="2657978" y="3144459"/>
                <a:ext cx="63100" cy="353602"/>
              </a:xfrm>
              <a:custGeom>
                <a:avLst/>
                <a:gdLst/>
                <a:ahLst/>
                <a:cxnLst/>
                <a:rect l="l" t="t" r="r" b="b"/>
                <a:pathLst>
                  <a:path w="63100" h="353602">
                    <a:moveTo>
                      <a:pt x="63059" y="350883"/>
                    </a:moveTo>
                    <a:lnTo>
                      <a:pt x="63100" y="350234"/>
                    </a:lnTo>
                    <a:lnTo>
                      <a:pt x="14080" y="1380"/>
                    </a:lnTo>
                    <a:lnTo>
                      <a:pt x="13878" y="772"/>
                    </a:lnTo>
                    <a:lnTo>
                      <a:pt x="13431" y="285"/>
                    </a:lnTo>
                    <a:lnTo>
                      <a:pt x="12863" y="41"/>
                    </a:lnTo>
                    <a:lnTo>
                      <a:pt x="12214" y="0"/>
                    </a:lnTo>
                    <a:lnTo>
                      <a:pt x="1379" y="1543"/>
                    </a:lnTo>
                    <a:lnTo>
                      <a:pt x="771" y="1746"/>
                    </a:lnTo>
                    <a:lnTo>
                      <a:pt x="324" y="2151"/>
                    </a:lnTo>
                    <a:lnTo>
                      <a:pt x="40" y="2720"/>
                    </a:lnTo>
                    <a:lnTo>
                      <a:pt x="0" y="3369"/>
                    </a:lnTo>
                    <a:lnTo>
                      <a:pt x="48897" y="352223"/>
                    </a:lnTo>
                    <a:lnTo>
                      <a:pt x="49100" y="352831"/>
                    </a:lnTo>
                    <a:lnTo>
                      <a:pt x="49546" y="353278"/>
                    </a:lnTo>
                    <a:lnTo>
                      <a:pt x="50114" y="353562"/>
                    </a:lnTo>
                    <a:lnTo>
                      <a:pt x="50723" y="353602"/>
                    </a:lnTo>
                    <a:lnTo>
                      <a:pt x="61720" y="352060"/>
                    </a:lnTo>
                    <a:lnTo>
                      <a:pt x="62329" y="351857"/>
                    </a:lnTo>
                    <a:lnTo>
                      <a:pt x="62816" y="35145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FrameJamb.048">
                <a:extLst>
                  <a:ext uri="{FF2B5EF4-FFF2-40B4-BE49-F238E27FC236}">
                    <a16:creationId xmlns:a16="http://schemas.microsoft.com/office/drawing/2014/main" id="{61347552-9D9E-D8B2-48AB-D3A17E293165}"/>
                  </a:ext>
                </a:extLst>
              </p:cNvPr>
              <p:cNvSpPr/>
              <p:nvPr/>
            </p:nvSpPr>
            <p:spPr>
              <a:xfrm>
                <a:off x="3271528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FrameJamb.049">
                <a:extLst>
                  <a:ext uri="{FF2B5EF4-FFF2-40B4-BE49-F238E27FC236}">
                    <a16:creationId xmlns:a16="http://schemas.microsoft.com/office/drawing/2014/main" id="{8FB9C7B6-262F-8A83-8211-7F96E286D476}"/>
                  </a:ext>
                </a:extLst>
              </p:cNvPr>
              <p:cNvSpPr/>
              <p:nvPr/>
            </p:nvSpPr>
            <p:spPr>
              <a:xfrm>
                <a:off x="3684133" y="3893992"/>
                <a:ext cx="12782" cy="58846"/>
              </a:xfrm>
              <a:custGeom>
                <a:avLst/>
                <a:gdLst/>
                <a:ahLst/>
                <a:cxnLst/>
                <a:rect l="l" t="t" r="r" b="b"/>
                <a:pathLst>
                  <a:path w="12782" h="58846">
                    <a:moveTo>
                      <a:pt x="0" y="0"/>
                    </a:moveTo>
                    <a:lnTo>
                      <a:pt x="12782" y="0"/>
                    </a:lnTo>
                    <a:lnTo>
                      <a:pt x="12782" y="58846"/>
                    </a:lnTo>
                    <a:lnTo>
                      <a:pt x="0" y="5884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PassageJamb_FF">
                <a:extLst>
                  <a:ext uri="{FF2B5EF4-FFF2-40B4-BE49-F238E27FC236}">
                    <a16:creationId xmlns:a16="http://schemas.microsoft.com/office/drawing/2014/main" id="{95BE67ED-2EE8-B999-8A11-AA1B0E2FDFCE}"/>
                  </a:ext>
                </a:extLst>
              </p:cNvPr>
              <p:cNvSpPr/>
              <p:nvPr/>
            </p:nvSpPr>
            <p:spPr>
              <a:xfrm>
                <a:off x="1358078" y="3884455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PassageJamb_FF.001">
                <a:extLst>
                  <a:ext uri="{FF2B5EF4-FFF2-40B4-BE49-F238E27FC236}">
                    <a16:creationId xmlns:a16="http://schemas.microsoft.com/office/drawing/2014/main" id="{A2448B4C-2F7B-81CB-6E88-325D4146DA3B}"/>
                  </a:ext>
                </a:extLst>
              </p:cNvPr>
              <p:cNvSpPr/>
              <p:nvPr/>
            </p:nvSpPr>
            <p:spPr>
              <a:xfrm>
                <a:off x="1358078" y="3497290"/>
                <a:ext cx="62289" cy="14610"/>
              </a:xfrm>
              <a:custGeom>
                <a:avLst/>
                <a:gdLst/>
                <a:ahLst/>
                <a:cxnLst/>
                <a:rect l="l" t="t" r="r" b="b"/>
                <a:pathLst>
                  <a:path w="62289" h="14610">
                    <a:moveTo>
                      <a:pt x="0" y="0"/>
                    </a:moveTo>
                    <a:lnTo>
                      <a:pt x="62289" y="0"/>
                    </a:lnTo>
                    <a:lnTo>
                      <a:pt x="62289" y="14610"/>
                    </a:lnTo>
                    <a:lnTo>
                      <a:pt x="0" y="1461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PassageLeaf_FF">
                <a:extLst>
                  <a:ext uri="{FF2B5EF4-FFF2-40B4-BE49-F238E27FC236}">
                    <a16:creationId xmlns:a16="http://schemas.microsoft.com/office/drawing/2014/main" id="{048201CB-B9C3-0E08-C58D-00A51C01A423}"/>
                  </a:ext>
                </a:extLst>
              </p:cNvPr>
              <p:cNvSpPr/>
              <p:nvPr/>
            </p:nvSpPr>
            <p:spPr>
              <a:xfrm>
                <a:off x="1010684" y="3504879"/>
                <a:ext cx="379573" cy="65908"/>
              </a:xfrm>
              <a:custGeom>
                <a:avLst/>
                <a:gdLst/>
                <a:ahLst/>
                <a:cxnLst/>
                <a:rect l="l" t="t" r="r" b="b"/>
                <a:pathLst>
                  <a:path w="379573" h="65908">
                    <a:moveTo>
                      <a:pt x="379573" y="14042"/>
                    </a:moveTo>
                    <a:lnTo>
                      <a:pt x="2029" y="65908"/>
                    </a:lnTo>
                    <a:lnTo>
                      <a:pt x="0" y="51825"/>
                    </a:lnTo>
                    <a:lnTo>
                      <a:pt x="37754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oorLeaf.014">
                <a:extLst>
                  <a:ext uri="{FF2B5EF4-FFF2-40B4-BE49-F238E27FC236}">
                    <a16:creationId xmlns:a16="http://schemas.microsoft.com/office/drawing/2014/main" id="{6C07DE54-F5AF-8906-D8D7-C9F9F8D9767C}"/>
                  </a:ext>
                </a:extLst>
              </p:cNvPr>
              <p:cNvSpPr/>
              <p:nvPr/>
            </p:nvSpPr>
            <p:spPr>
              <a:xfrm>
                <a:off x="3621966" y="3922644"/>
                <a:ext cx="69309" cy="381726"/>
              </a:xfrm>
              <a:custGeom>
                <a:avLst/>
                <a:gdLst/>
                <a:ahLst/>
                <a:cxnLst/>
                <a:rect l="l" t="t" r="r" b="b"/>
                <a:pathLst>
                  <a:path w="69309" h="381726">
                    <a:moveTo>
                      <a:pt x="0" y="378966"/>
                    </a:moveTo>
                    <a:lnTo>
                      <a:pt x="0" y="378317"/>
                    </a:lnTo>
                    <a:lnTo>
                      <a:pt x="54579" y="1380"/>
                    </a:lnTo>
                    <a:lnTo>
                      <a:pt x="54781" y="811"/>
                    </a:lnTo>
                    <a:lnTo>
                      <a:pt x="55228" y="324"/>
                    </a:lnTo>
                    <a:lnTo>
                      <a:pt x="55796" y="40"/>
                    </a:lnTo>
                    <a:lnTo>
                      <a:pt x="56405" y="0"/>
                    </a:lnTo>
                    <a:lnTo>
                      <a:pt x="67929" y="1542"/>
                    </a:lnTo>
                    <a:lnTo>
                      <a:pt x="68538" y="1745"/>
                    </a:lnTo>
                    <a:lnTo>
                      <a:pt x="69025" y="2191"/>
                    </a:lnTo>
                    <a:lnTo>
                      <a:pt x="69268" y="2759"/>
                    </a:lnTo>
                    <a:lnTo>
                      <a:pt x="69309" y="3368"/>
                    </a:lnTo>
                    <a:lnTo>
                      <a:pt x="14730" y="380346"/>
                    </a:lnTo>
                    <a:lnTo>
                      <a:pt x="14527" y="380955"/>
                    </a:lnTo>
                    <a:lnTo>
                      <a:pt x="14081" y="381401"/>
                    </a:lnTo>
                    <a:lnTo>
                      <a:pt x="13513" y="381685"/>
                    </a:lnTo>
                    <a:lnTo>
                      <a:pt x="12904" y="381726"/>
                    </a:lnTo>
                    <a:lnTo>
                      <a:pt x="1339" y="380143"/>
                    </a:lnTo>
                    <a:lnTo>
                      <a:pt x="771" y="379940"/>
                    </a:lnTo>
                    <a:lnTo>
                      <a:pt x="284" y="37953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WD_07_10_Study 1 Window_LowerL">
                <a:extLst>
                  <a:ext uri="{FF2B5EF4-FFF2-40B4-BE49-F238E27FC236}">
                    <a16:creationId xmlns:a16="http://schemas.microsoft.com/office/drawing/2014/main" id="{591EB3B5-EFD6-7660-C059-2E9786DFE4DF}"/>
                  </a:ext>
                </a:extLst>
              </p:cNvPr>
              <p:cNvSpPr/>
              <p:nvPr/>
            </p:nvSpPr>
            <p:spPr>
              <a:xfrm>
                <a:off x="2369422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WD_07_10_Study 1 Window_LowerR">
                <a:extLst>
                  <a:ext uri="{FF2B5EF4-FFF2-40B4-BE49-F238E27FC236}">
                    <a16:creationId xmlns:a16="http://schemas.microsoft.com/office/drawing/2014/main" id="{B0519F38-3D5F-242A-FBD8-0971BC6C8FED}"/>
                  </a:ext>
                </a:extLst>
              </p:cNvPr>
              <p:cNvSpPr/>
              <p:nvPr/>
            </p:nvSpPr>
            <p:spPr>
              <a:xfrm>
                <a:off x="2021257" y="2435023"/>
                <a:ext cx="12985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8">
                    <a:moveTo>
                      <a:pt x="12985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WD_07_10_Study 1 Window_OuterL">
                <a:extLst>
                  <a:ext uri="{FF2B5EF4-FFF2-40B4-BE49-F238E27FC236}">
                    <a16:creationId xmlns:a16="http://schemas.microsoft.com/office/drawing/2014/main" id="{20189F94-87D1-02E2-F809-8CA75EE3F88B}"/>
                  </a:ext>
                </a:extLst>
              </p:cNvPr>
              <p:cNvSpPr/>
              <p:nvPr/>
            </p:nvSpPr>
            <p:spPr>
              <a:xfrm>
                <a:off x="2382407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WD_07_10_Study 1 Window_OuterR">
                <a:extLst>
                  <a:ext uri="{FF2B5EF4-FFF2-40B4-BE49-F238E27FC236}">
                    <a16:creationId xmlns:a16="http://schemas.microsoft.com/office/drawing/2014/main" id="{25928827-797C-291F-FE17-F39E1C7C5BEC}"/>
                  </a:ext>
                </a:extLst>
              </p:cNvPr>
              <p:cNvSpPr/>
              <p:nvPr/>
            </p:nvSpPr>
            <p:spPr>
              <a:xfrm>
                <a:off x="1998938" y="2435023"/>
                <a:ext cx="22319" cy="30438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8">
                    <a:moveTo>
                      <a:pt x="22319" y="30438"/>
                    </a:moveTo>
                    <a:lnTo>
                      <a:pt x="0" y="30438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WD_08_11_Study 2 Window_LowerL">
                <a:extLst>
                  <a:ext uri="{FF2B5EF4-FFF2-40B4-BE49-F238E27FC236}">
                    <a16:creationId xmlns:a16="http://schemas.microsoft.com/office/drawing/2014/main" id="{CE3A3607-AA29-9FD6-A5EA-734AAC9970D1}"/>
                  </a:ext>
                </a:extLst>
              </p:cNvPr>
              <p:cNvSpPr/>
              <p:nvPr/>
            </p:nvSpPr>
            <p:spPr>
              <a:xfrm>
                <a:off x="2613503" y="1980693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WD_08_11_Study 2 Window_LowerR">
                <a:extLst>
                  <a:ext uri="{FF2B5EF4-FFF2-40B4-BE49-F238E27FC236}">
                    <a16:creationId xmlns:a16="http://schemas.microsoft.com/office/drawing/2014/main" id="{F03CBD16-A156-CEE8-03BB-86824C36C006}"/>
                  </a:ext>
                </a:extLst>
              </p:cNvPr>
              <p:cNvSpPr/>
              <p:nvPr/>
            </p:nvSpPr>
            <p:spPr>
              <a:xfrm>
                <a:off x="2613503" y="1632489"/>
                <a:ext cx="30434" cy="12987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12987">
                    <a:moveTo>
                      <a:pt x="0" y="12987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1298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WD_08_11_Study 2 Window_OuterL">
                <a:extLst>
                  <a:ext uri="{FF2B5EF4-FFF2-40B4-BE49-F238E27FC236}">
                    <a16:creationId xmlns:a16="http://schemas.microsoft.com/office/drawing/2014/main" id="{E2723628-ABF1-042F-2A6B-CD59543C163B}"/>
                  </a:ext>
                </a:extLst>
              </p:cNvPr>
              <p:cNvSpPr/>
              <p:nvPr/>
            </p:nvSpPr>
            <p:spPr>
              <a:xfrm>
                <a:off x="2613503" y="1993680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WD_08_11_Study 2 Window_OuterR">
                <a:extLst>
                  <a:ext uri="{FF2B5EF4-FFF2-40B4-BE49-F238E27FC236}">
                    <a16:creationId xmlns:a16="http://schemas.microsoft.com/office/drawing/2014/main" id="{10E5ABEA-3BA4-49F0-9420-A8F55A34A2EA}"/>
                  </a:ext>
                </a:extLst>
              </p:cNvPr>
              <p:cNvSpPr/>
              <p:nvPr/>
            </p:nvSpPr>
            <p:spPr>
              <a:xfrm>
                <a:off x="2613503" y="1610168"/>
                <a:ext cx="30434" cy="22321"/>
              </a:xfrm>
              <a:custGeom>
                <a:avLst/>
                <a:gdLst/>
                <a:ahLst/>
                <a:cxnLst/>
                <a:rect l="l" t="t" r="r" b="b"/>
                <a:pathLst>
                  <a:path w="30434" h="22321">
                    <a:moveTo>
                      <a:pt x="0" y="22321"/>
                    </a:moveTo>
                    <a:lnTo>
                      <a:pt x="0" y="0"/>
                    </a:lnTo>
                    <a:lnTo>
                      <a:pt x="30434" y="0"/>
                    </a:lnTo>
                    <a:lnTo>
                      <a:pt x="30434" y="2232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10_16_Bedroom Window (Clear)_LowerL">
                <a:extLst>
                  <a:ext uri="{FF2B5EF4-FFF2-40B4-BE49-F238E27FC236}">
                    <a16:creationId xmlns:a16="http://schemas.microsoft.com/office/drawing/2014/main" id="{37A3642F-8FE4-75EA-FFD9-7AF985DB95E9}"/>
                  </a:ext>
                </a:extLst>
              </p:cNvPr>
              <p:cNvSpPr/>
              <p:nvPr/>
            </p:nvSpPr>
            <p:spPr>
              <a:xfrm>
                <a:off x="2991900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10_16_Bedroom Window (Clear)_LowerR">
                <a:extLst>
                  <a:ext uri="{FF2B5EF4-FFF2-40B4-BE49-F238E27FC236}">
                    <a16:creationId xmlns:a16="http://schemas.microsoft.com/office/drawing/2014/main" id="{44909E44-6CAA-86FE-FC5F-7A5AADBE1564}"/>
                  </a:ext>
                </a:extLst>
              </p:cNvPr>
              <p:cNvSpPr/>
              <p:nvPr/>
            </p:nvSpPr>
            <p:spPr>
              <a:xfrm>
                <a:off x="334006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0" y="0"/>
                    </a:moveTo>
                    <a:lnTo>
                      <a:pt x="12985" y="0"/>
                    </a:lnTo>
                    <a:lnTo>
                      <a:pt x="12985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10_16_Bedroom Window (Clear)_OuterL">
                <a:extLst>
                  <a:ext uri="{FF2B5EF4-FFF2-40B4-BE49-F238E27FC236}">
                    <a16:creationId xmlns:a16="http://schemas.microsoft.com/office/drawing/2014/main" id="{F29628AB-BADE-87E1-ED01-75076D39F776}"/>
                  </a:ext>
                </a:extLst>
              </p:cNvPr>
              <p:cNvSpPr/>
              <p:nvPr/>
            </p:nvSpPr>
            <p:spPr>
              <a:xfrm>
                <a:off x="2969582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10_16_Bedroom Window (Clear)_OuterR">
                <a:extLst>
                  <a:ext uri="{FF2B5EF4-FFF2-40B4-BE49-F238E27FC236}">
                    <a16:creationId xmlns:a16="http://schemas.microsoft.com/office/drawing/2014/main" id="{3686FCC6-081E-5FD7-6462-C52FED4035E8}"/>
                  </a:ext>
                </a:extLst>
              </p:cNvPr>
              <p:cNvSpPr/>
              <p:nvPr/>
            </p:nvSpPr>
            <p:spPr>
              <a:xfrm>
                <a:off x="3353051" y="5661394"/>
                <a:ext cx="22318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8" h="30437">
                    <a:moveTo>
                      <a:pt x="0" y="0"/>
                    </a:moveTo>
                    <a:lnTo>
                      <a:pt x="22318" y="0"/>
                    </a:lnTo>
                    <a:lnTo>
                      <a:pt x="22318" y="30437"/>
                    </a:lnTo>
                    <a:lnTo>
                      <a:pt x="0" y="304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11_17_Bedroom Window (Frosted)_LowerL">
                <a:extLst>
                  <a:ext uri="{FF2B5EF4-FFF2-40B4-BE49-F238E27FC236}">
                    <a16:creationId xmlns:a16="http://schemas.microsoft.com/office/drawing/2014/main" id="{9493DBD5-C5C4-A764-C26B-CFCAD7D835AA}"/>
                  </a:ext>
                </a:extLst>
              </p:cNvPr>
              <p:cNvSpPr/>
              <p:nvPr/>
            </p:nvSpPr>
            <p:spPr>
              <a:xfrm>
                <a:off x="2624216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11_17_Bedroom Window (Frosted)_LowerR">
                <a:extLst>
                  <a:ext uri="{FF2B5EF4-FFF2-40B4-BE49-F238E27FC236}">
                    <a16:creationId xmlns:a16="http://schemas.microsoft.com/office/drawing/2014/main" id="{5F409CA0-F231-CA73-665A-958DF21040D3}"/>
                  </a:ext>
                </a:extLst>
              </p:cNvPr>
              <p:cNvSpPr/>
              <p:nvPr/>
            </p:nvSpPr>
            <p:spPr>
              <a:xfrm>
                <a:off x="2276051" y="5661394"/>
                <a:ext cx="12985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12985" h="30437">
                    <a:moveTo>
                      <a:pt x="12985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12985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11_17_Bedroom Window (Frosted)_OuterL">
                <a:extLst>
                  <a:ext uri="{FF2B5EF4-FFF2-40B4-BE49-F238E27FC236}">
                    <a16:creationId xmlns:a16="http://schemas.microsoft.com/office/drawing/2014/main" id="{6DFDFE20-8618-6B48-FF93-B587331D39C4}"/>
                  </a:ext>
                </a:extLst>
              </p:cNvPr>
              <p:cNvSpPr/>
              <p:nvPr/>
            </p:nvSpPr>
            <p:spPr>
              <a:xfrm>
                <a:off x="2637201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11_17_Bedroom Window (Frosted)_OuterR">
                <a:extLst>
                  <a:ext uri="{FF2B5EF4-FFF2-40B4-BE49-F238E27FC236}">
                    <a16:creationId xmlns:a16="http://schemas.microsoft.com/office/drawing/2014/main" id="{29361968-058A-29EB-204E-E23D4FB62547}"/>
                  </a:ext>
                </a:extLst>
              </p:cNvPr>
              <p:cNvSpPr/>
              <p:nvPr/>
            </p:nvSpPr>
            <p:spPr>
              <a:xfrm>
                <a:off x="2253732" y="5661394"/>
                <a:ext cx="22319" cy="30437"/>
              </a:xfrm>
              <a:custGeom>
                <a:avLst/>
                <a:gdLst/>
                <a:ahLst/>
                <a:cxnLst/>
                <a:rect l="l" t="t" r="r" b="b"/>
                <a:pathLst>
                  <a:path w="22319" h="30437">
                    <a:moveTo>
                      <a:pt x="22319" y="30437"/>
                    </a:moveTo>
                    <a:lnTo>
                      <a:pt x="0" y="30437"/>
                    </a:lnTo>
                    <a:lnTo>
                      <a:pt x="0" y="0"/>
                    </a:lnTo>
                    <a:lnTo>
                      <a:pt x="2231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Bifold slim jamb">
                <a:extLst>
                  <a:ext uri="{FF2B5EF4-FFF2-40B4-BE49-F238E27FC236}">
                    <a16:creationId xmlns:a16="http://schemas.microsoft.com/office/drawing/2014/main" id="{E3CECA8B-8BD2-A84F-A52D-A1F27A050CBD}"/>
                  </a:ext>
                </a:extLst>
              </p:cNvPr>
              <p:cNvSpPr/>
              <p:nvPr/>
            </p:nvSpPr>
            <p:spPr>
              <a:xfrm>
                <a:off x="2596988" y="4515931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8"/>
                    </a:lnTo>
                    <a:lnTo>
                      <a:pt x="52752" y="11566"/>
                    </a:lnTo>
                    <a:lnTo>
                      <a:pt x="52712" y="11809"/>
                    </a:lnTo>
                    <a:lnTo>
                      <a:pt x="52590" y="12012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2"/>
                    </a:lnTo>
                    <a:lnTo>
                      <a:pt x="40" y="11809"/>
                    </a:lnTo>
                    <a:lnTo>
                      <a:pt x="0" y="11566"/>
                    </a:lnTo>
                    <a:lnTo>
                      <a:pt x="0" y="608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Bifold slim jamb.001">
                <a:extLst>
                  <a:ext uri="{FF2B5EF4-FFF2-40B4-BE49-F238E27FC236}">
                    <a16:creationId xmlns:a16="http://schemas.microsoft.com/office/drawing/2014/main" id="{D93DE9E4-AB95-D456-556B-77C3B5038CC8}"/>
                  </a:ext>
                </a:extLst>
              </p:cNvPr>
              <p:cNvSpPr/>
              <p:nvPr/>
            </p:nvSpPr>
            <p:spPr>
              <a:xfrm>
                <a:off x="2596988" y="4097923"/>
                <a:ext cx="52752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2752" h="12175">
                    <a:moveTo>
                      <a:pt x="406" y="40"/>
                    </a:moveTo>
                    <a:lnTo>
                      <a:pt x="608" y="0"/>
                    </a:lnTo>
                    <a:lnTo>
                      <a:pt x="52143" y="0"/>
                    </a:lnTo>
                    <a:lnTo>
                      <a:pt x="52387" y="40"/>
                    </a:lnTo>
                    <a:lnTo>
                      <a:pt x="52590" y="203"/>
                    </a:lnTo>
                    <a:lnTo>
                      <a:pt x="52712" y="365"/>
                    </a:lnTo>
                    <a:lnTo>
                      <a:pt x="52752" y="609"/>
                    </a:lnTo>
                    <a:lnTo>
                      <a:pt x="52752" y="11566"/>
                    </a:lnTo>
                    <a:lnTo>
                      <a:pt x="52712" y="11810"/>
                    </a:lnTo>
                    <a:lnTo>
                      <a:pt x="52590" y="12013"/>
                    </a:lnTo>
                    <a:lnTo>
                      <a:pt x="52387" y="12134"/>
                    </a:lnTo>
                    <a:lnTo>
                      <a:pt x="52143" y="12175"/>
                    </a:lnTo>
                    <a:lnTo>
                      <a:pt x="608" y="12175"/>
                    </a:lnTo>
                    <a:lnTo>
                      <a:pt x="406" y="12134"/>
                    </a:lnTo>
                    <a:lnTo>
                      <a:pt x="203" y="12013"/>
                    </a:lnTo>
                    <a:lnTo>
                      <a:pt x="40" y="11810"/>
                    </a:lnTo>
                    <a:lnTo>
                      <a:pt x="0" y="11566"/>
                    </a:lnTo>
                    <a:lnTo>
                      <a:pt x="0" y="609"/>
                    </a:lnTo>
                    <a:lnTo>
                      <a:pt x="40" y="365"/>
                    </a:lnTo>
                    <a:lnTo>
                      <a:pt x="203" y="20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Rear215 jamb">
                <a:extLst>
                  <a:ext uri="{FF2B5EF4-FFF2-40B4-BE49-F238E27FC236}">
                    <a16:creationId xmlns:a16="http://schemas.microsoft.com/office/drawing/2014/main" id="{707112ED-273C-161D-D8E0-A9F5B1D9152A}"/>
                  </a:ext>
                </a:extLst>
              </p:cNvPr>
              <p:cNvSpPr/>
              <p:nvPr/>
            </p:nvSpPr>
            <p:spPr>
              <a:xfrm>
                <a:off x="3184649" y="2421834"/>
                <a:ext cx="12174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174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9739" y="0"/>
                    </a:lnTo>
                    <a:lnTo>
                      <a:pt x="10672" y="203"/>
                    </a:lnTo>
                    <a:lnTo>
                      <a:pt x="11443" y="730"/>
                    </a:lnTo>
                    <a:lnTo>
                      <a:pt x="11971" y="1501"/>
                    </a:lnTo>
                    <a:lnTo>
                      <a:pt x="12174" y="2435"/>
                    </a:lnTo>
                    <a:lnTo>
                      <a:pt x="12174" y="54381"/>
                    </a:lnTo>
                    <a:lnTo>
                      <a:pt x="11971" y="55315"/>
                    </a:lnTo>
                    <a:lnTo>
                      <a:pt x="11443" y="56126"/>
                    </a:lnTo>
                    <a:lnTo>
                      <a:pt x="10672" y="56654"/>
                    </a:lnTo>
                    <a:lnTo>
                      <a:pt x="9739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690" y="56126"/>
                    </a:lnTo>
                    <a:lnTo>
                      <a:pt x="162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162" y="1501"/>
                    </a:lnTo>
                    <a:lnTo>
                      <a:pt x="690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Rear215 jamb.001">
                <a:extLst>
                  <a:ext uri="{FF2B5EF4-FFF2-40B4-BE49-F238E27FC236}">
                    <a16:creationId xmlns:a16="http://schemas.microsoft.com/office/drawing/2014/main" id="{0598CAED-4677-23A1-A4E5-A5FE2A50932A}"/>
                  </a:ext>
                </a:extLst>
              </p:cNvPr>
              <p:cNvSpPr/>
              <p:nvPr/>
            </p:nvSpPr>
            <p:spPr>
              <a:xfrm>
                <a:off x="3509725" y="2421834"/>
                <a:ext cx="12783" cy="56816"/>
              </a:xfrm>
              <a:custGeom>
                <a:avLst/>
                <a:gdLst/>
                <a:ahLst/>
                <a:cxnLst/>
                <a:rect l="l" t="t" r="r" b="b"/>
                <a:pathLst>
                  <a:path w="12783" h="56816">
                    <a:moveTo>
                      <a:pt x="1502" y="203"/>
                    </a:moveTo>
                    <a:lnTo>
                      <a:pt x="2435" y="0"/>
                    </a:lnTo>
                    <a:lnTo>
                      <a:pt x="10348" y="0"/>
                    </a:lnTo>
                    <a:lnTo>
                      <a:pt x="11281" y="203"/>
                    </a:lnTo>
                    <a:lnTo>
                      <a:pt x="12052" y="730"/>
                    </a:lnTo>
                    <a:lnTo>
                      <a:pt x="12580" y="1501"/>
                    </a:lnTo>
                    <a:lnTo>
                      <a:pt x="12783" y="2435"/>
                    </a:lnTo>
                    <a:lnTo>
                      <a:pt x="12783" y="54381"/>
                    </a:lnTo>
                    <a:lnTo>
                      <a:pt x="12580" y="55315"/>
                    </a:lnTo>
                    <a:lnTo>
                      <a:pt x="12052" y="56126"/>
                    </a:lnTo>
                    <a:lnTo>
                      <a:pt x="11281" y="56654"/>
                    </a:lnTo>
                    <a:lnTo>
                      <a:pt x="10348" y="56816"/>
                    </a:lnTo>
                    <a:lnTo>
                      <a:pt x="2435" y="56816"/>
                    </a:lnTo>
                    <a:lnTo>
                      <a:pt x="1502" y="56654"/>
                    </a:lnTo>
                    <a:lnTo>
                      <a:pt x="731" y="56126"/>
                    </a:lnTo>
                    <a:lnTo>
                      <a:pt x="203" y="55315"/>
                    </a:lnTo>
                    <a:lnTo>
                      <a:pt x="0" y="54381"/>
                    </a:lnTo>
                    <a:lnTo>
                      <a:pt x="0" y="2435"/>
                    </a:lnTo>
                    <a:lnTo>
                      <a:pt x="203" y="1501"/>
                    </a:lnTo>
                    <a:lnTo>
                      <a:pt x="731" y="73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DoorLeaf_Rear215">
                <a:extLst>
                  <a:ext uri="{FF2B5EF4-FFF2-40B4-BE49-F238E27FC236}">
                    <a16:creationId xmlns:a16="http://schemas.microsoft.com/office/drawing/2014/main" id="{4E5F1EAF-A1D2-FB19-98E4-51A8733FBF90}"/>
                  </a:ext>
                </a:extLst>
              </p:cNvPr>
              <p:cNvSpPr/>
              <p:nvPr/>
            </p:nvSpPr>
            <p:spPr>
              <a:xfrm>
                <a:off x="3460057" y="2172612"/>
                <a:ext cx="55390" cy="278158"/>
              </a:xfrm>
              <a:custGeom>
                <a:avLst/>
                <a:gdLst/>
                <a:ahLst/>
                <a:cxnLst/>
                <a:rect l="l" t="t" r="r" b="b"/>
                <a:pathLst>
                  <a:path w="55390" h="278158">
                    <a:moveTo>
                      <a:pt x="55309" y="274708"/>
                    </a:moveTo>
                    <a:lnTo>
                      <a:pt x="55390" y="273450"/>
                    </a:lnTo>
                    <a:lnTo>
                      <a:pt x="14568" y="2759"/>
                    </a:lnTo>
                    <a:lnTo>
                      <a:pt x="14121" y="1542"/>
                    </a:lnTo>
                    <a:lnTo>
                      <a:pt x="13269" y="609"/>
                    </a:lnTo>
                    <a:lnTo>
                      <a:pt x="12133" y="40"/>
                    </a:lnTo>
                    <a:lnTo>
                      <a:pt x="10875" y="0"/>
                    </a:lnTo>
                    <a:lnTo>
                      <a:pt x="2719" y="1096"/>
                    </a:lnTo>
                    <a:lnTo>
                      <a:pt x="1501" y="1501"/>
                    </a:lnTo>
                    <a:lnTo>
                      <a:pt x="568" y="2354"/>
                    </a:lnTo>
                    <a:lnTo>
                      <a:pt x="41" y="3449"/>
                    </a:lnTo>
                    <a:lnTo>
                      <a:pt x="0" y="4748"/>
                    </a:lnTo>
                    <a:lnTo>
                      <a:pt x="41309" y="275398"/>
                    </a:lnTo>
                    <a:lnTo>
                      <a:pt x="41756" y="276615"/>
                    </a:lnTo>
                    <a:lnTo>
                      <a:pt x="42608" y="277549"/>
                    </a:lnTo>
                    <a:lnTo>
                      <a:pt x="43744" y="278117"/>
                    </a:lnTo>
                    <a:lnTo>
                      <a:pt x="45002" y="278158"/>
                    </a:lnTo>
                    <a:lnTo>
                      <a:pt x="52631" y="277102"/>
                    </a:lnTo>
                    <a:lnTo>
                      <a:pt x="53848" y="276697"/>
                    </a:lnTo>
                    <a:lnTo>
                      <a:pt x="54781" y="275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Room199_Jamb">
                <a:extLst>
                  <a:ext uri="{FF2B5EF4-FFF2-40B4-BE49-F238E27FC236}">
                    <a16:creationId xmlns:a16="http://schemas.microsoft.com/office/drawing/2014/main" id="{008EFFD3-7398-E747-9F1B-9FF9B0554E2F}"/>
                  </a:ext>
                </a:extLst>
              </p:cNvPr>
              <p:cNvSpPr/>
              <p:nvPr/>
            </p:nvSpPr>
            <p:spPr>
              <a:xfrm>
                <a:off x="1040793" y="3071166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Room199_Jamb.001">
                <a:extLst>
                  <a:ext uri="{FF2B5EF4-FFF2-40B4-BE49-F238E27FC236}">
                    <a16:creationId xmlns:a16="http://schemas.microsoft.com/office/drawing/2014/main" id="{55A8A80A-CBC6-F300-4DDE-E94AA5F070EB}"/>
                  </a:ext>
                </a:extLst>
              </p:cNvPr>
              <p:cNvSpPr/>
              <p:nvPr/>
            </p:nvSpPr>
            <p:spPr>
              <a:xfrm>
                <a:off x="1040793" y="2799258"/>
                <a:ext cx="56810" cy="12175"/>
              </a:xfrm>
              <a:custGeom>
                <a:avLst/>
                <a:gdLst/>
                <a:ahLst/>
                <a:cxnLst/>
                <a:rect l="l" t="t" r="r" b="b"/>
                <a:pathLst>
                  <a:path w="56810" h="12175">
                    <a:moveTo>
                      <a:pt x="0" y="0"/>
                    </a:moveTo>
                    <a:lnTo>
                      <a:pt x="56810" y="0"/>
                    </a:lnTo>
                    <a:lnTo>
                      <a:pt x="56810" y="12175"/>
                    </a:lnTo>
                    <a:lnTo>
                      <a:pt x="0" y="1217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DoorLeaf_Room199">
                <a:extLst>
                  <a:ext uri="{FF2B5EF4-FFF2-40B4-BE49-F238E27FC236}">
                    <a16:creationId xmlns:a16="http://schemas.microsoft.com/office/drawing/2014/main" id="{EC6A3079-8DDB-20F1-94AA-2750F920CB82}"/>
                  </a:ext>
                </a:extLst>
              </p:cNvPr>
              <p:cNvSpPr/>
              <p:nvPr/>
            </p:nvSpPr>
            <p:spPr>
              <a:xfrm>
                <a:off x="784457" y="2786271"/>
                <a:ext cx="265263" cy="51095"/>
              </a:xfrm>
              <a:custGeom>
                <a:avLst/>
                <a:gdLst/>
                <a:ahLst/>
                <a:cxnLst/>
                <a:rect l="l" t="t" r="r" b="b"/>
                <a:pathLst>
                  <a:path w="265263" h="51095">
                    <a:moveTo>
                      <a:pt x="265263" y="14610"/>
                    </a:moveTo>
                    <a:lnTo>
                      <a:pt x="2070" y="51095"/>
                    </a:lnTo>
                    <a:lnTo>
                      <a:pt x="0" y="36485"/>
                    </a:lnTo>
                    <a:lnTo>
                      <a:pt x="26319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R_Carcass">
                <a:extLst>
                  <a:ext uri="{FF2B5EF4-FFF2-40B4-BE49-F238E27FC236}">
                    <a16:creationId xmlns:a16="http://schemas.microsoft.com/office/drawing/2014/main" id="{9F08FDF2-8D7F-AA06-11AA-B4C47E2235CE}"/>
                  </a:ext>
                </a:extLst>
              </p:cNvPr>
              <p:cNvSpPr/>
              <p:nvPr/>
            </p:nvSpPr>
            <p:spPr>
              <a:xfrm>
                <a:off x="449439" y="4022357"/>
                <a:ext cx="235357" cy="1217498"/>
              </a:xfrm>
              <a:custGeom>
                <a:avLst/>
                <a:gdLst/>
                <a:ahLst/>
                <a:cxnLst/>
                <a:rect l="l" t="t" r="r" b="b"/>
                <a:pathLst>
                  <a:path w="235357" h="1217498">
                    <a:moveTo>
                      <a:pt x="244" y="608992"/>
                    </a:moveTo>
                    <a:lnTo>
                      <a:pt x="0" y="609561"/>
                    </a:lnTo>
                    <a:lnTo>
                      <a:pt x="0" y="1216686"/>
                    </a:lnTo>
                    <a:lnTo>
                      <a:pt x="244" y="1217255"/>
                    </a:lnTo>
                    <a:lnTo>
                      <a:pt x="812" y="1217498"/>
                    </a:lnTo>
                    <a:lnTo>
                      <a:pt x="234545" y="1217498"/>
                    </a:lnTo>
                    <a:lnTo>
                      <a:pt x="235113" y="1217255"/>
                    </a:lnTo>
                    <a:lnTo>
                      <a:pt x="235357" y="1216686"/>
                    </a:lnTo>
                    <a:lnTo>
                      <a:pt x="235357" y="609561"/>
                    </a:lnTo>
                    <a:lnTo>
                      <a:pt x="235113" y="608992"/>
                    </a:lnTo>
                    <a:lnTo>
                      <a:pt x="234545" y="608749"/>
                    </a:lnTo>
                    <a:lnTo>
                      <a:pt x="812" y="608749"/>
                    </a:lnTo>
                    <a:close/>
                    <a:moveTo>
                      <a:pt x="244" y="243"/>
                    </a:moveTo>
                    <a:lnTo>
                      <a:pt x="0" y="811"/>
                    </a:lnTo>
                    <a:lnTo>
                      <a:pt x="0" y="607937"/>
                    </a:lnTo>
                    <a:lnTo>
                      <a:pt x="244" y="608505"/>
                    </a:lnTo>
                    <a:lnTo>
                      <a:pt x="812" y="608749"/>
                    </a:lnTo>
                    <a:lnTo>
                      <a:pt x="234545" y="608749"/>
                    </a:lnTo>
                    <a:lnTo>
                      <a:pt x="235113" y="608505"/>
                    </a:lnTo>
                    <a:lnTo>
                      <a:pt x="235357" y="607937"/>
                    </a:lnTo>
                    <a:lnTo>
                      <a:pt x="235357" y="811"/>
                    </a:lnTo>
                    <a:lnTo>
                      <a:pt x="235113" y="243"/>
                    </a:lnTo>
                    <a:lnTo>
                      <a:pt x="234545" y="0"/>
                    </a:lnTo>
                    <a:lnTo>
                      <a:pt x="81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R_Door_L1">
                <a:extLst>
                  <a:ext uri="{FF2B5EF4-FFF2-40B4-BE49-F238E27FC236}">
                    <a16:creationId xmlns:a16="http://schemas.microsoft.com/office/drawing/2014/main" id="{77B18D4A-5E44-E47B-6339-E0F4924957E0}"/>
                  </a:ext>
                </a:extLst>
              </p:cNvPr>
              <p:cNvSpPr/>
              <p:nvPr/>
            </p:nvSpPr>
            <p:spPr>
              <a:xfrm>
                <a:off x="684796" y="4479527"/>
                <a:ext cx="8116" cy="759111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1">
                    <a:moveTo>
                      <a:pt x="7872" y="735410"/>
                    </a:moveTo>
                    <a:lnTo>
                      <a:pt x="7385" y="735572"/>
                    </a:lnTo>
                    <a:lnTo>
                      <a:pt x="7020" y="735816"/>
                    </a:lnTo>
                    <a:lnTo>
                      <a:pt x="6695" y="736181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695" y="737398"/>
                    </a:lnTo>
                    <a:lnTo>
                      <a:pt x="7020" y="737764"/>
                    </a:lnTo>
                    <a:lnTo>
                      <a:pt x="7385" y="738007"/>
                    </a:lnTo>
                    <a:lnTo>
                      <a:pt x="7872" y="738170"/>
                    </a:lnTo>
                    <a:lnTo>
                      <a:pt x="7872" y="738170"/>
                    </a:lnTo>
                    <a:lnTo>
                      <a:pt x="8116" y="738413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2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4"/>
                    </a:lnTo>
                    <a:lnTo>
                      <a:pt x="8116" y="735166"/>
                    </a:lnTo>
                    <a:lnTo>
                      <a:pt x="7872" y="735410"/>
                    </a:lnTo>
                    <a:close/>
                    <a:moveTo>
                      <a:pt x="0" y="608993"/>
                    </a:moveTo>
                    <a:lnTo>
                      <a:pt x="243" y="608750"/>
                    </a:lnTo>
                    <a:lnTo>
                      <a:pt x="7872" y="608750"/>
                    </a:lnTo>
                    <a:lnTo>
                      <a:pt x="8116" y="608993"/>
                    </a:lnTo>
                    <a:lnTo>
                      <a:pt x="8116" y="758867"/>
                    </a:lnTo>
                    <a:lnTo>
                      <a:pt x="7872" y="759111"/>
                    </a:lnTo>
                    <a:lnTo>
                      <a:pt x="243" y="759111"/>
                    </a:lnTo>
                    <a:lnTo>
                      <a:pt x="0" y="758867"/>
                    </a:lnTo>
                    <a:close/>
                    <a:moveTo>
                      <a:pt x="7872" y="126661"/>
                    </a:moveTo>
                    <a:lnTo>
                      <a:pt x="7385" y="126823"/>
                    </a:lnTo>
                    <a:lnTo>
                      <a:pt x="7020" y="127067"/>
                    </a:lnTo>
                    <a:lnTo>
                      <a:pt x="6695" y="127432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695" y="128649"/>
                    </a:lnTo>
                    <a:lnTo>
                      <a:pt x="7020" y="129015"/>
                    </a:lnTo>
                    <a:lnTo>
                      <a:pt x="7385" y="129258"/>
                    </a:lnTo>
                    <a:lnTo>
                      <a:pt x="7872" y="129420"/>
                    </a:lnTo>
                    <a:lnTo>
                      <a:pt x="7872" y="129420"/>
                    </a:lnTo>
                    <a:lnTo>
                      <a:pt x="8116" y="129664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4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9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5"/>
                    </a:lnTo>
                    <a:lnTo>
                      <a:pt x="8116" y="126417"/>
                    </a:lnTo>
                    <a:lnTo>
                      <a:pt x="7872" y="126661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R_Door_L2">
                <a:extLst>
                  <a:ext uri="{FF2B5EF4-FFF2-40B4-BE49-F238E27FC236}">
                    <a16:creationId xmlns:a16="http://schemas.microsoft.com/office/drawing/2014/main" id="{B7272506-954C-8AE7-A98E-96AE115F1C24}"/>
                  </a:ext>
                </a:extLst>
              </p:cNvPr>
              <p:cNvSpPr/>
              <p:nvPr/>
            </p:nvSpPr>
            <p:spPr>
              <a:xfrm>
                <a:off x="684796" y="4327340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6018"/>
                    </a:moveTo>
                    <a:lnTo>
                      <a:pt x="7385" y="736181"/>
                    </a:lnTo>
                    <a:lnTo>
                      <a:pt x="7020" y="736424"/>
                    </a:lnTo>
                    <a:lnTo>
                      <a:pt x="6695" y="736789"/>
                    </a:lnTo>
                    <a:lnTo>
                      <a:pt x="6574" y="737155"/>
                    </a:lnTo>
                    <a:lnTo>
                      <a:pt x="6574" y="737642"/>
                    </a:lnTo>
                    <a:lnTo>
                      <a:pt x="6695" y="738007"/>
                    </a:lnTo>
                    <a:lnTo>
                      <a:pt x="7020" y="738372"/>
                    </a:lnTo>
                    <a:lnTo>
                      <a:pt x="7385" y="738616"/>
                    </a:lnTo>
                    <a:lnTo>
                      <a:pt x="7872" y="738778"/>
                    </a:lnTo>
                    <a:lnTo>
                      <a:pt x="7872" y="738778"/>
                    </a:lnTo>
                    <a:lnTo>
                      <a:pt x="8116" y="739022"/>
                    </a:lnTo>
                    <a:lnTo>
                      <a:pt x="8116" y="629447"/>
                    </a:lnTo>
                    <a:lnTo>
                      <a:pt x="7872" y="629690"/>
                    </a:lnTo>
                    <a:lnTo>
                      <a:pt x="7872" y="629690"/>
                    </a:lnTo>
                    <a:lnTo>
                      <a:pt x="7385" y="629853"/>
                    </a:lnTo>
                    <a:lnTo>
                      <a:pt x="7020" y="630096"/>
                    </a:lnTo>
                    <a:lnTo>
                      <a:pt x="6695" y="630461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695" y="631679"/>
                    </a:lnTo>
                    <a:lnTo>
                      <a:pt x="7020" y="632044"/>
                    </a:lnTo>
                    <a:lnTo>
                      <a:pt x="7385" y="632288"/>
                    </a:lnTo>
                    <a:lnTo>
                      <a:pt x="7872" y="632450"/>
                    </a:lnTo>
                    <a:lnTo>
                      <a:pt x="7872" y="632450"/>
                    </a:lnTo>
                    <a:lnTo>
                      <a:pt x="8116" y="632693"/>
                    </a:lnTo>
                    <a:lnTo>
                      <a:pt x="8116" y="735775"/>
                    </a:lnTo>
                    <a:lnTo>
                      <a:pt x="7872" y="736018"/>
                    </a:lnTo>
                    <a:close/>
                    <a:moveTo>
                      <a:pt x="0" y="608993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759476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6"/>
                    </a:lnTo>
                    <a:close/>
                    <a:moveTo>
                      <a:pt x="7872" y="127269"/>
                    </a:moveTo>
                    <a:lnTo>
                      <a:pt x="7385" y="127432"/>
                    </a:lnTo>
                    <a:lnTo>
                      <a:pt x="7020" y="127675"/>
                    </a:lnTo>
                    <a:lnTo>
                      <a:pt x="6695" y="128040"/>
                    </a:lnTo>
                    <a:lnTo>
                      <a:pt x="6574" y="128406"/>
                    </a:lnTo>
                    <a:lnTo>
                      <a:pt x="6574" y="128893"/>
                    </a:lnTo>
                    <a:lnTo>
                      <a:pt x="6695" y="129258"/>
                    </a:lnTo>
                    <a:lnTo>
                      <a:pt x="7020" y="129623"/>
                    </a:lnTo>
                    <a:lnTo>
                      <a:pt x="7385" y="129867"/>
                    </a:lnTo>
                    <a:lnTo>
                      <a:pt x="7872" y="130029"/>
                    </a:lnTo>
                    <a:lnTo>
                      <a:pt x="7872" y="130029"/>
                    </a:lnTo>
                    <a:lnTo>
                      <a:pt x="8116" y="130272"/>
                    </a:lnTo>
                    <a:lnTo>
                      <a:pt x="8116" y="20698"/>
                    </a:lnTo>
                    <a:lnTo>
                      <a:pt x="7872" y="20941"/>
                    </a:lnTo>
                    <a:lnTo>
                      <a:pt x="7872" y="20941"/>
                    </a:lnTo>
                    <a:lnTo>
                      <a:pt x="7385" y="21103"/>
                    </a:lnTo>
                    <a:lnTo>
                      <a:pt x="7020" y="21347"/>
                    </a:lnTo>
                    <a:lnTo>
                      <a:pt x="6695" y="21712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695" y="22930"/>
                    </a:lnTo>
                    <a:lnTo>
                      <a:pt x="7020" y="23295"/>
                    </a:lnTo>
                    <a:lnTo>
                      <a:pt x="7385" y="23538"/>
                    </a:lnTo>
                    <a:lnTo>
                      <a:pt x="7872" y="23701"/>
                    </a:lnTo>
                    <a:lnTo>
                      <a:pt x="7872" y="23701"/>
                    </a:lnTo>
                    <a:lnTo>
                      <a:pt x="8116" y="23944"/>
                    </a:lnTo>
                    <a:lnTo>
                      <a:pt x="8116" y="127026"/>
                    </a:lnTo>
                    <a:lnTo>
                      <a:pt x="7872" y="127269"/>
                    </a:lnTo>
                    <a:close/>
                    <a:moveTo>
                      <a:pt x="0" y="244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R_Door_R1">
                <a:extLst>
                  <a:ext uri="{FF2B5EF4-FFF2-40B4-BE49-F238E27FC236}">
                    <a16:creationId xmlns:a16="http://schemas.microsoft.com/office/drawing/2014/main" id="{3B47E218-2946-B5BE-8EC9-0A82724E2852}"/>
                  </a:ext>
                </a:extLst>
              </p:cNvPr>
              <p:cNvSpPr/>
              <p:nvPr/>
            </p:nvSpPr>
            <p:spPr>
              <a:xfrm>
                <a:off x="684796" y="4175153"/>
                <a:ext cx="8116" cy="759719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719">
                    <a:moveTo>
                      <a:pt x="7872" y="735856"/>
                    </a:moveTo>
                    <a:lnTo>
                      <a:pt x="7426" y="736018"/>
                    </a:lnTo>
                    <a:lnTo>
                      <a:pt x="7020" y="736302"/>
                    </a:lnTo>
                    <a:lnTo>
                      <a:pt x="6736" y="736667"/>
                    </a:lnTo>
                    <a:lnTo>
                      <a:pt x="6574" y="737154"/>
                    </a:lnTo>
                    <a:lnTo>
                      <a:pt x="6574" y="737641"/>
                    </a:lnTo>
                    <a:lnTo>
                      <a:pt x="6736" y="738128"/>
                    </a:lnTo>
                    <a:lnTo>
                      <a:pt x="7020" y="738494"/>
                    </a:lnTo>
                    <a:lnTo>
                      <a:pt x="7426" y="738778"/>
                    </a:lnTo>
                    <a:lnTo>
                      <a:pt x="7872" y="738940"/>
                    </a:lnTo>
                    <a:lnTo>
                      <a:pt x="7872" y="738940"/>
                    </a:lnTo>
                    <a:lnTo>
                      <a:pt x="8116" y="739184"/>
                    </a:lnTo>
                    <a:lnTo>
                      <a:pt x="8116" y="629284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39"/>
                    </a:lnTo>
                    <a:lnTo>
                      <a:pt x="6574" y="630826"/>
                    </a:lnTo>
                    <a:lnTo>
                      <a:pt x="6574" y="631313"/>
                    </a:lnTo>
                    <a:lnTo>
                      <a:pt x="6736" y="631800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5"/>
                    </a:lnTo>
                    <a:lnTo>
                      <a:pt x="8116" y="735612"/>
                    </a:lnTo>
                    <a:lnTo>
                      <a:pt x="7872" y="735856"/>
                    </a:lnTo>
                    <a:close/>
                    <a:moveTo>
                      <a:pt x="0" y="608992"/>
                    </a:move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2"/>
                    </a:lnTo>
                    <a:lnTo>
                      <a:pt x="8116" y="759475"/>
                    </a:lnTo>
                    <a:lnTo>
                      <a:pt x="7872" y="759719"/>
                    </a:lnTo>
                    <a:lnTo>
                      <a:pt x="243" y="759719"/>
                    </a:lnTo>
                    <a:lnTo>
                      <a:pt x="0" y="759475"/>
                    </a:lnTo>
                    <a:close/>
                    <a:moveTo>
                      <a:pt x="7872" y="127107"/>
                    </a:moveTo>
                    <a:lnTo>
                      <a:pt x="7426" y="127269"/>
                    </a:lnTo>
                    <a:lnTo>
                      <a:pt x="7020" y="127553"/>
                    </a:lnTo>
                    <a:lnTo>
                      <a:pt x="6736" y="127918"/>
                    </a:lnTo>
                    <a:lnTo>
                      <a:pt x="6574" y="128405"/>
                    </a:lnTo>
                    <a:lnTo>
                      <a:pt x="6574" y="128892"/>
                    </a:lnTo>
                    <a:lnTo>
                      <a:pt x="6736" y="129379"/>
                    </a:lnTo>
                    <a:lnTo>
                      <a:pt x="7020" y="129745"/>
                    </a:lnTo>
                    <a:lnTo>
                      <a:pt x="7426" y="130029"/>
                    </a:lnTo>
                    <a:lnTo>
                      <a:pt x="7872" y="130191"/>
                    </a:lnTo>
                    <a:lnTo>
                      <a:pt x="7872" y="130191"/>
                    </a:lnTo>
                    <a:lnTo>
                      <a:pt x="8116" y="130434"/>
                    </a:lnTo>
                    <a:lnTo>
                      <a:pt x="8116" y="20535"/>
                    </a:lnTo>
                    <a:lnTo>
                      <a:pt x="7872" y="20778"/>
                    </a:lnTo>
                    <a:lnTo>
                      <a:pt x="7872" y="20778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0"/>
                    </a:lnTo>
                    <a:lnTo>
                      <a:pt x="6574" y="22077"/>
                    </a:lnTo>
                    <a:lnTo>
                      <a:pt x="6574" y="22564"/>
                    </a:lnTo>
                    <a:lnTo>
                      <a:pt x="6736" y="23051"/>
                    </a:lnTo>
                    <a:lnTo>
                      <a:pt x="7020" y="23416"/>
                    </a:lnTo>
                    <a:lnTo>
                      <a:pt x="7426" y="23700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6"/>
                    </a:lnTo>
                    <a:lnTo>
                      <a:pt x="8116" y="126863"/>
                    </a:lnTo>
                    <a:lnTo>
                      <a:pt x="7872" y="127107"/>
                    </a:lnTo>
                    <a:close/>
                    <a:moveTo>
                      <a:pt x="0" y="243"/>
                    </a:move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3"/>
                    </a:lnTo>
                    <a:lnTo>
                      <a:pt x="8116" y="150726"/>
                    </a:lnTo>
                    <a:lnTo>
                      <a:pt x="7872" y="150970"/>
                    </a:lnTo>
                    <a:lnTo>
                      <a:pt x="243" y="150970"/>
                    </a:lnTo>
                    <a:lnTo>
                      <a:pt x="0" y="15072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R_Door_R2">
                <a:extLst>
                  <a:ext uri="{FF2B5EF4-FFF2-40B4-BE49-F238E27FC236}">
                    <a16:creationId xmlns:a16="http://schemas.microsoft.com/office/drawing/2014/main" id="{5A91B1BD-0427-302F-9F91-EDAAAF7F67AC}"/>
                  </a:ext>
                </a:extLst>
              </p:cNvPr>
              <p:cNvSpPr/>
              <p:nvPr/>
            </p:nvSpPr>
            <p:spPr>
              <a:xfrm>
                <a:off x="684796" y="4023574"/>
                <a:ext cx="8116" cy="759110"/>
              </a:xfrm>
              <a:custGeom>
                <a:avLst/>
                <a:gdLst/>
                <a:ahLst/>
                <a:cxnLst/>
                <a:rect l="l" t="t" r="r" b="b"/>
                <a:pathLst>
                  <a:path w="8116" h="759110">
                    <a:moveTo>
                      <a:pt x="7872" y="735247"/>
                    </a:moveTo>
                    <a:lnTo>
                      <a:pt x="7426" y="735410"/>
                    </a:lnTo>
                    <a:lnTo>
                      <a:pt x="7020" y="735694"/>
                    </a:lnTo>
                    <a:lnTo>
                      <a:pt x="6736" y="736059"/>
                    </a:lnTo>
                    <a:lnTo>
                      <a:pt x="6574" y="736546"/>
                    </a:lnTo>
                    <a:lnTo>
                      <a:pt x="6574" y="737033"/>
                    </a:lnTo>
                    <a:lnTo>
                      <a:pt x="6736" y="737520"/>
                    </a:lnTo>
                    <a:lnTo>
                      <a:pt x="7020" y="737885"/>
                    </a:lnTo>
                    <a:lnTo>
                      <a:pt x="7426" y="738169"/>
                    </a:lnTo>
                    <a:lnTo>
                      <a:pt x="7872" y="738332"/>
                    </a:lnTo>
                    <a:lnTo>
                      <a:pt x="7872" y="738332"/>
                    </a:lnTo>
                    <a:lnTo>
                      <a:pt x="8116" y="738575"/>
                    </a:lnTo>
                    <a:lnTo>
                      <a:pt x="8116" y="758867"/>
                    </a:lnTo>
                    <a:lnTo>
                      <a:pt x="7872" y="759110"/>
                    </a:lnTo>
                    <a:lnTo>
                      <a:pt x="243" y="759110"/>
                    </a:lnTo>
                    <a:lnTo>
                      <a:pt x="0" y="758867"/>
                    </a:lnTo>
                    <a:lnTo>
                      <a:pt x="0" y="608993"/>
                    </a:lnTo>
                    <a:lnTo>
                      <a:pt x="243" y="608749"/>
                    </a:lnTo>
                    <a:lnTo>
                      <a:pt x="7872" y="608749"/>
                    </a:lnTo>
                    <a:lnTo>
                      <a:pt x="8116" y="608993"/>
                    </a:lnTo>
                    <a:lnTo>
                      <a:pt x="8116" y="629285"/>
                    </a:lnTo>
                    <a:lnTo>
                      <a:pt x="7872" y="629528"/>
                    </a:lnTo>
                    <a:lnTo>
                      <a:pt x="7872" y="629528"/>
                    </a:lnTo>
                    <a:lnTo>
                      <a:pt x="7426" y="629690"/>
                    </a:lnTo>
                    <a:lnTo>
                      <a:pt x="7020" y="629974"/>
                    </a:lnTo>
                    <a:lnTo>
                      <a:pt x="6736" y="630340"/>
                    </a:lnTo>
                    <a:lnTo>
                      <a:pt x="6574" y="630827"/>
                    </a:lnTo>
                    <a:lnTo>
                      <a:pt x="6574" y="631314"/>
                    </a:lnTo>
                    <a:lnTo>
                      <a:pt x="6736" y="631801"/>
                    </a:lnTo>
                    <a:lnTo>
                      <a:pt x="7020" y="632166"/>
                    </a:lnTo>
                    <a:lnTo>
                      <a:pt x="7426" y="632450"/>
                    </a:lnTo>
                    <a:lnTo>
                      <a:pt x="7872" y="632612"/>
                    </a:lnTo>
                    <a:lnTo>
                      <a:pt x="7872" y="632612"/>
                    </a:lnTo>
                    <a:lnTo>
                      <a:pt x="8116" y="632856"/>
                    </a:lnTo>
                    <a:lnTo>
                      <a:pt x="8116" y="735004"/>
                    </a:lnTo>
                    <a:lnTo>
                      <a:pt x="7872" y="735247"/>
                    </a:lnTo>
                    <a:close/>
                    <a:moveTo>
                      <a:pt x="7872" y="126498"/>
                    </a:moveTo>
                    <a:lnTo>
                      <a:pt x="7426" y="126661"/>
                    </a:lnTo>
                    <a:lnTo>
                      <a:pt x="7020" y="126945"/>
                    </a:lnTo>
                    <a:lnTo>
                      <a:pt x="6736" y="127310"/>
                    </a:lnTo>
                    <a:lnTo>
                      <a:pt x="6574" y="127797"/>
                    </a:lnTo>
                    <a:lnTo>
                      <a:pt x="6574" y="128284"/>
                    </a:lnTo>
                    <a:lnTo>
                      <a:pt x="6736" y="128771"/>
                    </a:lnTo>
                    <a:lnTo>
                      <a:pt x="7020" y="129136"/>
                    </a:lnTo>
                    <a:lnTo>
                      <a:pt x="7426" y="129420"/>
                    </a:lnTo>
                    <a:lnTo>
                      <a:pt x="7872" y="129583"/>
                    </a:lnTo>
                    <a:lnTo>
                      <a:pt x="7872" y="129583"/>
                    </a:lnTo>
                    <a:lnTo>
                      <a:pt x="8116" y="129826"/>
                    </a:lnTo>
                    <a:lnTo>
                      <a:pt x="8116" y="150118"/>
                    </a:lnTo>
                    <a:lnTo>
                      <a:pt x="7872" y="150361"/>
                    </a:lnTo>
                    <a:lnTo>
                      <a:pt x="243" y="150361"/>
                    </a:lnTo>
                    <a:lnTo>
                      <a:pt x="0" y="150118"/>
                    </a:lnTo>
                    <a:lnTo>
                      <a:pt x="0" y="244"/>
                    </a:lnTo>
                    <a:lnTo>
                      <a:pt x="243" y="0"/>
                    </a:lnTo>
                    <a:lnTo>
                      <a:pt x="7872" y="0"/>
                    </a:lnTo>
                    <a:lnTo>
                      <a:pt x="8116" y="244"/>
                    </a:lnTo>
                    <a:lnTo>
                      <a:pt x="8116" y="20535"/>
                    </a:lnTo>
                    <a:lnTo>
                      <a:pt x="7872" y="20779"/>
                    </a:lnTo>
                    <a:lnTo>
                      <a:pt x="7872" y="20779"/>
                    </a:lnTo>
                    <a:lnTo>
                      <a:pt x="7426" y="20941"/>
                    </a:lnTo>
                    <a:lnTo>
                      <a:pt x="7020" y="21225"/>
                    </a:lnTo>
                    <a:lnTo>
                      <a:pt x="6736" y="21591"/>
                    </a:lnTo>
                    <a:lnTo>
                      <a:pt x="6574" y="22078"/>
                    </a:lnTo>
                    <a:lnTo>
                      <a:pt x="6574" y="22565"/>
                    </a:lnTo>
                    <a:lnTo>
                      <a:pt x="6736" y="23052"/>
                    </a:lnTo>
                    <a:lnTo>
                      <a:pt x="7020" y="23417"/>
                    </a:lnTo>
                    <a:lnTo>
                      <a:pt x="7426" y="23701"/>
                    </a:lnTo>
                    <a:lnTo>
                      <a:pt x="7872" y="23863"/>
                    </a:lnTo>
                    <a:lnTo>
                      <a:pt x="7872" y="23863"/>
                    </a:lnTo>
                    <a:lnTo>
                      <a:pt x="8116" y="24107"/>
                    </a:lnTo>
                    <a:lnTo>
                      <a:pt x="8116" y="126255"/>
                    </a:lnTo>
                    <a:lnTo>
                      <a:pt x="7872" y="1264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05" name="房间名（沿用施工图）">
              <a:extLst>
                <a:ext uri="{FF2B5EF4-FFF2-40B4-BE49-F238E27FC236}">
                  <a16:creationId xmlns:a16="http://schemas.microsoft.com/office/drawing/2014/main" id="{D1738153-8C4A-8113-61DF-94565F8B3F32}"/>
                </a:ext>
              </a:extLst>
            </p:cNvPr>
            <p:cNvGrpSpPr/>
            <p:nvPr/>
          </p:nvGrpSpPr>
          <p:grpSpPr>
            <a:xfrm>
              <a:off x="1023096" y="1776807"/>
              <a:ext cx="2852368" cy="3609507"/>
              <a:chOff x="1023096" y="1776807"/>
              <a:chExt cx="2852368" cy="3609507"/>
            </a:xfrm>
          </p:grpSpPr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884533F9-0A93-A468-ED5E-1B24646D5FE7}"/>
                  </a:ext>
                </a:extLst>
              </p:cNvPr>
              <p:cNvSpPr txBox="1"/>
              <p:nvPr/>
            </p:nvSpPr>
            <p:spPr>
              <a:xfrm rot="16200000">
                <a:off x="1397825" y="2723710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9D13E5C1-1AD8-8D35-C036-9BD48014EC07}"/>
                  </a:ext>
                </a:extLst>
              </p:cNvPr>
              <p:cNvSpPr txBox="1"/>
              <p:nvPr/>
            </p:nvSpPr>
            <p:spPr>
              <a:xfrm rot="16200000">
                <a:off x="1554812" y="3422893"/>
                <a:ext cx="205184" cy="1231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lang="zh-CN" altLang="en-US" sz="801" b="0" dirty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电梯</a:t>
                </a:r>
                <a:endParaRPr sz="8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19648BD0-9FB4-0DE1-DE15-F1303EB4671C}"/>
                  </a:ext>
                </a:extLst>
              </p:cNvPr>
              <p:cNvSpPr txBox="1"/>
              <p:nvPr/>
            </p:nvSpPr>
            <p:spPr>
              <a:xfrm rot="16200000">
                <a:off x="2148144" y="4779155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BC4C0928-225E-06B5-A7E3-864CF1A86834}"/>
                  </a:ext>
                </a:extLst>
              </p:cNvPr>
              <p:cNvSpPr txBox="1"/>
              <p:nvPr/>
            </p:nvSpPr>
            <p:spPr>
              <a:xfrm rot="16200000">
                <a:off x="3427795" y="3101350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F153BF8-E5B6-7393-0FAC-BEEECAC2B357}"/>
                  </a:ext>
                </a:extLst>
              </p:cNvPr>
              <p:cNvSpPr txBox="1"/>
              <p:nvPr/>
            </p:nvSpPr>
            <p:spPr>
              <a:xfrm rot="16200000">
                <a:off x="2407563" y="3053585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3</a:t>
                </a: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A7BDC2A-C873-485F-5B46-686E50E3C720}"/>
                  </a:ext>
                </a:extLst>
              </p:cNvPr>
              <p:cNvSpPr txBox="1"/>
              <p:nvPr/>
            </p:nvSpPr>
            <p:spPr>
              <a:xfrm rot="16200000">
                <a:off x="2471315" y="3595029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走廊</a:t>
                </a:r>
              </a:p>
            </p:txBody>
          </p:sp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928E4D91-DBD8-1323-9359-0723EC626DD0}"/>
                  </a:ext>
                </a:extLst>
              </p:cNvPr>
              <p:cNvSpPr txBox="1"/>
              <p:nvPr/>
            </p:nvSpPr>
            <p:spPr>
              <a:xfrm rot="16200000">
                <a:off x="1023096" y="4053428"/>
                <a:ext cx="21358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主卧</a:t>
                </a:r>
              </a:p>
            </p:txBody>
          </p: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3C74AF60-6656-B738-C6C0-E6AEEAC8D916}"/>
                  </a:ext>
                </a:extLst>
              </p:cNvPr>
              <p:cNvSpPr txBox="1"/>
              <p:nvPr/>
            </p:nvSpPr>
            <p:spPr>
              <a:xfrm rot="16200000">
                <a:off x="3130877" y="4653573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卧室 2</a:t>
                </a:r>
              </a:p>
            </p:txBody>
          </p:sp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E39EBB9E-2E0A-33BE-F9C2-8B321C726230}"/>
                  </a:ext>
                </a:extLst>
              </p:cNvPr>
              <p:cNvSpPr txBox="1"/>
              <p:nvPr/>
            </p:nvSpPr>
            <p:spPr>
              <a:xfrm rot="16200000">
                <a:off x="2148143" y="4165248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衣帽间</a:t>
                </a:r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7199CEA7-87A6-FE71-5DBB-4099D2135179}"/>
                  </a:ext>
                </a:extLst>
              </p:cNvPr>
              <p:cNvSpPr txBox="1"/>
              <p:nvPr/>
            </p:nvSpPr>
            <p:spPr>
              <a:xfrm rot="16200000">
                <a:off x="2160572" y="527691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盥洗室</a:t>
                </a:r>
              </a:p>
            </p:txBody>
          </p:sp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9ACEE2B8-536D-4151-110B-BC734151A8D4}"/>
                  </a:ext>
                </a:extLst>
              </p:cNvPr>
              <p:cNvSpPr txBox="1"/>
              <p:nvPr/>
            </p:nvSpPr>
            <p:spPr>
              <a:xfrm rot="16200000">
                <a:off x="3113654" y="1182157"/>
                <a:ext cx="299540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C4DB1A3-501C-ADC8-C056-FAD276649683}"/>
                  </a:ext>
                </a:extLst>
              </p:cNvPr>
              <p:cNvSpPr txBox="1"/>
              <p:nvPr/>
            </p:nvSpPr>
            <p:spPr>
              <a:xfrm rot="16200000">
                <a:off x="3070677" y="1786947"/>
                <a:ext cx="385495" cy="109397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书房</a:t>
                </a:r>
              </a:p>
            </p:txBody>
          </p:sp>
        </p:grpSp>
      </p:grpSp>
      <p:sp>
        <p:nvSpPr>
          <p:cNvPr id="411" name="Rectangle 410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TextBox 415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sp>
        <p:nvSpPr>
          <p:cNvPr id="417" name="Rectangle 416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TextBox 417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420" name="Connector 419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TextBox 420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二层照明平面放大图（走廊 · 北卫 · 卧室3 · 楼梯 · 书房 · 后卫）</a:t>
            </a:r>
          </a:p>
        </p:txBody>
      </p:sp>
      <p:cxnSp>
        <p:nvCxnSpPr>
          <p:cNvPr id="423" name="Connector 422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4" name="TextBox 423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电施-14</a:t>
            </a:r>
          </a:p>
        </p:txBody>
      </p:sp>
      <p:cxnSp>
        <p:nvCxnSpPr>
          <p:cNvPr id="426" name="Connector 425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TextBox 426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1:50（A3）</a:t>
            </a:r>
          </a:p>
        </p:txBody>
      </p:sp>
      <p:cxnSp>
        <p:nvCxnSpPr>
          <p:cNvPr id="429" name="Connector 428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0" name="TextBox 429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432" name="Connector 431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TextBox 432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435" name="Connector 434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2303510" y="3268996"/>
            <a:ext cx="0" cy="149923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 flipH="1">
            <a:off x="2284305" y="3268996"/>
            <a:ext cx="19205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2531210" y="3469157"/>
            <a:ext cx="0" cy="47010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2531210" y="3939263"/>
            <a:ext cx="21368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2744894" y="3939263"/>
            <a:ext cx="0" cy="156294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2744894" y="5502210"/>
            <a:ext cx="164842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2909736" y="5502210"/>
            <a:ext cx="854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3" name="Connector 442"/>
          <p:cNvCxnSpPr/>
          <p:nvPr/>
        </p:nvCxnSpPr>
        <p:spPr>
          <a:xfrm flipV="1">
            <a:off x="3764473" y="5465578"/>
            <a:ext cx="0" cy="3663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 443"/>
          <p:cNvCxnSpPr/>
          <p:nvPr/>
        </p:nvCxnSpPr>
        <p:spPr>
          <a:xfrm>
            <a:off x="3764473" y="5465578"/>
            <a:ext cx="62273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Connector 444"/>
          <p:cNvCxnSpPr/>
          <p:nvPr/>
        </p:nvCxnSpPr>
        <p:spPr>
          <a:xfrm flipV="1">
            <a:off x="4387210" y="5325157"/>
            <a:ext cx="0" cy="1404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6" name="Connector 445"/>
          <p:cNvCxnSpPr/>
          <p:nvPr/>
        </p:nvCxnSpPr>
        <p:spPr>
          <a:xfrm>
            <a:off x="4387210" y="5325157"/>
            <a:ext cx="1245474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7" name="Connector 446"/>
          <p:cNvCxnSpPr/>
          <p:nvPr/>
        </p:nvCxnSpPr>
        <p:spPr>
          <a:xfrm flipV="1">
            <a:off x="5632684" y="4745157"/>
            <a:ext cx="0" cy="58000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Connector 447"/>
          <p:cNvCxnSpPr/>
          <p:nvPr/>
        </p:nvCxnSpPr>
        <p:spPr>
          <a:xfrm flipV="1">
            <a:off x="2531210" y="1857368"/>
            <a:ext cx="0" cy="161178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>
            <a:off x="2531210" y="1857368"/>
            <a:ext cx="720421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118924" y="5465578"/>
            <a:ext cx="0" cy="952422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H="1">
            <a:off x="3764473" y="5465578"/>
            <a:ext cx="354451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2355336" y="6259031"/>
            <a:ext cx="1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 BV-3×2.5 PC20 WC/CC</a:t>
            </a:r>
          </a:p>
        </p:txBody>
      </p:sp>
      <p:cxnSp>
        <p:nvCxnSpPr>
          <p:cNvPr id="453" name="Connector 452"/>
          <p:cNvCxnSpPr/>
          <p:nvPr/>
        </p:nvCxnSpPr>
        <p:spPr>
          <a:xfrm flipH="1">
            <a:off x="2284305" y="3469157"/>
            <a:ext cx="246905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4" name="Connector 453"/>
          <p:cNvCxnSpPr/>
          <p:nvPr/>
        </p:nvCxnSpPr>
        <p:spPr>
          <a:xfrm flipV="1">
            <a:off x="2284305" y="3268996"/>
            <a:ext cx="0" cy="200161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>
            <a:off x="3251631" y="1857368"/>
            <a:ext cx="40818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>
            <a:off x="3659815" y="1857368"/>
            <a:ext cx="0" cy="702725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>
            <a:off x="2744894" y="3939263"/>
            <a:ext cx="71776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>
            <a:off x="3462663" y="3939263"/>
            <a:ext cx="0" cy="404193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9" name="Connector 458"/>
          <p:cNvCxnSpPr/>
          <p:nvPr/>
        </p:nvCxnSpPr>
        <p:spPr>
          <a:xfrm flipH="1">
            <a:off x="2303510" y="5502210"/>
            <a:ext cx="606226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 flipV="1">
            <a:off x="2303510" y="4768232"/>
            <a:ext cx="0" cy="733978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2909736" y="5502210"/>
            <a:ext cx="45659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>
            <a:off x="3366335" y="5502210"/>
            <a:ext cx="0" cy="655432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>
            <a:off x="3764473" y="5465578"/>
            <a:ext cx="0" cy="69206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H="1">
            <a:off x="3366335" y="6157642"/>
            <a:ext cx="398138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4387210" y="5325157"/>
            <a:ext cx="840489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5227699" y="5325157"/>
            <a:ext cx="0" cy="76086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7" name="Connector 466"/>
          <p:cNvCxnSpPr/>
          <p:nvPr/>
        </p:nvCxnSpPr>
        <p:spPr>
          <a:xfrm>
            <a:off x="5632684" y="4745157"/>
            <a:ext cx="588944" cy="0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6221628" y="4745157"/>
            <a:ext cx="0" cy="755004"/>
          </a:xfrm>
          <a:prstGeom prst="line">
            <a:avLst/>
          </a:prstGeom>
          <a:ln w="6350">
            <a:solidFill>
              <a:srgbClr val="1A1A1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2531210" y="3469157"/>
            <a:ext cx="378526" cy="2033053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H="1">
            <a:off x="2909736" y="5465578"/>
            <a:ext cx="854737" cy="36632"/>
          </a:xfrm>
          <a:prstGeom prst="line">
            <a:avLst/>
          </a:prstGeom>
          <a:ln w="9525">
            <a:solidFill>
              <a:srgbClr val="1A1A1A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1" name="Oval 470"/>
          <p:cNvSpPr/>
          <p:nvPr/>
        </p:nvSpPr>
        <p:spPr>
          <a:xfrm>
            <a:off x="4104793" y="6361477"/>
            <a:ext cx="113044" cy="11304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2" name="Connector 471"/>
          <p:cNvCxnSpPr/>
          <p:nvPr/>
        </p:nvCxnSpPr>
        <p:spPr>
          <a:xfrm flipV="1">
            <a:off x="4122456" y="6379141"/>
            <a:ext cx="77718" cy="777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TextBox 472"/>
          <p:cNvSpPr txBox="1"/>
          <p:nvPr/>
        </p:nvSpPr>
        <p:spPr>
          <a:xfrm>
            <a:off x="1690663" y="6488652"/>
            <a:ext cx="24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WL4 由一层 AL1 沿楼梯井引上</a:t>
            </a:r>
          </a:p>
        </p:txBody>
      </p:sp>
      <p:sp>
        <p:nvSpPr>
          <p:cNvPr id="474" name="Oval 473"/>
          <p:cNvSpPr/>
          <p:nvPr/>
        </p:nvSpPr>
        <p:spPr>
          <a:xfrm>
            <a:off x="3281552" y="607285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5" name="Connector 474"/>
          <p:cNvCxnSpPr/>
          <p:nvPr/>
        </p:nvCxnSpPr>
        <p:spPr>
          <a:xfrm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3306393" y="609770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7" name="TextBox 476"/>
          <p:cNvSpPr txBox="1"/>
          <p:nvPr/>
        </p:nvSpPr>
        <p:spPr>
          <a:xfrm>
            <a:off x="3444053" y="599514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478" name="Oval 477"/>
          <p:cNvSpPr/>
          <p:nvPr/>
        </p:nvSpPr>
        <p:spPr>
          <a:xfrm>
            <a:off x="2218727" y="4683449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2243569" y="4708291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1" name="TextBox 480"/>
          <p:cNvSpPr txBox="1"/>
          <p:nvPr/>
        </p:nvSpPr>
        <p:spPr>
          <a:xfrm>
            <a:off x="2381228" y="4605731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482" name="Oval 481"/>
          <p:cNvSpPr/>
          <p:nvPr/>
        </p:nvSpPr>
        <p:spPr>
          <a:xfrm>
            <a:off x="3377880" y="425867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3" name="Connector 482"/>
          <p:cNvCxnSpPr/>
          <p:nvPr/>
        </p:nvCxnSpPr>
        <p:spPr>
          <a:xfrm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4" name="Connector 483"/>
          <p:cNvCxnSpPr/>
          <p:nvPr/>
        </p:nvCxnSpPr>
        <p:spPr>
          <a:xfrm flipV="1">
            <a:off x="3402722" y="4283514"/>
            <a:ext cx="119883" cy="11988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TextBox 484"/>
          <p:cNvSpPr txBox="1"/>
          <p:nvPr/>
        </p:nvSpPr>
        <p:spPr>
          <a:xfrm>
            <a:off x="3540381" y="418095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486" name="Oval 485"/>
          <p:cNvSpPr/>
          <p:nvPr/>
        </p:nvSpPr>
        <p:spPr>
          <a:xfrm>
            <a:off x="5142915" y="5316460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7" name="Connector 486"/>
          <p:cNvCxnSpPr/>
          <p:nvPr/>
        </p:nvCxnSpPr>
        <p:spPr>
          <a:xfrm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5167757" y="5341302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5305416" y="523874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490" name="Oval 489"/>
          <p:cNvSpPr/>
          <p:nvPr/>
        </p:nvSpPr>
        <p:spPr>
          <a:xfrm>
            <a:off x="3603293" y="2503571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642151" y="2542430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TextBox 491"/>
          <p:cNvSpPr txBox="1"/>
          <p:nvPr/>
        </p:nvSpPr>
        <p:spPr>
          <a:xfrm>
            <a:off x="3737533" y="2397592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493" name="Oval 492"/>
          <p:cNvSpPr/>
          <p:nvPr/>
        </p:nvSpPr>
        <p:spPr>
          <a:xfrm>
            <a:off x="6165106" y="5443639"/>
            <a:ext cx="113044" cy="11304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203965" y="5482498"/>
            <a:ext cx="35326" cy="3532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TextBox 494"/>
          <p:cNvSpPr txBox="1"/>
          <p:nvPr/>
        </p:nvSpPr>
        <p:spPr>
          <a:xfrm>
            <a:off x="6299346" y="5337660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496" name="Oval 495"/>
          <p:cNvSpPr/>
          <p:nvPr/>
        </p:nvSpPr>
        <p:spPr>
          <a:xfrm>
            <a:off x="2199522" y="3184213"/>
            <a:ext cx="169566" cy="1695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7" name="Connector 496"/>
          <p:cNvCxnSpPr/>
          <p:nvPr/>
        </p:nvCxnSpPr>
        <p:spPr>
          <a:xfrm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2224363" y="3209055"/>
            <a:ext cx="119883" cy="11988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TextBox 498"/>
          <p:cNvSpPr txBox="1"/>
          <p:nvPr/>
        </p:nvSpPr>
        <p:spPr>
          <a:xfrm>
            <a:off x="2362023" y="3106495"/>
            <a:ext cx="141305" cy="105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00" name="Oval 499"/>
          <p:cNvSpPr/>
          <p:nvPr/>
        </p:nvSpPr>
        <p:spPr>
          <a:xfrm>
            <a:off x="2505775" y="3443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1" name="Connector 500"/>
          <p:cNvCxnSpPr/>
          <p:nvPr/>
        </p:nvCxnSpPr>
        <p:spPr>
          <a:xfrm flipV="1">
            <a:off x="2531210" y="3373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2" name="Connector 501"/>
          <p:cNvCxnSpPr/>
          <p:nvPr/>
        </p:nvCxnSpPr>
        <p:spPr>
          <a:xfrm>
            <a:off x="2627131" y="3373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H="1">
            <a:off x="2459269" y="3469157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H="1" flipV="1">
            <a:off x="2435289" y="3517118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5" name="TextBox 504"/>
          <p:cNvSpPr txBox="1"/>
          <p:nvPr/>
        </p:nvSpPr>
        <p:spPr>
          <a:xfrm>
            <a:off x="2641262" y="3260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506" name="Oval 505"/>
          <p:cNvSpPr/>
          <p:nvPr/>
        </p:nvSpPr>
        <p:spPr>
          <a:xfrm>
            <a:off x="3226196" y="1831933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7" name="Connector 506"/>
          <p:cNvCxnSpPr/>
          <p:nvPr/>
        </p:nvCxnSpPr>
        <p:spPr>
          <a:xfrm flipV="1">
            <a:off x="3251631" y="176144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8" name="Connector 507"/>
          <p:cNvCxnSpPr/>
          <p:nvPr/>
        </p:nvCxnSpPr>
        <p:spPr>
          <a:xfrm>
            <a:off x="3347552" y="1761447"/>
            <a:ext cx="23981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TextBox 508"/>
          <p:cNvSpPr txBox="1"/>
          <p:nvPr/>
        </p:nvSpPr>
        <p:spPr>
          <a:xfrm>
            <a:off x="3361683" y="164840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510" name="Oval 509"/>
          <p:cNvSpPr/>
          <p:nvPr/>
        </p:nvSpPr>
        <p:spPr>
          <a:xfrm>
            <a:off x="2719459" y="3913828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1" name="Connector 510"/>
          <p:cNvCxnSpPr/>
          <p:nvPr/>
        </p:nvCxnSpPr>
        <p:spPr>
          <a:xfrm flipV="1">
            <a:off x="2744894" y="3843341"/>
            <a:ext cx="95921" cy="9592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>
            <a:off x="2840815" y="3843341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TextBox 512"/>
          <p:cNvSpPr txBox="1"/>
          <p:nvPr/>
        </p:nvSpPr>
        <p:spPr>
          <a:xfrm>
            <a:off x="2854946" y="3730297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514" name="Oval 513"/>
          <p:cNvSpPr/>
          <p:nvPr/>
        </p:nvSpPr>
        <p:spPr>
          <a:xfrm>
            <a:off x="2884301" y="5476775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 flipV="1">
            <a:off x="2909736" y="5406289"/>
            <a:ext cx="95922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>
            <a:off x="3005658" y="540628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>
            <a:off x="2988392" y="5423555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H="1">
            <a:off x="2837795" y="5502210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H="1" flipV="1">
            <a:off x="2813815" y="5550171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3019788" y="5293245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21" name="Oval 520"/>
          <p:cNvSpPr/>
          <p:nvPr/>
        </p:nvSpPr>
        <p:spPr>
          <a:xfrm>
            <a:off x="3739038" y="5440144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2" name="Connector 521"/>
          <p:cNvCxnSpPr/>
          <p:nvPr/>
        </p:nvCxnSpPr>
        <p:spPr>
          <a:xfrm flipV="1">
            <a:off x="3764473" y="5369657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Connector 522"/>
          <p:cNvCxnSpPr/>
          <p:nvPr/>
        </p:nvCxnSpPr>
        <p:spPr>
          <a:xfrm>
            <a:off x="3860394" y="5369657"/>
            <a:ext cx="23981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4" name="Connector 523"/>
          <p:cNvCxnSpPr/>
          <p:nvPr/>
        </p:nvCxnSpPr>
        <p:spPr>
          <a:xfrm flipH="1">
            <a:off x="3692532" y="5465578"/>
            <a:ext cx="71941" cy="7194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5" name="Connector 524"/>
          <p:cNvCxnSpPr/>
          <p:nvPr/>
        </p:nvCxnSpPr>
        <p:spPr>
          <a:xfrm flipH="1" flipV="1">
            <a:off x="3668552" y="5513539"/>
            <a:ext cx="23980" cy="2398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6" name="TextBox 525"/>
          <p:cNvSpPr txBox="1"/>
          <p:nvPr/>
        </p:nvSpPr>
        <p:spPr>
          <a:xfrm>
            <a:off x="3874525" y="5256613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527" name="Oval 526"/>
          <p:cNvSpPr/>
          <p:nvPr/>
        </p:nvSpPr>
        <p:spPr>
          <a:xfrm>
            <a:off x="4361775" y="529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8" name="Connector 527"/>
          <p:cNvCxnSpPr/>
          <p:nvPr/>
        </p:nvCxnSpPr>
        <p:spPr>
          <a:xfrm flipV="1">
            <a:off x="4387210" y="522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9" name="Connector 528"/>
          <p:cNvCxnSpPr/>
          <p:nvPr/>
        </p:nvCxnSpPr>
        <p:spPr>
          <a:xfrm>
            <a:off x="4483131" y="522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0" name="TextBox 529"/>
          <p:cNvSpPr txBox="1"/>
          <p:nvPr/>
        </p:nvSpPr>
        <p:spPr>
          <a:xfrm>
            <a:off x="4497262" y="511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531" name="Oval 530"/>
          <p:cNvSpPr/>
          <p:nvPr/>
        </p:nvSpPr>
        <p:spPr>
          <a:xfrm>
            <a:off x="5607249" y="4719722"/>
            <a:ext cx="50869" cy="50869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2" name="Connector 531"/>
          <p:cNvCxnSpPr/>
          <p:nvPr/>
        </p:nvCxnSpPr>
        <p:spPr>
          <a:xfrm flipV="1">
            <a:off x="5632684" y="4649236"/>
            <a:ext cx="95921" cy="9592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3" name="Connector 532"/>
          <p:cNvCxnSpPr/>
          <p:nvPr/>
        </p:nvCxnSpPr>
        <p:spPr>
          <a:xfrm>
            <a:off x="5728605" y="4649236"/>
            <a:ext cx="23980" cy="2398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4" name="TextBox 533"/>
          <p:cNvSpPr txBox="1"/>
          <p:nvPr/>
        </p:nvSpPr>
        <p:spPr>
          <a:xfrm>
            <a:off x="5742735" y="4536192"/>
            <a:ext cx="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710000" y="3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本图开关（键 1→键 4 从左到右）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8710000" y="5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走廊北端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8910000" y="6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8710000" y="8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北卫生间门外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8910000" y="10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710000" y="12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卧室3 门旁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8910000" y="13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键1=e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8710000" y="15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走廊南端 · 楼梯口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8910000" y="17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键1=d  键2=k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8710000" y="19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楼梯顶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910000" y="20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键1=k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710000" y="228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书房门旁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8910000" y="244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键1=l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8710000" y="2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后卫生间门外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8910000" y="27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键1=m</a:t>
            </a:r>
          </a:p>
        </p:txBody>
      </p:sp>
      <p:sp>
        <p:nvSpPr>
          <p:cNvPr id="550" name="Rectangle 549"/>
          <p:cNvSpPr/>
          <p:nvPr/>
        </p:nvSpPr>
        <p:spPr>
          <a:xfrm>
            <a:off x="399999" y="6540000"/>
            <a:ext cx="642296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42296" y="6540000"/>
            <a:ext cx="642296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TextBox 551"/>
          <p:cNvSpPr txBox="1"/>
          <p:nvPr/>
        </p:nvSpPr>
        <p:spPr>
          <a:xfrm>
            <a:off x="1724593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AL1 照明配电箱系统图（一、二层）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000000" y="1300000"/>
            <a:ext cx="0" cy="2550000"/>
          </a:xfrm>
          <a:prstGeom prst="line">
            <a:avLst/>
          </a:prstGeom>
          <a:ln w="381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00000" y="1450000"/>
            <a:ext cx="3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进线：引自总配电箱 / 电表箱</a:t>
            </a:r>
          </a:p>
          <a:p>
            <a:pPr algn="l"/>
            <a:r>
              <a:rPr sz="800" b="0">
                <a:solidFill>
                  <a:srgbClr val="1A1A1A"/>
                </a:solidFill>
                <a:latin typeface="Microsoft YaHei"/>
              </a:rPr>
              <a:t>（英国：Consumer Unit 内主开关 + RCBO）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00000" y="1300000"/>
            <a:ext cx="100000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0000" y="1040000"/>
            <a:ext cx="15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AL1  暗装，底边距地 1.5 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00000" y="17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900000" y="16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3300000" y="17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900000" y="14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B10 1P+N RCBO 30mA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0000" y="15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000" y="16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WL1  一层照明（门廊 / 门厅 / 起居室 / 餐厅 / 楼梯 / 客厅 / 卫生间 / 厨房 / 洗衣房）+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36 盏（一层，字母 见一层图）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00000" y="24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900000" y="23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300000" y="24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900000" y="21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0000" y="22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0000" y="23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WL3  户外照明（后花园壁灯 / 围栏地灯）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7 盏（一层，字母 见一层图）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000000" y="31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900000" y="3040000"/>
            <a:ext cx="400000" cy="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3300000" y="3150000"/>
            <a:ext cx="2900000" cy="0"/>
          </a:xfrm>
          <a:prstGeom prst="line">
            <a:avLst/>
          </a:prstGeom>
          <a:ln w="1270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0000" y="2820000"/>
            <a:ext cx="16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B6 1P+N RCBO 30mA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50000" y="2960000"/>
            <a:ext cx="27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BV-3×2.5  PC20  WC/CC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0000" y="3000000"/>
            <a:ext cx="3500000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WL4  二层照明 + 卫生间排气扇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灯 16 盏（二层，字母 a b c d e f g h i j k l m）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000000" y="3850000"/>
            <a:ext cx="900000" cy="0"/>
          </a:xfrm>
          <a:prstGeom prst="line">
            <a:avLst/>
          </a:prstGeom>
          <a:ln w="12700">
            <a:solidFill>
              <a:srgbClr val="1A1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000000" y="3700000"/>
            <a:ext cx="5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备用 1 路（C16 RCBO）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0000" y="5550000"/>
            <a:ext cx="79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照明回路按区域划分，每路一个 30 mA RCBO（见上表回路名称）；单回路灯具数量与功率均在允许范围内（灯具均为 LED）。插座与专线回路见网页「配电箱」页。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英国规范（BS 7671）照明回路常用 1.5 mm² 双芯加地线 + B6 RCBO；国内常用 BV-2.5 + C16。施工由电工按当地规范定。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卫生间排气扇无单独开关，接所在卫生间灯回路；楼梯吊灯 F06 属 二层回路，一层 S6 只做三控开关点。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WL4 沿楼梯井暗管引上至二层。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8650000" y="5000000"/>
            <a:ext cx="3442000" cy="17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00000" y="5000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工程名称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70000" y="5000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住宅改造（二层）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50000" y="5293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00000" y="5293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70000" y="5293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二层开关面板表 · 照明回路表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650000" y="5586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0000" y="5586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0000" y="5586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电施-16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50000" y="5879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700000" y="5879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比例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0000" y="5879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50000" y="6172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700000" y="6172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专业 / 阶段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0000" y="6172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电气 · 施工图（Rev G-B 2026-10-03）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0000" y="64650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00000" y="6465000"/>
            <a:ext cx="700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设计 / 校对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70000" y="6465000"/>
            <a:ext cx="2572000" cy="29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—— / ——（待电工复核签字）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30000" y="5000000"/>
            <a:ext cx="0" cy="17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250000" y="650000"/>
          <a:ext cx="8380000" cy="307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250000"/>
                <a:gridCol w="650000"/>
                <a:gridCol w="1550000"/>
                <a:gridCol w="1550000"/>
                <a:gridCol w="1550000"/>
                <a:gridCol w="14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规格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盥洗室筒灯（单控）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西卫生间筒灯（单控）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主卧东墙 ·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主卧主灯 F19（双控）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主卧主灯位（待选）（单控）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衣帽间筒灯 ×2（单控）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床头侧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卧室2 主灯 F20（双控）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卧室2 筒灯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走廊北端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北卫生间筒灯（单控）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卧室3 主灯 F22（单控）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走廊南端 · 楼梯口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走廊吸顶灯 F11 ×2（双控）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S11、S12）（中途）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楼梯顶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楼梯吊灯 F06（三控：一层 S6 + 二层 S11、S12）（三控）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书房门旁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书房主灯 F23（单控）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后卫生间门外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一位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后卫生间筒灯（单控）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10000" y="300000"/>
          <a:ext cx="3250000" cy="287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0000"/>
                <a:gridCol w="1650000"/>
                <a:gridCol w="900000"/>
                <a:gridCol w="40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0000" marB="10000" marL="35000" marR="35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 F19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S3-1，S4-1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主卧主灯位（待选）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S4-2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北卫生间筒灯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S9-1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走廊吸顶灯 F11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S8-1，S11-1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卧室3 主灯 F22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S10-1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衣帽间筒灯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S5-1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盥洗室筒灯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西卫生间筒灯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S2-1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主灯 F20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S6-1，S7-1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卧室2 筒灯 ×2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S6-2，S7-2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楼梯吊灯 F06（三控：一层 S6 + 二层 S11、S12）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S11-2，S12-1，一层 S6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书房主灯 F23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S13-1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后卫生间筒灯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S14-1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WL4</a:t>
                      </a:r>
                    </a:p>
                  </a:txBody>
                  <a:tcPr marT="10000" marB="10000" marL="35000" marR="35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1051</TotalTime>
  <Words>1769</Words>
  <Application>Microsoft Office PowerPoint</Application>
  <PresentationFormat>Widescreen</PresentationFormat>
  <Paragraphs>550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12</cp:revision>
  <dcterms:created xsi:type="dcterms:W3CDTF">2013-01-27T09:14:16Z</dcterms:created>
  <dcterms:modified xsi:type="dcterms:W3CDTF">2026-10-03T09:40:53Z</dcterms:modified>
  <cp:category/>
</cp:coreProperties>
</file>