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30475" y="1251603"/>
            <a:ext cx="3914435" cy="516448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TextBox 300004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sp>
        <p:nvSpPr>
          <p:cNvPr id="300006" name="TextBox 300005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— KEY PLAN</a:t>
            </a:r>
          </a:p>
        </p:txBody>
      </p:sp>
      <p:sp>
        <p:nvSpPr>
          <p:cNvPr id="300007" name="Rectangle 300006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TextBox 300007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300009" name="TextBox 300008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300010" name="Connector 300009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1" name="TextBox 300010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2" name="TextBox 300011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cxnSp>
        <p:nvCxnSpPr>
          <p:cNvPr id="300013" name="Connector 300012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4" name="TextBox 300013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5" name="TextBox 300014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E-FF-00</a:t>
            </a:r>
          </a:p>
        </p:txBody>
      </p:sp>
      <p:cxnSp>
        <p:nvCxnSpPr>
          <p:cNvPr id="300016" name="Connector 300015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7" name="TextBox 300016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300018" name="TextBox 300017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J-A · 方案 A · 专业 18 路（照明 4 路）</a:t>
            </a:r>
          </a:p>
        </p:txBody>
      </p:sp>
      <p:cxnSp>
        <p:nvCxnSpPr>
          <p:cNvPr id="300019" name="Connector 300018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0" name="TextBox 300019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300021" name="TextBox 300020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300022" name="Connector 300021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3" name="Rectangle 300022"/>
          <p:cNvSpPr/>
          <p:nvPr/>
        </p:nvSpPr>
        <p:spPr>
          <a:xfrm>
            <a:off x="1629230" y="1843461"/>
            <a:ext cx="2699999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4" name="TextBox 300023"/>
          <p:cNvSpPr txBox="1"/>
          <p:nvPr/>
        </p:nvSpPr>
        <p:spPr>
          <a:xfrm>
            <a:off x="1669230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E-FF-01 放大图：主卧 · 盥洗室 · 西卫 · 衣帽间 · 卧室2</a:t>
            </a:r>
          </a:p>
        </p:txBody>
      </p:sp>
      <p:sp>
        <p:nvSpPr>
          <p:cNvPr id="300025" name="Rectangle 300024"/>
          <p:cNvSpPr/>
          <p:nvPr/>
        </p:nvSpPr>
        <p:spPr>
          <a:xfrm>
            <a:off x="3623076" y="1843461"/>
            <a:ext cx="332307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6" name="TextBox 300025"/>
          <p:cNvSpPr txBox="1"/>
          <p:nvPr/>
        </p:nvSpPr>
        <p:spPr>
          <a:xfrm>
            <a:off x="3663076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E-FF-02 放大图：走廊 · 北卫 · 卧室3 · 楼梯 · 卧室 4 · 后卫</a:t>
            </a:r>
          </a:p>
        </p:txBody>
      </p:sp>
      <p:sp>
        <p:nvSpPr>
          <p:cNvPr id="300027" name="Oval 300026"/>
          <p:cNvSpPr/>
          <p:nvPr/>
        </p:nvSpPr>
        <p:spPr>
          <a:xfrm>
            <a:off x="4562348" y="541862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28" name="Connector 300027"/>
          <p:cNvCxnSpPr/>
          <p:nvPr/>
        </p:nvCxnSpPr>
        <p:spPr>
          <a:xfrm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 flipV="1"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0" name="Oval 300029"/>
          <p:cNvSpPr/>
          <p:nvPr/>
        </p:nvSpPr>
        <p:spPr>
          <a:xfrm>
            <a:off x="3839233" y="4473315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1" name="Connector 300030"/>
          <p:cNvCxnSpPr/>
          <p:nvPr/>
        </p:nvCxnSpPr>
        <p:spPr>
          <a:xfrm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 flipV="1"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3" name="Oval 300032"/>
          <p:cNvSpPr/>
          <p:nvPr/>
        </p:nvSpPr>
        <p:spPr>
          <a:xfrm>
            <a:off x="2966028" y="280223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4" name="Connector 300033"/>
          <p:cNvCxnSpPr/>
          <p:nvPr/>
        </p:nvCxnSpPr>
        <p:spPr>
          <a:xfrm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 flipV="1"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6" name="Oval 300035"/>
          <p:cNvSpPr/>
          <p:nvPr/>
        </p:nvSpPr>
        <p:spPr>
          <a:xfrm>
            <a:off x="2493495" y="49336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7" name="Connector 300036"/>
          <p:cNvCxnSpPr/>
          <p:nvPr/>
        </p:nvCxnSpPr>
        <p:spPr>
          <a:xfrm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 flipV="1"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9" name="Oval 300038"/>
          <p:cNvSpPr/>
          <p:nvPr/>
        </p:nvSpPr>
        <p:spPr>
          <a:xfrm>
            <a:off x="4627887" y="418430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0" name="Connector 300039"/>
          <p:cNvCxnSpPr/>
          <p:nvPr/>
        </p:nvCxnSpPr>
        <p:spPr>
          <a:xfrm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 flipV="1"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2" name="Oval 300041"/>
          <p:cNvSpPr/>
          <p:nvPr/>
        </p:nvSpPr>
        <p:spPr>
          <a:xfrm>
            <a:off x="6080887" y="480673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3" name="Connector 300042"/>
          <p:cNvCxnSpPr/>
          <p:nvPr/>
        </p:nvCxnSpPr>
        <p:spPr>
          <a:xfrm>
            <a:off x="6091435" y="481728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 flipV="1">
            <a:off x="6091435" y="481728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5" name="Oval 300044"/>
          <p:cNvSpPr/>
          <p:nvPr/>
        </p:nvSpPr>
        <p:spPr>
          <a:xfrm>
            <a:off x="4774024" y="298296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6" name="Oval 300045"/>
          <p:cNvSpPr/>
          <p:nvPr/>
        </p:nvSpPr>
        <p:spPr>
          <a:xfrm>
            <a:off x="4790524" y="299946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7" name="Oval 300046"/>
          <p:cNvSpPr/>
          <p:nvPr/>
        </p:nvSpPr>
        <p:spPr>
          <a:xfrm>
            <a:off x="6289479" y="5473566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8" name="Oval 300047"/>
          <p:cNvSpPr/>
          <p:nvPr/>
        </p:nvSpPr>
        <p:spPr>
          <a:xfrm>
            <a:off x="6305979" y="5490066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9" name="Oval 300048"/>
          <p:cNvSpPr/>
          <p:nvPr/>
        </p:nvSpPr>
        <p:spPr>
          <a:xfrm>
            <a:off x="2021504" y="391681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0" name="Oval 300049"/>
          <p:cNvSpPr/>
          <p:nvPr/>
        </p:nvSpPr>
        <p:spPr>
          <a:xfrm>
            <a:off x="2038004" y="393331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1" name="Oval 300050"/>
          <p:cNvSpPr/>
          <p:nvPr/>
        </p:nvSpPr>
        <p:spPr>
          <a:xfrm>
            <a:off x="3208075" y="36974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2" name="Oval 300051"/>
          <p:cNvSpPr/>
          <p:nvPr/>
        </p:nvSpPr>
        <p:spPr>
          <a:xfrm>
            <a:off x="3224575" y="37139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3" name="Oval 300052"/>
          <p:cNvSpPr/>
          <p:nvPr/>
        </p:nvSpPr>
        <p:spPr>
          <a:xfrm>
            <a:off x="3251899" y="515604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4" name="Oval 300053"/>
          <p:cNvSpPr/>
          <p:nvPr/>
        </p:nvSpPr>
        <p:spPr>
          <a:xfrm>
            <a:off x="3268399" y="517254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5" name="Oval 300054"/>
          <p:cNvSpPr/>
          <p:nvPr/>
        </p:nvSpPr>
        <p:spPr>
          <a:xfrm>
            <a:off x="4113781" y="22887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56" name="Connector 300055"/>
          <p:cNvCxnSpPr/>
          <p:nvPr/>
        </p:nvCxnSpPr>
        <p:spPr>
          <a:xfrm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8" name="Oval 300057"/>
          <p:cNvSpPr/>
          <p:nvPr/>
        </p:nvSpPr>
        <p:spPr>
          <a:xfrm>
            <a:off x="2571035" y="391754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9" name="Oval 300058"/>
          <p:cNvSpPr/>
          <p:nvPr/>
        </p:nvSpPr>
        <p:spPr>
          <a:xfrm>
            <a:off x="2587535" y="393404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0" name="Oval 300059"/>
          <p:cNvSpPr/>
          <p:nvPr/>
        </p:nvSpPr>
        <p:spPr>
          <a:xfrm>
            <a:off x="3209459" y="4012126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1" name="Oval 300060"/>
          <p:cNvSpPr/>
          <p:nvPr/>
        </p:nvSpPr>
        <p:spPr>
          <a:xfrm>
            <a:off x="3225959" y="4028626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2" name="Oval 300061"/>
          <p:cNvSpPr/>
          <p:nvPr/>
        </p:nvSpPr>
        <p:spPr>
          <a:xfrm>
            <a:off x="3826166" y="34532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3" name="Connector 300062"/>
          <p:cNvCxnSpPr/>
          <p:nvPr/>
        </p:nvCxnSpPr>
        <p:spPr>
          <a:xfrm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4" name="Connector 300063"/>
          <p:cNvCxnSpPr/>
          <p:nvPr/>
        </p:nvCxnSpPr>
        <p:spPr>
          <a:xfrm flipV="1"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5" name="Oval 300064"/>
          <p:cNvSpPr/>
          <p:nvPr/>
        </p:nvSpPr>
        <p:spPr>
          <a:xfrm>
            <a:off x="1927269" y="4363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6" name="Connector 300065"/>
          <p:cNvCxnSpPr/>
          <p:nvPr/>
        </p:nvCxnSpPr>
        <p:spPr>
          <a:xfrm flipV="1">
            <a:off x="1940769" y="4317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>
            <a:off x="1990906" y="4317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8" name="TextBox 300067"/>
          <p:cNvSpPr txBox="1"/>
          <p:nvPr/>
        </p:nvSpPr>
        <p:spPr>
          <a:xfrm>
            <a:off x="1690769" y="4407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069" name="Oval 300068"/>
          <p:cNvSpPr/>
          <p:nvPr/>
        </p:nvSpPr>
        <p:spPr>
          <a:xfrm>
            <a:off x="2226346" y="3906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0" name="Connector 300069"/>
          <p:cNvCxnSpPr/>
          <p:nvPr/>
        </p:nvCxnSpPr>
        <p:spPr>
          <a:xfrm flipV="1">
            <a:off x="2239846" y="3860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>
            <a:off x="2289983" y="3860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2" name="TextBox 300071"/>
          <p:cNvSpPr txBox="1"/>
          <p:nvPr/>
        </p:nvSpPr>
        <p:spPr>
          <a:xfrm>
            <a:off x="1989846" y="3950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073" name="Oval 300072"/>
          <p:cNvSpPr/>
          <p:nvPr/>
        </p:nvSpPr>
        <p:spPr>
          <a:xfrm>
            <a:off x="3603508" y="309046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4" name="Connector 300073"/>
          <p:cNvCxnSpPr/>
          <p:nvPr/>
        </p:nvCxnSpPr>
        <p:spPr>
          <a:xfrm flipV="1">
            <a:off x="3617008" y="3044210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5" name="Connector 300074"/>
          <p:cNvCxnSpPr/>
          <p:nvPr/>
        </p:nvCxnSpPr>
        <p:spPr>
          <a:xfrm>
            <a:off x="3667145" y="304421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6" name="TextBox 300075"/>
          <p:cNvSpPr txBox="1"/>
          <p:nvPr/>
        </p:nvSpPr>
        <p:spPr>
          <a:xfrm>
            <a:off x="3367008" y="313396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077" name="Oval 300076"/>
          <p:cNvSpPr/>
          <p:nvPr/>
        </p:nvSpPr>
        <p:spPr>
          <a:xfrm>
            <a:off x="3563884" y="313842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8" name="Connector 300077"/>
          <p:cNvCxnSpPr/>
          <p:nvPr/>
        </p:nvCxnSpPr>
        <p:spPr>
          <a:xfrm flipV="1">
            <a:off x="3577384" y="3092171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9" name="Connector 300078"/>
          <p:cNvCxnSpPr/>
          <p:nvPr/>
        </p:nvCxnSpPr>
        <p:spPr>
          <a:xfrm>
            <a:off x="3627522" y="3092171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0" name="Connector 300079"/>
          <p:cNvCxnSpPr/>
          <p:nvPr/>
        </p:nvCxnSpPr>
        <p:spPr>
          <a:xfrm>
            <a:off x="3618998" y="310232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1" name="TextBox 300080"/>
          <p:cNvSpPr txBox="1"/>
          <p:nvPr/>
        </p:nvSpPr>
        <p:spPr>
          <a:xfrm>
            <a:off x="3327384" y="318192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082" name="Oval 300081"/>
          <p:cNvSpPr/>
          <p:nvPr/>
        </p:nvSpPr>
        <p:spPr>
          <a:xfrm>
            <a:off x="3410192" y="440950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3" name="Connector 300082"/>
          <p:cNvCxnSpPr/>
          <p:nvPr/>
        </p:nvCxnSpPr>
        <p:spPr>
          <a:xfrm flipV="1">
            <a:off x="3423692" y="4363248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4" name="Connector 300083"/>
          <p:cNvCxnSpPr/>
          <p:nvPr/>
        </p:nvCxnSpPr>
        <p:spPr>
          <a:xfrm>
            <a:off x="3473829" y="436324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5" name="TextBox 300084"/>
          <p:cNvSpPr txBox="1"/>
          <p:nvPr/>
        </p:nvSpPr>
        <p:spPr>
          <a:xfrm>
            <a:off x="3173692" y="445300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086" name="Oval 300085"/>
          <p:cNvSpPr/>
          <p:nvPr/>
        </p:nvSpPr>
        <p:spPr>
          <a:xfrm>
            <a:off x="2031115" y="5630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7" name="Connector 300086"/>
          <p:cNvCxnSpPr/>
          <p:nvPr/>
        </p:nvCxnSpPr>
        <p:spPr>
          <a:xfrm flipV="1">
            <a:off x="2044615" y="5584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8" name="Connector 300087"/>
          <p:cNvCxnSpPr/>
          <p:nvPr/>
        </p:nvCxnSpPr>
        <p:spPr>
          <a:xfrm>
            <a:off x="2094752" y="5584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9" name="Connector 300088"/>
          <p:cNvCxnSpPr/>
          <p:nvPr/>
        </p:nvCxnSpPr>
        <p:spPr>
          <a:xfrm>
            <a:off x="2086229" y="5594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0" name="TextBox 300089"/>
          <p:cNvSpPr txBox="1"/>
          <p:nvPr/>
        </p:nvSpPr>
        <p:spPr>
          <a:xfrm>
            <a:off x="1794615" y="5674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091" name="Oval 300090"/>
          <p:cNvSpPr/>
          <p:nvPr/>
        </p:nvSpPr>
        <p:spPr>
          <a:xfrm>
            <a:off x="3603508" y="444056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2" name="Connector 300091"/>
          <p:cNvCxnSpPr/>
          <p:nvPr/>
        </p:nvCxnSpPr>
        <p:spPr>
          <a:xfrm flipV="1">
            <a:off x="3617008" y="4394315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3" name="Connector 300092"/>
          <p:cNvCxnSpPr/>
          <p:nvPr/>
        </p:nvCxnSpPr>
        <p:spPr>
          <a:xfrm>
            <a:off x="3667145" y="439431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4" name="Connector 300093"/>
          <p:cNvCxnSpPr/>
          <p:nvPr/>
        </p:nvCxnSpPr>
        <p:spPr>
          <a:xfrm>
            <a:off x="3658622" y="4404472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5" name="TextBox 300094"/>
          <p:cNvSpPr txBox="1"/>
          <p:nvPr/>
        </p:nvSpPr>
        <p:spPr>
          <a:xfrm>
            <a:off x="3367008" y="448406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096" name="Oval 300095"/>
          <p:cNvSpPr/>
          <p:nvPr/>
        </p:nvSpPr>
        <p:spPr>
          <a:xfrm>
            <a:off x="4016653" y="3611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7" name="Connector 300096"/>
          <p:cNvCxnSpPr/>
          <p:nvPr/>
        </p:nvCxnSpPr>
        <p:spPr>
          <a:xfrm flipV="1">
            <a:off x="4030153" y="3565710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8" name="Connector 300097"/>
          <p:cNvCxnSpPr/>
          <p:nvPr/>
        </p:nvCxnSpPr>
        <p:spPr>
          <a:xfrm>
            <a:off x="4080291" y="3565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9" name="TextBox 300098"/>
          <p:cNvSpPr txBox="1"/>
          <p:nvPr/>
        </p:nvSpPr>
        <p:spPr>
          <a:xfrm>
            <a:off x="3780153" y="3655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100" name="Oval 300099"/>
          <p:cNvSpPr/>
          <p:nvPr/>
        </p:nvSpPr>
        <p:spPr>
          <a:xfrm>
            <a:off x="4506807" y="251534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1" name="Connector 300100"/>
          <p:cNvCxnSpPr/>
          <p:nvPr/>
        </p:nvCxnSpPr>
        <p:spPr>
          <a:xfrm flipV="1">
            <a:off x="4520307" y="2469094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2" name="Connector 300101"/>
          <p:cNvCxnSpPr/>
          <p:nvPr/>
        </p:nvCxnSpPr>
        <p:spPr>
          <a:xfrm>
            <a:off x="4570445" y="246909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3" name="TextBox 300102"/>
          <p:cNvSpPr txBox="1"/>
          <p:nvPr/>
        </p:nvSpPr>
        <p:spPr>
          <a:xfrm>
            <a:off x="4270307" y="255884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104" name="Oval 300103"/>
          <p:cNvSpPr/>
          <p:nvPr/>
        </p:nvSpPr>
        <p:spPr>
          <a:xfrm>
            <a:off x="4162038" y="3931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5" name="Connector 300104"/>
          <p:cNvCxnSpPr/>
          <p:nvPr/>
        </p:nvCxnSpPr>
        <p:spPr>
          <a:xfrm flipV="1">
            <a:off x="4175538" y="3885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6" name="Connector 300105"/>
          <p:cNvCxnSpPr/>
          <p:nvPr/>
        </p:nvCxnSpPr>
        <p:spPr>
          <a:xfrm>
            <a:off x="4225675" y="3885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7" name="TextBox 300106"/>
          <p:cNvSpPr txBox="1"/>
          <p:nvPr/>
        </p:nvSpPr>
        <p:spPr>
          <a:xfrm>
            <a:off x="3925538" y="3975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108" name="Oval 300107"/>
          <p:cNvSpPr/>
          <p:nvPr/>
        </p:nvSpPr>
        <p:spPr>
          <a:xfrm>
            <a:off x="4274192" y="4995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9" name="Connector 300108"/>
          <p:cNvCxnSpPr/>
          <p:nvPr/>
        </p:nvCxnSpPr>
        <p:spPr>
          <a:xfrm flipV="1">
            <a:off x="4287692" y="4948940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0" name="Connector 300109"/>
          <p:cNvCxnSpPr/>
          <p:nvPr/>
        </p:nvCxnSpPr>
        <p:spPr>
          <a:xfrm>
            <a:off x="4337829" y="49489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1" name="Connector 300110"/>
          <p:cNvCxnSpPr/>
          <p:nvPr/>
        </p:nvCxnSpPr>
        <p:spPr>
          <a:xfrm>
            <a:off x="4329306" y="4959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2" name="TextBox 300111"/>
          <p:cNvSpPr txBox="1"/>
          <p:nvPr/>
        </p:nvSpPr>
        <p:spPr>
          <a:xfrm>
            <a:off x="4037692" y="5038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113" name="Oval 300112"/>
          <p:cNvSpPr/>
          <p:nvPr/>
        </p:nvSpPr>
        <p:spPr>
          <a:xfrm>
            <a:off x="4855730" y="4970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4" name="Connector 300113"/>
          <p:cNvCxnSpPr/>
          <p:nvPr/>
        </p:nvCxnSpPr>
        <p:spPr>
          <a:xfrm flipV="1">
            <a:off x="4869230" y="4924017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5" name="Connector 300114"/>
          <p:cNvCxnSpPr/>
          <p:nvPr/>
        </p:nvCxnSpPr>
        <p:spPr>
          <a:xfrm>
            <a:off x="4919368" y="4924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6" name="TextBox 300115"/>
          <p:cNvSpPr txBox="1"/>
          <p:nvPr/>
        </p:nvSpPr>
        <p:spPr>
          <a:xfrm>
            <a:off x="4619230" y="5013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117" name="Oval 300116"/>
          <p:cNvSpPr/>
          <p:nvPr/>
        </p:nvSpPr>
        <p:spPr>
          <a:xfrm>
            <a:off x="5279423" y="4874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8" name="Connector 300117"/>
          <p:cNvCxnSpPr/>
          <p:nvPr/>
        </p:nvCxnSpPr>
        <p:spPr>
          <a:xfrm flipV="1">
            <a:off x="5292923" y="4828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9" name="Connector 300118"/>
          <p:cNvCxnSpPr/>
          <p:nvPr/>
        </p:nvCxnSpPr>
        <p:spPr>
          <a:xfrm>
            <a:off x="5343060" y="4828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0" name="TextBox 300119"/>
          <p:cNvSpPr txBox="1"/>
          <p:nvPr/>
        </p:nvSpPr>
        <p:spPr>
          <a:xfrm>
            <a:off x="5042923" y="4918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121" name="Oval 300120"/>
          <p:cNvSpPr/>
          <p:nvPr/>
        </p:nvSpPr>
        <p:spPr>
          <a:xfrm>
            <a:off x="5650951" y="522703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2" name="Connector 300121"/>
          <p:cNvCxnSpPr/>
          <p:nvPr/>
        </p:nvCxnSpPr>
        <p:spPr>
          <a:xfrm flipV="1">
            <a:off x="5664451" y="5180783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3" name="Connector 300122"/>
          <p:cNvCxnSpPr/>
          <p:nvPr/>
        </p:nvCxnSpPr>
        <p:spPr>
          <a:xfrm>
            <a:off x="5714589" y="51807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4" name="TextBox 300123"/>
          <p:cNvSpPr txBox="1"/>
          <p:nvPr/>
        </p:nvSpPr>
        <p:spPr>
          <a:xfrm>
            <a:off x="5414451" y="527053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125" name="Oval 300124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6" name="Connector 300125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7" name="Connector 300126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8" name="TextBox 300127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300129" name="Oval 300128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0" name="Connector 300129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1" name="Connector 300130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32" name="TextBox 300131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300133" name="Oval 300132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4" name="Oval 300133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5" name="TextBox 300134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2" name="Freeform 1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6" name="Connector 300135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37" name="TextBox 300136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300138" name="Oval 300137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9" name="TextBox 300138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300140" name="Oval 300139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41" name="Connector 300140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2" name="Connector 300141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3" name="Connector 300142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44" name="TextBox 300143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300145" name="Rectangle 300144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6" name="TextBox 300145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300147" name="TextBox 300146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4" name="Freeform 3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8" name="TextBox 300147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300149" name="Connector 300148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50" name="TextBox 300149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300151" name="TextBox 300150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152" name="TextBox 300151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300153" name="TextBox 300152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E-FF-01~02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E-FF-04 开关面板表；回路见 E-FF-05。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楼梯吊灯 F06 三控：一层 S6（楼梯底）、二层 S12（楼梯顶）为两路开关，S11 键 2 为中途开关。</a:t>
            </a:r>
          </a:p>
        </p:txBody>
      </p:sp>
      <p:sp>
        <p:nvSpPr>
          <p:cNvPr id="300154" name="Rectangle 300153"/>
          <p:cNvSpPr/>
          <p:nvPr/>
        </p:nvSpPr>
        <p:spPr>
          <a:xfrm>
            <a:off x="400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5" name="Rectangle 300154"/>
          <p:cNvSpPr/>
          <p:nvPr/>
        </p:nvSpPr>
        <p:spPr>
          <a:xfrm>
            <a:off x="837000" y="6480000"/>
            <a:ext cx="437000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6" name="Rectangle 300155"/>
          <p:cNvSpPr/>
          <p:nvPr/>
        </p:nvSpPr>
        <p:spPr>
          <a:xfrm>
            <a:off x="1274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7" name="TextBox 300156"/>
          <p:cNvSpPr txBox="1"/>
          <p:nvPr/>
        </p:nvSpPr>
        <p:spPr>
          <a:xfrm>
            <a:off x="1751000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sp>
        <p:nvSpPr>
          <p:cNvPr id="300010" name="TextBox 30000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1</a:t>
            </a:r>
          </a:p>
        </p:txBody>
      </p:sp>
      <p:sp>
        <p:nvSpPr>
          <p:cNvPr id="300011" name="Rectangle 30001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2" name="TextBox 30001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300013" name="TextBox 30001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300014" name="Connector 30001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5" name="TextBox 30001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6" name="TextBox 30001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cxnSp>
        <p:nvCxnSpPr>
          <p:cNvPr id="300017" name="Connector 30001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8" name="TextBox 30001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9" name="TextBox 30001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E-FF-01</a:t>
            </a:r>
          </a:p>
        </p:txBody>
      </p:sp>
      <p:cxnSp>
        <p:nvCxnSpPr>
          <p:cNvPr id="300020" name="Connector 30001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1" name="TextBox 30002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300022" name="TextBox 30002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J-A · 方案 A · 专业 18 路（照明 4 路）</a:t>
            </a:r>
          </a:p>
        </p:txBody>
      </p:sp>
      <p:cxnSp>
        <p:nvCxnSpPr>
          <p:cNvPr id="300023" name="Connector 30002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4" name="TextBox 30002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300025" name="TextBox 30002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300026" name="Connector 30002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7" name="Connector 300026"/>
          <p:cNvCxnSpPr/>
          <p:nvPr/>
        </p:nvCxnSpPr>
        <p:spPr>
          <a:xfrm flipH="1">
            <a:off x="5254157" y="2702665"/>
            <a:ext cx="58239" cy="7049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8" name="Oval 300027"/>
          <p:cNvSpPr/>
          <p:nvPr/>
        </p:nvSpPr>
        <p:spPr>
          <a:xfrm>
            <a:off x="5192012" y="2657338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9" name="TextBox 300028"/>
          <p:cNvSpPr txBox="1"/>
          <p:nvPr/>
        </p:nvSpPr>
        <p:spPr>
          <a:xfrm>
            <a:off x="5192012" y="2657338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300030" name="Connector 300029"/>
          <p:cNvCxnSpPr/>
          <p:nvPr/>
        </p:nvCxnSpPr>
        <p:spPr>
          <a:xfrm flipV="1">
            <a:off x="3001315" y="4687029"/>
            <a:ext cx="2311081" cy="1749286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1" name="Oval 300030"/>
          <p:cNvSpPr/>
          <p:nvPr/>
        </p:nvSpPr>
        <p:spPr>
          <a:xfrm>
            <a:off x="3710193" y="5754065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2" name="TextBox 300031"/>
          <p:cNvSpPr txBox="1"/>
          <p:nvPr/>
        </p:nvSpPr>
        <p:spPr>
          <a:xfrm>
            <a:off x="3710193" y="5754065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4408508" y="2312106"/>
            <a:ext cx="903888" cy="390559"/>
          </a:xfrm>
          <a:custGeom>
            <a:avLst/>
            <a:gdLst/>
            <a:ahLst/>
            <a:cxnLst/>
            <a:rect l="l" t="t" r="r" b="b"/>
            <a:pathLst>
              <a:path w="903888" h="390559">
                <a:moveTo>
                  <a:pt x="903888" y="390559"/>
                </a:moveTo>
                <a:lnTo>
                  <a:pt x="856548" y="344965"/>
                </a:lnTo>
                <a:lnTo>
                  <a:pt x="807989" y="302194"/>
                </a:lnTo>
                <a:lnTo>
                  <a:pt x="758208" y="262249"/>
                </a:lnTo>
                <a:lnTo>
                  <a:pt x="707208" y="225128"/>
                </a:lnTo>
                <a:lnTo>
                  <a:pt x="654986" y="190832"/>
                </a:lnTo>
                <a:lnTo>
                  <a:pt x="601545" y="159360"/>
                </a:lnTo>
                <a:lnTo>
                  <a:pt x="546882" y="130713"/>
                </a:lnTo>
                <a:lnTo>
                  <a:pt x="491000" y="104891"/>
                </a:lnTo>
                <a:lnTo>
                  <a:pt x="433896" y="81893"/>
                </a:lnTo>
                <a:lnTo>
                  <a:pt x="375573" y="61720"/>
                </a:lnTo>
                <a:lnTo>
                  <a:pt x="316028" y="44372"/>
                </a:lnTo>
                <a:lnTo>
                  <a:pt x="255264" y="29848"/>
                </a:lnTo>
                <a:lnTo>
                  <a:pt x="193278" y="18149"/>
                </a:lnTo>
                <a:lnTo>
                  <a:pt x="130073" y="9275"/>
                </a:lnTo>
                <a:lnTo>
                  <a:pt x="65646" y="322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408508" y="2312106"/>
            <a:ext cx="845649" cy="461051"/>
          </a:xfrm>
          <a:custGeom>
            <a:avLst/>
            <a:gdLst/>
            <a:ahLst/>
            <a:cxnLst/>
            <a:rect l="l" t="t" r="r" b="b"/>
            <a:pathLst>
              <a:path w="845649" h="461051">
                <a:moveTo>
                  <a:pt x="845649" y="461051"/>
                </a:moveTo>
                <a:lnTo>
                  <a:pt x="803602" y="412416"/>
                </a:lnTo>
                <a:lnTo>
                  <a:pt x="760114" y="366423"/>
                </a:lnTo>
                <a:lnTo>
                  <a:pt x="715185" y="323072"/>
                </a:lnTo>
                <a:lnTo>
                  <a:pt x="668816" y="282365"/>
                </a:lnTo>
                <a:lnTo>
                  <a:pt x="621006" y="244300"/>
                </a:lnTo>
                <a:lnTo>
                  <a:pt x="571754" y="208877"/>
                </a:lnTo>
                <a:lnTo>
                  <a:pt x="521062" y="176098"/>
                </a:lnTo>
                <a:lnTo>
                  <a:pt x="468930" y="145961"/>
                </a:lnTo>
                <a:lnTo>
                  <a:pt x="415356" y="118466"/>
                </a:lnTo>
                <a:lnTo>
                  <a:pt x="360342" y="93614"/>
                </a:lnTo>
                <a:lnTo>
                  <a:pt x="303887" y="71405"/>
                </a:lnTo>
                <a:lnTo>
                  <a:pt x="245991" y="51839"/>
                </a:lnTo>
                <a:lnTo>
                  <a:pt x="186654" y="34915"/>
                </a:lnTo>
                <a:lnTo>
                  <a:pt x="125877" y="20634"/>
                </a:lnTo>
                <a:lnTo>
                  <a:pt x="63659" y="899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254157" y="1557430"/>
            <a:ext cx="841301" cy="1215727"/>
          </a:xfrm>
          <a:custGeom>
            <a:avLst/>
            <a:gdLst/>
            <a:ahLst/>
            <a:cxnLst/>
            <a:rect l="l" t="t" r="r" b="b"/>
            <a:pathLst>
              <a:path w="841301" h="1215727">
                <a:moveTo>
                  <a:pt x="0" y="1215727"/>
                </a:moveTo>
                <a:lnTo>
                  <a:pt x="81075" y="1159462"/>
                </a:lnTo>
                <a:lnTo>
                  <a:pt x="158351" y="1100568"/>
                </a:lnTo>
                <a:lnTo>
                  <a:pt x="231828" y="1039045"/>
                </a:lnTo>
                <a:lnTo>
                  <a:pt x="301505" y="974893"/>
                </a:lnTo>
                <a:lnTo>
                  <a:pt x="367383" y="908112"/>
                </a:lnTo>
                <a:lnTo>
                  <a:pt x="429462" y="838702"/>
                </a:lnTo>
                <a:lnTo>
                  <a:pt x="487742" y="766662"/>
                </a:lnTo>
                <a:lnTo>
                  <a:pt x="542223" y="691994"/>
                </a:lnTo>
                <a:lnTo>
                  <a:pt x="592905" y="614696"/>
                </a:lnTo>
                <a:lnTo>
                  <a:pt x="639788" y="534770"/>
                </a:lnTo>
                <a:lnTo>
                  <a:pt x="682871" y="452214"/>
                </a:lnTo>
                <a:lnTo>
                  <a:pt x="722155" y="367030"/>
                </a:lnTo>
                <a:lnTo>
                  <a:pt x="757640" y="279216"/>
                </a:lnTo>
                <a:lnTo>
                  <a:pt x="789326" y="188773"/>
                </a:lnTo>
                <a:lnTo>
                  <a:pt x="817213" y="95701"/>
                </a:lnTo>
                <a:lnTo>
                  <a:pt x="8413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748661" y="4072747"/>
            <a:ext cx="279602" cy="568621"/>
          </a:xfrm>
          <a:custGeom>
            <a:avLst/>
            <a:gdLst/>
            <a:ahLst/>
            <a:cxnLst/>
            <a:rect l="l" t="t" r="r" b="b"/>
            <a:pathLst>
              <a:path w="279602" h="568621">
                <a:moveTo>
                  <a:pt x="279602" y="568621"/>
                </a:moveTo>
                <a:lnTo>
                  <a:pt x="275454" y="526529"/>
                </a:lnTo>
                <a:lnTo>
                  <a:pt x="269529" y="485311"/>
                </a:lnTo>
                <a:lnTo>
                  <a:pt x="261827" y="444966"/>
                </a:lnTo>
                <a:lnTo>
                  <a:pt x="252348" y="405495"/>
                </a:lnTo>
                <a:lnTo>
                  <a:pt x="241092" y="366898"/>
                </a:lnTo>
                <a:lnTo>
                  <a:pt x="228059" y="329175"/>
                </a:lnTo>
                <a:lnTo>
                  <a:pt x="213249" y="292326"/>
                </a:lnTo>
                <a:lnTo>
                  <a:pt x="196663" y="256350"/>
                </a:lnTo>
                <a:lnTo>
                  <a:pt x="178299" y="221248"/>
                </a:lnTo>
                <a:lnTo>
                  <a:pt x="158159" y="187020"/>
                </a:lnTo>
                <a:lnTo>
                  <a:pt x="136241" y="153666"/>
                </a:lnTo>
                <a:lnTo>
                  <a:pt x="112547" y="121185"/>
                </a:lnTo>
                <a:lnTo>
                  <a:pt x="87075" y="89578"/>
                </a:lnTo>
                <a:lnTo>
                  <a:pt x="59827" y="58845"/>
                </a:lnTo>
                <a:lnTo>
                  <a:pt x="30802" y="2898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4746627" y="3610257"/>
            <a:ext cx="35704" cy="462490"/>
          </a:xfrm>
          <a:custGeom>
            <a:avLst/>
            <a:gdLst/>
            <a:ahLst/>
            <a:cxnLst/>
            <a:rect l="l" t="t" r="r" b="b"/>
            <a:pathLst>
              <a:path w="35704" h="462490">
                <a:moveTo>
                  <a:pt x="2034" y="462490"/>
                </a:moveTo>
                <a:lnTo>
                  <a:pt x="10036" y="433548"/>
                </a:lnTo>
                <a:lnTo>
                  <a:pt x="16955" y="404612"/>
                </a:lnTo>
                <a:lnTo>
                  <a:pt x="22790" y="375680"/>
                </a:lnTo>
                <a:lnTo>
                  <a:pt x="27540" y="346753"/>
                </a:lnTo>
                <a:lnTo>
                  <a:pt x="31207" y="317831"/>
                </a:lnTo>
                <a:lnTo>
                  <a:pt x="33790" y="288913"/>
                </a:lnTo>
                <a:lnTo>
                  <a:pt x="35289" y="260000"/>
                </a:lnTo>
                <a:lnTo>
                  <a:pt x="35704" y="231092"/>
                </a:lnTo>
                <a:lnTo>
                  <a:pt x="35035" y="202189"/>
                </a:lnTo>
                <a:lnTo>
                  <a:pt x="33282" y="173291"/>
                </a:lnTo>
                <a:lnTo>
                  <a:pt x="30445" y="144397"/>
                </a:lnTo>
                <a:lnTo>
                  <a:pt x="26524" y="115508"/>
                </a:lnTo>
                <a:lnTo>
                  <a:pt x="21519" y="86624"/>
                </a:lnTo>
                <a:lnTo>
                  <a:pt x="15430" y="57744"/>
                </a:lnTo>
                <a:lnTo>
                  <a:pt x="8257" y="288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848684" y="3932660"/>
            <a:ext cx="164169" cy="641550"/>
          </a:xfrm>
          <a:custGeom>
            <a:avLst/>
            <a:gdLst/>
            <a:ahLst/>
            <a:cxnLst/>
            <a:rect l="l" t="t" r="r" b="b"/>
            <a:pathLst>
              <a:path w="164169" h="641550">
                <a:moveTo>
                  <a:pt x="0" y="641550"/>
                </a:moveTo>
                <a:lnTo>
                  <a:pt x="24657" y="605061"/>
                </a:lnTo>
                <a:lnTo>
                  <a:pt x="47310" y="568091"/>
                </a:lnTo>
                <a:lnTo>
                  <a:pt x="67958" y="530640"/>
                </a:lnTo>
                <a:lnTo>
                  <a:pt x="86601" y="492708"/>
                </a:lnTo>
                <a:lnTo>
                  <a:pt x="103239" y="454295"/>
                </a:lnTo>
                <a:lnTo>
                  <a:pt x="117872" y="415400"/>
                </a:lnTo>
                <a:lnTo>
                  <a:pt x="130500" y="376025"/>
                </a:lnTo>
                <a:lnTo>
                  <a:pt x="141124" y="336169"/>
                </a:lnTo>
                <a:lnTo>
                  <a:pt x="149743" y="295831"/>
                </a:lnTo>
                <a:lnTo>
                  <a:pt x="156357" y="255013"/>
                </a:lnTo>
                <a:lnTo>
                  <a:pt x="160966" y="213713"/>
                </a:lnTo>
                <a:lnTo>
                  <a:pt x="163570" y="171933"/>
                </a:lnTo>
                <a:lnTo>
                  <a:pt x="164169" y="129671"/>
                </a:lnTo>
                <a:lnTo>
                  <a:pt x="162764" y="86928"/>
                </a:lnTo>
                <a:lnTo>
                  <a:pt x="159353" y="43705"/>
                </a:lnTo>
                <a:lnTo>
                  <a:pt x="1539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3288263" y="3902631"/>
            <a:ext cx="522051" cy="68887"/>
          </a:xfrm>
          <a:custGeom>
            <a:avLst/>
            <a:gdLst/>
            <a:ahLst/>
            <a:cxnLst/>
            <a:rect l="l" t="t" r="r" b="b"/>
            <a:pathLst>
              <a:path w="522051" h="68887">
                <a:moveTo>
                  <a:pt x="0" y="0"/>
                </a:moveTo>
                <a:lnTo>
                  <a:pt x="31899" y="14180"/>
                </a:lnTo>
                <a:lnTo>
                  <a:pt x="63895" y="26728"/>
                </a:lnTo>
                <a:lnTo>
                  <a:pt x="95989" y="37645"/>
                </a:lnTo>
                <a:lnTo>
                  <a:pt x="128180" y="46931"/>
                </a:lnTo>
                <a:lnTo>
                  <a:pt x="160468" y="54585"/>
                </a:lnTo>
                <a:lnTo>
                  <a:pt x="192853" y="60607"/>
                </a:lnTo>
                <a:lnTo>
                  <a:pt x="225335" y="64999"/>
                </a:lnTo>
                <a:lnTo>
                  <a:pt x="257915" y="67758"/>
                </a:lnTo>
                <a:lnTo>
                  <a:pt x="290592" y="68887"/>
                </a:lnTo>
                <a:lnTo>
                  <a:pt x="323366" y="68384"/>
                </a:lnTo>
                <a:lnTo>
                  <a:pt x="356237" y="66250"/>
                </a:lnTo>
                <a:lnTo>
                  <a:pt x="389205" y="62484"/>
                </a:lnTo>
                <a:lnTo>
                  <a:pt x="422271" y="57087"/>
                </a:lnTo>
                <a:lnTo>
                  <a:pt x="455434" y="50058"/>
                </a:lnTo>
                <a:lnTo>
                  <a:pt x="488694" y="41398"/>
                </a:lnTo>
                <a:lnTo>
                  <a:pt x="522051" y="3110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3001315" y="5444812"/>
            <a:ext cx="712671" cy="991503"/>
          </a:xfrm>
          <a:custGeom>
            <a:avLst/>
            <a:gdLst/>
            <a:ahLst/>
            <a:cxnLst/>
            <a:rect l="l" t="t" r="r" b="b"/>
            <a:pathLst>
              <a:path w="712671" h="991503">
                <a:moveTo>
                  <a:pt x="0" y="991503"/>
                </a:moveTo>
                <a:lnTo>
                  <a:pt x="67781" y="946238"/>
                </a:lnTo>
                <a:lnTo>
                  <a:pt x="132462" y="898745"/>
                </a:lnTo>
                <a:lnTo>
                  <a:pt x="194046" y="849025"/>
                </a:lnTo>
                <a:lnTo>
                  <a:pt x="252531" y="797078"/>
                </a:lnTo>
                <a:lnTo>
                  <a:pt x="307917" y="742904"/>
                </a:lnTo>
                <a:lnTo>
                  <a:pt x="360205" y="686502"/>
                </a:lnTo>
                <a:lnTo>
                  <a:pt x="409395" y="627874"/>
                </a:lnTo>
                <a:lnTo>
                  <a:pt x="455486" y="567019"/>
                </a:lnTo>
                <a:lnTo>
                  <a:pt x="498479" y="503936"/>
                </a:lnTo>
                <a:lnTo>
                  <a:pt x="538373" y="438626"/>
                </a:lnTo>
                <a:lnTo>
                  <a:pt x="575169" y="371090"/>
                </a:lnTo>
                <a:lnTo>
                  <a:pt x="608866" y="301326"/>
                </a:lnTo>
                <a:lnTo>
                  <a:pt x="639465" y="229335"/>
                </a:lnTo>
                <a:lnTo>
                  <a:pt x="666965" y="155117"/>
                </a:lnTo>
                <a:lnTo>
                  <a:pt x="691367" y="78672"/>
                </a:lnTo>
                <a:lnTo>
                  <a:pt x="71267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3713986" y="4687029"/>
            <a:ext cx="1598410" cy="757783"/>
          </a:xfrm>
          <a:custGeom>
            <a:avLst/>
            <a:gdLst/>
            <a:ahLst/>
            <a:cxnLst/>
            <a:rect l="l" t="t" r="r" b="b"/>
            <a:pathLst>
              <a:path w="1598410" h="757783">
                <a:moveTo>
                  <a:pt x="1598410" y="0"/>
                </a:moveTo>
                <a:lnTo>
                  <a:pt x="1480749" y="9899"/>
                </a:lnTo>
                <a:lnTo>
                  <a:pt x="1365456" y="24793"/>
                </a:lnTo>
                <a:lnTo>
                  <a:pt x="1252530" y="44681"/>
                </a:lnTo>
                <a:lnTo>
                  <a:pt x="1141974" y="69565"/>
                </a:lnTo>
                <a:lnTo>
                  <a:pt x="1033785" y="99444"/>
                </a:lnTo>
                <a:lnTo>
                  <a:pt x="927964" y="134318"/>
                </a:lnTo>
                <a:lnTo>
                  <a:pt x="824511" y="174187"/>
                </a:lnTo>
                <a:lnTo>
                  <a:pt x="723426" y="219050"/>
                </a:lnTo>
                <a:lnTo>
                  <a:pt x="624710" y="268909"/>
                </a:lnTo>
                <a:lnTo>
                  <a:pt x="528361" y="323763"/>
                </a:lnTo>
                <a:lnTo>
                  <a:pt x="434381" y="383612"/>
                </a:lnTo>
                <a:lnTo>
                  <a:pt x="342769" y="448456"/>
                </a:lnTo>
                <a:lnTo>
                  <a:pt x="253524" y="518295"/>
                </a:lnTo>
                <a:lnTo>
                  <a:pt x="166648" y="593129"/>
                </a:lnTo>
                <a:lnTo>
                  <a:pt x="82140" y="672959"/>
                </a:lnTo>
                <a:lnTo>
                  <a:pt x="0" y="75778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001315" y="5754065"/>
            <a:ext cx="1809724" cy="682250"/>
          </a:xfrm>
          <a:custGeom>
            <a:avLst/>
            <a:gdLst/>
            <a:ahLst/>
            <a:cxnLst/>
            <a:rect l="l" t="t" r="r" b="b"/>
            <a:pathLst>
              <a:path w="1809724" h="682250">
                <a:moveTo>
                  <a:pt x="0" y="682250"/>
                </a:moveTo>
                <a:lnTo>
                  <a:pt x="129098" y="682025"/>
                </a:lnTo>
                <a:lnTo>
                  <a:pt x="256064" y="676144"/>
                </a:lnTo>
                <a:lnTo>
                  <a:pt x="380898" y="664608"/>
                </a:lnTo>
                <a:lnTo>
                  <a:pt x="503600" y="647417"/>
                </a:lnTo>
                <a:lnTo>
                  <a:pt x="624170" y="624570"/>
                </a:lnTo>
                <a:lnTo>
                  <a:pt x="742608" y="596068"/>
                </a:lnTo>
                <a:lnTo>
                  <a:pt x="858913" y="561910"/>
                </a:lnTo>
                <a:lnTo>
                  <a:pt x="973087" y="522098"/>
                </a:lnTo>
                <a:lnTo>
                  <a:pt x="1085129" y="476629"/>
                </a:lnTo>
                <a:lnTo>
                  <a:pt x="1195039" y="425505"/>
                </a:lnTo>
                <a:lnTo>
                  <a:pt x="1302816" y="368726"/>
                </a:lnTo>
                <a:lnTo>
                  <a:pt x="1408462" y="306292"/>
                </a:lnTo>
                <a:lnTo>
                  <a:pt x="1511975" y="238202"/>
                </a:lnTo>
                <a:lnTo>
                  <a:pt x="1613357" y="164457"/>
                </a:lnTo>
                <a:lnTo>
                  <a:pt x="1712606" y="85056"/>
                </a:lnTo>
                <a:lnTo>
                  <a:pt x="180972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4811039" y="4687029"/>
            <a:ext cx="501357" cy="1067036"/>
          </a:xfrm>
          <a:custGeom>
            <a:avLst/>
            <a:gdLst/>
            <a:ahLst/>
            <a:cxnLst/>
            <a:rect l="l" t="t" r="r" b="b"/>
            <a:pathLst>
              <a:path w="501357" h="1067036">
                <a:moveTo>
                  <a:pt x="501357" y="0"/>
                </a:moveTo>
                <a:lnTo>
                  <a:pt x="445013" y="54939"/>
                </a:lnTo>
                <a:lnTo>
                  <a:pt x="392004" y="111445"/>
                </a:lnTo>
                <a:lnTo>
                  <a:pt x="342330" y="169518"/>
                </a:lnTo>
                <a:lnTo>
                  <a:pt x="295990" y="229157"/>
                </a:lnTo>
                <a:lnTo>
                  <a:pt x="252984" y="290364"/>
                </a:lnTo>
                <a:lnTo>
                  <a:pt x="213313" y="353136"/>
                </a:lnTo>
                <a:lnTo>
                  <a:pt x="176977" y="417476"/>
                </a:lnTo>
                <a:lnTo>
                  <a:pt x="143975" y="483382"/>
                </a:lnTo>
                <a:lnTo>
                  <a:pt x="114307" y="550856"/>
                </a:lnTo>
                <a:lnTo>
                  <a:pt x="87974" y="619895"/>
                </a:lnTo>
                <a:lnTo>
                  <a:pt x="64976" y="690502"/>
                </a:lnTo>
                <a:lnTo>
                  <a:pt x="45311" y="762675"/>
                </a:lnTo>
                <a:lnTo>
                  <a:pt x="28982" y="836415"/>
                </a:lnTo>
                <a:lnTo>
                  <a:pt x="15987" y="911722"/>
                </a:lnTo>
                <a:lnTo>
                  <a:pt x="6326" y="988596"/>
                </a:lnTo>
                <a:lnTo>
                  <a:pt x="0" y="106703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3" name="Oval 300032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4" name="Connector 300033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6" name="TextBox 300035"/>
          <p:cNvSpPr txBox="1"/>
          <p:nvPr/>
        </p:nvSpPr>
        <p:spPr>
          <a:xfrm>
            <a:off x="4493291" y="214253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037" name="Oval 300036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8" name="Connector 300037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0" name="TextBox 300039"/>
          <p:cNvSpPr txBox="1"/>
          <p:nvPr/>
        </p:nvSpPr>
        <p:spPr>
          <a:xfrm>
            <a:off x="3798769" y="527524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300041" name="Oval 300040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2" name="Oval 300041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3" name="TextBox 300042"/>
          <p:cNvSpPr txBox="1"/>
          <p:nvPr/>
        </p:nvSpPr>
        <p:spPr>
          <a:xfrm>
            <a:off x="3087405" y="376309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300044" name="Oval 300043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5" name="Oval 300044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6" name="TextBox 300045"/>
          <p:cNvSpPr txBox="1"/>
          <p:nvPr/>
        </p:nvSpPr>
        <p:spPr>
          <a:xfrm>
            <a:off x="4831410" y="344069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047" name="Oval 300046"/>
          <p:cNvSpPr/>
          <p:nvPr/>
        </p:nvSpPr>
        <p:spPr>
          <a:xfrm>
            <a:off x="4754517" y="5697543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8" name="Oval 300047"/>
          <p:cNvSpPr/>
          <p:nvPr/>
        </p:nvSpPr>
        <p:spPr>
          <a:xfrm>
            <a:off x="4793376" y="5736402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9" name="TextBox 300048"/>
          <p:cNvSpPr txBox="1"/>
          <p:nvPr/>
        </p:nvSpPr>
        <p:spPr>
          <a:xfrm>
            <a:off x="4895822" y="558449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300050" name="Oval 300049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51" name="Connector 300050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3" name="TextBox 300052"/>
          <p:cNvSpPr txBox="1"/>
          <p:nvPr/>
        </p:nvSpPr>
        <p:spPr>
          <a:xfrm>
            <a:off x="6180241" y="138786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300054" name="Oval 300053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5" name="Oval 300054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6" name="TextBox 300055"/>
          <p:cNvSpPr txBox="1"/>
          <p:nvPr/>
        </p:nvSpPr>
        <p:spPr>
          <a:xfrm>
            <a:off x="3895097" y="376417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300057" name="Oval 300056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8" name="Oval 300057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9" name="TextBox 300058"/>
          <p:cNvSpPr txBox="1"/>
          <p:nvPr/>
        </p:nvSpPr>
        <p:spPr>
          <a:xfrm>
            <a:off x="4833444" y="390318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060" name="Oval 300059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1" name="Connector 300060"/>
          <p:cNvCxnSpPr/>
          <p:nvPr/>
        </p:nvCxnSpPr>
        <p:spPr>
          <a:xfrm flipV="1">
            <a:off x="2848684" y="4461634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>
            <a:off x="2943146" y="4461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3" name="Rounded Rectangle 300062"/>
          <p:cNvSpPr/>
          <p:nvPr/>
        </p:nvSpPr>
        <p:spPr>
          <a:xfrm>
            <a:off x="2957277" y="432915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4" name="TextBox 300063"/>
          <p:cNvSpPr txBox="1"/>
          <p:nvPr/>
        </p:nvSpPr>
        <p:spPr>
          <a:xfrm>
            <a:off x="2957277" y="432915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065" name="Oval 300064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6" name="Connector 300065"/>
          <p:cNvCxnSpPr/>
          <p:nvPr/>
        </p:nvCxnSpPr>
        <p:spPr>
          <a:xfrm flipV="1">
            <a:off x="3288263" y="3790055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>
            <a:off x="3382725" y="3790055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8" name="Rounded Rectangle 300067"/>
          <p:cNvSpPr/>
          <p:nvPr/>
        </p:nvSpPr>
        <p:spPr>
          <a:xfrm>
            <a:off x="3396856" y="365757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9" name="TextBox 300068"/>
          <p:cNvSpPr txBox="1"/>
          <p:nvPr/>
        </p:nvSpPr>
        <p:spPr>
          <a:xfrm>
            <a:off x="3396856" y="365757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070" name="Oval 300069"/>
          <p:cNvSpPr/>
          <p:nvPr/>
        </p:nvSpPr>
        <p:spPr>
          <a:xfrm>
            <a:off x="5286961" y="267723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1" name="Connector 300070"/>
          <p:cNvCxnSpPr/>
          <p:nvPr/>
        </p:nvCxnSpPr>
        <p:spPr>
          <a:xfrm flipV="1">
            <a:off x="5312396" y="2590090"/>
            <a:ext cx="94462" cy="1125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2" name="Connector 300071"/>
          <p:cNvCxnSpPr/>
          <p:nvPr/>
        </p:nvCxnSpPr>
        <p:spPr>
          <a:xfrm>
            <a:off x="5406858" y="2590090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3" name="Rounded Rectangle 300072"/>
          <p:cNvSpPr/>
          <p:nvPr/>
        </p:nvSpPr>
        <p:spPr>
          <a:xfrm>
            <a:off x="5420989" y="245760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4" name="TextBox 300073"/>
          <p:cNvSpPr txBox="1"/>
          <p:nvPr/>
        </p:nvSpPr>
        <p:spPr>
          <a:xfrm>
            <a:off x="5420989" y="245760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075" name="Oval 300074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6" name="Connector 300075"/>
          <p:cNvCxnSpPr/>
          <p:nvPr/>
        </p:nvCxnSpPr>
        <p:spPr>
          <a:xfrm flipV="1">
            <a:off x="5254157" y="2660581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>
            <a:off x="5348620" y="2660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8" name="Connector 300077"/>
          <p:cNvCxnSpPr/>
          <p:nvPr/>
        </p:nvCxnSpPr>
        <p:spPr>
          <a:xfrm>
            <a:off x="5332561" y="267971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9" name="Rounded Rectangle 300078"/>
          <p:cNvSpPr/>
          <p:nvPr/>
        </p:nvSpPr>
        <p:spPr>
          <a:xfrm>
            <a:off x="5362750" y="2528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0" name="TextBox 300079"/>
          <p:cNvSpPr txBox="1"/>
          <p:nvPr/>
        </p:nvSpPr>
        <p:spPr>
          <a:xfrm>
            <a:off x="5362750" y="2528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081" name="Oval 300080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2" name="Connector 300081"/>
          <p:cNvCxnSpPr/>
          <p:nvPr/>
        </p:nvCxnSpPr>
        <p:spPr>
          <a:xfrm flipV="1">
            <a:off x="5028263" y="4528792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3" name="Connector 300082"/>
          <p:cNvCxnSpPr/>
          <p:nvPr/>
        </p:nvCxnSpPr>
        <p:spPr>
          <a:xfrm>
            <a:off x="5122725" y="452879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4" name="Rounded Rectangle 300083"/>
          <p:cNvSpPr/>
          <p:nvPr/>
        </p:nvSpPr>
        <p:spPr>
          <a:xfrm>
            <a:off x="5136856" y="4396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5" name="TextBox 300084"/>
          <p:cNvSpPr txBox="1"/>
          <p:nvPr/>
        </p:nvSpPr>
        <p:spPr>
          <a:xfrm>
            <a:off x="5136856" y="4396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086" name="Oval 300085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7" name="Connector 300086"/>
          <p:cNvCxnSpPr/>
          <p:nvPr/>
        </p:nvCxnSpPr>
        <p:spPr>
          <a:xfrm flipV="1">
            <a:off x="3001315" y="6323739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8" name="Connector 300087"/>
          <p:cNvCxnSpPr/>
          <p:nvPr/>
        </p:nvCxnSpPr>
        <p:spPr>
          <a:xfrm>
            <a:off x="3095778" y="632373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9" name="Connector 300088"/>
          <p:cNvCxnSpPr/>
          <p:nvPr/>
        </p:nvCxnSpPr>
        <p:spPr>
          <a:xfrm>
            <a:off x="3079719" y="6342877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0" name="Rounded Rectangle 300089"/>
          <p:cNvSpPr/>
          <p:nvPr/>
        </p:nvSpPr>
        <p:spPr>
          <a:xfrm>
            <a:off x="3109908" y="619125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1" name="TextBox 300090"/>
          <p:cNvSpPr txBox="1"/>
          <p:nvPr/>
        </p:nvSpPr>
        <p:spPr>
          <a:xfrm>
            <a:off x="3109908" y="619125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092" name="Oval 300091"/>
          <p:cNvSpPr/>
          <p:nvPr/>
        </p:nvSpPr>
        <p:spPr>
          <a:xfrm>
            <a:off x="5286961" y="466159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3" name="Connector 300092"/>
          <p:cNvCxnSpPr/>
          <p:nvPr/>
        </p:nvCxnSpPr>
        <p:spPr>
          <a:xfrm flipV="1">
            <a:off x="5312396" y="4574453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4" name="Connector 300093"/>
          <p:cNvCxnSpPr/>
          <p:nvPr/>
        </p:nvCxnSpPr>
        <p:spPr>
          <a:xfrm>
            <a:off x="5406858" y="4574453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>
            <a:off x="5390800" y="459359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6" name="Rounded Rectangle 300095"/>
          <p:cNvSpPr/>
          <p:nvPr/>
        </p:nvSpPr>
        <p:spPr>
          <a:xfrm>
            <a:off x="5420989" y="444197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7" name="TextBox 300096"/>
          <p:cNvSpPr txBox="1"/>
          <p:nvPr/>
        </p:nvSpPr>
        <p:spPr>
          <a:xfrm>
            <a:off x="5420989" y="444197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098" name="TextBox 300097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300099" name="TextBox 300098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1 联 · 盥洗室门旁</a:t>
            </a:r>
          </a:p>
        </p:txBody>
      </p:sp>
      <p:sp>
        <p:nvSpPr>
          <p:cNvPr id="300100" name="TextBox 300099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300101" name="TextBox 300100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1 联 · 西卫生间门外</a:t>
            </a:r>
          </a:p>
        </p:txBody>
      </p:sp>
      <p:sp>
        <p:nvSpPr>
          <p:cNvPr id="300102" name="TextBox 300101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300103" name="TextBox 300102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1 联 · 主卧门旁（S4 西侧）</a:t>
            </a:r>
          </a:p>
        </p:txBody>
      </p:sp>
      <p:sp>
        <p:nvSpPr>
          <p:cNvPr id="300104" name="TextBox 300103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300105" name="TextBox 300104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2 联 · 主卧东墙 · 床头侧</a:t>
            </a:r>
          </a:p>
        </p:txBody>
      </p:sp>
      <p:sp>
        <p:nvSpPr>
          <p:cNvPr id="300106" name="TextBox 300105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300107" name="TextBox 300106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1 联 · 衣帽间门旁</a:t>
            </a:r>
          </a:p>
        </p:txBody>
      </p:sp>
      <p:sp>
        <p:nvSpPr>
          <p:cNvPr id="300108" name="TextBox 300107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300109" name="TextBox 300108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2 联 · 卧室2 床头侧（东墙）</a:t>
            </a:r>
          </a:p>
        </p:txBody>
      </p:sp>
      <p:sp>
        <p:nvSpPr>
          <p:cNvPr id="300110" name="TextBox 300109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11" name="TextBox 300110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2 联 · 卧室2 门旁（新门西侧短墙，锁侧）</a:t>
            </a:r>
          </a:p>
        </p:txBody>
      </p:sp>
      <p:sp>
        <p:nvSpPr>
          <p:cNvPr id="300112" name="TextBox 300111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13" name="TextBox 300112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300114" name="TextBox 300113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W1：S3 ↔ S4  3C+E  回路 a</a:t>
            </a:r>
          </a:p>
        </p:txBody>
      </p:sp>
      <p:sp>
        <p:nvSpPr>
          <p:cNvPr id="300115" name="TextBox 300114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W2：S6 ↔ S7  3C+E  回路 i j</a:t>
            </a:r>
          </a:p>
        </p:txBody>
      </p:sp>
      <p:sp>
        <p:nvSpPr>
          <p:cNvPr id="300116" name="TextBox 300115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300117" name="Rectangle 300116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8" name="Rectangle 300117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9" name="TextBox 300118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2：走廊 · 北卫 · 卧室3 · 楼梯 · 卧室 4 · 后卫</a:t>
            </a:r>
          </a:p>
        </p:txBody>
      </p:sp>
      <p:sp>
        <p:nvSpPr>
          <p:cNvPr id="300010" name="TextBox 30000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2</a:t>
            </a:r>
          </a:p>
        </p:txBody>
      </p:sp>
      <p:sp>
        <p:nvSpPr>
          <p:cNvPr id="300011" name="Rectangle 30001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2" name="TextBox 30001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300013" name="TextBox 30001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300014" name="Connector 30001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5" name="TextBox 30001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6" name="TextBox 30001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2：走廊 · 北卫 · 卧室3 · 楼梯 · 卧室 4 · 后卫</a:t>
            </a:r>
          </a:p>
        </p:txBody>
      </p:sp>
      <p:cxnSp>
        <p:nvCxnSpPr>
          <p:cNvPr id="300017" name="Connector 30001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8" name="TextBox 30001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9" name="TextBox 30001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E-FF-02</a:t>
            </a:r>
          </a:p>
        </p:txBody>
      </p:sp>
      <p:cxnSp>
        <p:nvCxnSpPr>
          <p:cNvPr id="300020" name="Connector 30001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1" name="TextBox 30002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300022" name="TextBox 30002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J-A · 方案 A · 专业 18 路（照明 4 路）</a:t>
            </a:r>
          </a:p>
        </p:txBody>
      </p:sp>
      <p:cxnSp>
        <p:nvCxnSpPr>
          <p:cNvPr id="300023" name="Connector 30002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4" name="TextBox 30002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300025" name="TextBox 30002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300026" name="Connector 30002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7" name="Connector 300026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8" name="Oval 300027"/>
          <p:cNvSpPr/>
          <p:nvPr/>
        </p:nvSpPr>
        <p:spPr>
          <a:xfrm>
            <a:off x="2563694" y="4110726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9" name="TextBox 300028"/>
          <p:cNvSpPr txBox="1"/>
          <p:nvPr/>
        </p:nvSpPr>
        <p:spPr>
          <a:xfrm>
            <a:off x="2563694" y="4110726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300030" name="Connector 300029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1" name="Oval 300030"/>
          <p:cNvSpPr/>
          <p:nvPr/>
        </p:nvSpPr>
        <p:spPr>
          <a:xfrm>
            <a:off x="3365315" y="540840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2" name="TextBox 300031"/>
          <p:cNvSpPr txBox="1"/>
          <p:nvPr/>
        </p:nvSpPr>
        <p:spPr>
          <a:xfrm>
            <a:off x="3365315" y="540840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3251631" y="1857368"/>
            <a:ext cx="408184" cy="702725"/>
          </a:xfrm>
          <a:custGeom>
            <a:avLst/>
            <a:gdLst/>
            <a:ahLst/>
            <a:cxnLst/>
            <a:rect l="l" t="t" r="r" b="b"/>
            <a:pathLst>
              <a:path w="408184" h="702725">
                <a:moveTo>
                  <a:pt x="0" y="0"/>
                </a:moveTo>
                <a:lnTo>
                  <a:pt x="9041" y="53487"/>
                </a:lnTo>
                <a:lnTo>
                  <a:pt x="20279" y="105699"/>
                </a:lnTo>
                <a:lnTo>
                  <a:pt x="33712" y="156635"/>
                </a:lnTo>
                <a:lnTo>
                  <a:pt x="49342" y="206295"/>
                </a:lnTo>
                <a:lnTo>
                  <a:pt x="67167" y="254680"/>
                </a:lnTo>
                <a:lnTo>
                  <a:pt x="87188" y="301789"/>
                </a:lnTo>
                <a:lnTo>
                  <a:pt x="109406" y="347623"/>
                </a:lnTo>
                <a:lnTo>
                  <a:pt x="133819" y="392181"/>
                </a:lnTo>
                <a:lnTo>
                  <a:pt x="160429" y="435464"/>
                </a:lnTo>
                <a:lnTo>
                  <a:pt x="189234" y="477470"/>
                </a:lnTo>
                <a:lnTo>
                  <a:pt x="220236" y="518202"/>
                </a:lnTo>
                <a:lnTo>
                  <a:pt x="253433" y="557658"/>
                </a:lnTo>
                <a:lnTo>
                  <a:pt x="288827" y="595838"/>
                </a:lnTo>
                <a:lnTo>
                  <a:pt x="326416" y="632743"/>
                </a:lnTo>
                <a:lnTo>
                  <a:pt x="366202" y="668372"/>
                </a:lnTo>
                <a:lnTo>
                  <a:pt x="408184" y="702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284305" y="3268996"/>
            <a:ext cx="246905" cy="200161"/>
          </a:xfrm>
          <a:custGeom>
            <a:avLst/>
            <a:gdLst/>
            <a:ahLst/>
            <a:cxnLst/>
            <a:rect l="l" t="t" r="r" b="b"/>
            <a:pathLst>
              <a:path w="246905" h="200161">
                <a:moveTo>
                  <a:pt x="246905" y="200161"/>
                </a:moveTo>
                <a:lnTo>
                  <a:pt x="236165" y="181864"/>
                </a:lnTo>
                <a:lnTo>
                  <a:pt x="224799" y="164339"/>
                </a:lnTo>
                <a:lnTo>
                  <a:pt x="212808" y="147585"/>
                </a:lnTo>
                <a:lnTo>
                  <a:pt x="200191" y="131603"/>
                </a:lnTo>
                <a:lnTo>
                  <a:pt x="186948" y="116393"/>
                </a:lnTo>
                <a:lnTo>
                  <a:pt x="173081" y="101954"/>
                </a:lnTo>
                <a:lnTo>
                  <a:pt x="158587" y="88286"/>
                </a:lnTo>
                <a:lnTo>
                  <a:pt x="143469" y="75390"/>
                </a:lnTo>
                <a:lnTo>
                  <a:pt x="127724" y="63266"/>
                </a:lnTo>
                <a:lnTo>
                  <a:pt x="111354" y="51913"/>
                </a:lnTo>
                <a:lnTo>
                  <a:pt x="94359" y="41332"/>
                </a:lnTo>
                <a:lnTo>
                  <a:pt x="76738" y="31523"/>
                </a:lnTo>
                <a:lnTo>
                  <a:pt x="58492" y="22485"/>
                </a:lnTo>
                <a:lnTo>
                  <a:pt x="39620" y="14218"/>
                </a:lnTo>
                <a:lnTo>
                  <a:pt x="20123" y="6723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03510" y="4768232"/>
            <a:ext cx="606226" cy="733978"/>
          </a:xfrm>
          <a:custGeom>
            <a:avLst/>
            <a:gdLst/>
            <a:ahLst/>
            <a:cxnLst/>
            <a:rect l="l" t="t" r="r" b="b"/>
            <a:pathLst>
              <a:path w="606226" h="733978">
                <a:moveTo>
                  <a:pt x="606226" y="733978"/>
                </a:moveTo>
                <a:lnTo>
                  <a:pt x="585540" y="673896"/>
                </a:lnTo>
                <a:lnTo>
                  <a:pt x="562560" y="615708"/>
                </a:lnTo>
                <a:lnTo>
                  <a:pt x="537286" y="559415"/>
                </a:lnTo>
                <a:lnTo>
                  <a:pt x="509718" y="505017"/>
                </a:lnTo>
                <a:lnTo>
                  <a:pt x="479857" y="452512"/>
                </a:lnTo>
                <a:lnTo>
                  <a:pt x="447702" y="401903"/>
                </a:lnTo>
                <a:lnTo>
                  <a:pt x="413253" y="353187"/>
                </a:lnTo>
                <a:lnTo>
                  <a:pt x="376511" y="306367"/>
                </a:lnTo>
                <a:lnTo>
                  <a:pt x="337475" y="261440"/>
                </a:lnTo>
                <a:lnTo>
                  <a:pt x="296145" y="218408"/>
                </a:lnTo>
                <a:lnTo>
                  <a:pt x="252522" y="177271"/>
                </a:lnTo>
                <a:lnTo>
                  <a:pt x="206605" y="138028"/>
                </a:lnTo>
                <a:lnTo>
                  <a:pt x="158394" y="100679"/>
                </a:lnTo>
                <a:lnTo>
                  <a:pt x="107890" y="65225"/>
                </a:lnTo>
                <a:lnTo>
                  <a:pt x="55092" y="3166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181465" y="3268996"/>
            <a:ext cx="122045" cy="1499236"/>
          </a:xfrm>
          <a:custGeom>
            <a:avLst/>
            <a:gdLst/>
            <a:ahLst/>
            <a:cxnLst/>
            <a:rect l="l" t="t" r="r" b="b"/>
            <a:pathLst>
              <a:path w="122045" h="1499236">
                <a:moveTo>
                  <a:pt x="102840" y="0"/>
                </a:moveTo>
                <a:lnTo>
                  <a:pt x="77686" y="94040"/>
                </a:lnTo>
                <a:lnTo>
                  <a:pt x="56047" y="188035"/>
                </a:lnTo>
                <a:lnTo>
                  <a:pt x="37921" y="281985"/>
                </a:lnTo>
                <a:lnTo>
                  <a:pt x="23309" y="375890"/>
                </a:lnTo>
                <a:lnTo>
                  <a:pt x="12211" y="469749"/>
                </a:lnTo>
                <a:lnTo>
                  <a:pt x="4627" y="563564"/>
                </a:lnTo>
                <a:lnTo>
                  <a:pt x="556" y="657334"/>
                </a:lnTo>
                <a:lnTo>
                  <a:pt x="0" y="751059"/>
                </a:lnTo>
                <a:lnTo>
                  <a:pt x="2957" y="844739"/>
                </a:lnTo>
                <a:lnTo>
                  <a:pt x="9428" y="938373"/>
                </a:lnTo>
                <a:lnTo>
                  <a:pt x="19413" y="1031963"/>
                </a:lnTo>
                <a:lnTo>
                  <a:pt x="32912" y="1125508"/>
                </a:lnTo>
                <a:lnTo>
                  <a:pt x="49925" y="1219007"/>
                </a:lnTo>
                <a:lnTo>
                  <a:pt x="70451" y="1312462"/>
                </a:lnTo>
                <a:lnTo>
                  <a:pt x="94491" y="1405872"/>
                </a:lnTo>
                <a:lnTo>
                  <a:pt x="122045" y="149923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744894" y="3939263"/>
            <a:ext cx="717769" cy="404193"/>
          </a:xfrm>
          <a:custGeom>
            <a:avLst/>
            <a:gdLst/>
            <a:ahLst/>
            <a:cxnLst/>
            <a:rect l="l" t="t" r="r" b="b"/>
            <a:pathLst>
              <a:path w="717769" h="404193">
                <a:moveTo>
                  <a:pt x="0" y="0"/>
                </a:moveTo>
                <a:lnTo>
                  <a:pt x="35388" y="42084"/>
                </a:lnTo>
                <a:lnTo>
                  <a:pt x="72038" y="81926"/>
                </a:lnTo>
                <a:lnTo>
                  <a:pt x="109951" y="119525"/>
                </a:lnTo>
                <a:lnTo>
                  <a:pt x="149128" y="154881"/>
                </a:lnTo>
                <a:lnTo>
                  <a:pt x="189568" y="187993"/>
                </a:lnTo>
                <a:lnTo>
                  <a:pt x="231271" y="218863"/>
                </a:lnTo>
                <a:lnTo>
                  <a:pt x="274236" y="247490"/>
                </a:lnTo>
                <a:lnTo>
                  <a:pt x="318465" y="273873"/>
                </a:lnTo>
                <a:lnTo>
                  <a:pt x="363958" y="298014"/>
                </a:lnTo>
                <a:lnTo>
                  <a:pt x="410713" y="319911"/>
                </a:lnTo>
                <a:lnTo>
                  <a:pt x="458731" y="339566"/>
                </a:lnTo>
                <a:lnTo>
                  <a:pt x="508013" y="356977"/>
                </a:lnTo>
                <a:lnTo>
                  <a:pt x="558557" y="372146"/>
                </a:lnTo>
                <a:lnTo>
                  <a:pt x="610365" y="385071"/>
                </a:lnTo>
                <a:lnTo>
                  <a:pt x="663435" y="395754"/>
                </a:lnTo>
                <a:lnTo>
                  <a:pt x="717769" y="4041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909736" y="5502210"/>
            <a:ext cx="456599" cy="655432"/>
          </a:xfrm>
          <a:custGeom>
            <a:avLst/>
            <a:gdLst/>
            <a:ahLst/>
            <a:cxnLst/>
            <a:rect l="l" t="t" r="r" b="b"/>
            <a:pathLst>
              <a:path w="456599" h="655432">
                <a:moveTo>
                  <a:pt x="0" y="0"/>
                </a:moveTo>
                <a:lnTo>
                  <a:pt x="13176" y="51666"/>
                </a:lnTo>
                <a:lnTo>
                  <a:pt x="28400" y="101905"/>
                </a:lnTo>
                <a:lnTo>
                  <a:pt x="45672" y="150718"/>
                </a:lnTo>
                <a:lnTo>
                  <a:pt x="64993" y="198103"/>
                </a:lnTo>
                <a:lnTo>
                  <a:pt x="86361" y="244061"/>
                </a:lnTo>
                <a:lnTo>
                  <a:pt x="109778" y="288593"/>
                </a:lnTo>
                <a:lnTo>
                  <a:pt x="135243" y="331698"/>
                </a:lnTo>
                <a:lnTo>
                  <a:pt x="162756" y="373376"/>
                </a:lnTo>
                <a:lnTo>
                  <a:pt x="192318" y="413627"/>
                </a:lnTo>
                <a:lnTo>
                  <a:pt x="223928" y="452451"/>
                </a:lnTo>
                <a:lnTo>
                  <a:pt x="257585" y="489849"/>
                </a:lnTo>
                <a:lnTo>
                  <a:pt x="293292" y="525819"/>
                </a:lnTo>
                <a:lnTo>
                  <a:pt x="331046" y="560363"/>
                </a:lnTo>
                <a:lnTo>
                  <a:pt x="370849" y="593479"/>
                </a:lnTo>
                <a:lnTo>
                  <a:pt x="412700" y="625169"/>
                </a:lnTo>
                <a:lnTo>
                  <a:pt x="456599" y="655432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3366335" y="5465578"/>
            <a:ext cx="398138" cy="692064"/>
          </a:xfrm>
          <a:custGeom>
            <a:avLst/>
            <a:gdLst/>
            <a:ahLst/>
            <a:cxnLst/>
            <a:rect l="l" t="t" r="r" b="b"/>
            <a:pathLst>
              <a:path w="398138" h="692064">
                <a:moveTo>
                  <a:pt x="398138" y="0"/>
                </a:moveTo>
                <a:lnTo>
                  <a:pt x="357034" y="33923"/>
                </a:lnTo>
                <a:lnTo>
                  <a:pt x="318093" y="69090"/>
                </a:lnTo>
                <a:lnTo>
                  <a:pt x="281315" y="105501"/>
                </a:lnTo>
                <a:lnTo>
                  <a:pt x="246699" y="143156"/>
                </a:lnTo>
                <a:lnTo>
                  <a:pt x="214246" y="182055"/>
                </a:lnTo>
                <a:lnTo>
                  <a:pt x="183955" y="222199"/>
                </a:lnTo>
                <a:lnTo>
                  <a:pt x="155828" y="263587"/>
                </a:lnTo>
                <a:lnTo>
                  <a:pt x="129863" y="306218"/>
                </a:lnTo>
                <a:lnTo>
                  <a:pt x="106060" y="350095"/>
                </a:lnTo>
                <a:lnTo>
                  <a:pt x="84421" y="395215"/>
                </a:lnTo>
                <a:lnTo>
                  <a:pt x="64944" y="441579"/>
                </a:lnTo>
                <a:lnTo>
                  <a:pt x="47630" y="489188"/>
                </a:lnTo>
                <a:lnTo>
                  <a:pt x="32478" y="538041"/>
                </a:lnTo>
                <a:lnTo>
                  <a:pt x="19489" y="588138"/>
                </a:lnTo>
                <a:lnTo>
                  <a:pt x="8663" y="639479"/>
                </a:lnTo>
                <a:lnTo>
                  <a:pt x="0" y="69206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4387210" y="5258293"/>
            <a:ext cx="1211050" cy="156824"/>
          </a:xfrm>
          <a:custGeom>
            <a:avLst/>
            <a:gdLst/>
            <a:ahLst/>
            <a:cxnLst/>
            <a:rect l="l" t="t" r="r" b="b"/>
            <a:pathLst>
              <a:path w="1211050" h="156824">
                <a:moveTo>
                  <a:pt x="0" y="66864"/>
                </a:moveTo>
                <a:lnTo>
                  <a:pt x="77258" y="91069"/>
                </a:lnTo>
                <a:lnTo>
                  <a:pt x="154307" y="111490"/>
                </a:lnTo>
                <a:lnTo>
                  <a:pt x="231147" y="128126"/>
                </a:lnTo>
                <a:lnTo>
                  <a:pt x="307778" y="140977"/>
                </a:lnTo>
                <a:lnTo>
                  <a:pt x="384199" y="150044"/>
                </a:lnTo>
                <a:lnTo>
                  <a:pt x="460413" y="155326"/>
                </a:lnTo>
                <a:lnTo>
                  <a:pt x="536417" y="156824"/>
                </a:lnTo>
                <a:lnTo>
                  <a:pt x="612212" y="154537"/>
                </a:lnTo>
                <a:lnTo>
                  <a:pt x="687798" y="148466"/>
                </a:lnTo>
                <a:lnTo>
                  <a:pt x="763175" y="138610"/>
                </a:lnTo>
                <a:lnTo>
                  <a:pt x="838343" y="124969"/>
                </a:lnTo>
                <a:lnTo>
                  <a:pt x="913303" y="107545"/>
                </a:lnTo>
                <a:lnTo>
                  <a:pt x="988053" y="86335"/>
                </a:lnTo>
                <a:lnTo>
                  <a:pt x="1062595" y="61341"/>
                </a:lnTo>
                <a:lnTo>
                  <a:pt x="1136927" y="32563"/>
                </a:lnTo>
                <a:lnTo>
                  <a:pt x="121105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4933278" y="5842969"/>
            <a:ext cx="953930" cy="377781"/>
          </a:xfrm>
          <a:custGeom>
            <a:avLst/>
            <a:gdLst/>
            <a:ahLst/>
            <a:cxnLst/>
            <a:rect l="l" t="t" r="r" b="b"/>
            <a:pathLst>
              <a:path w="953930" h="377781">
                <a:moveTo>
                  <a:pt x="0" y="0"/>
                </a:moveTo>
                <a:lnTo>
                  <a:pt x="50766" y="45969"/>
                </a:lnTo>
                <a:lnTo>
                  <a:pt x="102713" y="88957"/>
                </a:lnTo>
                <a:lnTo>
                  <a:pt x="155841" y="128964"/>
                </a:lnTo>
                <a:lnTo>
                  <a:pt x="210149" y="165990"/>
                </a:lnTo>
                <a:lnTo>
                  <a:pt x="265637" y="200035"/>
                </a:lnTo>
                <a:lnTo>
                  <a:pt x="322307" y="231099"/>
                </a:lnTo>
                <a:lnTo>
                  <a:pt x="380157" y="259182"/>
                </a:lnTo>
                <a:lnTo>
                  <a:pt x="439187" y="284284"/>
                </a:lnTo>
                <a:lnTo>
                  <a:pt x="499398" y="306404"/>
                </a:lnTo>
                <a:lnTo>
                  <a:pt x="560789" y="325544"/>
                </a:lnTo>
                <a:lnTo>
                  <a:pt x="623362" y="341703"/>
                </a:lnTo>
                <a:lnTo>
                  <a:pt x="687114" y="354881"/>
                </a:lnTo>
                <a:lnTo>
                  <a:pt x="752047" y="365077"/>
                </a:lnTo>
                <a:lnTo>
                  <a:pt x="818161" y="372293"/>
                </a:lnTo>
                <a:lnTo>
                  <a:pt x="885456" y="376527"/>
                </a:lnTo>
                <a:lnTo>
                  <a:pt x="953930" y="37778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3" name="Oval 300032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4" name="Connector 300033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6" name="TextBox 300035"/>
          <p:cNvSpPr txBox="1"/>
          <p:nvPr/>
        </p:nvSpPr>
        <p:spPr>
          <a:xfrm>
            <a:off x="3451118" y="598807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300037" name="Oval 300036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8" name="Connector 300037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0" name="TextBox 300039"/>
          <p:cNvSpPr txBox="1"/>
          <p:nvPr/>
        </p:nvSpPr>
        <p:spPr>
          <a:xfrm>
            <a:off x="2388293" y="459866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41" name="Oval 300040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2" name="Connector 300041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4" name="TextBox 300043"/>
          <p:cNvSpPr txBox="1"/>
          <p:nvPr/>
        </p:nvSpPr>
        <p:spPr>
          <a:xfrm>
            <a:off x="3547446" y="417389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300045" name="Oval 300044"/>
          <p:cNvSpPr/>
          <p:nvPr/>
        </p:nvSpPr>
        <p:spPr>
          <a:xfrm>
            <a:off x="5513477" y="517350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6" name="Connector 300045"/>
          <p:cNvCxnSpPr/>
          <p:nvPr/>
        </p:nvCxnSpPr>
        <p:spPr>
          <a:xfrm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 flipV="1"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8" name="TextBox 300047"/>
          <p:cNvSpPr txBox="1"/>
          <p:nvPr/>
        </p:nvSpPr>
        <p:spPr>
          <a:xfrm>
            <a:off x="5683044" y="508872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300049" name="Oval 300048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0" name="Oval 300049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1" name="TextBox 300050"/>
          <p:cNvSpPr txBox="1"/>
          <p:nvPr/>
        </p:nvSpPr>
        <p:spPr>
          <a:xfrm>
            <a:off x="3744598" y="239052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300052" name="Oval 300051"/>
          <p:cNvSpPr/>
          <p:nvPr/>
        </p:nvSpPr>
        <p:spPr>
          <a:xfrm>
            <a:off x="5830686" y="616422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3" name="Oval 300052"/>
          <p:cNvSpPr/>
          <p:nvPr/>
        </p:nvSpPr>
        <p:spPr>
          <a:xfrm>
            <a:off x="5869545" y="620308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4" name="TextBox 300053"/>
          <p:cNvSpPr txBox="1"/>
          <p:nvPr/>
        </p:nvSpPr>
        <p:spPr>
          <a:xfrm>
            <a:off x="5971992" y="605118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300055" name="Oval 300054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56" name="Connector 300055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8" name="TextBox 300057"/>
          <p:cNvSpPr txBox="1"/>
          <p:nvPr/>
        </p:nvSpPr>
        <p:spPr>
          <a:xfrm>
            <a:off x="2369088" y="309943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59" name="Oval 300058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0" name="Connector 300059"/>
          <p:cNvCxnSpPr/>
          <p:nvPr/>
        </p:nvCxnSpPr>
        <p:spPr>
          <a:xfrm flipV="1">
            <a:off x="2531210" y="3356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>
            <a:off x="2625672" y="3356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2" name="Rounded Rectangle 300061"/>
          <p:cNvSpPr/>
          <p:nvPr/>
        </p:nvSpPr>
        <p:spPr>
          <a:xfrm>
            <a:off x="2639803" y="3224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3" name="TextBox 300062"/>
          <p:cNvSpPr txBox="1"/>
          <p:nvPr/>
        </p:nvSpPr>
        <p:spPr>
          <a:xfrm>
            <a:off x="2639803" y="3224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064" name="Oval 300063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5" name="Connector 300064"/>
          <p:cNvCxnSpPr/>
          <p:nvPr/>
        </p:nvCxnSpPr>
        <p:spPr>
          <a:xfrm flipV="1">
            <a:off x="3251631" y="1744792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6" name="Connector 300065"/>
          <p:cNvCxnSpPr/>
          <p:nvPr/>
        </p:nvCxnSpPr>
        <p:spPr>
          <a:xfrm>
            <a:off x="3346094" y="1744792"/>
            <a:ext cx="28143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7" name="Rounded Rectangle 300066"/>
          <p:cNvSpPr/>
          <p:nvPr/>
        </p:nvSpPr>
        <p:spPr>
          <a:xfrm>
            <a:off x="3360224" y="1612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8" name="TextBox 300067"/>
          <p:cNvSpPr txBox="1"/>
          <p:nvPr/>
        </p:nvSpPr>
        <p:spPr>
          <a:xfrm>
            <a:off x="3360224" y="1612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069" name="Oval 300068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0" name="Connector 300069"/>
          <p:cNvCxnSpPr/>
          <p:nvPr/>
        </p:nvCxnSpPr>
        <p:spPr>
          <a:xfrm flipV="1">
            <a:off x="2744894" y="3826687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>
            <a:off x="2839357" y="3826687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2" name="Rounded Rectangle 300071"/>
          <p:cNvSpPr/>
          <p:nvPr/>
        </p:nvSpPr>
        <p:spPr>
          <a:xfrm>
            <a:off x="2853487" y="3694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3" name="TextBox 300072"/>
          <p:cNvSpPr txBox="1"/>
          <p:nvPr/>
        </p:nvSpPr>
        <p:spPr>
          <a:xfrm>
            <a:off x="2853487" y="3694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074" name="Oval 300073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5" name="Connector 300074"/>
          <p:cNvCxnSpPr/>
          <p:nvPr/>
        </p:nvCxnSpPr>
        <p:spPr>
          <a:xfrm flipV="1">
            <a:off x="2909736" y="5389634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6" name="Connector 300075"/>
          <p:cNvCxnSpPr/>
          <p:nvPr/>
        </p:nvCxnSpPr>
        <p:spPr>
          <a:xfrm>
            <a:off x="3004199" y="5389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>
            <a:off x="2988140" y="540877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8" name="Rounded Rectangle 300077"/>
          <p:cNvSpPr/>
          <p:nvPr/>
        </p:nvSpPr>
        <p:spPr>
          <a:xfrm>
            <a:off x="3018329" y="5257153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9" name="TextBox 300078"/>
          <p:cNvSpPr txBox="1"/>
          <p:nvPr/>
        </p:nvSpPr>
        <p:spPr>
          <a:xfrm>
            <a:off x="3018329" y="5257153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080" name="Oval 300079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1" name="Connector 300080"/>
          <p:cNvCxnSpPr/>
          <p:nvPr/>
        </p:nvCxnSpPr>
        <p:spPr>
          <a:xfrm flipV="1">
            <a:off x="3764473" y="5353003"/>
            <a:ext cx="94463" cy="1125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2" name="Connector 300081"/>
          <p:cNvCxnSpPr/>
          <p:nvPr/>
        </p:nvCxnSpPr>
        <p:spPr>
          <a:xfrm>
            <a:off x="3858936" y="5353003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3" name="Rounded Rectangle 300082"/>
          <p:cNvSpPr/>
          <p:nvPr/>
        </p:nvSpPr>
        <p:spPr>
          <a:xfrm>
            <a:off x="3873066" y="5220521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4" name="TextBox 300083"/>
          <p:cNvSpPr txBox="1"/>
          <p:nvPr/>
        </p:nvSpPr>
        <p:spPr>
          <a:xfrm>
            <a:off x="3873066" y="5220521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085" name="Oval 300084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6" name="Connector 300085"/>
          <p:cNvCxnSpPr/>
          <p:nvPr/>
        </p:nvCxnSpPr>
        <p:spPr>
          <a:xfrm flipV="1">
            <a:off x="4387210" y="5212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7" name="Connector 300086"/>
          <p:cNvCxnSpPr/>
          <p:nvPr/>
        </p:nvCxnSpPr>
        <p:spPr>
          <a:xfrm>
            <a:off x="4481672" y="5212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8" name="Rounded Rectangle 300087"/>
          <p:cNvSpPr/>
          <p:nvPr/>
        </p:nvSpPr>
        <p:spPr>
          <a:xfrm>
            <a:off x="4495803" y="5080100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9" name="TextBox 300088"/>
          <p:cNvSpPr txBox="1"/>
          <p:nvPr/>
        </p:nvSpPr>
        <p:spPr>
          <a:xfrm>
            <a:off x="4495803" y="5080100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090" name="Oval 300089"/>
          <p:cNvSpPr/>
          <p:nvPr/>
        </p:nvSpPr>
        <p:spPr>
          <a:xfrm>
            <a:off x="4907843" y="581753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1" name="Connector 300090"/>
          <p:cNvCxnSpPr/>
          <p:nvPr/>
        </p:nvCxnSpPr>
        <p:spPr>
          <a:xfrm flipV="1">
            <a:off x="4933278" y="5730393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2" name="Connector 300091"/>
          <p:cNvCxnSpPr/>
          <p:nvPr/>
        </p:nvCxnSpPr>
        <p:spPr>
          <a:xfrm>
            <a:off x="5027740" y="5730393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3" name="Rounded Rectangle 300092"/>
          <p:cNvSpPr/>
          <p:nvPr/>
        </p:nvSpPr>
        <p:spPr>
          <a:xfrm>
            <a:off x="5041870" y="5597912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4" name="TextBox 300093"/>
          <p:cNvSpPr txBox="1"/>
          <p:nvPr/>
        </p:nvSpPr>
        <p:spPr>
          <a:xfrm>
            <a:off x="5041870" y="5597912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095" name="TextBox 300094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300096" name="TextBox 300095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1 联 · 走廊北端</a:t>
            </a:r>
          </a:p>
        </p:txBody>
      </p:sp>
      <p:sp>
        <p:nvSpPr>
          <p:cNvPr id="300097" name="TextBox 300096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300098" name="TextBox 300097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1 联 · 北卫生间门外</a:t>
            </a:r>
          </a:p>
        </p:txBody>
      </p:sp>
      <p:sp>
        <p:nvSpPr>
          <p:cNvPr id="300099" name="TextBox 300098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300100" name="TextBox 300099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卧室3 门旁</a:t>
            </a:r>
          </a:p>
        </p:txBody>
      </p:sp>
      <p:sp>
        <p:nvSpPr>
          <p:cNvPr id="300101" name="TextBox 300100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300102" name="TextBox 300101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2 联 · 走廊南端 · 楼梯口</a:t>
            </a:r>
          </a:p>
        </p:txBody>
      </p:sp>
      <p:sp>
        <p:nvSpPr>
          <p:cNvPr id="300103" name="TextBox 300102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300104" name="TextBox 300103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1 联 · 楼梯顶</a:t>
            </a:r>
          </a:p>
        </p:txBody>
      </p:sp>
      <p:sp>
        <p:nvSpPr>
          <p:cNvPr id="300105" name="TextBox 300104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300106" name="TextBox 300105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1 联 · 卧室 4 门旁</a:t>
            </a:r>
          </a:p>
        </p:txBody>
      </p:sp>
      <p:sp>
        <p:nvSpPr>
          <p:cNvPr id="300107" name="TextBox 300106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300108" name="TextBox 300107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卧室 4 内 · 卫生间门南侧（隔墙短墙）</a:t>
            </a:r>
          </a:p>
        </p:txBody>
      </p:sp>
      <p:sp>
        <p:nvSpPr>
          <p:cNvPr id="300109" name="TextBox 300108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300110" name="TextBox 300109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300111" name="TextBox 300110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S11  3C+E  回路 d</a:t>
            </a:r>
          </a:p>
        </p:txBody>
      </p:sp>
      <p:sp>
        <p:nvSpPr>
          <p:cNvPr id="300112" name="TextBox 300111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W2：S12 ↔ S11  3C+E  回路 k</a:t>
            </a:r>
          </a:p>
        </p:txBody>
      </p:sp>
      <p:sp>
        <p:nvSpPr>
          <p:cNvPr id="300113" name="TextBox 300112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300114" name="Rectangle 300113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5" name="Rectangle 300114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6" name="TextBox 300115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J-A · 方案 A · 专业 18 路（照明 4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主卧门旁（S4 西侧）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床头侧（东墙）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i↔S7，j↔S7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门旁（新门西侧短墙，锁侧）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i↔S6，j↔S6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d↔S8，k↔S12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卧室 4 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内 · 卫生间门南侧（隔墙短墙）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后卫生间筒灯（套卫）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E-FF-05；位置见 E-FF-00~02。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S2 原图标为“6+”，按常理作为西卫生间筒灯的独立单联开关，装在门外。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J-A · 方案 A · 专业 18 路（照明 4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32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S3-键1，S4-键1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S8-键1，S11-键1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S6-键1，S7-键1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S6-键2，S7-键2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S11-键2，S12-键1，一层 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后卫生间筒灯（套卫）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