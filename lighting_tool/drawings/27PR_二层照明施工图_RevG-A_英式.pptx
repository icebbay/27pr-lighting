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30475" y="1251603"/>
            <a:ext cx="3914435" cy="516448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— KEY PLAN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17" name="Connector 416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8" name="TextBox 417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二层照明总平面（索引图）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E-FF-00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Rectangle 429"/>
          <p:cNvSpPr/>
          <p:nvPr/>
        </p:nvSpPr>
        <p:spPr>
          <a:xfrm>
            <a:off x="1629230" y="1843461"/>
            <a:ext cx="2699999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1669230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E-FF-01 放大图：主卧 · 盥洗室 · 西卫 · 衣帽间 · 卧室2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3623076" y="1843461"/>
            <a:ext cx="332307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3663076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E-FF-02 放大图：走廊 · 北卫 · 卧室3 · 楼梯 · 书房 · 后卫</a:t>
            </a:r>
          </a:p>
        </p:txBody>
      </p:sp>
      <p:sp>
        <p:nvSpPr>
          <p:cNvPr id="434" name="Oval 433"/>
          <p:cNvSpPr/>
          <p:nvPr/>
        </p:nvSpPr>
        <p:spPr>
          <a:xfrm>
            <a:off x="4562348" y="541862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5" name="Connector 434"/>
          <p:cNvCxnSpPr/>
          <p:nvPr/>
        </p:nvCxnSpPr>
        <p:spPr>
          <a:xfrm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572896" y="542917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3839233" y="4473315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8" name="Connector 437"/>
          <p:cNvCxnSpPr/>
          <p:nvPr/>
        </p:nvCxnSpPr>
        <p:spPr>
          <a:xfrm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 flipV="1">
            <a:off x="3849781" y="4483863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Oval 439"/>
          <p:cNvSpPr/>
          <p:nvPr/>
        </p:nvSpPr>
        <p:spPr>
          <a:xfrm>
            <a:off x="2966028" y="280223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2976576" y="281278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Oval 442"/>
          <p:cNvSpPr/>
          <p:nvPr/>
        </p:nvSpPr>
        <p:spPr>
          <a:xfrm>
            <a:off x="2493495" y="49336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Connector 443"/>
          <p:cNvCxnSpPr/>
          <p:nvPr/>
        </p:nvCxnSpPr>
        <p:spPr>
          <a:xfrm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2504043" y="494418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Oval 445"/>
          <p:cNvSpPr/>
          <p:nvPr/>
        </p:nvSpPr>
        <p:spPr>
          <a:xfrm>
            <a:off x="4627887" y="4184309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7" name="Connector 446"/>
          <p:cNvCxnSpPr/>
          <p:nvPr/>
        </p:nvCxnSpPr>
        <p:spPr>
          <a:xfrm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4638435" y="4194857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9" name="Oval 448"/>
          <p:cNvSpPr/>
          <p:nvPr/>
        </p:nvSpPr>
        <p:spPr>
          <a:xfrm>
            <a:off x="5828767" y="490399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0" name="Connector 449"/>
          <p:cNvCxnSpPr/>
          <p:nvPr/>
        </p:nvCxnSpPr>
        <p:spPr>
          <a:xfrm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5839315" y="491454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Oval 451"/>
          <p:cNvSpPr/>
          <p:nvPr/>
        </p:nvSpPr>
        <p:spPr>
          <a:xfrm>
            <a:off x="4774024" y="298296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4790524" y="299946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6517008" y="498329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6533508" y="499979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2021504" y="391681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038004" y="393331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208075" y="36974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224575" y="37139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311397" y="4578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327897" y="4594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333786" y="526375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350286" y="528025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4113781" y="22887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5" name="Connector 464"/>
          <p:cNvCxnSpPr/>
          <p:nvPr/>
        </p:nvCxnSpPr>
        <p:spPr>
          <a:xfrm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4124329" y="22993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Oval 466"/>
          <p:cNvSpPr/>
          <p:nvPr/>
        </p:nvSpPr>
        <p:spPr>
          <a:xfrm>
            <a:off x="2571035" y="3917548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2587535" y="3934048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09459" y="4012126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25959" y="4028626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826166" y="345327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836714" y="346382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Oval 473"/>
          <p:cNvSpPr/>
          <p:nvPr/>
        </p:nvSpPr>
        <p:spPr>
          <a:xfrm>
            <a:off x="1927269" y="4363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 flipV="1">
            <a:off x="1940769" y="4317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>
            <a:off x="1990906" y="4317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1690769" y="4407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8" name="Oval 477"/>
          <p:cNvSpPr/>
          <p:nvPr/>
        </p:nvSpPr>
        <p:spPr>
          <a:xfrm>
            <a:off x="2226346" y="3906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2239846" y="3860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289983" y="3860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1989846" y="3950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2" name="Oval 481"/>
          <p:cNvSpPr/>
          <p:nvPr/>
        </p:nvSpPr>
        <p:spPr>
          <a:xfrm>
            <a:off x="2803730" y="3441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2817230" y="3395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867368" y="3395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2567230" y="3485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6" name="Oval 485"/>
          <p:cNvSpPr/>
          <p:nvPr/>
        </p:nvSpPr>
        <p:spPr>
          <a:xfrm>
            <a:off x="3563884" y="313842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 flipV="1">
            <a:off x="3577384" y="3092171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3627522" y="3092171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618998" y="310232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TextBox 489"/>
          <p:cNvSpPr txBox="1"/>
          <p:nvPr/>
        </p:nvSpPr>
        <p:spPr>
          <a:xfrm>
            <a:off x="3327384" y="318192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3410192" y="440950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3423692" y="4363248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3473829" y="436324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TextBox 493"/>
          <p:cNvSpPr txBox="1"/>
          <p:nvPr/>
        </p:nvSpPr>
        <p:spPr>
          <a:xfrm>
            <a:off x="3173692" y="445300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5" name="Oval 494"/>
          <p:cNvSpPr/>
          <p:nvPr/>
        </p:nvSpPr>
        <p:spPr>
          <a:xfrm>
            <a:off x="2031115" y="5630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6" name="Connector 495"/>
          <p:cNvCxnSpPr/>
          <p:nvPr/>
        </p:nvCxnSpPr>
        <p:spPr>
          <a:xfrm flipV="1">
            <a:off x="2044615" y="5584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>
            <a:off x="2094752" y="5584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2086229" y="5594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1794615" y="5674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0" name="Oval 499"/>
          <p:cNvSpPr/>
          <p:nvPr/>
        </p:nvSpPr>
        <p:spPr>
          <a:xfrm>
            <a:off x="3555576" y="4953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3569076" y="4907402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3619214" y="4907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3610690" y="4917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4" name="TextBox 503"/>
          <p:cNvSpPr txBox="1"/>
          <p:nvPr/>
        </p:nvSpPr>
        <p:spPr>
          <a:xfrm>
            <a:off x="3319076" y="4997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5" name="Oval 504"/>
          <p:cNvSpPr/>
          <p:nvPr/>
        </p:nvSpPr>
        <p:spPr>
          <a:xfrm>
            <a:off x="4016653" y="3611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 flipV="1">
            <a:off x="4030153" y="3565710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>
            <a:off x="4080291" y="3565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3780153" y="3655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9" name="Oval 508"/>
          <p:cNvSpPr/>
          <p:nvPr/>
        </p:nvSpPr>
        <p:spPr>
          <a:xfrm>
            <a:off x="4506807" y="251534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0" name="Connector 509"/>
          <p:cNvCxnSpPr/>
          <p:nvPr/>
        </p:nvCxnSpPr>
        <p:spPr>
          <a:xfrm flipV="1">
            <a:off x="4520307" y="2469094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>
            <a:off x="4570445" y="246909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" name="TextBox 511"/>
          <p:cNvSpPr txBox="1"/>
          <p:nvPr/>
        </p:nvSpPr>
        <p:spPr>
          <a:xfrm>
            <a:off x="4270307" y="255884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3" name="Oval 512"/>
          <p:cNvSpPr/>
          <p:nvPr/>
        </p:nvSpPr>
        <p:spPr>
          <a:xfrm>
            <a:off x="4162038" y="3931807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4" name="Connector 513"/>
          <p:cNvCxnSpPr/>
          <p:nvPr/>
        </p:nvCxnSpPr>
        <p:spPr>
          <a:xfrm flipV="1">
            <a:off x="4175538" y="3885556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5" name="Connector 514"/>
          <p:cNvCxnSpPr/>
          <p:nvPr/>
        </p:nvCxnSpPr>
        <p:spPr>
          <a:xfrm>
            <a:off x="4225675" y="38855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3925538" y="3975307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7" name="Oval 516"/>
          <p:cNvSpPr/>
          <p:nvPr/>
        </p:nvSpPr>
        <p:spPr>
          <a:xfrm>
            <a:off x="4274192" y="4995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8" name="Connector 517"/>
          <p:cNvCxnSpPr/>
          <p:nvPr/>
        </p:nvCxnSpPr>
        <p:spPr>
          <a:xfrm flipV="1">
            <a:off x="4287692" y="4948940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>
            <a:off x="4337829" y="49489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>
            <a:off x="4329306" y="4959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4037692" y="5038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2" name="Oval 521"/>
          <p:cNvSpPr/>
          <p:nvPr/>
        </p:nvSpPr>
        <p:spPr>
          <a:xfrm>
            <a:off x="4855730" y="4970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 flipV="1">
            <a:off x="4869230" y="4924017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>
            <a:off x="4919368" y="4924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4619230" y="5013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6" name="Oval 525"/>
          <p:cNvSpPr/>
          <p:nvPr/>
        </p:nvSpPr>
        <p:spPr>
          <a:xfrm>
            <a:off x="5279423" y="4874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 flipV="1">
            <a:off x="5292923" y="4828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>
            <a:off x="5343060" y="4828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5042923" y="4918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0" name="Oval 529"/>
          <p:cNvSpPr/>
          <p:nvPr/>
        </p:nvSpPr>
        <p:spPr>
          <a:xfrm>
            <a:off x="6126807" y="448011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 flipV="1">
            <a:off x="6140307" y="4433863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6190445" y="4433863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5890307" y="452361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4" name="Oval 533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538" name="Oval 537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TextBox 540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542" name="Oval 541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TextBox 543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2" name="Freeform 1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Connector 544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547" name="Oval 546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TextBox 547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549" name="Oval 548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0" name="Connector 549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554" name="Rectangle 553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4" name="Freeform 3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TextBox 556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558" name="Connector 557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E-FF-01~02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E-FF-04 开关面板表；回路见 E-FF-05。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楼梯吊灯 F06 三控：一层 S6（楼梯底）、二层 S12（楼梯顶）为两路开关，S11 键 2 为中途开关。</a:t>
            </a:r>
          </a:p>
        </p:txBody>
      </p:sp>
      <p:sp>
        <p:nvSpPr>
          <p:cNvPr id="563" name="Rectangle 562"/>
          <p:cNvSpPr/>
          <p:nvPr/>
        </p:nvSpPr>
        <p:spPr>
          <a:xfrm>
            <a:off x="400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37000" y="6480000"/>
            <a:ext cx="437000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274000" y="6480000"/>
            <a:ext cx="437000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1751000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1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1：主卧 · 盥洗室 · 西卫 · 衣帽间 · 卧室2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E-FF-01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4427936" y="2992852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427936" y="2992852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685536" y="601801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685536" y="601801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4136894" y="2312106"/>
            <a:ext cx="277332" cy="906736"/>
          </a:xfrm>
          <a:custGeom>
            <a:avLst/>
            <a:gdLst/>
            <a:ahLst/>
            <a:cxnLst/>
            <a:rect l="l" t="t" r="r" b="b"/>
            <a:pathLst>
              <a:path w="277332" h="906736">
                <a:moveTo>
                  <a:pt x="0" y="906736"/>
                </a:moveTo>
                <a:lnTo>
                  <a:pt x="38228" y="856431"/>
                </a:lnTo>
                <a:lnTo>
                  <a:pt x="73622" y="805277"/>
                </a:lnTo>
                <a:lnTo>
                  <a:pt x="106182" y="753274"/>
                </a:lnTo>
                <a:lnTo>
                  <a:pt x="135909" y="700423"/>
                </a:lnTo>
                <a:lnTo>
                  <a:pt x="162802" y="646722"/>
                </a:lnTo>
                <a:lnTo>
                  <a:pt x="186862" y="592173"/>
                </a:lnTo>
                <a:lnTo>
                  <a:pt x="208088" y="536776"/>
                </a:lnTo>
                <a:lnTo>
                  <a:pt x="226481" y="480529"/>
                </a:lnTo>
                <a:lnTo>
                  <a:pt x="242040" y="423434"/>
                </a:lnTo>
                <a:lnTo>
                  <a:pt x="254765" y="365489"/>
                </a:lnTo>
                <a:lnTo>
                  <a:pt x="264657" y="306696"/>
                </a:lnTo>
                <a:lnTo>
                  <a:pt x="271716" y="247055"/>
                </a:lnTo>
                <a:lnTo>
                  <a:pt x="275940" y="186564"/>
                </a:lnTo>
                <a:lnTo>
                  <a:pt x="277332" y="125225"/>
                </a:lnTo>
                <a:lnTo>
                  <a:pt x="275890" y="63037"/>
                </a:lnTo>
                <a:lnTo>
                  <a:pt x="27161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408508" y="2312106"/>
            <a:ext cx="845649" cy="461051"/>
          </a:xfrm>
          <a:custGeom>
            <a:avLst/>
            <a:gdLst/>
            <a:ahLst/>
            <a:cxnLst/>
            <a:rect l="l" t="t" r="r" b="b"/>
            <a:pathLst>
              <a:path w="845649" h="461051">
                <a:moveTo>
                  <a:pt x="845649" y="461051"/>
                </a:moveTo>
                <a:lnTo>
                  <a:pt x="803602" y="412416"/>
                </a:lnTo>
                <a:lnTo>
                  <a:pt x="760114" y="366423"/>
                </a:lnTo>
                <a:lnTo>
                  <a:pt x="715185" y="323072"/>
                </a:lnTo>
                <a:lnTo>
                  <a:pt x="668816" y="282365"/>
                </a:lnTo>
                <a:lnTo>
                  <a:pt x="621006" y="244300"/>
                </a:lnTo>
                <a:lnTo>
                  <a:pt x="571754" y="208877"/>
                </a:lnTo>
                <a:lnTo>
                  <a:pt x="521062" y="176098"/>
                </a:lnTo>
                <a:lnTo>
                  <a:pt x="468930" y="145961"/>
                </a:lnTo>
                <a:lnTo>
                  <a:pt x="415356" y="118466"/>
                </a:lnTo>
                <a:lnTo>
                  <a:pt x="360342" y="93614"/>
                </a:lnTo>
                <a:lnTo>
                  <a:pt x="303887" y="71405"/>
                </a:lnTo>
                <a:lnTo>
                  <a:pt x="245991" y="51839"/>
                </a:lnTo>
                <a:lnTo>
                  <a:pt x="186654" y="34915"/>
                </a:lnTo>
                <a:lnTo>
                  <a:pt x="125877" y="20634"/>
                </a:lnTo>
                <a:lnTo>
                  <a:pt x="63659" y="899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254157" y="1557430"/>
            <a:ext cx="841301" cy="1215727"/>
          </a:xfrm>
          <a:custGeom>
            <a:avLst/>
            <a:gdLst/>
            <a:ahLst/>
            <a:cxnLst/>
            <a:rect l="l" t="t" r="r" b="b"/>
            <a:pathLst>
              <a:path w="841301" h="1215727">
                <a:moveTo>
                  <a:pt x="0" y="1215727"/>
                </a:moveTo>
                <a:lnTo>
                  <a:pt x="81075" y="1159462"/>
                </a:lnTo>
                <a:lnTo>
                  <a:pt x="158351" y="1100568"/>
                </a:lnTo>
                <a:lnTo>
                  <a:pt x="231828" y="1039045"/>
                </a:lnTo>
                <a:lnTo>
                  <a:pt x="301505" y="974893"/>
                </a:lnTo>
                <a:lnTo>
                  <a:pt x="367383" y="908112"/>
                </a:lnTo>
                <a:lnTo>
                  <a:pt x="429462" y="838702"/>
                </a:lnTo>
                <a:lnTo>
                  <a:pt x="487742" y="766662"/>
                </a:lnTo>
                <a:lnTo>
                  <a:pt x="542223" y="691994"/>
                </a:lnTo>
                <a:lnTo>
                  <a:pt x="592905" y="614696"/>
                </a:lnTo>
                <a:lnTo>
                  <a:pt x="639788" y="534770"/>
                </a:lnTo>
                <a:lnTo>
                  <a:pt x="682871" y="452214"/>
                </a:lnTo>
                <a:lnTo>
                  <a:pt x="722155" y="367030"/>
                </a:lnTo>
                <a:lnTo>
                  <a:pt x="757640" y="279216"/>
                </a:lnTo>
                <a:lnTo>
                  <a:pt x="789326" y="188773"/>
                </a:lnTo>
                <a:lnTo>
                  <a:pt x="817213" y="95701"/>
                </a:lnTo>
                <a:lnTo>
                  <a:pt x="8413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748661" y="4072747"/>
            <a:ext cx="279602" cy="568621"/>
          </a:xfrm>
          <a:custGeom>
            <a:avLst/>
            <a:gdLst/>
            <a:ahLst/>
            <a:cxnLst/>
            <a:rect l="l" t="t" r="r" b="b"/>
            <a:pathLst>
              <a:path w="279602" h="568621">
                <a:moveTo>
                  <a:pt x="279602" y="568621"/>
                </a:moveTo>
                <a:lnTo>
                  <a:pt x="275454" y="526529"/>
                </a:lnTo>
                <a:lnTo>
                  <a:pt x="269529" y="485311"/>
                </a:lnTo>
                <a:lnTo>
                  <a:pt x="261827" y="444966"/>
                </a:lnTo>
                <a:lnTo>
                  <a:pt x="252348" y="405495"/>
                </a:lnTo>
                <a:lnTo>
                  <a:pt x="241092" y="366898"/>
                </a:lnTo>
                <a:lnTo>
                  <a:pt x="228059" y="329175"/>
                </a:lnTo>
                <a:lnTo>
                  <a:pt x="213249" y="292326"/>
                </a:lnTo>
                <a:lnTo>
                  <a:pt x="196663" y="256350"/>
                </a:lnTo>
                <a:lnTo>
                  <a:pt x="178299" y="221248"/>
                </a:lnTo>
                <a:lnTo>
                  <a:pt x="158159" y="187020"/>
                </a:lnTo>
                <a:lnTo>
                  <a:pt x="136241" y="153666"/>
                </a:lnTo>
                <a:lnTo>
                  <a:pt x="112547" y="121185"/>
                </a:lnTo>
                <a:lnTo>
                  <a:pt x="87075" y="89578"/>
                </a:lnTo>
                <a:lnTo>
                  <a:pt x="59827" y="58845"/>
                </a:lnTo>
                <a:lnTo>
                  <a:pt x="30802" y="2898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746627" y="3610257"/>
            <a:ext cx="35704" cy="462490"/>
          </a:xfrm>
          <a:custGeom>
            <a:avLst/>
            <a:gdLst/>
            <a:ahLst/>
            <a:cxnLst/>
            <a:rect l="l" t="t" r="r" b="b"/>
            <a:pathLst>
              <a:path w="35704" h="462490">
                <a:moveTo>
                  <a:pt x="2034" y="462490"/>
                </a:moveTo>
                <a:lnTo>
                  <a:pt x="10036" y="433548"/>
                </a:lnTo>
                <a:lnTo>
                  <a:pt x="16955" y="404612"/>
                </a:lnTo>
                <a:lnTo>
                  <a:pt x="22790" y="375680"/>
                </a:lnTo>
                <a:lnTo>
                  <a:pt x="27540" y="346753"/>
                </a:lnTo>
                <a:lnTo>
                  <a:pt x="31207" y="317831"/>
                </a:lnTo>
                <a:lnTo>
                  <a:pt x="33790" y="288913"/>
                </a:lnTo>
                <a:lnTo>
                  <a:pt x="35289" y="260000"/>
                </a:lnTo>
                <a:lnTo>
                  <a:pt x="35704" y="231092"/>
                </a:lnTo>
                <a:lnTo>
                  <a:pt x="35035" y="202189"/>
                </a:lnTo>
                <a:lnTo>
                  <a:pt x="33282" y="173291"/>
                </a:lnTo>
                <a:lnTo>
                  <a:pt x="30445" y="144397"/>
                </a:lnTo>
                <a:lnTo>
                  <a:pt x="26524" y="115508"/>
                </a:lnTo>
                <a:lnTo>
                  <a:pt x="21519" y="86624"/>
                </a:lnTo>
                <a:lnTo>
                  <a:pt x="15430" y="57744"/>
                </a:lnTo>
                <a:lnTo>
                  <a:pt x="8257" y="288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848684" y="3932660"/>
            <a:ext cx="164169" cy="641550"/>
          </a:xfrm>
          <a:custGeom>
            <a:avLst/>
            <a:gdLst/>
            <a:ahLst/>
            <a:cxnLst/>
            <a:rect l="l" t="t" r="r" b="b"/>
            <a:pathLst>
              <a:path w="164169" h="641550">
                <a:moveTo>
                  <a:pt x="0" y="641550"/>
                </a:moveTo>
                <a:lnTo>
                  <a:pt x="24657" y="605061"/>
                </a:lnTo>
                <a:lnTo>
                  <a:pt x="47310" y="568091"/>
                </a:lnTo>
                <a:lnTo>
                  <a:pt x="67958" y="530640"/>
                </a:lnTo>
                <a:lnTo>
                  <a:pt x="86601" y="492708"/>
                </a:lnTo>
                <a:lnTo>
                  <a:pt x="103239" y="454295"/>
                </a:lnTo>
                <a:lnTo>
                  <a:pt x="117872" y="415400"/>
                </a:lnTo>
                <a:lnTo>
                  <a:pt x="130500" y="376025"/>
                </a:lnTo>
                <a:lnTo>
                  <a:pt x="141124" y="336169"/>
                </a:lnTo>
                <a:lnTo>
                  <a:pt x="149743" y="295831"/>
                </a:lnTo>
                <a:lnTo>
                  <a:pt x="156357" y="255013"/>
                </a:lnTo>
                <a:lnTo>
                  <a:pt x="160966" y="213713"/>
                </a:lnTo>
                <a:lnTo>
                  <a:pt x="163570" y="171933"/>
                </a:lnTo>
                <a:lnTo>
                  <a:pt x="164169" y="129671"/>
                </a:lnTo>
                <a:lnTo>
                  <a:pt x="162764" y="86928"/>
                </a:lnTo>
                <a:lnTo>
                  <a:pt x="159353" y="43705"/>
                </a:lnTo>
                <a:lnTo>
                  <a:pt x="1539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288263" y="3902631"/>
            <a:ext cx="522051" cy="68887"/>
          </a:xfrm>
          <a:custGeom>
            <a:avLst/>
            <a:gdLst/>
            <a:ahLst/>
            <a:cxnLst/>
            <a:rect l="l" t="t" r="r" b="b"/>
            <a:pathLst>
              <a:path w="522051" h="68887">
                <a:moveTo>
                  <a:pt x="0" y="0"/>
                </a:moveTo>
                <a:lnTo>
                  <a:pt x="31899" y="14180"/>
                </a:lnTo>
                <a:lnTo>
                  <a:pt x="63895" y="26728"/>
                </a:lnTo>
                <a:lnTo>
                  <a:pt x="95989" y="37645"/>
                </a:lnTo>
                <a:lnTo>
                  <a:pt x="128180" y="46931"/>
                </a:lnTo>
                <a:lnTo>
                  <a:pt x="160468" y="54585"/>
                </a:lnTo>
                <a:lnTo>
                  <a:pt x="192853" y="60607"/>
                </a:lnTo>
                <a:lnTo>
                  <a:pt x="225335" y="64999"/>
                </a:lnTo>
                <a:lnTo>
                  <a:pt x="257915" y="67758"/>
                </a:lnTo>
                <a:lnTo>
                  <a:pt x="290592" y="68887"/>
                </a:lnTo>
                <a:lnTo>
                  <a:pt x="323366" y="68384"/>
                </a:lnTo>
                <a:lnTo>
                  <a:pt x="356237" y="66250"/>
                </a:lnTo>
                <a:lnTo>
                  <a:pt x="389205" y="62484"/>
                </a:lnTo>
                <a:lnTo>
                  <a:pt x="422271" y="57087"/>
                </a:lnTo>
                <a:lnTo>
                  <a:pt x="455434" y="50058"/>
                </a:lnTo>
                <a:lnTo>
                  <a:pt x="488694" y="41398"/>
                </a:lnTo>
                <a:lnTo>
                  <a:pt x="522051" y="3110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01315" y="5444812"/>
            <a:ext cx="712671" cy="991503"/>
          </a:xfrm>
          <a:custGeom>
            <a:avLst/>
            <a:gdLst/>
            <a:ahLst/>
            <a:cxnLst/>
            <a:rect l="l" t="t" r="r" b="b"/>
            <a:pathLst>
              <a:path w="712671" h="991503">
                <a:moveTo>
                  <a:pt x="0" y="991503"/>
                </a:moveTo>
                <a:lnTo>
                  <a:pt x="67781" y="946238"/>
                </a:lnTo>
                <a:lnTo>
                  <a:pt x="132462" y="898745"/>
                </a:lnTo>
                <a:lnTo>
                  <a:pt x="194046" y="849025"/>
                </a:lnTo>
                <a:lnTo>
                  <a:pt x="252531" y="797078"/>
                </a:lnTo>
                <a:lnTo>
                  <a:pt x="307917" y="742904"/>
                </a:lnTo>
                <a:lnTo>
                  <a:pt x="360205" y="686502"/>
                </a:lnTo>
                <a:lnTo>
                  <a:pt x="409395" y="627874"/>
                </a:lnTo>
                <a:lnTo>
                  <a:pt x="455486" y="567019"/>
                </a:lnTo>
                <a:lnTo>
                  <a:pt x="498479" y="503936"/>
                </a:lnTo>
                <a:lnTo>
                  <a:pt x="538373" y="438626"/>
                </a:lnTo>
                <a:lnTo>
                  <a:pt x="575169" y="371090"/>
                </a:lnTo>
                <a:lnTo>
                  <a:pt x="608866" y="301326"/>
                </a:lnTo>
                <a:lnTo>
                  <a:pt x="639465" y="229335"/>
                </a:lnTo>
                <a:lnTo>
                  <a:pt x="666965" y="155117"/>
                </a:lnTo>
                <a:lnTo>
                  <a:pt x="691367" y="78672"/>
                </a:lnTo>
                <a:lnTo>
                  <a:pt x="71267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713986" y="5290188"/>
            <a:ext cx="1527961" cy="154624"/>
          </a:xfrm>
          <a:custGeom>
            <a:avLst/>
            <a:gdLst/>
            <a:ahLst/>
            <a:cxnLst/>
            <a:rect l="l" t="t" r="r" b="b"/>
            <a:pathLst>
              <a:path w="1527961" h="154624">
                <a:moveTo>
                  <a:pt x="1527961" y="150969"/>
                </a:moveTo>
                <a:lnTo>
                  <a:pt x="1432378" y="115386"/>
                </a:lnTo>
                <a:lnTo>
                  <a:pt x="1336806" y="84578"/>
                </a:lnTo>
                <a:lnTo>
                  <a:pt x="1241245" y="58544"/>
                </a:lnTo>
                <a:lnTo>
                  <a:pt x="1145696" y="37286"/>
                </a:lnTo>
                <a:lnTo>
                  <a:pt x="1050159" y="20802"/>
                </a:lnTo>
                <a:lnTo>
                  <a:pt x="954633" y="9093"/>
                </a:lnTo>
                <a:lnTo>
                  <a:pt x="859118" y="2159"/>
                </a:lnTo>
                <a:lnTo>
                  <a:pt x="763615" y="0"/>
                </a:lnTo>
                <a:lnTo>
                  <a:pt x="668123" y="2616"/>
                </a:lnTo>
                <a:lnTo>
                  <a:pt x="572643" y="10007"/>
                </a:lnTo>
                <a:lnTo>
                  <a:pt x="477174" y="22173"/>
                </a:lnTo>
                <a:lnTo>
                  <a:pt x="381716" y="39113"/>
                </a:lnTo>
                <a:lnTo>
                  <a:pt x="286270" y="60828"/>
                </a:lnTo>
                <a:lnTo>
                  <a:pt x="190835" y="87319"/>
                </a:lnTo>
                <a:lnTo>
                  <a:pt x="95412" y="118584"/>
                </a:lnTo>
                <a:lnTo>
                  <a:pt x="0" y="15462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001315" y="5912370"/>
            <a:ext cx="1930080" cy="543320"/>
          </a:xfrm>
          <a:custGeom>
            <a:avLst/>
            <a:gdLst/>
            <a:ahLst/>
            <a:cxnLst/>
            <a:rect l="l" t="t" r="r" b="b"/>
            <a:pathLst>
              <a:path w="1930080" h="543320">
                <a:moveTo>
                  <a:pt x="0" y="523945"/>
                </a:moveTo>
                <a:lnTo>
                  <a:pt x="132910" y="536435"/>
                </a:lnTo>
                <a:lnTo>
                  <a:pt x="264183" y="542893"/>
                </a:lnTo>
                <a:lnTo>
                  <a:pt x="393818" y="543320"/>
                </a:lnTo>
                <a:lnTo>
                  <a:pt x="521816" y="537715"/>
                </a:lnTo>
                <a:lnTo>
                  <a:pt x="648177" y="526079"/>
                </a:lnTo>
                <a:lnTo>
                  <a:pt x="772900" y="508411"/>
                </a:lnTo>
                <a:lnTo>
                  <a:pt x="895986" y="484711"/>
                </a:lnTo>
                <a:lnTo>
                  <a:pt x="1017435" y="454981"/>
                </a:lnTo>
                <a:lnTo>
                  <a:pt x="1137246" y="419218"/>
                </a:lnTo>
                <a:lnTo>
                  <a:pt x="1255420" y="377424"/>
                </a:lnTo>
                <a:lnTo>
                  <a:pt x="1371956" y="329599"/>
                </a:lnTo>
                <a:lnTo>
                  <a:pt x="1486856" y="275742"/>
                </a:lnTo>
                <a:lnTo>
                  <a:pt x="1600118" y="215854"/>
                </a:lnTo>
                <a:lnTo>
                  <a:pt x="1711742" y="149934"/>
                </a:lnTo>
                <a:lnTo>
                  <a:pt x="1821730" y="77983"/>
                </a:lnTo>
                <a:lnTo>
                  <a:pt x="193008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4931395" y="5441157"/>
            <a:ext cx="310552" cy="471213"/>
          </a:xfrm>
          <a:custGeom>
            <a:avLst/>
            <a:gdLst/>
            <a:ahLst/>
            <a:cxnLst/>
            <a:rect l="l" t="t" r="r" b="b"/>
            <a:pathLst>
              <a:path w="310552" h="471213">
                <a:moveTo>
                  <a:pt x="310552" y="0"/>
                </a:moveTo>
                <a:lnTo>
                  <a:pt x="280098" y="22173"/>
                </a:lnTo>
                <a:lnTo>
                  <a:pt x="251117" y="45315"/>
                </a:lnTo>
                <a:lnTo>
                  <a:pt x="223609" y="69428"/>
                </a:lnTo>
                <a:lnTo>
                  <a:pt x="197573" y="94512"/>
                </a:lnTo>
                <a:lnTo>
                  <a:pt x="173009" y="120566"/>
                </a:lnTo>
                <a:lnTo>
                  <a:pt x="149919" y="147591"/>
                </a:lnTo>
                <a:lnTo>
                  <a:pt x="128300" y="175586"/>
                </a:lnTo>
                <a:lnTo>
                  <a:pt x="108155" y="204552"/>
                </a:lnTo>
                <a:lnTo>
                  <a:pt x="89481" y="234488"/>
                </a:lnTo>
                <a:lnTo>
                  <a:pt x="72281" y="265394"/>
                </a:lnTo>
                <a:lnTo>
                  <a:pt x="56552" y="297271"/>
                </a:lnTo>
                <a:lnTo>
                  <a:pt x="42297" y="330118"/>
                </a:lnTo>
                <a:lnTo>
                  <a:pt x="29514" y="363936"/>
                </a:lnTo>
                <a:lnTo>
                  <a:pt x="18203" y="398725"/>
                </a:lnTo>
                <a:lnTo>
                  <a:pt x="8365" y="434484"/>
                </a:lnTo>
                <a:lnTo>
                  <a:pt x="0" y="47121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98489" y="4904547"/>
            <a:ext cx="92915" cy="1007823"/>
          </a:xfrm>
          <a:custGeom>
            <a:avLst/>
            <a:gdLst/>
            <a:ahLst/>
            <a:cxnLst/>
            <a:rect l="l" t="t" r="r" b="b"/>
            <a:pathLst>
              <a:path w="92915" h="1007823">
                <a:moveTo>
                  <a:pt x="32906" y="1007823"/>
                </a:moveTo>
                <a:lnTo>
                  <a:pt x="48565" y="944256"/>
                </a:lnTo>
                <a:lnTo>
                  <a:pt x="61862" y="880765"/>
                </a:lnTo>
                <a:lnTo>
                  <a:pt x="72797" y="817352"/>
                </a:lnTo>
                <a:lnTo>
                  <a:pt x="81369" y="754016"/>
                </a:lnTo>
                <a:lnTo>
                  <a:pt x="87580" y="690757"/>
                </a:lnTo>
                <a:lnTo>
                  <a:pt x="91429" y="627576"/>
                </a:lnTo>
                <a:lnTo>
                  <a:pt x="92915" y="564471"/>
                </a:lnTo>
                <a:lnTo>
                  <a:pt x="92039" y="501443"/>
                </a:lnTo>
                <a:lnTo>
                  <a:pt x="88802" y="438493"/>
                </a:lnTo>
                <a:lnTo>
                  <a:pt x="83202" y="375620"/>
                </a:lnTo>
                <a:lnTo>
                  <a:pt x="75240" y="312824"/>
                </a:lnTo>
                <a:lnTo>
                  <a:pt x="64916" y="250105"/>
                </a:lnTo>
                <a:lnTo>
                  <a:pt x="52230" y="187463"/>
                </a:lnTo>
                <a:lnTo>
                  <a:pt x="37182" y="124898"/>
                </a:lnTo>
                <a:lnTo>
                  <a:pt x="19772" y="6241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4493291" y="2142539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44" name="Oval 443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3798769" y="527524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48" name="Oval 447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3087405" y="376309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51" name="Oval 450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4831410" y="344069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54" name="Oval 453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4983272" y="473498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57" name="Oval 456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5016178" y="574280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460" name="Oval 459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TextBox 462"/>
          <p:cNvSpPr txBox="1"/>
          <p:nvPr/>
        </p:nvSpPr>
        <p:spPr>
          <a:xfrm>
            <a:off x="6180241" y="1387864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464" name="Oval 463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Box 465"/>
          <p:cNvSpPr txBox="1"/>
          <p:nvPr/>
        </p:nvSpPr>
        <p:spPr>
          <a:xfrm>
            <a:off x="3895097" y="3764171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467" name="Oval 466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4833444" y="390318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70" name="Oval 469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1" name="Connector 470"/>
          <p:cNvCxnSpPr/>
          <p:nvPr/>
        </p:nvCxnSpPr>
        <p:spPr>
          <a:xfrm flipV="1">
            <a:off x="2848684" y="4461634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2943146" y="4461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ounded Rectangle 472"/>
          <p:cNvSpPr/>
          <p:nvPr/>
        </p:nvSpPr>
        <p:spPr>
          <a:xfrm>
            <a:off x="2957277" y="432915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TextBox 473"/>
          <p:cNvSpPr txBox="1"/>
          <p:nvPr/>
        </p:nvSpPr>
        <p:spPr>
          <a:xfrm>
            <a:off x="2957277" y="432915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475" name="Oval 474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6" name="Connector 475"/>
          <p:cNvCxnSpPr/>
          <p:nvPr/>
        </p:nvCxnSpPr>
        <p:spPr>
          <a:xfrm flipV="1">
            <a:off x="3288263" y="3790055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>
            <a:off x="3382725" y="3790055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ounded Rectangle 477"/>
          <p:cNvSpPr/>
          <p:nvPr/>
        </p:nvSpPr>
        <p:spPr>
          <a:xfrm>
            <a:off x="3396856" y="365757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Box 478"/>
          <p:cNvSpPr txBox="1"/>
          <p:nvPr/>
        </p:nvSpPr>
        <p:spPr>
          <a:xfrm>
            <a:off x="3396856" y="365757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480" name="Oval 479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 flipV="1">
            <a:off x="4136894" y="3106266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4231357" y="3106266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ounded Rectangle 482"/>
          <p:cNvSpPr/>
          <p:nvPr/>
        </p:nvSpPr>
        <p:spPr>
          <a:xfrm>
            <a:off x="4245487" y="2973784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TextBox 483"/>
          <p:cNvSpPr txBox="1"/>
          <p:nvPr/>
        </p:nvSpPr>
        <p:spPr>
          <a:xfrm>
            <a:off x="4245487" y="2973784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485" name="Oval 484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 flipV="1">
            <a:off x="5254157" y="2660581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5348620" y="2660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5332561" y="2679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Rounded Rectangle 488"/>
          <p:cNvSpPr/>
          <p:nvPr/>
        </p:nvSpPr>
        <p:spPr>
          <a:xfrm>
            <a:off x="5362750" y="2528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TextBox 489"/>
          <p:cNvSpPr txBox="1"/>
          <p:nvPr/>
        </p:nvSpPr>
        <p:spPr>
          <a:xfrm>
            <a:off x="5362750" y="2528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491" name="Oval 490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2" name="Connector 491"/>
          <p:cNvCxnSpPr/>
          <p:nvPr/>
        </p:nvCxnSpPr>
        <p:spPr>
          <a:xfrm flipV="1">
            <a:off x="5028263" y="4528792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>
            <a:off x="5122725" y="452879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4" name="Rounded Rectangle 493"/>
          <p:cNvSpPr/>
          <p:nvPr/>
        </p:nvSpPr>
        <p:spPr>
          <a:xfrm>
            <a:off x="5136856" y="4396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5136856" y="4396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496" name="Oval 495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 flipV="1">
            <a:off x="3001315" y="6323739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3095778" y="632373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3079719" y="6342877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3109908" y="619125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3109908" y="619125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02" name="Oval 501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3" name="Connector 502"/>
          <p:cNvCxnSpPr/>
          <p:nvPr/>
        </p:nvCxnSpPr>
        <p:spPr>
          <a:xfrm flipV="1">
            <a:off x="5241947" y="5328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>
            <a:off x="5336409" y="5328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>
            <a:off x="5320351" y="5347719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ounded Rectangle 505"/>
          <p:cNvSpPr/>
          <p:nvPr/>
        </p:nvSpPr>
        <p:spPr>
          <a:xfrm>
            <a:off x="5350540" y="5196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TextBox 506"/>
          <p:cNvSpPr txBox="1"/>
          <p:nvPr/>
        </p:nvSpPr>
        <p:spPr>
          <a:xfrm>
            <a:off x="5350540" y="5196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1 联 · 盥洗室门旁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1 联 · 西卫生间门外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1 联 · 主卧门旁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2 联 · 主卧东墙 · 床头侧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1 联 · 衣帽间门旁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2 联 · 卧室2 门旁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2 联 · 卧室2 床头侧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W1：S3 ↔ S4  3C+E  回路 a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W2：S6 ↔ S7  3C+E  回路 i j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7" name="Rectangle 526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&amp; SWITCHING — ZONE 2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421" name="Connector 420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二层照明放大图 2：走廊 · 北卫 · 卧室3 · 楼梯 · 书房 · 后卫</a:t>
            </a:r>
          </a:p>
        </p:txBody>
      </p:sp>
      <p:cxnSp>
        <p:nvCxnSpPr>
          <p:cNvPr id="424" name="Connector 423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5" name="TextBox 424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E-FF-02</a:t>
            </a:r>
          </a:p>
        </p:txBody>
      </p:sp>
      <p:cxnSp>
        <p:nvCxnSpPr>
          <p:cNvPr id="427" name="Connector 426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430" name="Connector 429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1" name="TextBox 430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5" name="Oval 434"/>
          <p:cNvSpPr/>
          <p:nvPr/>
        </p:nvSpPr>
        <p:spPr>
          <a:xfrm>
            <a:off x="2563694" y="4110726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2563694" y="4110726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437" name="Connector 436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3365315" y="5408400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3365315" y="5408400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3251631" y="1857368"/>
            <a:ext cx="408184" cy="702725"/>
          </a:xfrm>
          <a:custGeom>
            <a:avLst/>
            <a:gdLst/>
            <a:ahLst/>
            <a:cxnLst/>
            <a:rect l="l" t="t" r="r" b="b"/>
            <a:pathLst>
              <a:path w="408184" h="702725">
                <a:moveTo>
                  <a:pt x="0" y="0"/>
                </a:moveTo>
                <a:lnTo>
                  <a:pt x="9041" y="53487"/>
                </a:lnTo>
                <a:lnTo>
                  <a:pt x="20279" y="105699"/>
                </a:lnTo>
                <a:lnTo>
                  <a:pt x="33712" y="156635"/>
                </a:lnTo>
                <a:lnTo>
                  <a:pt x="49342" y="206295"/>
                </a:lnTo>
                <a:lnTo>
                  <a:pt x="67167" y="254680"/>
                </a:lnTo>
                <a:lnTo>
                  <a:pt x="87188" y="301789"/>
                </a:lnTo>
                <a:lnTo>
                  <a:pt x="109406" y="347623"/>
                </a:lnTo>
                <a:lnTo>
                  <a:pt x="133819" y="392181"/>
                </a:lnTo>
                <a:lnTo>
                  <a:pt x="160429" y="435464"/>
                </a:lnTo>
                <a:lnTo>
                  <a:pt x="189234" y="477470"/>
                </a:lnTo>
                <a:lnTo>
                  <a:pt x="220236" y="518202"/>
                </a:lnTo>
                <a:lnTo>
                  <a:pt x="253433" y="557658"/>
                </a:lnTo>
                <a:lnTo>
                  <a:pt x="288827" y="595838"/>
                </a:lnTo>
                <a:lnTo>
                  <a:pt x="326416" y="632743"/>
                </a:lnTo>
                <a:lnTo>
                  <a:pt x="366202" y="668372"/>
                </a:lnTo>
                <a:lnTo>
                  <a:pt x="408184" y="702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284305" y="3268996"/>
            <a:ext cx="246905" cy="200161"/>
          </a:xfrm>
          <a:custGeom>
            <a:avLst/>
            <a:gdLst/>
            <a:ahLst/>
            <a:cxnLst/>
            <a:rect l="l" t="t" r="r" b="b"/>
            <a:pathLst>
              <a:path w="246905" h="200161">
                <a:moveTo>
                  <a:pt x="246905" y="200161"/>
                </a:moveTo>
                <a:lnTo>
                  <a:pt x="236165" y="181864"/>
                </a:lnTo>
                <a:lnTo>
                  <a:pt x="224799" y="164339"/>
                </a:lnTo>
                <a:lnTo>
                  <a:pt x="212808" y="147585"/>
                </a:lnTo>
                <a:lnTo>
                  <a:pt x="200191" y="131603"/>
                </a:lnTo>
                <a:lnTo>
                  <a:pt x="186948" y="116393"/>
                </a:lnTo>
                <a:lnTo>
                  <a:pt x="173081" y="101954"/>
                </a:lnTo>
                <a:lnTo>
                  <a:pt x="158587" y="88286"/>
                </a:lnTo>
                <a:lnTo>
                  <a:pt x="143469" y="75390"/>
                </a:lnTo>
                <a:lnTo>
                  <a:pt x="127724" y="63266"/>
                </a:lnTo>
                <a:lnTo>
                  <a:pt x="111354" y="51913"/>
                </a:lnTo>
                <a:lnTo>
                  <a:pt x="94359" y="41332"/>
                </a:lnTo>
                <a:lnTo>
                  <a:pt x="76738" y="31523"/>
                </a:lnTo>
                <a:lnTo>
                  <a:pt x="58492" y="22485"/>
                </a:lnTo>
                <a:lnTo>
                  <a:pt x="39620" y="14218"/>
                </a:lnTo>
                <a:lnTo>
                  <a:pt x="20123" y="6723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03510" y="4768232"/>
            <a:ext cx="606226" cy="733978"/>
          </a:xfrm>
          <a:custGeom>
            <a:avLst/>
            <a:gdLst/>
            <a:ahLst/>
            <a:cxnLst/>
            <a:rect l="l" t="t" r="r" b="b"/>
            <a:pathLst>
              <a:path w="606226" h="733978">
                <a:moveTo>
                  <a:pt x="606226" y="733978"/>
                </a:moveTo>
                <a:lnTo>
                  <a:pt x="585540" y="673896"/>
                </a:lnTo>
                <a:lnTo>
                  <a:pt x="562560" y="615708"/>
                </a:lnTo>
                <a:lnTo>
                  <a:pt x="537286" y="559415"/>
                </a:lnTo>
                <a:lnTo>
                  <a:pt x="509718" y="505017"/>
                </a:lnTo>
                <a:lnTo>
                  <a:pt x="479857" y="452512"/>
                </a:lnTo>
                <a:lnTo>
                  <a:pt x="447702" y="401903"/>
                </a:lnTo>
                <a:lnTo>
                  <a:pt x="413253" y="353187"/>
                </a:lnTo>
                <a:lnTo>
                  <a:pt x="376511" y="306367"/>
                </a:lnTo>
                <a:lnTo>
                  <a:pt x="337475" y="261440"/>
                </a:lnTo>
                <a:lnTo>
                  <a:pt x="296145" y="218408"/>
                </a:lnTo>
                <a:lnTo>
                  <a:pt x="252522" y="177271"/>
                </a:lnTo>
                <a:lnTo>
                  <a:pt x="206605" y="138028"/>
                </a:lnTo>
                <a:lnTo>
                  <a:pt x="158394" y="100679"/>
                </a:lnTo>
                <a:lnTo>
                  <a:pt x="107890" y="65225"/>
                </a:lnTo>
                <a:lnTo>
                  <a:pt x="55092" y="31666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181465" y="3268996"/>
            <a:ext cx="122045" cy="1499236"/>
          </a:xfrm>
          <a:custGeom>
            <a:avLst/>
            <a:gdLst/>
            <a:ahLst/>
            <a:cxnLst/>
            <a:rect l="l" t="t" r="r" b="b"/>
            <a:pathLst>
              <a:path w="122045" h="1499236">
                <a:moveTo>
                  <a:pt x="102840" y="0"/>
                </a:moveTo>
                <a:lnTo>
                  <a:pt x="77686" y="94040"/>
                </a:lnTo>
                <a:lnTo>
                  <a:pt x="56047" y="188035"/>
                </a:lnTo>
                <a:lnTo>
                  <a:pt x="37921" y="281985"/>
                </a:lnTo>
                <a:lnTo>
                  <a:pt x="23309" y="375890"/>
                </a:lnTo>
                <a:lnTo>
                  <a:pt x="12211" y="469749"/>
                </a:lnTo>
                <a:lnTo>
                  <a:pt x="4627" y="563564"/>
                </a:lnTo>
                <a:lnTo>
                  <a:pt x="556" y="657334"/>
                </a:lnTo>
                <a:lnTo>
                  <a:pt x="0" y="751059"/>
                </a:lnTo>
                <a:lnTo>
                  <a:pt x="2957" y="844739"/>
                </a:lnTo>
                <a:lnTo>
                  <a:pt x="9428" y="938373"/>
                </a:lnTo>
                <a:lnTo>
                  <a:pt x="19413" y="1031963"/>
                </a:lnTo>
                <a:lnTo>
                  <a:pt x="32912" y="1125508"/>
                </a:lnTo>
                <a:lnTo>
                  <a:pt x="49925" y="1219007"/>
                </a:lnTo>
                <a:lnTo>
                  <a:pt x="70451" y="1312462"/>
                </a:lnTo>
                <a:lnTo>
                  <a:pt x="94491" y="1405872"/>
                </a:lnTo>
                <a:lnTo>
                  <a:pt x="122045" y="149923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744894" y="3939263"/>
            <a:ext cx="717769" cy="404193"/>
          </a:xfrm>
          <a:custGeom>
            <a:avLst/>
            <a:gdLst/>
            <a:ahLst/>
            <a:cxnLst/>
            <a:rect l="l" t="t" r="r" b="b"/>
            <a:pathLst>
              <a:path w="717769" h="404193">
                <a:moveTo>
                  <a:pt x="0" y="0"/>
                </a:moveTo>
                <a:lnTo>
                  <a:pt x="35388" y="42084"/>
                </a:lnTo>
                <a:lnTo>
                  <a:pt x="72038" y="81926"/>
                </a:lnTo>
                <a:lnTo>
                  <a:pt x="109951" y="119525"/>
                </a:lnTo>
                <a:lnTo>
                  <a:pt x="149128" y="154881"/>
                </a:lnTo>
                <a:lnTo>
                  <a:pt x="189568" y="187993"/>
                </a:lnTo>
                <a:lnTo>
                  <a:pt x="231271" y="218863"/>
                </a:lnTo>
                <a:lnTo>
                  <a:pt x="274236" y="247490"/>
                </a:lnTo>
                <a:lnTo>
                  <a:pt x="318465" y="273873"/>
                </a:lnTo>
                <a:lnTo>
                  <a:pt x="363958" y="298014"/>
                </a:lnTo>
                <a:lnTo>
                  <a:pt x="410713" y="319911"/>
                </a:lnTo>
                <a:lnTo>
                  <a:pt x="458731" y="339566"/>
                </a:lnTo>
                <a:lnTo>
                  <a:pt x="508013" y="356977"/>
                </a:lnTo>
                <a:lnTo>
                  <a:pt x="558557" y="372146"/>
                </a:lnTo>
                <a:lnTo>
                  <a:pt x="610365" y="385071"/>
                </a:lnTo>
                <a:lnTo>
                  <a:pt x="663435" y="395754"/>
                </a:lnTo>
                <a:lnTo>
                  <a:pt x="717769" y="4041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909736" y="5502210"/>
            <a:ext cx="456599" cy="655432"/>
          </a:xfrm>
          <a:custGeom>
            <a:avLst/>
            <a:gdLst/>
            <a:ahLst/>
            <a:cxnLst/>
            <a:rect l="l" t="t" r="r" b="b"/>
            <a:pathLst>
              <a:path w="456599" h="655432">
                <a:moveTo>
                  <a:pt x="0" y="0"/>
                </a:moveTo>
                <a:lnTo>
                  <a:pt x="13176" y="51666"/>
                </a:lnTo>
                <a:lnTo>
                  <a:pt x="28400" y="101905"/>
                </a:lnTo>
                <a:lnTo>
                  <a:pt x="45672" y="150718"/>
                </a:lnTo>
                <a:lnTo>
                  <a:pt x="64993" y="198103"/>
                </a:lnTo>
                <a:lnTo>
                  <a:pt x="86361" y="244061"/>
                </a:lnTo>
                <a:lnTo>
                  <a:pt x="109778" y="288593"/>
                </a:lnTo>
                <a:lnTo>
                  <a:pt x="135243" y="331698"/>
                </a:lnTo>
                <a:lnTo>
                  <a:pt x="162756" y="373376"/>
                </a:lnTo>
                <a:lnTo>
                  <a:pt x="192318" y="413627"/>
                </a:lnTo>
                <a:lnTo>
                  <a:pt x="223928" y="452451"/>
                </a:lnTo>
                <a:lnTo>
                  <a:pt x="257585" y="489849"/>
                </a:lnTo>
                <a:lnTo>
                  <a:pt x="293292" y="525819"/>
                </a:lnTo>
                <a:lnTo>
                  <a:pt x="331046" y="560363"/>
                </a:lnTo>
                <a:lnTo>
                  <a:pt x="370849" y="593479"/>
                </a:lnTo>
                <a:lnTo>
                  <a:pt x="412700" y="625169"/>
                </a:lnTo>
                <a:lnTo>
                  <a:pt x="456599" y="655432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366335" y="5465578"/>
            <a:ext cx="398138" cy="692064"/>
          </a:xfrm>
          <a:custGeom>
            <a:avLst/>
            <a:gdLst/>
            <a:ahLst/>
            <a:cxnLst/>
            <a:rect l="l" t="t" r="r" b="b"/>
            <a:pathLst>
              <a:path w="398138" h="692064">
                <a:moveTo>
                  <a:pt x="398138" y="0"/>
                </a:moveTo>
                <a:lnTo>
                  <a:pt x="357034" y="33923"/>
                </a:lnTo>
                <a:lnTo>
                  <a:pt x="318093" y="69090"/>
                </a:lnTo>
                <a:lnTo>
                  <a:pt x="281315" y="105501"/>
                </a:lnTo>
                <a:lnTo>
                  <a:pt x="246699" y="143156"/>
                </a:lnTo>
                <a:lnTo>
                  <a:pt x="214246" y="182055"/>
                </a:lnTo>
                <a:lnTo>
                  <a:pt x="183955" y="222199"/>
                </a:lnTo>
                <a:lnTo>
                  <a:pt x="155828" y="263587"/>
                </a:lnTo>
                <a:lnTo>
                  <a:pt x="129863" y="306218"/>
                </a:lnTo>
                <a:lnTo>
                  <a:pt x="106060" y="350095"/>
                </a:lnTo>
                <a:lnTo>
                  <a:pt x="84421" y="395215"/>
                </a:lnTo>
                <a:lnTo>
                  <a:pt x="64944" y="441579"/>
                </a:lnTo>
                <a:lnTo>
                  <a:pt x="47630" y="489188"/>
                </a:lnTo>
                <a:lnTo>
                  <a:pt x="32478" y="538041"/>
                </a:lnTo>
                <a:lnTo>
                  <a:pt x="19489" y="588138"/>
                </a:lnTo>
                <a:lnTo>
                  <a:pt x="8663" y="639479"/>
                </a:lnTo>
                <a:lnTo>
                  <a:pt x="0" y="69206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387210" y="5325157"/>
            <a:ext cx="840489" cy="126350"/>
          </a:xfrm>
          <a:custGeom>
            <a:avLst/>
            <a:gdLst/>
            <a:ahLst/>
            <a:cxnLst/>
            <a:rect l="l" t="t" r="r" b="b"/>
            <a:pathLst>
              <a:path w="840489" h="126350">
                <a:moveTo>
                  <a:pt x="0" y="0"/>
                </a:moveTo>
                <a:lnTo>
                  <a:pt x="50747" y="24455"/>
                </a:lnTo>
                <a:lnTo>
                  <a:pt x="101732" y="46283"/>
                </a:lnTo>
                <a:lnTo>
                  <a:pt x="152955" y="65484"/>
                </a:lnTo>
                <a:lnTo>
                  <a:pt x="204416" y="82059"/>
                </a:lnTo>
                <a:lnTo>
                  <a:pt x="256114" y="96007"/>
                </a:lnTo>
                <a:lnTo>
                  <a:pt x="308050" y="107328"/>
                </a:lnTo>
                <a:lnTo>
                  <a:pt x="360224" y="116024"/>
                </a:lnTo>
                <a:lnTo>
                  <a:pt x="412636" y="122092"/>
                </a:lnTo>
                <a:lnTo>
                  <a:pt x="465285" y="125534"/>
                </a:lnTo>
                <a:lnTo>
                  <a:pt x="518172" y="126350"/>
                </a:lnTo>
                <a:lnTo>
                  <a:pt x="571297" y="124539"/>
                </a:lnTo>
                <a:lnTo>
                  <a:pt x="624660" y="120102"/>
                </a:lnTo>
                <a:lnTo>
                  <a:pt x="678260" y="113038"/>
                </a:lnTo>
                <a:lnTo>
                  <a:pt x="732099" y="103347"/>
                </a:lnTo>
                <a:lnTo>
                  <a:pt x="786175" y="91030"/>
                </a:lnTo>
                <a:lnTo>
                  <a:pt x="840489" y="7608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32684" y="4745157"/>
            <a:ext cx="588944" cy="755004"/>
          </a:xfrm>
          <a:custGeom>
            <a:avLst/>
            <a:gdLst/>
            <a:ahLst/>
            <a:cxnLst/>
            <a:rect l="l" t="t" r="r" b="b"/>
            <a:pathLst>
              <a:path w="588944" h="755004">
                <a:moveTo>
                  <a:pt x="0" y="0"/>
                </a:moveTo>
                <a:lnTo>
                  <a:pt x="19113" y="60992"/>
                </a:lnTo>
                <a:lnTo>
                  <a:pt x="40586" y="120142"/>
                </a:lnTo>
                <a:lnTo>
                  <a:pt x="64419" y="177452"/>
                </a:lnTo>
                <a:lnTo>
                  <a:pt x="90611" y="232922"/>
                </a:lnTo>
                <a:lnTo>
                  <a:pt x="119162" y="286551"/>
                </a:lnTo>
                <a:lnTo>
                  <a:pt x="150072" y="338340"/>
                </a:lnTo>
                <a:lnTo>
                  <a:pt x="183342" y="388289"/>
                </a:lnTo>
                <a:lnTo>
                  <a:pt x="218972" y="436397"/>
                </a:lnTo>
                <a:lnTo>
                  <a:pt x="256960" y="482664"/>
                </a:lnTo>
                <a:lnTo>
                  <a:pt x="297309" y="527091"/>
                </a:lnTo>
                <a:lnTo>
                  <a:pt x="340016" y="569678"/>
                </a:lnTo>
                <a:lnTo>
                  <a:pt x="385083" y="610424"/>
                </a:lnTo>
                <a:lnTo>
                  <a:pt x="432509" y="649330"/>
                </a:lnTo>
                <a:lnTo>
                  <a:pt x="482295" y="686395"/>
                </a:lnTo>
                <a:lnTo>
                  <a:pt x="534440" y="721620"/>
                </a:lnTo>
                <a:lnTo>
                  <a:pt x="588944" y="755004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1" name="Connector 440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3451118" y="598807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44" name="Oval 443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5" name="Connector 444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7" name="TextBox 446"/>
          <p:cNvSpPr txBox="1"/>
          <p:nvPr/>
        </p:nvSpPr>
        <p:spPr>
          <a:xfrm>
            <a:off x="2388293" y="4598666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48" name="Oval 447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9" name="Connector 448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1" name="TextBox 450"/>
          <p:cNvSpPr txBox="1"/>
          <p:nvPr/>
        </p:nvSpPr>
        <p:spPr>
          <a:xfrm>
            <a:off x="3547446" y="417389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52" name="Oval 451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3" name="Connector 452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TextBox 454"/>
          <p:cNvSpPr txBox="1"/>
          <p:nvPr/>
        </p:nvSpPr>
        <p:spPr>
          <a:xfrm>
            <a:off x="5312482" y="523167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56" name="Oval 455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TextBox 457"/>
          <p:cNvSpPr txBox="1"/>
          <p:nvPr/>
        </p:nvSpPr>
        <p:spPr>
          <a:xfrm>
            <a:off x="3744598" y="2390527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59" name="Oval 458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6306411" y="5330595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62" name="Oval 461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3" name="Connector 462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5" name="TextBox 464"/>
          <p:cNvSpPr txBox="1"/>
          <p:nvPr/>
        </p:nvSpPr>
        <p:spPr>
          <a:xfrm>
            <a:off x="2369088" y="3099430"/>
            <a:ext cx="141305" cy="1130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66" name="Oval 465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2531210" y="3356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625672" y="3356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ounded Rectangle 468"/>
          <p:cNvSpPr/>
          <p:nvPr/>
        </p:nvSpPr>
        <p:spPr>
          <a:xfrm>
            <a:off x="2639803" y="3224100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extBox 469"/>
          <p:cNvSpPr txBox="1"/>
          <p:nvPr/>
        </p:nvSpPr>
        <p:spPr>
          <a:xfrm>
            <a:off x="2639803" y="3224100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471" name="Oval 470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3251631" y="1744792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3346094" y="1744792"/>
            <a:ext cx="28143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Rounded Rectangle 473"/>
          <p:cNvSpPr/>
          <p:nvPr/>
        </p:nvSpPr>
        <p:spPr>
          <a:xfrm>
            <a:off x="3360224" y="161231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3360224" y="161231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476" name="Oval 475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7" name="Connector 476"/>
          <p:cNvCxnSpPr/>
          <p:nvPr/>
        </p:nvCxnSpPr>
        <p:spPr>
          <a:xfrm flipV="1">
            <a:off x="2744894" y="3826687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>
            <a:off x="2839357" y="3826687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ounded Rectangle 478"/>
          <p:cNvSpPr/>
          <p:nvPr/>
        </p:nvSpPr>
        <p:spPr>
          <a:xfrm>
            <a:off x="2853487" y="3694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extBox 479"/>
          <p:cNvSpPr txBox="1"/>
          <p:nvPr/>
        </p:nvSpPr>
        <p:spPr>
          <a:xfrm>
            <a:off x="2853487" y="3694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481" name="Oval 480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2" name="Connector 481"/>
          <p:cNvCxnSpPr/>
          <p:nvPr/>
        </p:nvCxnSpPr>
        <p:spPr>
          <a:xfrm flipV="1">
            <a:off x="2909736" y="5389634"/>
            <a:ext cx="94463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3004199" y="5389634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2988140" y="5408772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ounded Rectangle 484"/>
          <p:cNvSpPr/>
          <p:nvPr/>
        </p:nvSpPr>
        <p:spPr>
          <a:xfrm>
            <a:off x="3018329" y="5257153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TextBox 485"/>
          <p:cNvSpPr txBox="1"/>
          <p:nvPr/>
        </p:nvSpPr>
        <p:spPr>
          <a:xfrm>
            <a:off x="3018329" y="5257153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487" name="Oval 486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Connector 487"/>
          <p:cNvCxnSpPr/>
          <p:nvPr/>
        </p:nvCxnSpPr>
        <p:spPr>
          <a:xfrm flipV="1">
            <a:off x="3764473" y="5353003"/>
            <a:ext cx="94463" cy="11257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3858936" y="5353003"/>
            <a:ext cx="28144" cy="2361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3873066" y="5220521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TextBox 490"/>
          <p:cNvSpPr txBox="1"/>
          <p:nvPr/>
        </p:nvSpPr>
        <p:spPr>
          <a:xfrm>
            <a:off x="3873066" y="5220521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492" name="Oval 491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3" name="Connector 492"/>
          <p:cNvCxnSpPr/>
          <p:nvPr/>
        </p:nvCxnSpPr>
        <p:spPr>
          <a:xfrm flipV="1">
            <a:off x="4387210" y="521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481672" y="521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5" name="Rounded Rectangle 494"/>
          <p:cNvSpPr/>
          <p:nvPr/>
        </p:nvSpPr>
        <p:spPr>
          <a:xfrm>
            <a:off x="4495803" y="508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TextBox 495"/>
          <p:cNvSpPr txBox="1"/>
          <p:nvPr/>
        </p:nvSpPr>
        <p:spPr>
          <a:xfrm>
            <a:off x="4495803" y="508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497" name="Oval 496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8" name="Connector 497"/>
          <p:cNvCxnSpPr/>
          <p:nvPr/>
        </p:nvCxnSpPr>
        <p:spPr>
          <a:xfrm flipV="1">
            <a:off x="5632684" y="4632581"/>
            <a:ext cx="94462" cy="11257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727146" y="4632581"/>
            <a:ext cx="28144" cy="236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Rounded Rectangle 499"/>
          <p:cNvSpPr/>
          <p:nvPr/>
        </p:nvSpPr>
        <p:spPr>
          <a:xfrm>
            <a:off x="5741277" y="4500100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5741277" y="4500100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1 联 · 走廊北端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1 联 · 北卫生间门外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卧室3 门旁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2 联 · 走廊南端 · 楼梯口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1 联 · 楼梯顶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1 联 · 书房门旁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后卫生间门外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S11  3C+E  回路 d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W2：S12 ↔ S11  3C+E  回路 k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521" name="Rectangle 520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TextBox 522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i↔S7，j↔S7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i↔S6，j↔S6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d↔S8，k↔S12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E-FF-05；位置见 E-FF-00~02。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S2 原图标为“6+”，按常理作为西卫生间筒灯的独立单联开关，装在门外。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FIRST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二层照明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E-FF-05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G-A · 方案 A · 专业 18 路（照明 4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v6 第 6 页按键标注；Blender v37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329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S3-键1，S4-键1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S8-键1，S11-键1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S6-键1，S7-键1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S6-键2，S7-键2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S11-键2，S12-键1，一层 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