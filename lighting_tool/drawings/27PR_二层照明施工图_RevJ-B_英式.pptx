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300006" name="TextBox 300005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300007" name="Rectangle 300006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TextBox 300007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09" name="TextBox 300008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0" name="Connector 300009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1" name="TextBox 300010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J-B · 方案 B · 精简 17 路（照明 3 路）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Rectangle 300022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4" name="TextBox 300023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300025" name="Rectangle 300024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6" name="TextBox 300025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卧室 4 · 后卫</a:t>
            </a:r>
          </a:p>
        </p:txBody>
      </p:sp>
      <p:sp>
        <p:nvSpPr>
          <p:cNvPr id="300027" name="Oval 300026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28" name="Connector 300027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0" name="Oval 300029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1" name="Connector 300030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3" name="Oval 300032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Oval 300035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7" name="Connector 300036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9" name="Oval 300038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0" name="Connector 300039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2" name="Oval 300041"/>
          <p:cNvSpPr/>
          <p:nvPr/>
        </p:nvSpPr>
        <p:spPr>
          <a:xfrm>
            <a:off x="6080887" y="480673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3" name="Connector 300042"/>
          <p:cNvCxnSpPr/>
          <p:nvPr/>
        </p:nvCxnSpPr>
        <p:spPr>
          <a:xfrm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Oval 300044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Oval 300045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7" name="Oval 300046"/>
          <p:cNvSpPr/>
          <p:nvPr/>
        </p:nvSpPr>
        <p:spPr>
          <a:xfrm>
            <a:off x="6289479" y="547356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6305979" y="549006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Oval 300048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Oval 300050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2" name="Oval 300051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3251899" y="515604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Oval 300053"/>
          <p:cNvSpPr/>
          <p:nvPr/>
        </p:nvSpPr>
        <p:spPr>
          <a:xfrm>
            <a:off x="3268399" y="517254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Oval 300057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Oval 300058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0" name="Oval 300059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1" name="Oval 300060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2" name="Oval 300061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3" name="Connector 300062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5" name="Oval 300064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TextBox 300067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TextBox 300071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3" name="Oval 300072"/>
          <p:cNvSpPr/>
          <p:nvPr/>
        </p:nvSpPr>
        <p:spPr>
          <a:xfrm>
            <a:off x="3603508" y="309046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3617008" y="304421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>
            <a:off x="3667145" y="304421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6" name="TextBox 300075"/>
          <p:cNvSpPr txBox="1"/>
          <p:nvPr/>
        </p:nvSpPr>
        <p:spPr>
          <a:xfrm>
            <a:off x="3367008" y="313396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7" name="Oval 300076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8" name="Connector 300077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1" name="TextBox 300080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3" name="Connector 300082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5" name="TextBox 300084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TextBox 300089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1" name="Oval 300090"/>
          <p:cNvSpPr/>
          <p:nvPr/>
        </p:nvSpPr>
        <p:spPr>
          <a:xfrm>
            <a:off x="3603508" y="444056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2" name="Connector 300091"/>
          <p:cNvCxnSpPr/>
          <p:nvPr/>
        </p:nvCxnSpPr>
        <p:spPr>
          <a:xfrm flipV="1">
            <a:off x="3617008" y="4394315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>
            <a:off x="3667145" y="439431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3658622" y="4404472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5" name="TextBox 300094"/>
          <p:cNvSpPr txBox="1"/>
          <p:nvPr/>
        </p:nvSpPr>
        <p:spPr>
          <a:xfrm>
            <a:off x="3367008" y="448406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6" name="Oval 300095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7" name="Connector 300096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9" name="TextBox 300098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1" name="Connector 300100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2" name="Connector 300101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3" name="TextBox 300102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4" name="Oval 300103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5" name="Connector 300104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6" name="Connector 300105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7" name="TextBox 300106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8" name="Oval 300107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9" name="Connector 300108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5650951" y="522703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 flipV="1">
            <a:off x="5664451" y="5180783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>
            <a:off x="5714589" y="51807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5414451" y="527053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0" name="Connector 300129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2" name="TextBox 300131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300133" name="Oval 300132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Oval 300133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5" name="TextBox 300134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7" name="TextBox 300136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TextBox 300138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300140" name="Oval 300139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1" name="Connector 300140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2" name="Connector 300141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3" name="Connector 300142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4" name="TextBox 300143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300145" name="Rectangle 300144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6" name="TextBox 300145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8" name="TextBox 300147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300149" name="Connector 300148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0" name="TextBox 300149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300154" name="Rectangle 300153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5" name="Rectangle 300154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6" name="Rectangle 300155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7" name="TextBox 300156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J-B · 方案 B · 精简 17 路（照明 3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 flipH="1">
            <a:off x="5254157" y="2702665"/>
            <a:ext cx="58239" cy="7049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5192012" y="2657338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5192012" y="2657338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V="1">
            <a:off x="3001315" y="4687029"/>
            <a:ext cx="2311081" cy="174928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710193" y="5754065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710193" y="5754065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408508" y="2312106"/>
            <a:ext cx="903888" cy="390559"/>
          </a:xfrm>
          <a:custGeom>
            <a:avLst/>
            <a:gdLst/>
            <a:ahLst/>
            <a:cxnLst/>
            <a:rect l="l" t="t" r="r" b="b"/>
            <a:pathLst>
              <a:path w="903888" h="390559">
                <a:moveTo>
                  <a:pt x="903888" y="390559"/>
                </a:moveTo>
                <a:lnTo>
                  <a:pt x="856548" y="344965"/>
                </a:lnTo>
                <a:lnTo>
                  <a:pt x="807989" y="302194"/>
                </a:lnTo>
                <a:lnTo>
                  <a:pt x="758208" y="262249"/>
                </a:lnTo>
                <a:lnTo>
                  <a:pt x="707208" y="225128"/>
                </a:lnTo>
                <a:lnTo>
                  <a:pt x="654986" y="190832"/>
                </a:lnTo>
                <a:lnTo>
                  <a:pt x="601545" y="159360"/>
                </a:lnTo>
                <a:lnTo>
                  <a:pt x="546882" y="130713"/>
                </a:lnTo>
                <a:lnTo>
                  <a:pt x="491000" y="104891"/>
                </a:lnTo>
                <a:lnTo>
                  <a:pt x="433896" y="81893"/>
                </a:lnTo>
                <a:lnTo>
                  <a:pt x="375573" y="61720"/>
                </a:lnTo>
                <a:lnTo>
                  <a:pt x="316028" y="44372"/>
                </a:lnTo>
                <a:lnTo>
                  <a:pt x="255264" y="29848"/>
                </a:lnTo>
                <a:lnTo>
                  <a:pt x="193278" y="18149"/>
                </a:lnTo>
                <a:lnTo>
                  <a:pt x="130073" y="9275"/>
                </a:lnTo>
                <a:lnTo>
                  <a:pt x="65646" y="322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713986" y="4687029"/>
            <a:ext cx="1598410" cy="757783"/>
          </a:xfrm>
          <a:custGeom>
            <a:avLst/>
            <a:gdLst/>
            <a:ahLst/>
            <a:cxnLst/>
            <a:rect l="l" t="t" r="r" b="b"/>
            <a:pathLst>
              <a:path w="1598410" h="757783">
                <a:moveTo>
                  <a:pt x="1598410" y="0"/>
                </a:moveTo>
                <a:lnTo>
                  <a:pt x="1480749" y="9899"/>
                </a:lnTo>
                <a:lnTo>
                  <a:pt x="1365456" y="24793"/>
                </a:lnTo>
                <a:lnTo>
                  <a:pt x="1252530" y="44681"/>
                </a:lnTo>
                <a:lnTo>
                  <a:pt x="1141974" y="69565"/>
                </a:lnTo>
                <a:lnTo>
                  <a:pt x="1033785" y="99444"/>
                </a:lnTo>
                <a:lnTo>
                  <a:pt x="927964" y="134318"/>
                </a:lnTo>
                <a:lnTo>
                  <a:pt x="824511" y="174187"/>
                </a:lnTo>
                <a:lnTo>
                  <a:pt x="723426" y="219050"/>
                </a:lnTo>
                <a:lnTo>
                  <a:pt x="624710" y="268909"/>
                </a:lnTo>
                <a:lnTo>
                  <a:pt x="528361" y="323763"/>
                </a:lnTo>
                <a:lnTo>
                  <a:pt x="434381" y="383612"/>
                </a:lnTo>
                <a:lnTo>
                  <a:pt x="342769" y="448456"/>
                </a:lnTo>
                <a:lnTo>
                  <a:pt x="253524" y="518295"/>
                </a:lnTo>
                <a:lnTo>
                  <a:pt x="166648" y="593129"/>
                </a:lnTo>
                <a:lnTo>
                  <a:pt x="82140" y="672959"/>
                </a:lnTo>
                <a:lnTo>
                  <a:pt x="0" y="7577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001315" y="5754065"/>
            <a:ext cx="1809724" cy="682250"/>
          </a:xfrm>
          <a:custGeom>
            <a:avLst/>
            <a:gdLst/>
            <a:ahLst/>
            <a:cxnLst/>
            <a:rect l="l" t="t" r="r" b="b"/>
            <a:pathLst>
              <a:path w="1809724" h="682250">
                <a:moveTo>
                  <a:pt x="0" y="682250"/>
                </a:moveTo>
                <a:lnTo>
                  <a:pt x="129098" y="682025"/>
                </a:lnTo>
                <a:lnTo>
                  <a:pt x="256064" y="676144"/>
                </a:lnTo>
                <a:lnTo>
                  <a:pt x="380898" y="664608"/>
                </a:lnTo>
                <a:lnTo>
                  <a:pt x="503600" y="647417"/>
                </a:lnTo>
                <a:lnTo>
                  <a:pt x="624170" y="624570"/>
                </a:lnTo>
                <a:lnTo>
                  <a:pt x="742608" y="596068"/>
                </a:lnTo>
                <a:lnTo>
                  <a:pt x="858913" y="561910"/>
                </a:lnTo>
                <a:lnTo>
                  <a:pt x="973087" y="522098"/>
                </a:lnTo>
                <a:lnTo>
                  <a:pt x="1085129" y="476629"/>
                </a:lnTo>
                <a:lnTo>
                  <a:pt x="1195039" y="425505"/>
                </a:lnTo>
                <a:lnTo>
                  <a:pt x="1302816" y="368726"/>
                </a:lnTo>
                <a:lnTo>
                  <a:pt x="1408462" y="306292"/>
                </a:lnTo>
                <a:lnTo>
                  <a:pt x="1511975" y="238202"/>
                </a:lnTo>
                <a:lnTo>
                  <a:pt x="1613357" y="164457"/>
                </a:lnTo>
                <a:lnTo>
                  <a:pt x="1712606" y="85056"/>
                </a:lnTo>
                <a:lnTo>
                  <a:pt x="180972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811039" y="4687029"/>
            <a:ext cx="501357" cy="1067036"/>
          </a:xfrm>
          <a:custGeom>
            <a:avLst/>
            <a:gdLst/>
            <a:ahLst/>
            <a:cxnLst/>
            <a:rect l="l" t="t" r="r" b="b"/>
            <a:pathLst>
              <a:path w="501357" h="1067036">
                <a:moveTo>
                  <a:pt x="501357" y="0"/>
                </a:moveTo>
                <a:lnTo>
                  <a:pt x="445013" y="54939"/>
                </a:lnTo>
                <a:lnTo>
                  <a:pt x="392004" y="111445"/>
                </a:lnTo>
                <a:lnTo>
                  <a:pt x="342330" y="169518"/>
                </a:lnTo>
                <a:lnTo>
                  <a:pt x="295990" y="229157"/>
                </a:lnTo>
                <a:lnTo>
                  <a:pt x="252984" y="290364"/>
                </a:lnTo>
                <a:lnTo>
                  <a:pt x="213313" y="353136"/>
                </a:lnTo>
                <a:lnTo>
                  <a:pt x="176977" y="417476"/>
                </a:lnTo>
                <a:lnTo>
                  <a:pt x="143975" y="483382"/>
                </a:lnTo>
                <a:lnTo>
                  <a:pt x="114307" y="550856"/>
                </a:lnTo>
                <a:lnTo>
                  <a:pt x="87974" y="619895"/>
                </a:lnTo>
                <a:lnTo>
                  <a:pt x="64976" y="690502"/>
                </a:lnTo>
                <a:lnTo>
                  <a:pt x="45311" y="762675"/>
                </a:lnTo>
                <a:lnTo>
                  <a:pt x="28982" y="836415"/>
                </a:lnTo>
                <a:lnTo>
                  <a:pt x="15987" y="911722"/>
                </a:lnTo>
                <a:lnTo>
                  <a:pt x="6326" y="988596"/>
                </a:lnTo>
                <a:lnTo>
                  <a:pt x="0" y="10670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2" name="Oval 300041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3" name="TextBox 300042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44" name="Oval 300043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5" name="Oval 300044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TextBox 300045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47" name="Oval 300046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TextBox 300048"/>
          <p:cNvSpPr txBox="1"/>
          <p:nvPr/>
        </p:nvSpPr>
        <p:spPr>
          <a:xfrm>
            <a:off x="4895822" y="558449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50" name="Oval 30004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1" name="Connector 30005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3" name="TextBox 30005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54" name="Oval 30005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6" name="TextBox 30005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057" name="Oval 30005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8" name="Oval 30005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TextBox 30005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60" name="Oval 30005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1" name="Connector 30006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3" name="Rounded Rectangle 30006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4" name="TextBox 30006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5" name="Oval 30006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Rounded Rectangle 30006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9" name="TextBox 30006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0" name="Oval 300069"/>
          <p:cNvSpPr/>
          <p:nvPr/>
        </p:nvSpPr>
        <p:spPr>
          <a:xfrm>
            <a:off x="5286961" y="267723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1" name="Connector 300070"/>
          <p:cNvCxnSpPr/>
          <p:nvPr/>
        </p:nvCxnSpPr>
        <p:spPr>
          <a:xfrm flipV="1">
            <a:off x="5312396" y="2590090"/>
            <a:ext cx="94462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>
            <a:off x="5406858" y="2590090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Rounded Rectangle 300072"/>
          <p:cNvSpPr/>
          <p:nvPr/>
        </p:nvSpPr>
        <p:spPr>
          <a:xfrm>
            <a:off x="5420989" y="245760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4" name="TextBox 300073"/>
          <p:cNvSpPr txBox="1"/>
          <p:nvPr/>
        </p:nvSpPr>
        <p:spPr>
          <a:xfrm>
            <a:off x="5420989" y="245760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Rounded Rectangle 30007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0" name="TextBox 30007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1" name="Oval 30008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2" name="Connector 30008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4" name="Rounded Rectangle 30008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Rounded Rectangle 30008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TextBox 30009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2" name="Oval 300091"/>
          <p:cNvSpPr/>
          <p:nvPr/>
        </p:nvSpPr>
        <p:spPr>
          <a:xfrm>
            <a:off x="5286961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3" name="Connector 300092"/>
          <p:cNvCxnSpPr/>
          <p:nvPr/>
        </p:nvCxnSpPr>
        <p:spPr>
          <a:xfrm flipV="1">
            <a:off x="5312396" y="457445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5406858" y="457445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5390800" y="459359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Rounded Rectangle 300095"/>
          <p:cNvSpPr/>
          <p:nvPr/>
        </p:nvSpPr>
        <p:spPr>
          <a:xfrm>
            <a:off x="5420989" y="444197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7" name="TextBox 300096"/>
          <p:cNvSpPr txBox="1"/>
          <p:nvPr/>
        </p:nvSpPr>
        <p:spPr>
          <a:xfrm>
            <a:off x="5420989" y="444197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主卧门旁（S4 西侧）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床头侧（东墙）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门旁（新门西侧短墙，锁侧）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4" name="TextBox 30011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300115" name="TextBox 30011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300116" name="TextBox 30011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7" name="Rectangle 30011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8" name="Rectangle 30011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9" name="TextBox 30011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J-B · 方案 B · 精简 17 路（照明 3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387210" y="5258293"/>
            <a:ext cx="1211050" cy="156824"/>
          </a:xfrm>
          <a:custGeom>
            <a:avLst/>
            <a:gdLst/>
            <a:ahLst/>
            <a:cxnLst/>
            <a:rect l="l" t="t" r="r" b="b"/>
            <a:pathLst>
              <a:path w="1211050" h="156824">
                <a:moveTo>
                  <a:pt x="0" y="66864"/>
                </a:moveTo>
                <a:lnTo>
                  <a:pt x="77258" y="91069"/>
                </a:lnTo>
                <a:lnTo>
                  <a:pt x="154307" y="111490"/>
                </a:lnTo>
                <a:lnTo>
                  <a:pt x="231147" y="128126"/>
                </a:lnTo>
                <a:lnTo>
                  <a:pt x="307778" y="140977"/>
                </a:lnTo>
                <a:lnTo>
                  <a:pt x="384199" y="150044"/>
                </a:lnTo>
                <a:lnTo>
                  <a:pt x="460413" y="155326"/>
                </a:lnTo>
                <a:lnTo>
                  <a:pt x="536417" y="156824"/>
                </a:lnTo>
                <a:lnTo>
                  <a:pt x="612212" y="154537"/>
                </a:lnTo>
                <a:lnTo>
                  <a:pt x="687798" y="148466"/>
                </a:lnTo>
                <a:lnTo>
                  <a:pt x="763175" y="138610"/>
                </a:lnTo>
                <a:lnTo>
                  <a:pt x="838343" y="124969"/>
                </a:lnTo>
                <a:lnTo>
                  <a:pt x="913303" y="107545"/>
                </a:lnTo>
                <a:lnTo>
                  <a:pt x="988053" y="86335"/>
                </a:lnTo>
                <a:lnTo>
                  <a:pt x="1062595" y="61341"/>
                </a:lnTo>
                <a:lnTo>
                  <a:pt x="1136927" y="32563"/>
                </a:lnTo>
                <a:lnTo>
                  <a:pt x="121105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933278" y="5842969"/>
            <a:ext cx="953930" cy="377781"/>
          </a:xfrm>
          <a:custGeom>
            <a:avLst/>
            <a:gdLst/>
            <a:ahLst/>
            <a:cxnLst/>
            <a:rect l="l" t="t" r="r" b="b"/>
            <a:pathLst>
              <a:path w="953930" h="377781">
                <a:moveTo>
                  <a:pt x="0" y="0"/>
                </a:moveTo>
                <a:lnTo>
                  <a:pt x="50766" y="45969"/>
                </a:lnTo>
                <a:lnTo>
                  <a:pt x="102713" y="88957"/>
                </a:lnTo>
                <a:lnTo>
                  <a:pt x="155841" y="128964"/>
                </a:lnTo>
                <a:lnTo>
                  <a:pt x="210149" y="165990"/>
                </a:lnTo>
                <a:lnTo>
                  <a:pt x="265637" y="200035"/>
                </a:lnTo>
                <a:lnTo>
                  <a:pt x="322307" y="231099"/>
                </a:lnTo>
                <a:lnTo>
                  <a:pt x="380157" y="259182"/>
                </a:lnTo>
                <a:lnTo>
                  <a:pt x="439187" y="284284"/>
                </a:lnTo>
                <a:lnTo>
                  <a:pt x="499398" y="306404"/>
                </a:lnTo>
                <a:lnTo>
                  <a:pt x="560789" y="325544"/>
                </a:lnTo>
                <a:lnTo>
                  <a:pt x="623362" y="341703"/>
                </a:lnTo>
                <a:lnTo>
                  <a:pt x="687114" y="354881"/>
                </a:lnTo>
                <a:lnTo>
                  <a:pt x="752047" y="365077"/>
                </a:lnTo>
                <a:lnTo>
                  <a:pt x="818161" y="372293"/>
                </a:lnTo>
                <a:lnTo>
                  <a:pt x="885456" y="376527"/>
                </a:lnTo>
                <a:lnTo>
                  <a:pt x="953930" y="37778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2" name="Connector 300041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4" name="TextBox 300043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45" name="Oval 300044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6" name="Connector 300045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8" name="TextBox 300047"/>
          <p:cNvSpPr txBox="1"/>
          <p:nvPr/>
        </p:nvSpPr>
        <p:spPr>
          <a:xfrm>
            <a:off x="5683044" y="508872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49" name="Oval 300048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TextBox 300050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52" name="Oval 300051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TextBox 300053"/>
          <p:cNvSpPr txBox="1"/>
          <p:nvPr/>
        </p:nvSpPr>
        <p:spPr>
          <a:xfrm>
            <a:off x="5971992" y="605118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55" name="Oval 300054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TextBox 300057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59" name="Oval 300058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0" name="Connector 300059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2" name="Rounded Rectangle 300061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3" name="TextBox 300062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64" name="Oval 300063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7" name="Rounded Rectangle 300066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8" name="TextBox 300067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Rounded Rectangle 300071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3" name="TextBox 300072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Rounded Rectangle 300077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9" name="TextBox 300078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Rounded Rectangle 300082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6" name="Connector 300085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8" name="Rounded Rectangle 300087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1" name="Connector 300090"/>
          <p:cNvCxnSpPr/>
          <p:nvPr/>
        </p:nvCxnSpPr>
        <p:spPr>
          <a:xfrm flipV="1">
            <a:off x="4933278" y="573039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027740" y="573039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3" name="Rounded Rectangle 300092"/>
          <p:cNvSpPr/>
          <p:nvPr/>
        </p:nvSpPr>
        <p:spPr>
          <a:xfrm>
            <a:off x="5041870" y="5597912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4" name="TextBox 300093"/>
          <p:cNvSpPr txBox="1"/>
          <p:nvPr/>
        </p:nvSpPr>
        <p:spPr>
          <a:xfrm>
            <a:off x="5041870" y="5597912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095" name="TextBox 300094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6" name="TextBox 300095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300097" name="TextBox 300096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卧室 4 门旁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卧室 4 内 · 卫生间门南侧（隔墙短墙）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4" name="Rectangle 300113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5" name="Rectangle 300114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6" name="TextBox 300115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主卧门旁（S4 西侧）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门旁（新门西侧短墙，锁侧）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