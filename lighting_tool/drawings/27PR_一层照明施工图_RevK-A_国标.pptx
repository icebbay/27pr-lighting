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AL1（暂定楼梯下，现场定）引出 3 个回路：WL1 一层前区照明（B6）、WL2 一层后区照明（B6）、WL3 户外照明（B6），均为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H：新增后花园壁灯 G26_4（卫生间后墙、小窗东侧，IP65，与 G26_2 同款），回路 v、键 28；S7、S11、S12 改三联，v 与 p、q 一样三处控制（S11、S12 两路，S7 中途），接户外 WL3。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2026-10-07：键 28 的灯为后花园投光灯（SOLLA 三头 LED 150 W、6000 K、IP66），装在两扇后花园法式门中间的后墙上、离地约 3.5 m，照向院子；仍为回路 v、户外 WL3，S11 / S12 两路 + S7 中途三控。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14. Rev J：S7 挪到法式门框东侧（后花园门旁），按键不变。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15.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069897" y="3010230"/>
            <a:ext cx="0" cy="1721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069897" y="4732179"/>
            <a:ext cx="652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45128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45128" y="4732179"/>
            <a:ext cx="57676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506420" y="4172215"/>
            <a:ext cx="9636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2215"/>
            <a:ext cx="0" cy="2214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506420" y="2312256"/>
            <a:ext cx="0" cy="18599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458589" y="2312256"/>
            <a:ext cx="478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4166244" y="4172215"/>
            <a:ext cx="0" cy="123704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4166244" y="4172215"/>
            <a:ext cx="34017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4506420" y="4172215"/>
            <a:ext cx="137610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5882529" y="4172215"/>
            <a:ext cx="0" cy="85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4506420" y="4172215"/>
            <a:ext cx="50471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5011131" y="2116500"/>
            <a:ext cx="0" cy="2055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4506420" y="4172215"/>
            <a:ext cx="1027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4609193" y="3482976"/>
            <a:ext cx="0" cy="6892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4458589" y="2312256"/>
            <a:ext cx="1506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609193" y="2312256"/>
            <a:ext cx="0" cy="11707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V="1">
            <a:off x="5470025" y="3482976"/>
            <a:ext cx="0" cy="9106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4609193" y="3482976"/>
            <a:ext cx="86083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8" name="Connector 707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15" name="Connector 714"/>
          <p:cNvCxnSpPr/>
          <p:nvPr/>
        </p:nvCxnSpPr>
        <p:spPr>
          <a:xfrm flipH="1" flipV="1">
            <a:off x="4458589" y="2312256"/>
            <a:ext cx="47831" cy="185995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466899" y="3251438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466582" y="3239125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466266" y="3226811"/>
            <a:ext cx="32477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465949" y="3214497"/>
            <a:ext cx="32478" cy="30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H="1" flipV="1">
            <a:off x="4465632" y="3202184"/>
            <a:ext cx="32478" cy="30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1" name="TextBox 720"/>
          <p:cNvSpPr txBox="1"/>
          <p:nvPr/>
        </p:nvSpPr>
        <p:spPr>
          <a:xfrm>
            <a:off x="4503620" y="3185926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4985423" y="3296639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31" name="Connector 730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Rectangle 732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35" name="Oval 734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37" name="Oval 736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8" name="Connector 737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0" name="TextBox 739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41" name="Oval 740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2" name="Connector 741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45" name="Oval 744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6" name="Connector 745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9" name="Oval 748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0" name="Connector 749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2" name="TextBox 751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53" name="Oval 752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57" name="Oval 756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9" name="Oval 758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TextBox 759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61" name="Oval 760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3" name="Oval 762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65" name="Oval 764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8" name="Oval 767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1" name="Oval 770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4" name="Oval 773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7" name="Oval 776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3" name="Oval 782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86" name="Oval 785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9" name="Oval 788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2" name="Oval 791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95" name="Oval 794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1" name="Oval 800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4" name="Oval 803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TextBox 805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807" name="Oval 806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TextBox 808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0" name="Oval 809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TextBox 811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13" name="Oval 812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4" name="Connector 813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6" name="TextBox 815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17" name="Oval 816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0" name="TextBox 819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21" name="Oval 820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24" name="Oval 823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7" name="Oval 826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0" name="Oval 829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6" name="Oval 835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9" name="Oval 838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42" name="Oval 841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5" name="Oval 844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48" name="Oval 847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51" name="Oval 850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TextBox 852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54" name="Oval 853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TextBox 854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6" name="Oval 855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TextBox 856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8" name="Oval 857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TextBox 858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0" name="Oval 859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TextBox 860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62" name="Oval 861"/>
          <p:cNvSpPr/>
          <p:nvPr/>
        </p:nvSpPr>
        <p:spPr>
          <a:xfrm>
            <a:off x="4570480" y="3444263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4570480" y="3482976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2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TextBox 862"/>
          <p:cNvSpPr txBox="1"/>
          <p:nvPr/>
        </p:nvSpPr>
        <p:spPr>
          <a:xfrm>
            <a:off x="4647905" y="34020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864" name="Oval 863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5" name="Connector 864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2" name="TextBox 871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73" name="Oval 872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4" name="Connector 873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7" name="TextBox 876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78" name="Oval 877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9" name="Connector 878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5" name="TextBox 884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86" name="Oval 885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7" name="Connector 886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4" name="TextBox 893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95" name="Oval 894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6" name="Connector 895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903" name="Oval 902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TextBox 905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907" name="Oval 906"/>
          <p:cNvSpPr/>
          <p:nvPr/>
        </p:nvSpPr>
        <p:spPr>
          <a:xfrm>
            <a:off x="4493750" y="415954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8" name="Connector 907"/>
          <p:cNvCxnSpPr/>
          <p:nvPr/>
        </p:nvCxnSpPr>
        <p:spPr>
          <a:xfrm flipV="1">
            <a:off x="4506420" y="41244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4554200" y="412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4545599" y="413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4536999" y="414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H="1">
            <a:off x="4470585" y="41722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H="1" flipV="1">
            <a:off x="4458640" y="41961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4561238" y="40681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15" name="Oval 914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6" name="Connector 915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3" name="TextBox 922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24" name="Oval 923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5" name="Connector 924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TextBox 931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33" name="Oval 932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4" name="Connector 933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TextBox 935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37" name="Oval 936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8" name="Connector 937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489168" y="228167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TextBox 943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45" name="Oval 944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6" name="Connector 945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5500604" y="43630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TextBox 951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53" name="Oval 952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4" name="Connector 953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956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58" name="Oval 957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9" name="Connector 958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1" name="TextBox 960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62" name="Oval 961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3" name="Connector 962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5" name="TextBox 964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66" name="Rectangle 965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TextBox 966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TextBox 974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76" name="Connector 975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7" name="Oval 976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8" name="Connector 977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0" name="TextBox 979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84" name="Rectangle 983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86" name="Rectangle 985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TextBox 986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88" name="Rectangle 987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Rectangle 988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Rectangle 989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TextBox 990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22909" y="3072303"/>
            <a:ext cx="0" cy="23194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22909" y="3072303"/>
            <a:ext cx="62903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968335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000332" y="3136824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接线见另图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6" name="Connector 635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3" name="Rectangle 642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50" name="Oval 649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extBox 650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2" name="Oval 65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6" name="Oval 65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60" name="Oval 65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3" name="TextBox 662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4" name="Oval 663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6" name="Oval 66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9" name="Oval 66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2" name="Oval 67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5" name="Oval 67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8" name="Oval 67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TextBox 679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1" name="Oval 68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4" name="Oval 68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TextBox 685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7" name="Oval 68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90" name="Oval 68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TextBox 691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3" name="Oval 69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TextBox 694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6" name="Oval 69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TextBox 697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9" name="Oval 69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TextBox 700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2" name="Oval 70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TextBox 703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5" name="Oval 70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8" name="Oval 70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1" name="Oval 71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4" name="Oval 71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TextBox 715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7" name="Oval 716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8" name="Connector 717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5" name="TextBox 724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6" name="Oval 725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7" name="Connector 726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TextBox 729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1" name="Oval 730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2" name="Connector 731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TextBox 737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9" name="Oval 738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0" name="Connector 739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8" name="Oval 747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6" name="Oval 755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7" name="Connector 756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60" name="Oval 759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1" name="Connector 760"/>
          <p:cNvCxnSpPr/>
          <p:nvPr/>
        </p:nvCxnSpPr>
        <p:spPr>
          <a:xfrm flipV="1">
            <a:off x="7951941" y="2962808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8061437" y="296280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8041728" y="2982517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022018" y="3002226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H="1">
            <a:off x="7869819" y="3072303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H="1" flipV="1">
            <a:off x="7842445" y="3127051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TextBox 766"/>
          <p:cNvSpPr txBox="1"/>
          <p:nvPr/>
        </p:nvSpPr>
        <p:spPr>
          <a:xfrm>
            <a:off x="8077567" y="28337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8" name="Connector 767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0" name="Connector 769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法式门框东侧（后花园门旁）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9" name="Rectangle 78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392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39210" y="5123684"/>
            <a:ext cx="8425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87711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WL2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176910" y="6112736"/>
            <a:ext cx="18976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677151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597105" y="1588736"/>
            <a:ext cx="0" cy="17101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597105" y="3298887"/>
            <a:ext cx="21999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1817102" y="4629157"/>
            <a:ext cx="12574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817102" y="3298887"/>
            <a:ext cx="0" cy="13302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2373542" y="3008413"/>
            <a:ext cx="188500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07" name="Rectangle 606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9" name="Oval 608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11" name="Oval 610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3" name="Oval 612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5" name="Oval 614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9" name="Oval 618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23" name="Oval 622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6" name="Oval 625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8" name="Oval 627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0" name="Oval 629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2" name="Oval 631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34" name="Oval 633"/>
          <p:cNvSpPr/>
          <p:nvPr/>
        </p:nvSpPr>
        <p:spPr>
          <a:xfrm>
            <a:off x="1747985" y="322977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747985" y="3298887"/>
            <a:ext cx="138233" cy="69117"/>
          </a:xfrm>
          <a:custGeom>
            <a:avLst/>
            <a:gdLst/>
            <a:ahLst/>
            <a:cxnLst/>
            <a:rect l="l" t="t" r="r" b="b"/>
            <a:pathLst>
              <a:path w="138233" h="69117">
                <a:moveTo>
                  <a:pt x="138233" y="0"/>
                </a:moveTo>
                <a:lnTo>
                  <a:pt x="136905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9"/>
                </a:lnTo>
                <a:lnTo>
                  <a:pt x="95566" y="63856"/>
                </a:lnTo>
                <a:lnTo>
                  <a:pt x="82601" y="67789"/>
                </a:lnTo>
                <a:lnTo>
                  <a:pt x="69117" y="69117"/>
                </a:lnTo>
                <a:lnTo>
                  <a:pt x="55633" y="67789"/>
                </a:lnTo>
                <a:lnTo>
                  <a:pt x="42667" y="63856"/>
                </a:lnTo>
                <a:lnTo>
                  <a:pt x="30717" y="57469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1886218" y="315437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636" name="Oval 635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651700" y="153414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44" name="Oval 643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5" name="Connector 644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3129174" y="457456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52" name="Oval 651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57" name="Oval 65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61" name="Oval 660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2" name="Connector 661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65" name="Rectangle 66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TextBox 66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TextBox 667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9" name="Rectangle 668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1" name="Rectangle 670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TextBox 671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3" name="Rectangle 67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TextBox 67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86" name="Rectangle 68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j k l m o r s t）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p q u v）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见二层图）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71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S7-3，S11-3，S12-3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