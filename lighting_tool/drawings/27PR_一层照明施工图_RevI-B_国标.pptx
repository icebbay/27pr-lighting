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32E6"/>
    <a:srgbClr val="A9A9A9"/>
    <a:srgbClr val="000075"/>
    <a:srgbClr val="FABED4"/>
    <a:srgbClr val="469990"/>
    <a:srgbClr val="AB54C6"/>
    <a:srgbClr val="800000"/>
    <a:srgbClr val="9A6324"/>
    <a:srgbClr val="E6194B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 varScale="1">
        <p:scale>
          <a:sx n="105" d="100"/>
          <a:sy n="105" d="100"/>
        </p:scale>
        <p:origin x="9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一层照明由照明配电箱 AL1（暂定楼梯下，现场定）引出 2 个回路：WL1 一层照明（B10）、WL3 户外照明（B6），均为 30 mA RCBO。本图为方案 B · 精简 17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前储物间加门控开关 MK（门框锁侧，开门亮灯、关门灭灯），与 S2 第 2 键并联。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FCU1–5 为厨房 / 洗衣房电器带保险丝开关（13A），属插座回路，见插座平面图。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B）：38 号键控洗衣房筒灯；围栏地灯 4 盏；前储物间门控开关。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C：门廊壁灯 c 改由 WL1 供电；卫生间排气扇不设单独隔离开关，接卫生间灯回路（随灯开、延时关），开关编号重排。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D：S7 改为双联中途开关，控后花园壁灯 p、围栏地灯 q（与 S11、S12 三控）；G15 区筒灯 l 改为 S8、S9 双控。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Rev H：新增后花园壁灯 G26_4（卫生间后墙、小窗东侧，IP65，与 G26_2 同款），回路 v、键 28；S7、S11、S12 改三联，v 与 p、q 一样三处控制（S11、S12 两路，S7 中途），接户外 WL3。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13. 本套图：方案 B · 精简 17 路，全屋照明 3 路（WL1 一层照明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9500" y="3739500"/>
            <a:ext cx="121000" cy="12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4439500" y="3800000"/>
            <a:ext cx="121000" cy="60500"/>
          </a:xfrm>
          <a:custGeom>
            <a:avLst/>
            <a:gdLst/>
            <a:ahLst/>
            <a:cxnLst/>
            <a:rect l="l" t="t" r="r" b="b"/>
            <a:pathLst>
              <a:path w="121000" h="60500">
                <a:moveTo>
                  <a:pt x="121000" y="0"/>
                </a:moveTo>
                <a:lnTo>
                  <a:pt x="119837" y="11802"/>
                </a:lnTo>
                <a:lnTo>
                  <a:pt x="116394" y="23152"/>
                </a:lnTo>
                <a:lnTo>
                  <a:pt x="110803" y="33611"/>
                </a:lnTo>
                <a:lnTo>
                  <a:pt x="103279" y="42779"/>
                </a:lnTo>
                <a:lnTo>
                  <a:pt x="94111" y="50303"/>
                </a:lnTo>
                <a:lnTo>
                  <a:pt x="83652" y="55894"/>
                </a:lnTo>
                <a:lnTo>
                  <a:pt x="72302" y="59337"/>
                </a:lnTo>
                <a:lnTo>
                  <a:pt x="60500" y="60500"/>
                </a:lnTo>
                <a:lnTo>
                  <a:pt x="48697" y="59337"/>
                </a:lnTo>
                <a:lnTo>
                  <a:pt x="37347" y="55894"/>
                </a:lnTo>
                <a:lnTo>
                  <a:pt x="26888" y="50303"/>
                </a:lnTo>
                <a:lnTo>
                  <a:pt x="17720" y="42779"/>
                </a:lnTo>
                <a:lnTo>
                  <a:pt x="10196" y="33611"/>
                </a:lnTo>
                <a:lnTo>
                  <a:pt x="4605" y="23152"/>
                </a:lnTo>
                <a:lnTo>
                  <a:pt x="1162" y="11802"/>
                </a:lnTo>
                <a:lnTo>
                  <a:pt x="0" y="0"/>
                </a:lnTo>
                <a:lnTo>
                  <a:pt x="121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壁灯 / 户外墙灯　｜ 按产品　｜ 壁装 1.8–2.0 m</a:t>
            </a:r>
          </a:p>
        </p:txBody>
      </p:sp>
      <p:sp>
        <p:nvSpPr>
          <p:cNvPr id="39" name="Oval 38"/>
          <p:cNvSpPr/>
          <p:nvPr/>
        </p:nvSpPr>
        <p:spPr>
          <a:xfrm>
            <a:off x="361500" y="4061500"/>
            <a:ext cx="77000" cy="77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78000" y="4075250"/>
            <a:ext cx="44000" cy="41250"/>
          </a:xfrm>
          <a:custGeom>
            <a:avLst/>
            <a:gdLst/>
            <a:ahLst/>
            <a:cxnLst/>
            <a:rect l="l" t="t" r="r" b="b"/>
            <a:pathLst>
              <a:path w="44000" h="41250">
                <a:moveTo>
                  <a:pt x="22000" y="0"/>
                </a:moveTo>
                <a:lnTo>
                  <a:pt x="0" y="41250"/>
                </a:lnTo>
                <a:lnTo>
                  <a:pt x="44000" y="41250"/>
                </a:lnTo>
                <a:lnTo>
                  <a:pt x="22000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庭院地埋 / 围栏灯　｜ LED IP65　｜ 地面</a:t>
            </a:r>
          </a:p>
        </p:txBody>
      </p:sp>
      <p:sp>
        <p:nvSpPr>
          <p:cNvPr id="42" name="Oval 41"/>
          <p:cNvSpPr/>
          <p:nvPr/>
        </p:nvSpPr>
        <p:spPr>
          <a:xfrm>
            <a:off x="4435250" y="41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4460000" y="40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53338" y="40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36537" y="40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7" name="Oval 46"/>
          <p:cNvSpPr/>
          <p:nvPr/>
        </p:nvSpPr>
        <p:spPr>
          <a:xfrm>
            <a:off x="375250" y="43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400000" y="43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93338" y="43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29996" y="44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306661" y="44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0000" y="43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06500" y="4353250"/>
            <a:ext cx="187000" cy="935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06500" y="4353250"/>
            <a:ext cx="187000" cy="93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0000" y="43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门控开关 MK　｜ 门框式　｜ 门框锁侧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000" y="46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01000" y="46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8000" y="47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000" y="46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8710000" y="560000"/>
          <a:ext cx="3480000" cy="36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F32 黑胡桃壁灯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G06 繁花吊灯 Φ80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G07 繁花吊灯 Φ60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G08 单头小吊灯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G15 法式吊灯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G16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G25 户外入户灯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G26 花园壁灯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27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IP65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2488861" y="126398"/>
            <a:ext cx="3646893" cy="7452695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89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89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9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TextBox 53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一层照明平面图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TextBox 54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2" name="TextBox 54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3" name="Connector 54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TextBox 54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一层照明平面图</a:t>
            </a:r>
          </a:p>
        </p:txBody>
      </p:sp>
      <p:cxnSp>
        <p:nvCxnSpPr>
          <p:cNvPr id="546" name="Connector 54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TextBox 54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48" name="TextBox 54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电施-02</a:t>
            </a:r>
          </a:p>
        </p:txBody>
      </p:sp>
      <p:cxnSp>
        <p:nvCxnSpPr>
          <p:cNvPr id="549" name="Connector 54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0" name="TextBox 54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1" name="TextBox 55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552" name="Connector 55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3" name="TextBox 55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555" name="Connector 55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55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57" name="TextBox 55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58" name="Connector 55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1743974" y="3837501"/>
            <a:ext cx="0" cy="42799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>
            <a:off x="1743974" y="3837501"/>
            <a:ext cx="483321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>
            <a:off x="2227295" y="3837501"/>
            <a:ext cx="48097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2702740" y="4257675"/>
            <a:ext cx="0" cy="40759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2702740" y="4257675"/>
            <a:ext cx="552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H="1">
            <a:off x="2221767" y="4665274"/>
            <a:ext cx="480973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H="1">
            <a:off x="1738445" y="4665274"/>
            <a:ext cx="48332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310887" y="3837501"/>
            <a:ext cx="0" cy="34748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H="1">
            <a:off x="3301129" y="3837501"/>
            <a:ext cx="975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3301129" y="3837501"/>
            <a:ext cx="4833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3784449" y="3837501"/>
            <a:ext cx="4809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4275182" y="4211119"/>
            <a:ext cx="0" cy="35008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4265425" y="4561200"/>
            <a:ext cx="975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H="1">
            <a:off x="3784449" y="4561200"/>
            <a:ext cx="4809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H="1">
            <a:off x="3301129" y="4561200"/>
            <a:ext cx="4833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2384555" y="2405014"/>
            <a:ext cx="0" cy="41534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2382335" y="2405014"/>
            <a:ext cx="222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2382335" y="2405014"/>
            <a:ext cx="41439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2796730" y="2405014"/>
            <a:ext cx="4775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3274277" y="2405014"/>
            <a:ext cx="0" cy="686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3288011" y="2804493"/>
            <a:ext cx="0" cy="46712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H="1">
            <a:off x="2805548" y="3271622"/>
            <a:ext cx="482463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2805548" y="3263573"/>
            <a:ext cx="0" cy="80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>
            <a:off x="2377141" y="3263573"/>
            <a:ext cx="42840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377141" y="3257541"/>
            <a:ext cx="0" cy="603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5882529" y="4180781"/>
            <a:ext cx="1090991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5011131" y="2116500"/>
            <a:ext cx="78598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5797113" y="2116500"/>
            <a:ext cx="72341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6520530" y="2116500"/>
            <a:ext cx="41058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6931118" y="2116500"/>
            <a:ext cx="0" cy="197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507871" y="4924435"/>
            <a:ext cx="5140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2021948" y="4924435"/>
            <a:ext cx="0" cy="22569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021948" y="5150128"/>
            <a:ext cx="99471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 flipV="1">
            <a:off x="3016666" y="4661128"/>
            <a:ext cx="0" cy="4890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3016666" y="4661128"/>
            <a:ext cx="18807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3204743" y="4661128"/>
            <a:ext cx="0" cy="14210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3204743" y="4803230"/>
            <a:ext cx="0" cy="20061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>
            <a:off x="3137871" y="5003846"/>
            <a:ext cx="6687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V="1">
            <a:off x="3016666" y="3382205"/>
            <a:ext cx="0" cy="1278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3016666" y="3382205"/>
            <a:ext cx="1671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3033384" y="3382205"/>
            <a:ext cx="103651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V="1">
            <a:off x="4069897" y="3010230"/>
            <a:ext cx="0" cy="3719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>
            <a:off x="2055384" y="3382205"/>
            <a:ext cx="97800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 flipV="1">
            <a:off x="2055384" y="2483615"/>
            <a:ext cx="0" cy="89859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3204743" y="4803230"/>
            <a:ext cx="151715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4721897" y="4732179"/>
            <a:ext cx="0" cy="7105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4721897" y="4732179"/>
            <a:ext cx="253276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7254666" y="4732179"/>
            <a:ext cx="0" cy="835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V="1">
            <a:off x="4124012" y="4732179"/>
            <a:ext cx="0" cy="677077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4124012" y="4732179"/>
            <a:ext cx="597885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4458635" y="4080134"/>
            <a:ext cx="101139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5470025" y="4080134"/>
            <a:ext cx="0" cy="31350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V="1">
            <a:off x="4458635" y="2312256"/>
            <a:ext cx="0" cy="176787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>
            <a:off x="4458589" y="2312256"/>
            <a:ext cx="4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5470025" y="4393641"/>
            <a:ext cx="212318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7593205" y="4393641"/>
            <a:ext cx="0" cy="34689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V="1">
            <a:off x="4145128" y="4080134"/>
            <a:ext cx="0" cy="132912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4145128" y="4080134"/>
            <a:ext cx="313507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H="1">
            <a:off x="1461863" y="4924435"/>
            <a:ext cx="460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1461863" y="4924435"/>
            <a:ext cx="0" cy="35515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 flipV="1">
            <a:off x="1507871" y="4252643"/>
            <a:ext cx="0" cy="67179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1507871" y="4252643"/>
            <a:ext cx="71898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1507871" y="4265497"/>
            <a:ext cx="0" cy="6589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1507871" y="4265497"/>
            <a:ext cx="23610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1507871" y="4924435"/>
            <a:ext cx="230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1738445" y="4665274"/>
            <a:ext cx="0" cy="259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H="1">
            <a:off x="1865138" y="5150128"/>
            <a:ext cx="1568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1865138" y="5150128"/>
            <a:ext cx="0" cy="13904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>
            <a:off x="2021948" y="5150128"/>
            <a:ext cx="3133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>
            <a:off x="2335340" y="5150128"/>
            <a:ext cx="0" cy="125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3016666" y="4203184"/>
            <a:ext cx="0" cy="45794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>
            <a:off x="3016666" y="4203184"/>
            <a:ext cx="7812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3016666" y="4184989"/>
            <a:ext cx="0" cy="47613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>
            <a:off x="3016666" y="4184989"/>
            <a:ext cx="29422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3016666" y="4561200"/>
            <a:ext cx="0" cy="9992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>
            <a:off x="3016666" y="4561200"/>
            <a:ext cx="28446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>
            <a:off x="3137871" y="5003846"/>
            <a:ext cx="4128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3179154" y="4864428"/>
            <a:ext cx="0" cy="1394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2226858" y="5003846"/>
            <a:ext cx="91101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2226858" y="4252643"/>
            <a:ext cx="0" cy="7512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3137871" y="3837501"/>
            <a:ext cx="0" cy="116634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2708269" y="3837501"/>
            <a:ext cx="42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2702740" y="5003846"/>
            <a:ext cx="4351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2702740" y="4665274"/>
            <a:ext cx="0" cy="33857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3204743" y="4203184"/>
            <a:ext cx="0" cy="6000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3204743" y="4203184"/>
            <a:ext cx="59322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3204743" y="4184989"/>
            <a:ext cx="0" cy="61824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204743" y="4184989"/>
            <a:ext cx="10614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3204743" y="4803230"/>
            <a:ext cx="9638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 flipV="1">
            <a:off x="3301129" y="4561200"/>
            <a:ext cx="0" cy="24203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V="1">
            <a:off x="3204743" y="5332932"/>
            <a:ext cx="0" cy="10558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4458635" y="4080134"/>
            <a:ext cx="142389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5882529" y="4080134"/>
            <a:ext cx="0" cy="10064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4458635" y="4080134"/>
            <a:ext cx="55249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V="1">
            <a:off x="5011131" y="2116500"/>
            <a:ext cx="0" cy="196363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4458635" y="4080134"/>
            <a:ext cx="15055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 flipV="1">
            <a:off x="4609193" y="3482976"/>
            <a:ext cx="0" cy="59715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 flipV="1">
            <a:off x="3033384" y="2818974"/>
            <a:ext cx="0" cy="56323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 flipH="1">
            <a:off x="2803798" y="2818974"/>
            <a:ext cx="22958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3033384" y="2567172"/>
            <a:ext cx="0" cy="81503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3033384" y="2567172"/>
            <a:ext cx="9955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 flipH="1">
            <a:off x="2384555" y="3382205"/>
            <a:ext cx="64882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 flipV="1">
            <a:off x="2384555" y="2820355"/>
            <a:ext cx="0" cy="5618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H="1">
            <a:off x="2805548" y="3382205"/>
            <a:ext cx="22783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 flipV="1">
            <a:off x="2805548" y="3263573"/>
            <a:ext cx="0" cy="1186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2055384" y="2483615"/>
            <a:ext cx="74841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2803798" y="2483615"/>
            <a:ext cx="0" cy="3353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2055384" y="2483615"/>
            <a:ext cx="0" cy="835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2055384" y="2567172"/>
            <a:ext cx="19735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 flipV="1">
            <a:off x="2055384" y="2405014"/>
            <a:ext cx="0" cy="7860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2055384" y="2405014"/>
            <a:ext cx="3269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2055384" y="2483615"/>
            <a:ext cx="0" cy="77392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2055384" y="3257541"/>
            <a:ext cx="32175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4069897" y="3010230"/>
            <a:ext cx="946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4164537" y="3010230"/>
            <a:ext cx="0" cy="3200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4458589" y="2312256"/>
            <a:ext cx="14239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5882529" y="2312256"/>
            <a:ext cx="0" cy="18685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4458589" y="2312256"/>
            <a:ext cx="55254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 flipV="1">
            <a:off x="5011131" y="2116500"/>
            <a:ext cx="0" cy="195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4458589" y="2312256"/>
            <a:ext cx="1506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4609193" y="2312256"/>
            <a:ext cx="0" cy="117072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 flipV="1">
            <a:off x="5470025" y="4180781"/>
            <a:ext cx="0" cy="2128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5470025" y="4180781"/>
            <a:ext cx="412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 flipV="1">
            <a:off x="5470025" y="2116500"/>
            <a:ext cx="0" cy="227714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5470025" y="2116500"/>
            <a:ext cx="32708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 flipV="1">
            <a:off x="5470025" y="3482976"/>
            <a:ext cx="0" cy="91066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H="1">
            <a:off x="4609193" y="3482976"/>
            <a:ext cx="86083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4721897" y="4732179"/>
            <a:ext cx="77988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5501777" y="4732179"/>
            <a:ext cx="0" cy="1156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4721897" y="4732179"/>
            <a:ext cx="197264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6694541" y="4732179"/>
            <a:ext cx="0" cy="934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7254666" y="4740538"/>
            <a:ext cx="0" cy="3380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7254666" y="5078600"/>
            <a:ext cx="16446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7593205" y="4740538"/>
            <a:ext cx="35671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7949918" y="4740538"/>
            <a:ext cx="0" cy="15564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1507871" y="4924435"/>
            <a:ext cx="1630000" cy="794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V="1">
            <a:off x="2281676" y="4947894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2293979" y="4948494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2306282" y="4949093"/>
            <a:ext cx="33178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2318586" y="4949692"/>
            <a:ext cx="33177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2330889" y="4950292"/>
            <a:ext cx="33177" cy="3009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0" name="TextBox 699"/>
          <p:cNvSpPr txBox="1"/>
          <p:nvPr/>
        </p:nvSpPr>
        <p:spPr>
          <a:xfrm>
            <a:off x="2343987" y="4907831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01" name="Connector 700"/>
          <p:cNvCxnSpPr/>
          <p:nvPr/>
        </p:nvCxnSpPr>
        <p:spPr>
          <a:xfrm flipH="1" flipV="1">
            <a:off x="3016666" y="4661128"/>
            <a:ext cx="188077" cy="14210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H="1">
            <a:off x="3108177" y="4743941"/>
            <a:ext cx="44366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H="1">
            <a:off x="3098350" y="4736516"/>
            <a:ext cx="44365" cy="61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H="1">
            <a:off x="3088522" y="4729090"/>
            <a:ext cx="44365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 flipH="1">
            <a:off x="3078694" y="4721665"/>
            <a:ext cx="44366" cy="617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 flipH="1">
            <a:off x="3068866" y="4714239"/>
            <a:ext cx="44366" cy="617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7" name="TextBox 706"/>
          <p:cNvSpPr txBox="1"/>
          <p:nvPr/>
        </p:nvSpPr>
        <p:spPr>
          <a:xfrm>
            <a:off x="3131821" y="4675870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08" name="Connector 707"/>
          <p:cNvCxnSpPr/>
          <p:nvPr/>
        </p:nvCxnSpPr>
        <p:spPr>
          <a:xfrm flipH="1" flipV="1">
            <a:off x="2055384" y="2483615"/>
            <a:ext cx="978000" cy="898590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 flipH="1">
            <a:off x="2540148" y="2948631"/>
            <a:ext cx="44754" cy="189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 flipH="1">
            <a:off x="2531078" y="2940297"/>
            <a:ext cx="44753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 flipH="1">
            <a:off x="2522007" y="2931963"/>
            <a:ext cx="44754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H="1">
            <a:off x="2512937" y="2923629"/>
            <a:ext cx="44754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H="1">
            <a:off x="2503867" y="2915295"/>
            <a:ext cx="44753" cy="189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4" name="TextBox 713"/>
          <p:cNvSpPr txBox="1"/>
          <p:nvPr/>
        </p:nvSpPr>
        <p:spPr>
          <a:xfrm>
            <a:off x="2565500" y="2876600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9</a:t>
            </a:r>
          </a:p>
        </p:txBody>
      </p:sp>
      <p:cxnSp>
        <p:nvCxnSpPr>
          <p:cNvPr id="715" name="Connector 714"/>
          <p:cNvCxnSpPr/>
          <p:nvPr/>
        </p:nvCxnSpPr>
        <p:spPr>
          <a:xfrm flipH="1" flipV="1">
            <a:off x="4458589" y="2312256"/>
            <a:ext cx="46" cy="1767878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H="1" flipV="1">
            <a:off x="4442775" y="3204994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H="1" flipV="1">
            <a:off x="4442775" y="3192676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 flipH="1" flipV="1">
            <a:off x="4442775" y="3180359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H="1" flipV="1">
            <a:off x="4442775" y="3168041"/>
            <a:ext cx="31674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H="1" flipV="1">
            <a:off x="4442774" y="3155723"/>
            <a:ext cx="31675" cy="3167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1" name="TextBox 720"/>
          <p:cNvSpPr txBox="1"/>
          <p:nvPr/>
        </p:nvSpPr>
        <p:spPr>
          <a:xfrm>
            <a:off x="4479728" y="3139886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722" name="Connector 721"/>
          <p:cNvCxnSpPr/>
          <p:nvPr/>
        </p:nvCxnSpPr>
        <p:spPr>
          <a:xfrm>
            <a:off x="4458589" y="2312256"/>
            <a:ext cx="1011436" cy="208138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4932374" y="3323468"/>
            <a:ext cx="42332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4937757" y="3334547"/>
            <a:ext cx="42333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4943141" y="3345626"/>
            <a:ext cx="42332" cy="1464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4948525" y="3356705"/>
            <a:ext cx="42332" cy="1464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4953908" y="3367784"/>
            <a:ext cx="42333" cy="1464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8" name="TextBox 727"/>
          <p:cNvSpPr txBox="1"/>
          <p:nvPr/>
        </p:nvSpPr>
        <p:spPr>
          <a:xfrm>
            <a:off x="4985423" y="3296639"/>
            <a:ext cx="105579" cy="49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729" name="Rectangle 728"/>
          <p:cNvSpPr/>
          <p:nvPr/>
        </p:nvSpPr>
        <p:spPr>
          <a:xfrm>
            <a:off x="2180684" y="5204418"/>
            <a:ext cx="83760" cy="4188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TextBox 729"/>
          <p:cNvSpPr txBox="1"/>
          <p:nvPr/>
        </p:nvSpPr>
        <p:spPr>
          <a:xfrm>
            <a:off x="2180684" y="5204418"/>
            <a:ext cx="83760" cy="41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cxnSp>
        <p:nvCxnSpPr>
          <p:cNvPr id="731" name="Connector 730"/>
          <p:cNvCxnSpPr/>
          <p:nvPr/>
        </p:nvCxnSpPr>
        <p:spPr>
          <a:xfrm>
            <a:off x="2222564" y="5225358"/>
            <a:ext cx="11277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2335340" y="5225358"/>
            <a:ext cx="0" cy="5002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Rectangle 732"/>
          <p:cNvSpPr/>
          <p:nvPr/>
        </p:nvSpPr>
        <p:spPr>
          <a:xfrm>
            <a:off x="4081780" y="5378286"/>
            <a:ext cx="126695" cy="6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081780" y="5378286"/>
            <a:ext cx="126696" cy="61940"/>
          </a:xfrm>
          <a:custGeom>
            <a:avLst/>
            <a:gdLst/>
            <a:ahLst/>
            <a:cxnLst/>
            <a:rect l="l" t="t" r="r" b="b"/>
            <a:pathLst>
              <a:path w="126696" h="61940">
                <a:moveTo>
                  <a:pt x="0" y="61940"/>
                </a:moveTo>
                <a:lnTo>
                  <a:pt x="126696" y="0"/>
                </a:lnTo>
                <a:lnTo>
                  <a:pt x="126696" y="6194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TextBox 733"/>
          <p:cNvSpPr txBox="1"/>
          <p:nvPr/>
        </p:nvSpPr>
        <p:spPr>
          <a:xfrm>
            <a:off x="4060664" y="5445857"/>
            <a:ext cx="168927" cy="506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735" name="Oval 734"/>
          <p:cNvSpPr/>
          <p:nvPr/>
        </p:nvSpPr>
        <p:spPr>
          <a:xfrm>
            <a:off x="3140441" y="4825715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140441" y="4864428"/>
            <a:ext cx="77425" cy="38713"/>
          </a:xfrm>
          <a:custGeom>
            <a:avLst/>
            <a:gdLst/>
            <a:ahLst/>
            <a:cxnLst/>
            <a:rect l="l" t="t" r="r" b="b"/>
            <a:pathLst>
              <a:path w="77425" h="38713">
                <a:moveTo>
                  <a:pt x="77425" y="0"/>
                </a:moveTo>
                <a:lnTo>
                  <a:pt x="76682" y="7552"/>
                </a:lnTo>
                <a:lnTo>
                  <a:pt x="74479" y="14815"/>
                </a:lnTo>
                <a:lnTo>
                  <a:pt x="70901" y="21508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9"/>
                </a:lnTo>
                <a:lnTo>
                  <a:pt x="38713" y="38713"/>
                </a:lnTo>
                <a:lnTo>
                  <a:pt x="31160" y="37969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8"/>
                </a:lnTo>
                <a:lnTo>
                  <a:pt x="2947" y="14815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TextBox 735"/>
          <p:cNvSpPr txBox="1"/>
          <p:nvPr/>
        </p:nvSpPr>
        <p:spPr>
          <a:xfrm>
            <a:off x="3217866" y="4783483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737" name="Oval 736"/>
          <p:cNvSpPr/>
          <p:nvPr/>
        </p:nvSpPr>
        <p:spPr>
          <a:xfrm>
            <a:off x="3755733" y="416095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8" name="Connector 737"/>
          <p:cNvCxnSpPr/>
          <p:nvPr/>
        </p:nvCxnSpPr>
        <p:spPr>
          <a:xfrm>
            <a:off x="3768107" y="417332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 flipV="1">
            <a:off x="3768107" y="417332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0" name="TextBox 739"/>
          <p:cNvSpPr txBox="1"/>
          <p:nvPr/>
        </p:nvSpPr>
        <p:spPr>
          <a:xfrm>
            <a:off x="3836677" y="412223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741" name="Oval 740"/>
          <p:cNvSpPr/>
          <p:nvPr/>
        </p:nvSpPr>
        <p:spPr>
          <a:xfrm>
            <a:off x="2184627" y="421041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2" name="Connector 741"/>
          <p:cNvCxnSpPr/>
          <p:nvPr/>
        </p:nvCxnSpPr>
        <p:spPr>
          <a:xfrm>
            <a:off x="2197000" y="4222786"/>
            <a:ext cx="59716" cy="5971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 flipV="1">
            <a:off x="2197000" y="4222786"/>
            <a:ext cx="59716" cy="5971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4" name="TextBox 743"/>
          <p:cNvSpPr txBox="1"/>
          <p:nvPr/>
        </p:nvSpPr>
        <p:spPr>
          <a:xfrm>
            <a:off x="2265571" y="417169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745" name="Oval 744"/>
          <p:cNvSpPr/>
          <p:nvPr/>
        </p:nvSpPr>
        <p:spPr>
          <a:xfrm>
            <a:off x="1822906" y="5246944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6" name="Connector 745"/>
          <p:cNvCxnSpPr/>
          <p:nvPr/>
        </p:nvCxnSpPr>
        <p:spPr>
          <a:xfrm>
            <a:off x="1835280" y="5259318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 flipV="1">
            <a:off x="1835280" y="5259318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8" name="TextBox 747"/>
          <p:cNvSpPr txBox="1"/>
          <p:nvPr/>
        </p:nvSpPr>
        <p:spPr>
          <a:xfrm>
            <a:off x="1903851" y="52082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749" name="Oval 748"/>
          <p:cNvSpPr/>
          <p:nvPr/>
        </p:nvSpPr>
        <p:spPr>
          <a:xfrm>
            <a:off x="2761566" y="2776742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0" name="Connector 749"/>
          <p:cNvCxnSpPr/>
          <p:nvPr/>
        </p:nvCxnSpPr>
        <p:spPr>
          <a:xfrm>
            <a:off x="2773940" y="278911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 flipV="1">
            <a:off x="2773940" y="2789116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2" name="TextBox 751"/>
          <p:cNvSpPr txBox="1"/>
          <p:nvPr/>
        </p:nvSpPr>
        <p:spPr>
          <a:xfrm>
            <a:off x="2842511" y="273802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753" name="Oval 752"/>
          <p:cNvSpPr/>
          <p:nvPr/>
        </p:nvSpPr>
        <p:spPr>
          <a:xfrm>
            <a:off x="3986732" y="2524940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4" name="Connector 753"/>
          <p:cNvCxnSpPr/>
          <p:nvPr/>
        </p:nvCxnSpPr>
        <p:spPr>
          <a:xfrm>
            <a:off x="3999106" y="253731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 flipV="1">
            <a:off x="3999106" y="253731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6" name="TextBox 755"/>
          <p:cNvSpPr txBox="1"/>
          <p:nvPr/>
        </p:nvSpPr>
        <p:spPr>
          <a:xfrm>
            <a:off x="4067677" y="248622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757" name="Oval 756"/>
          <p:cNvSpPr/>
          <p:nvPr/>
        </p:nvSpPr>
        <p:spPr>
          <a:xfrm>
            <a:off x="1423151" y="5240880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423151" y="5279593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6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2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8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TextBox 757"/>
          <p:cNvSpPr txBox="1"/>
          <p:nvPr/>
        </p:nvSpPr>
        <p:spPr>
          <a:xfrm>
            <a:off x="1500576" y="5198648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759" name="Oval 758"/>
          <p:cNvSpPr/>
          <p:nvPr/>
        </p:nvSpPr>
        <p:spPr>
          <a:xfrm>
            <a:off x="7911205" y="4857471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7911205" y="4896184"/>
            <a:ext cx="77426" cy="38712"/>
          </a:xfrm>
          <a:custGeom>
            <a:avLst/>
            <a:gdLst/>
            <a:ahLst/>
            <a:cxnLst/>
            <a:rect l="l" t="t" r="r" b="b"/>
            <a:pathLst>
              <a:path w="77426" h="38712">
                <a:moveTo>
                  <a:pt x="77426" y="0"/>
                </a:moveTo>
                <a:lnTo>
                  <a:pt x="76682" y="7552"/>
                </a:lnTo>
                <a:lnTo>
                  <a:pt x="74479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1" y="32188"/>
                </a:lnTo>
                <a:lnTo>
                  <a:pt x="53528" y="35765"/>
                </a:lnTo>
                <a:lnTo>
                  <a:pt x="46265" y="37968"/>
                </a:lnTo>
                <a:lnTo>
                  <a:pt x="38713" y="38712"/>
                </a:lnTo>
                <a:lnTo>
                  <a:pt x="31161" y="37968"/>
                </a:lnTo>
                <a:lnTo>
                  <a:pt x="23898" y="35765"/>
                </a:lnTo>
                <a:lnTo>
                  <a:pt x="17205" y="32188"/>
                </a:lnTo>
                <a:lnTo>
                  <a:pt x="11339" y="27374"/>
                </a:lnTo>
                <a:lnTo>
                  <a:pt x="6525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6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TextBox 759"/>
          <p:cNvSpPr txBox="1"/>
          <p:nvPr/>
        </p:nvSpPr>
        <p:spPr>
          <a:xfrm>
            <a:off x="7988631" y="481523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761" name="Oval 760"/>
          <p:cNvSpPr/>
          <p:nvPr/>
        </p:nvSpPr>
        <p:spPr>
          <a:xfrm>
            <a:off x="5843817" y="4142068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5843817" y="4180781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6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2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8" y="27374"/>
                </a:lnTo>
                <a:lnTo>
                  <a:pt x="6524" y="21507"/>
                </a:lnTo>
                <a:lnTo>
                  <a:pt x="2946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TextBox 761"/>
          <p:cNvSpPr txBox="1"/>
          <p:nvPr/>
        </p:nvSpPr>
        <p:spPr>
          <a:xfrm>
            <a:off x="5921242" y="409983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763" name="Oval 762"/>
          <p:cNvSpPr/>
          <p:nvPr/>
        </p:nvSpPr>
        <p:spPr>
          <a:xfrm>
            <a:off x="6934807" y="4142068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6934807" y="4180781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2" y="7552"/>
                </a:lnTo>
                <a:lnTo>
                  <a:pt x="74479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8"/>
                </a:lnTo>
                <a:lnTo>
                  <a:pt x="38713" y="38712"/>
                </a:lnTo>
                <a:lnTo>
                  <a:pt x="31160" y="37968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TextBox 763"/>
          <p:cNvSpPr txBox="1"/>
          <p:nvPr/>
        </p:nvSpPr>
        <p:spPr>
          <a:xfrm>
            <a:off x="7012232" y="409983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765" name="Oval 764"/>
          <p:cNvSpPr/>
          <p:nvPr/>
        </p:nvSpPr>
        <p:spPr>
          <a:xfrm>
            <a:off x="2674586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2693942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TextBox 766"/>
          <p:cNvSpPr txBox="1"/>
          <p:nvPr/>
        </p:nvSpPr>
        <p:spPr>
          <a:xfrm>
            <a:off x="2741453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68" name="Oval 767"/>
          <p:cNvSpPr/>
          <p:nvPr/>
        </p:nvSpPr>
        <p:spPr>
          <a:xfrm>
            <a:off x="2193612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2212968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2260479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71" name="Oval 770"/>
          <p:cNvSpPr/>
          <p:nvPr/>
        </p:nvSpPr>
        <p:spPr>
          <a:xfrm>
            <a:off x="1710290" y="46371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1729647" y="465647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TextBox 772"/>
          <p:cNvSpPr txBox="1"/>
          <p:nvPr/>
        </p:nvSpPr>
        <p:spPr>
          <a:xfrm>
            <a:off x="1777157" y="45843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74" name="Oval 773"/>
          <p:cNvSpPr/>
          <p:nvPr/>
        </p:nvSpPr>
        <p:spPr>
          <a:xfrm>
            <a:off x="1715819" y="4237342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1735175" y="4256699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TextBox 775"/>
          <p:cNvSpPr txBox="1"/>
          <p:nvPr/>
        </p:nvSpPr>
        <p:spPr>
          <a:xfrm>
            <a:off x="1782686" y="4184552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77" name="Oval 776"/>
          <p:cNvSpPr/>
          <p:nvPr/>
        </p:nvSpPr>
        <p:spPr>
          <a:xfrm>
            <a:off x="2199141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2218497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TextBox 778"/>
          <p:cNvSpPr txBox="1"/>
          <p:nvPr/>
        </p:nvSpPr>
        <p:spPr>
          <a:xfrm>
            <a:off x="2266008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0" name="Oval 779"/>
          <p:cNvSpPr/>
          <p:nvPr/>
        </p:nvSpPr>
        <p:spPr>
          <a:xfrm>
            <a:off x="2680114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269947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TextBox 781"/>
          <p:cNvSpPr txBox="1"/>
          <p:nvPr/>
        </p:nvSpPr>
        <p:spPr>
          <a:xfrm>
            <a:off x="274698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3" name="Oval 782"/>
          <p:cNvSpPr/>
          <p:nvPr/>
        </p:nvSpPr>
        <p:spPr>
          <a:xfrm>
            <a:off x="2680114" y="4229521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2699471" y="424887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TextBox 784"/>
          <p:cNvSpPr txBox="1"/>
          <p:nvPr/>
        </p:nvSpPr>
        <p:spPr>
          <a:xfrm>
            <a:off x="2746982" y="41767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786" name="Oval 785"/>
          <p:cNvSpPr/>
          <p:nvPr/>
        </p:nvSpPr>
        <p:spPr>
          <a:xfrm>
            <a:off x="1715819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1735175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TextBox 787"/>
          <p:cNvSpPr txBox="1"/>
          <p:nvPr/>
        </p:nvSpPr>
        <p:spPr>
          <a:xfrm>
            <a:off x="1782686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789" name="Oval 788"/>
          <p:cNvSpPr/>
          <p:nvPr/>
        </p:nvSpPr>
        <p:spPr>
          <a:xfrm>
            <a:off x="3756295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3775651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TextBox 790"/>
          <p:cNvSpPr txBox="1"/>
          <p:nvPr/>
        </p:nvSpPr>
        <p:spPr>
          <a:xfrm>
            <a:off x="3823162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92" name="Oval 791"/>
          <p:cNvSpPr/>
          <p:nvPr/>
        </p:nvSpPr>
        <p:spPr>
          <a:xfrm>
            <a:off x="3272974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3292331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TextBox 793"/>
          <p:cNvSpPr txBox="1"/>
          <p:nvPr/>
        </p:nvSpPr>
        <p:spPr>
          <a:xfrm>
            <a:off x="3339842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95" name="Oval 794"/>
          <p:cNvSpPr/>
          <p:nvPr/>
        </p:nvSpPr>
        <p:spPr>
          <a:xfrm>
            <a:off x="3282732" y="415683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3302089" y="417619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TextBox 796"/>
          <p:cNvSpPr txBox="1"/>
          <p:nvPr/>
        </p:nvSpPr>
        <p:spPr>
          <a:xfrm>
            <a:off x="3349600" y="410404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98" name="Oval 797"/>
          <p:cNvSpPr/>
          <p:nvPr/>
        </p:nvSpPr>
        <p:spPr>
          <a:xfrm>
            <a:off x="3272974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329233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TextBox 799"/>
          <p:cNvSpPr txBox="1"/>
          <p:nvPr/>
        </p:nvSpPr>
        <p:spPr>
          <a:xfrm>
            <a:off x="333984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1" name="Oval 800"/>
          <p:cNvSpPr/>
          <p:nvPr/>
        </p:nvSpPr>
        <p:spPr>
          <a:xfrm>
            <a:off x="3756295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3775651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TextBox 802"/>
          <p:cNvSpPr txBox="1"/>
          <p:nvPr/>
        </p:nvSpPr>
        <p:spPr>
          <a:xfrm>
            <a:off x="3823162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4" name="Oval 803"/>
          <p:cNvSpPr/>
          <p:nvPr/>
        </p:nvSpPr>
        <p:spPr>
          <a:xfrm>
            <a:off x="4237270" y="38093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4256626" y="382870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TextBox 805"/>
          <p:cNvSpPr txBox="1"/>
          <p:nvPr/>
        </p:nvSpPr>
        <p:spPr>
          <a:xfrm>
            <a:off x="4304137" y="37565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807" name="Oval 806"/>
          <p:cNvSpPr/>
          <p:nvPr/>
        </p:nvSpPr>
        <p:spPr>
          <a:xfrm>
            <a:off x="4247028" y="4182964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4266384" y="420232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TextBox 808"/>
          <p:cNvSpPr txBox="1"/>
          <p:nvPr/>
        </p:nvSpPr>
        <p:spPr>
          <a:xfrm>
            <a:off x="4313895" y="4130174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810" name="Oval 809"/>
          <p:cNvSpPr/>
          <p:nvPr/>
        </p:nvSpPr>
        <p:spPr>
          <a:xfrm>
            <a:off x="4237270" y="453304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4256626" y="45524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TextBox 811"/>
          <p:cNvSpPr txBox="1"/>
          <p:nvPr/>
        </p:nvSpPr>
        <p:spPr>
          <a:xfrm>
            <a:off x="4304137" y="44802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813" name="Oval 812"/>
          <p:cNvSpPr/>
          <p:nvPr/>
        </p:nvSpPr>
        <p:spPr>
          <a:xfrm>
            <a:off x="6652309" y="4783368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4" name="Connector 813"/>
          <p:cNvCxnSpPr/>
          <p:nvPr/>
        </p:nvCxnSpPr>
        <p:spPr>
          <a:xfrm>
            <a:off x="6664683" y="4795742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6664683" y="4795742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6" name="TextBox 815"/>
          <p:cNvSpPr txBox="1"/>
          <p:nvPr/>
        </p:nvSpPr>
        <p:spPr>
          <a:xfrm>
            <a:off x="6733254" y="47446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817" name="Oval 816"/>
          <p:cNvSpPr/>
          <p:nvPr/>
        </p:nvSpPr>
        <p:spPr>
          <a:xfrm>
            <a:off x="5459545" y="4805610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8" name="Connector 817"/>
          <p:cNvCxnSpPr/>
          <p:nvPr/>
        </p:nvCxnSpPr>
        <p:spPr>
          <a:xfrm>
            <a:off x="5471919" y="481798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V="1">
            <a:off x="5471919" y="4817984"/>
            <a:ext cx="59716" cy="597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0" name="TextBox 819"/>
          <p:cNvSpPr txBox="1"/>
          <p:nvPr/>
        </p:nvSpPr>
        <p:spPr>
          <a:xfrm>
            <a:off x="5540490" y="4766898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821" name="Oval 820"/>
          <p:cNvSpPr/>
          <p:nvPr/>
        </p:nvSpPr>
        <p:spPr>
          <a:xfrm>
            <a:off x="2307186" y="5247225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2326542" y="5266581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TextBox 822"/>
          <p:cNvSpPr txBox="1"/>
          <p:nvPr/>
        </p:nvSpPr>
        <p:spPr>
          <a:xfrm>
            <a:off x="2374053" y="519443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824" name="Oval 823"/>
          <p:cNvSpPr/>
          <p:nvPr/>
        </p:nvSpPr>
        <p:spPr>
          <a:xfrm>
            <a:off x="2777394" y="323541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2796750" y="3254775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TextBox 825"/>
          <p:cNvSpPr txBox="1"/>
          <p:nvPr/>
        </p:nvSpPr>
        <p:spPr>
          <a:xfrm>
            <a:off x="2844261" y="318262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27" name="Oval 826"/>
          <p:cNvSpPr/>
          <p:nvPr/>
        </p:nvSpPr>
        <p:spPr>
          <a:xfrm>
            <a:off x="2348986" y="3229387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2368342" y="324874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TextBox 828"/>
          <p:cNvSpPr txBox="1"/>
          <p:nvPr/>
        </p:nvSpPr>
        <p:spPr>
          <a:xfrm>
            <a:off x="2415853" y="317659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30" name="Oval 829"/>
          <p:cNvSpPr/>
          <p:nvPr/>
        </p:nvSpPr>
        <p:spPr>
          <a:xfrm>
            <a:off x="2356401" y="2792201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2375757" y="281155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TextBox 831"/>
          <p:cNvSpPr txBox="1"/>
          <p:nvPr/>
        </p:nvSpPr>
        <p:spPr>
          <a:xfrm>
            <a:off x="2423268" y="273941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3" name="Oval 832"/>
          <p:cNvSpPr/>
          <p:nvPr/>
        </p:nvSpPr>
        <p:spPr>
          <a:xfrm>
            <a:off x="2354180" y="237685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2373537" y="239621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TextBox 834"/>
          <p:cNvSpPr txBox="1"/>
          <p:nvPr/>
        </p:nvSpPr>
        <p:spPr>
          <a:xfrm>
            <a:off x="2421048" y="232406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6" name="Oval 835"/>
          <p:cNvSpPr/>
          <p:nvPr/>
        </p:nvSpPr>
        <p:spPr>
          <a:xfrm>
            <a:off x="2768576" y="237685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2787932" y="2396216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TextBox 837"/>
          <p:cNvSpPr txBox="1"/>
          <p:nvPr/>
        </p:nvSpPr>
        <p:spPr>
          <a:xfrm>
            <a:off x="2835443" y="232406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39" name="Oval 838"/>
          <p:cNvSpPr/>
          <p:nvPr/>
        </p:nvSpPr>
        <p:spPr>
          <a:xfrm>
            <a:off x="3246123" y="2383720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3265479" y="2403077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TextBox 840"/>
          <p:cNvSpPr txBox="1"/>
          <p:nvPr/>
        </p:nvSpPr>
        <p:spPr>
          <a:xfrm>
            <a:off x="3312990" y="2330930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842" name="Oval 841"/>
          <p:cNvSpPr/>
          <p:nvPr/>
        </p:nvSpPr>
        <p:spPr>
          <a:xfrm>
            <a:off x="3259856" y="2776339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3279212" y="2795695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TextBox 843"/>
          <p:cNvSpPr txBox="1"/>
          <p:nvPr/>
        </p:nvSpPr>
        <p:spPr>
          <a:xfrm>
            <a:off x="3326723" y="2723549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45" name="Oval 844"/>
          <p:cNvSpPr/>
          <p:nvPr/>
        </p:nvSpPr>
        <p:spPr>
          <a:xfrm>
            <a:off x="3259856" y="3243467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3279212" y="3262823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TextBox 846"/>
          <p:cNvSpPr txBox="1"/>
          <p:nvPr/>
        </p:nvSpPr>
        <p:spPr>
          <a:xfrm>
            <a:off x="3326723" y="3190677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848" name="Oval 847"/>
          <p:cNvSpPr/>
          <p:nvPr/>
        </p:nvSpPr>
        <p:spPr>
          <a:xfrm>
            <a:off x="7390977" y="5050446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7410333" y="5069802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TextBox 849"/>
          <p:cNvSpPr txBox="1"/>
          <p:nvPr/>
        </p:nvSpPr>
        <p:spPr>
          <a:xfrm>
            <a:off x="7457844" y="4997656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851" name="Oval 850"/>
          <p:cNvSpPr/>
          <p:nvPr/>
        </p:nvSpPr>
        <p:spPr>
          <a:xfrm>
            <a:off x="4136383" y="3302122"/>
            <a:ext cx="56309" cy="56309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4155739" y="3321478"/>
            <a:ext cx="17596" cy="175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TextBox 852"/>
          <p:cNvSpPr txBox="1"/>
          <p:nvPr/>
        </p:nvSpPr>
        <p:spPr>
          <a:xfrm>
            <a:off x="4203250" y="3249332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854" name="Oval 853"/>
          <p:cNvSpPr/>
          <p:nvPr/>
        </p:nvSpPr>
        <p:spPr>
          <a:xfrm>
            <a:off x="4986496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997054" y="2100663"/>
            <a:ext cx="28154" cy="26395"/>
          </a:xfrm>
          <a:custGeom>
            <a:avLst/>
            <a:gdLst/>
            <a:ahLst/>
            <a:cxnLst/>
            <a:rect l="l" t="t" r="r" b="b"/>
            <a:pathLst>
              <a:path w="28154" h="26395">
                <a:moveTo>
                  <a:pt x="14077" y="0"/>
                </a:moveTo>
                <a:lnTo>
                  <a:pt x="0" y="26395"/>
                </a:lnTo>
                <a:lnTo>
                  <a:pt x="28154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TextBox 854"/>
          <p:cNvSpPr txBox="1"/>
          <p:nvPr/>
        </p:nvSpPr>
        <p:spPr>
          <a:xfrm>
            <a:off x="5049844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56" name="Oval 855"/>
          <p:cNvSpPr/>
          <p:nvPr/>
        </p:nvSpPr>
        <p:spPr>
          <a:xfrm>
            <a:off x="5772478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5783036" y="2100663"/>
            <a:ext cx="28154" cy="26395"/>
          </a:xfrm>
          <a:custGeom>
            <a:avLst/>
            <a:gdLst/>
            <a:ahLst/>
            <a:cxnLst/>
            <a:rect l="l" t="t" r="r" b="b"/>
            <a:pathLst>
              <a:path w="28154" h="26395">
                <a:moveTo>
                  <a:pt x="14077" y="0"/>
                </a:moveTo>
                <a:lnTo>
                  <a:pt x="0" y="26395"/>
                </a:lnTo>
                <a:lnTo>
                  <a:pt x="28154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TextBox 856"/>
          <p:cNvSpPr txBox="1"/>
          <p:nvPr/>
        </p:nvSpPr>
        <p:spPr>
          <a:xfrm>
            <a:off x="5835826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58" name="Oval 857"/>
          <p:cNvSpPr/>
          <p:nvPr/>
        </p:nvSpPr>
        <p:spPr>
          <a:xfrm>
            <a:off x="6495894" y="2091865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6506452" y="2100663"/>
            <a:ext cx="28155" cy="26395"/>
          </a:xfrm>
          <a:custGeom>
            <a:avLst/>
            <a:gdLst/>
            <a:ahLst/>
            <a:cxnLst/>
            <a:rect l="l" t="t" r="r" b="b"/>
            <a:pathLst>
              <a:path w="28155" h="26395">
                <a:moveTo>
                  <a:pt x="14078" y="0"/>
                </a:moveTo>
                <a:lnTo>
                  <a:pt x="0" y="26395"/>
                </a:lnTo>
                <a:lnTo>
                  <a:pt x="28155" y="26395"/>
                </a:lnTo>
                <a:lnTo>
                  <a:pt x="14078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TextBox 858"/>
          <p:cNvSpPr txBox="1"/>
          <p:nvPr/>
        </p:nvSpPr>
        <p:spPr>
          <a:xfrm>
            <a:off x="6559242" y="2035555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60" name="Oval 859"/>
          <p:cNvSpPr/>
          <p:nvPr/>
        </p:nvSpPr>
        <p:spPr>
          <a:xfrm>
            <a:off x="6906483" y="2093844"/>
            <a:ext cx="49270" cy="4927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6917041" y="2102642"/>
            <a:ext cx="28155" cy="26395"/>
          </a:xfrm>
          <a:custGeom>
            <a:avLst/>
            <a:gdLst/>
            <a:ahLst/>
            <a:cxnLst/>
            <a:rect l="l" t="t" r="r" b="b"/>
            <a:pathLst>
              <a:path w="28155" h="26395">
                <a:moveTo>
                  <a:pt x="14077" y="0"/>
                </a:moveTo>
                <a:lnTo>
                  <a:pt x="0" y="26395"/>
                </a:lnTo>
                <a:lnTo>
                  <a:pt x="28155" y="26395"/>
                </a:lnTo>
                <a:lnTo>
                  <a:pt x="14077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TextBox 860"/>
          <p:cNvSpPr txBox="1"/>
          <p:nvPr/>
        </p:nvSpPr>
        <p:spPr>
          <a:xfrm>
            <a:off x="6969831" y="2037534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862" name="Oval 861"/>
          <p:cNvSpPr/>
          <p:nvPr/>
        </p:nvSpPr>
        <p:spPr>
          <a:xfrm>
            <a:off x="4570480" y="3444263"/>
            <a:ext cx="77425" cy="774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4570480" y="3482976"/>
            <a:ext cx="77425" cy="38712"/>
          </a:xfrm>
          <a:custGeom>
            <a:avLst/>
            <a:gdLst/>
            <a:ahLst/>
            <a:cxnLst/>
            <a:rect l="l" t="t" r="r" b="b"/>
            <a:pathLst>
              <a:path w="77425" h="38712">
                <a:moveTo>
                  <a:pt x="77425" y="0"/>
                </a:moveTo>
                <a:lnTo>
                  <a:pt x="76681" y="7552"/>
                </a:lnTo>
                <a:lnTo>
                  <a:pt x="74478" y="14814"/>
                </a:lnTo>
                <a:lnTo>
                  <a:pt x="70901" y="21507"/>
                </a:lnTo>
                <a:lnTo>
                  <a:pt x="66087" y="27374"/>
                </a:lnTo>
                <a:lnTo>
                  <a:pt x="60220" y="32188"/>
                </a:lnTo>
                <a:lnTo>
                  <a:pt x="53527" y="35766"/>
                </a:lnTo>
                <a:lnTo>
                  <a:pt x="46265" y="37969"/>
                </a:lnTo>
                <a:lnTo>
                  <a:pt x="38713" y="38712"/>
                </a:lnTo>
                <a:lnTo>
                  <a:pt x="31160" y="37969"/>
                </a:lnTo>
                <a:lnTo>
                  <a:pt x="23898" y="35766"/>
                </a:lnTo>
                <a:lnTo>
                  <a:pt x="17205" y="32188"/>
                </a:lnTo>
                <a:lnTo>
                  <a:pt x="11339" y="27374"/>
                </a:lnTo>
                <a:lnTo>
                  <a:pt x="6524" y="21507"/>
                </a:lnTo>
                <a:lnTo>
                  <a:pt x="2947" y="14814"/>
                </a:lnTo>
                <a:lnTo>
                  <a:pt x="744" y="7552"/>
                </a:lnTo>
                <a:lnTo>
                  <a:pt x="0" y="0"/>
                </a:lnTo>
                <a:lnTo>
                  <a:pt x="77425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TextBox 862"/>
          <p:cNvSpPr txBox="1"/>
          <p:nvPr/>
        </p:nvSpPr>
        <p:spPr>
          <a:xfrm>
            <a:off x="4647905" y="3402031"/>
            <a:ext cx="70386" cy="527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864" name="Oval 863"/>
          <p:cNvSpPr/>
          <p:nvPr/>
        </p:nvSpPr>
        <p:spPr>
          <a:xfrm>
            <a:off x="1495202" y="491176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5" name="Connector 864"/>
          <p:cNvCxnSpPr/>
          <p:nvPr/>
        </p:nvCxnSpPr>
        <p:spPr>
          <a:xfrm flipV="1">
            <a:off x="1507871" y="487665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1555651" y="48766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1547051" y="488525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>
            <a:off x="1538450" y="489385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>
            <a:off x="1529850" y="490245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H="1">
            <a:off x="1472036" y="492443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 flipH="1" flipV="1">
            <a:off x="1460091" y="49483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2" name="TextBox 871"/>
          <p:cNvSpPr txBox="1"/>
          <p:nvPr/>
        </p:nvSpPr>
        <p:spPr>
          <a:xfrm>
            <a:off x="1562690" y="482034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873" name="Oval 872"/>
          <p:cNvSpPr/>
          <p:nvPr/>
        </p:nvSpPr>
        <p:spPr>
          <a:xfrm>
            <a:off x="2009279" y="513745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4" name="Connector 873"/>
          <p:cNvCxnSpPr/>
          <p:nvPr/>
        </p:nvCxnSpPr>
        <p:spPr>
          <a:xfrm flipV="1">
            <a:off x="2021948" y="510234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>
            <a:off x="2069728" y="51023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>
            <a:off x="2061128" y="51109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7" name="TextBox 876"/>
          <p:cNvSpPr txBox="1"/>
          <p:nvPr/>
        </p:nvSpPr>
        <p:spPr>
          <a:xfrm>
            <a:off x="2076767" y="504603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878" name="Oval 877"/>
          <p:cNvSpPr/>
          <p:nvPr/>
        </p:nvSpPr>
        <p:spPr>
          <a:xfrm>
            <a:off x="3003997" y="464845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9" name="Connector 878"/>
          <p:cNvCxnSpPr/>
          <p:nvPr/>
        </p:nvCxnSpPr>
        <p:spPr>
          <a:xfrm flipV="1">
            <a:off x="3016666" y="461334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>
            <a:off x="3064446" y="46133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>
            <a:off x="3055846" y="462194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>
            <a:off x="3047245" y="463054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H="1">
            <a:off x="2980831" y="4661128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H="1" flipV="1">
            <a:off x="2968886" y="468501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5" name="TextBox 884"/>
          <p:cNvSpPr txBox="1"/>
          <p:nvPr/>
        </p:nvSpPr>
        <p:spPr>
          <a:xfrm>
            <a:off x="3071485" y="455703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886" name="Oval 885"/>
          <p:cNvSpPr/>
          <p:nvPr/>
        </p:nvSpPr>
        <p:spPr>
          <a:xfrm>
            <a:off x="3125202" y="499117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7" name="Connector 886"/>
          <p:cNvCxnSpPr/>
          <p:nvPr/>
        </p:nvCxnSpPr>
        <p:spPr>
          <a:xfrm flipV="1">
            <a:off x="3137871" y="4956066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>
            <a:off x="3185651" y="49560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>
            <a:off x="3177051" y="49646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>
            <a:off x="3168450" y="497326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>
            <a:off x="3159850" y="498186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 flipH="1">
            <a:off x="3102036" y="5003846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H="1" flipV="1">
            <a:off x="3090091" y="50277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4" name="TextBox 893"/>
          <p:cNvSpPr txBox="1"/>
          <p:nvPr/>
        </p:nvSpPr>
        <p:spPr>
          <a:xfrm>
            <a:off x="3192690" y="489975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895" name="Oval 894"/>
          <p:cNvSpPr/>
          <p:nvPr/>
        </p:nvSpPr>
        <p:spPr>
          <a:xfrm>
            <a:off x="3192074" y="479056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6" name="Connector 895"/>
          <p:cNvCxnSpPr/>
          <p:nvPr/>
        </p:nvCxnSpPr>
        <p:spPr>
          <a:xfrm flipV="1">
            <a:off x="3204743" y="4755450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3252523" y="475545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3243923" y="476405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3235322" y="477265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 flipH="1">
            <a:off x="3168908" y="4803230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 flipH="1" flipV="1">
            <a:off x="3156963" y="482712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2" name="TextBox 901"/>
          <p:cNvSpPr txBox="1"/>
          <p:nvPr/>
        </p:nvSpPr>
        <p:spPr>
          <a:xfrm>
            <a:off x="3259562" y="469914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903" name="Oval 902"/>
          <p:cNvSpPr/>
          <p:nvPr/>
        </p:nvSpPr>
        <p:spPr>
          <a:xfrm>
            <a:off x="3192074" y="5425843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4" name="Connector 903"/>
          <p:cNvCxnSpPr/>
          <p:nvPr/>
        </p:nvCxnSpPr>
        <p:spPr>
          <a:xfrm flipV="1">
            <a:off x="3204743" y="5390732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3252523" y="5390732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" name="TextBox 905"/>
          <p:cNvSpPr txBox="1"/>
          <p:nvPr/>
        </p:nvSpPr>
        <p:spPr>
          <a:xfrm>
            <a:off x="3259562" y="533442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907" name="Oval 906"/>
          <p:cNvSpPr/>
          <p:nvPr/>
        </p:nvSpPr>
        <p:spPr>
          <a:xfrm>
            <a:off x="4445966" y="406746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8" name="Connector 907"/>
          <p:cNvCxnSpPr/>
          <p:nvPr/>
        </p:nvCxnSpPr>
        <p:spPr>
          <a:xfrm flipV="1">
            <a:off x="4458635" y="4032354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4506415" y="4032354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4497815" y="40409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4489214" y="404955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 flipH="1">
            <a:off x="4422800" y="4080134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 flipH="1" flipV="1">
            <a:off x="4410855" y="4104024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" name="TextBox 913"/>
          <p:cNvSpPr txBox="1"/>
          <p:nvPr/>
        </p:nvSpPr>
        <p:spPr>
          <a:xfrm>
            <a:off x="4513454" y="39760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915" name="Oval 914"/>
          <p:cNvSpPr/>
          <p:nvPr/>
        </p:nvSpPr>
        <p:spPr>
          <a:xfrm>
            <a:off x="3020715" y="336953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6" name="Connector 915"/>
          <p:cNvCxnSpPr/>
          <p:nvPr/>
        </p:nvCxnSpPr>
        <p:spPr>
          <a:xfrm flipV="1">
            <a:off x="3033384" y="333442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3081164" y="33344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3072564" y="33430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3063963" y="335162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3055363" y="336022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 flipH="1">
            <a:off x="2997549" y="338220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 flipH="1" flipV="1">
            <a:off x="2985604" y="340609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TextBox 922"/>
          <p:cNvSpPr txBox="1"/>
          <p:nvPr/>
        </p:nvSpPr>
        <p:spPr>
          <a:xfrm>
            <a:off x="3088203" y="327811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924" name="Oval 923"/>
          <p:cNvSpPr/>
          <p:nvPr/>
        </p:nvSpPr>
        <p:spPr>
          <a:xfrm>
            <a:off x="2042715" y="2470945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5" name="Connector 924"/>
          <p:cNvCxnSpPr/>
          <p:nvPr/>
        </p:nvCxnSpPr>
        <p:spPr>
          <a:xfrm flipV="1">
            <a:off x="2055384" y="2435835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2103164" y="24358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2094564" y="244443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2085963" y="24530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2077363" y="246163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 flipH="1">
            <a:off x="2019549" y="2483615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 flipH="1" flipV="1">
            <a:off x="2007604" y="2507505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TextBox 931"/>
          <p:cNvSpPr txBox="1"/>
          <p:nvPr/>
        </p:nvSpPr>
        <p:spPr>
          <a:xfrm>
            <a:off x="2110203" y="23795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933" name="Oval 932"/>
          <p:cNvSpPr/>
          <p:nvPr/>
        </p:nvSpPr>
        <p:spPr>
          <a:xfrm>
            <a:off x="4057227" y="299756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4" name="Connector 933"/>
          <p:cNvCxnSpPr/>
          <p:nvPr/>
        </p:nvCxnSpPr>
        <p:spPr>
          <a:xfrm flipV="1">
            <a:off x="4069897" y="2962450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4117677" y="2962450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6" name="TextBox 935"/>
          <p:cNvSpPr txBox="1"/>
          <p:nvPr/>
        </p:nvSpPr>
        <p:spPr>
          <a:xfrm>
            <a:off x="4124716" y="290614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937" name="Oval 936"/>
          <p:cNvSpPr/>
          <p:nvPr/>
        </p:nvSpPr>
        <p:spPr>
          <a:xfrm>
            <a:off x="4445920" y="2299586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8" name="Connector 937"/>
          <p:cNvCxnSpPr/>
          <p:nvPr/>
        </p:nvCxnSpPr>
        <p:spPr>
          <a:xfrm flipV="1">
            <a:off x="4458589" y="2264476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>
            <a:off x="4506369" y="226447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4497769" y="227307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4489168" y="2281677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H="1">
            <a:off x="4422754" y="2312256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 flipH="1" flipV="1">
            <a:off x="4410809" y="2336146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4" name="TextBox 943"/>
          <p:cNvSpPr txBox="1"/>
          <p:nvPr/>
        </p:nvSpPr>
        <p:spPr>
          <a:xfrm>
            <a:off x="4513408" y="220816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945" name="Oval 944"/>
          <p:cNvSpPr/>
          <p:nvPr/>
        </p:nvSpPr>
        <p:spPr>
          <a:xfrm>
            <a:off x="5457356" y="4380971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6" name="Connector 945"/>
          <p:cNvCxnSpPr/>
          <p:nvPr/>
        </p:nvCxnSpPr>
        <p:spPr>
          <a:xfrm flipV="1">
            <a:off x="5470025" y="4345861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>
            <a:off x="5517805" y="43458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>
            <a:off x="5509205" y="43544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5500604" y="436306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H="1">
            <a:off x="5434190" y="4393641"/>
            <a:ext cx="35835" cy="358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H="1" flipV="1">
            <a:off x="5422245" y="4417531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2" name="TextBox 951"/>
          <p:cNvSpPr txBox="1"/>
          <p:nvPr/>
        </p:nvSpPr>
        <p:spPr>
          <a:xfrm>
            <a:off x="5524844" y="428955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953" name="Oval 952"/>
          <p:cNvSpPr/>
          <p:nvPr/>
        </p:nvSpPr>
        <p:spPr>
          <a:xfrm>
            <a:off x="4709227" y="4719509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4" name="Connector 953"/>
          <p:cNvCxnSpPr/>
          <p:nvPr/>
        </p:nvCxnSpPr>
        <p:spPr>
          <a:xfrm flipV="1">
            <a:off x="4721897" y="4684399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4769677" y="468439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4761077" y="4692999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7" name="TextBox 956"/>
          <p:cNvSpPr txBox="1"/>
          <p:nvPr/>
        </p:nvSpPr>
        <p:spPr>
          <a:xfrm>
            <a:off x="4776716" y="462809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958" name="Oval 957"/>
          <p:cNvSpPr/>
          <p:nvPr/>
        </p:nvSpPr>
        <p:spPr>
          <a:xfrm>
            <a:off x="7241997" y="472786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9" name="Connector 958"/>
          <p:cNvCxnSpPr/>
          <p:nvPr/>
        </p:nvCxnSpPr>
        <p:spPr>
          <a:xfrm flipV="1">
            <a:off x="7254666" y="469275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>
            <a:off x="7302446" y="469275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1" name="TextBox 960"/>
          <p:cNvSpPr txBox="1"/>
          <p:nvPr/>
        </p:nvSpPr>
        <p:spPr>
          <a:xfrm>
            <a:off x="7309485" y="463644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962" name="Oval 961"/>
          <p:cNvSpPr/>
          <p:nvPr/>
        </p:nvSpPr>
        <p:spPr>
          <a:xfrm>
            <a:off x="7580535" y="4727868"/>
            <a:ext cx="25339" cy="2533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3" name="Connector 962"/>
          <p:cNvCxnSpPr/>
          <p:nvPr/>
        </p:nvCxnSpPr>
        <p:spPr>
          <a:xfrm flipV="1">
            <a:off x="7593205" y="4692758"/>
            <a:ext cx="47780" cy="477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7640985" y="4692758"/>
            <a:ext cx="11945" cy="1194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7648023" y="463644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966" name="Rectangle 965"/>
          <p:cNvSpPr/>
          <p:nvPr/>
        </p:nvSpPr>
        <p:spPr>
          <a:xfrm>
            <a:off x="5631137" y="5431299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TextBox 966"/>
          <p:cNvSpPr txBox="1"/>
          <p:nvPr/>
        </p:nvSpPr>
        <p:spPr>
          <a:xfrm>
            <a:off x="5631137" y="5431299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68" name="Rectangle 967"/>
          <p:cNvSpPr/>
          <p:nvPr/>
        </p:nvSpPr>
        <p:spPr>
          <a:xfrm>
            <a:off x="6521367" y="5473094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TextBox 968"/>
          <p:cNvSpPr txBox="1"/>
          <p:nvPr/>
        </p:nvSpPr>
        <p:spPr>
          <a:xfrm>
            <a:off x="6521367" y="5473094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6755419" y="5431299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6755419" y="5431299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2" name="Rectangle 971"/>
          <p:cNvSpPr/>
          <p:nvPr/>
        </p:nvSpPr>
        <p:spPr>
          <a:xfrm>
            <a:off x="7261137" y="5397863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TextBox 972"/>
          <p:cNvSpPr txBox="1"/>
          <p:nvPr/>
        </p:nvSpPr>
        <p:spPr>
          <a:xfrm>
            <a:off x="7261137" y="5397863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974" name="Rectangle 973"/>
          <p:cNvSpPr/>
          <p:nvPr/>
        </p:nvSpPr>
        <p:spPr>
          <a:xfrm>
            <a:off x="7478470" y="5414581"/>
            <a:ext cx="95725" cy="47862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TextBox 974"/>
          <p:cNvSpPr txBox="1"/>
          <p:nvPr/>
        </p:nvSpPr>
        <p:spPr>
          <a:xfrm>
            <a:off x="7478470" y="5414581"/>
            <a:ext cx="95725" cy="478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cxnSp>
        <p:nvCxnSpPr>
          <p:cNvPr id="976" name="Connector 975"/>
          <p:cNvCxnSpPr/>
          <p:nvPr/>
        </p:nvCxnSpPr>
        <p:spPr>
          <a:xfrm flipV="1">
            <a:off x="3204743" y="5267450"/>
            <a:ext cx="793553" cy="171062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Oval 976"/>
          <p:cNvSpPr/>
          <p:nvPr/>
        </p:nvSpPr>
        <p:spPr>
          <a:xfrm>
            <a:off x="3956064" y="5225218"/>
            <a:ext cx="84463" cy="844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8" name="Connector 977"/>
          <p:cNvCxnSpPr/>
          <p:nvPr/>
        </p:nvCxnSpPr>
        <p:spPr>
          <a:xfrm>
            <a:off x="3968438" y="5237592"/>
            <a:ext cx="59716" cy="59716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V="1">
            <a:off x="3968438" y="5237592"/>
            <a:ext cx="59716" cy="59716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4051086" y="5192450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控制它的开关键，见电施-07。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WL1/WL3（先到开关盒）；细实线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分区放大见电施-03~电施-05。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25384" y="3352948"/>
            <a:ext cx="4346666" cy="2361410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5384" y="338294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电施-03</a:t>
            </a:r>
          </a:p>
        </p:txBody>
      </p:sp>
      <p:sp>
        <p:nvSpPr>
          <p:cNvPr id="984" name="Rectangle 983"/>
          <p:cNvSpPr/>
          <p:nvPr/>
        </p:nvSpPr>
        <p:spPr>
          <a:xfrm>
            <a:off x="759743" y="1764743"/>
            <a:ext cx="4012307" cy="1838974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TextBox 984"/>
          <p:cNvSpPr txBox="1"/>
          <p:nvPr/>
        </p:nvSpPr>
        <p:spPr>
          <a:xfrm>
            <a:off x="799743" y="1794743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电施-04</a:t>
            </a:r>
          </a:p>
        </p:txBody>
      </p:sp>
      <p:sp>
        <p:nvSpPr>
          <p:cNvPr id="986" name="Rectangle 985"/>
          <p:cNvSpPr/>
          <p:nvPr/>
        </p:nvSpPr>
        <p:spPr>
          <a:xfrm>
            <a:off x="4270512" y="1806538"/>
            <a:ext cx="4179487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TextBox 986"/>
          <p:cNvSpPr txBox="1"/>
          <p:nvPr/>
        </p:nvSpPr>
        <p:spPr>
          <a:xfrm>
            <a:off x="4310512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电施-05</a:t>
            </a:r>
          </a:p>
        </p:txBody>
      </p:sp>
      <p:sp>
        <p:nvSpPr>
          <p:cNvPr id="988" name="Rectangle 987"/>
          <p:cNvSpPr/>
          <p:nvPr/>
        </p:nvSpPr>
        <p:spPr>
          <a:xfrm>
            <a:off x="400000" y="6540000"/>
            <a:ext cx="39103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Rectangle 988"/>
          <p:cNvSpPr/>
          <p:nvPr/>
        </p:nvSpPr>
        <p:spPr>
          <a:xfrm>
            <a:off x="791036" y="6540000"/>
            <a:ext cx="39103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Rectangle 989"/>
          <p:cNvSpPr/>
          <p:nvPr/>
        </p:nvSpPr>
        <p:spPr>
          <a:xfrm>
            <a:off x="1182073" y="6540000"/>
            <a:ext cx="39103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TextBox 990"/>
          <p:cNvSpPr txBox="1"/>
          <p:nvPr/>
        </p:nvSpPr>
        <p:spPr>
          <a:xfrm>
            <a:off x="1613109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4169018" y="-4513604"/>
            <a:ext cx="6837926" cy="13973804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一层照明平面放大图（起居室 · G07 区 · 门厅 · 楼梯）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一层照明平面放大图（起居室 · G07 区 · 门厅 · 楼梯）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电施-03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2772355" y="2444714"/>
            <a:ext cx="0" cy="80249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2772355" y="2444714"/>
            <a:ext cx="9062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678583" y="2444714"/>
            <a:ext cx="9018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4570043" y="3232541"/>
            <a:ext cx="0" cy="7642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4570043" y="3232541"/>
            <a:ext cx="1036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H="1">
            <a:off x="3668217" y="3996789"/>
            <a:ext cx="9018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>
            <a:off x="2761988" y="3996789"/>
            <a:ext cx="906229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5710317" y="2444714"/>
            <a:ext cx="0" cy="65154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5692021" y="2444714"/>
            <a:ext cx="1829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>
            <a:off x="5692021" y="2444714"/>
            <a:ext cx="9062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6598247" y="2444714"/>
            <a:ext cx="9018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7518371" y="3145247"/>
            <a:ext cx="0" cy="6564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7500075" y="3801649"/>
            <a:ext cx="1829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H="1">
            <a:off x="6598247" y="3801649"/>
            <a:ext cx="90182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H="1">
            <a:off x="5692021" y="3801649"/>
            <a:ext cx="90622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2329663" y="4482716"/>
            <a:ext cx="96389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3293557" y="4482716"/>
            <a:ext cx="0" cy="4231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3293557" y="4905889"/>
            <a:ext cx="186509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5158653" y="3989014"/>
            <a:ext cx="0" cy="91687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5158653" y="3989014"/>
            <a:ext cx="35264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5511298" y="3989014"/>
            <a:ext cx="0" cy="26644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5511298" y="4255456"/>
            <a:ext cx="0" cy="37615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H="1">
            <a:off x="5385913" y="4631610"/>
            <a:ext cx="12538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H="1">
            <a:off x="5385913" y="5391754"/>
            <a:ext cx="1840215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 flipV="1">
            <a:off x="5385913" y="4631610"/>
            <a:ext cx="0" cy="760144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5453542" y="5210289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WL1  BV-3×2.5 PC20 WC/CC</a:t>
            </a:r>
          </a:p>
        </p:txBody>
      </p:sp>
      <p:cxnSp>
        <p:nvCxnSpPr>
          <p:cNvPr id="589" name="Connector 588"/>
          <p:cNvCxnSpPr/>
          <p:nvPr/>
        </p:nvCxnSpPr>
        <p:spPr>
          <a:xfrm flipV="1">
            <a:off x="7274519" y="2899652"/>
            <a:ext cx="0" cy="249210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7274519" y="2899652"/>
            <a:ext cx="58782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1" name="TextBox 590"/>
          <p:cNvSpPr txBox="1"/>
          <p:nvPr/>
        </p:nvSpPr>
        <p:spPr>
          <a:xfrm>
            <a:off x="5453542" y="5089312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WL3  BV-3×2.5 PC20 WC/CC</a:t>
            </a:r>
          </a:p>
        </p:txBody>
      </p:sp>
      <p:cxnSp>
        <p:nvCxnSpPr>
          <p:cNvPr id="592" name="Connector 591"/>
          <p:cNvCxnSpPr/>
          <p:nvPr/>
        </p:nvCxnSpPr>
        <p:spPr>
          <a:xfrm flipH="1">
            <a:off x="2243398" y="4482716"/>
            <a:ext cx="8626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243398" y="4482716"/>
            <a:ext cx="0" cy="66592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 flipV="1">
            <a:off x="2329663" y="3223106"/>
            <a:ext cx="0" cy="125961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2329663" y="3223106"/>
            <a:ext cx="13481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V="1">
            <a:off x="2329663" y="3247206"/>
            <a:ext cx="0" cy="123551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2329663" y="3247206"/>
            <a:ext cx="4426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2329663" y="4482716"/>
            <a:ext cx="4323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V="1">
            <a:off x="2761988" y="3996789"/>
            <a:ext cx="0" cy="4859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H="1">
            <a:off x="2999539" y="4905889"/>
            <a:ext cx="29401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999539" y="4905889"/>
            <a:ext cx="0" cy="26071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3293557" y="4905889"/>
            <a:ext cx="58761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3881167" y="4905889"/>
            <a:ext cx="0" cy="23484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 flipV="1">
            <a:off x="5158653" y="3130369"/>
            <a:ext cx="0" cy="85864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5158653" y="3130369"/>
            <a:ext cx="14649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 flipV="1">
            <a:off x="5158653" y="3096255"/>
            <a:ext cx="0" cy="8927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5158653" y="3096255"/>
            <a:ext cx="5516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 flipV="1">
            <a:off x="5158653" y="3801649"/>
            <a:ext cx="0" cy="18736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5158653" y="3801649"/>
            <a:ext cx="53336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5385913" y="4631610"/>
            <a:ext cx="774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 flipV="1">
            <a:off x="5463318" y="4370202"/>
            <a:ext cx="0" cy="26140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 flipH="1">
            <a:off x="3677764" y="4631610"/>
            <a:ext cx="17081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 flipV="1">
            <a:off x="3677764" y="3223106"/>
            <a:ext cx="0" cy="140850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 flipV="1">
            <a:off x="5385913" y="2444714"/>
            <a:ext cx="0" cy="218689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 flipH="1">
            <a:off x="4580409" y="2444714"/>
            <a:ext cx="805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 flipH="1">
            <a:off x="4570043" y="4631610"/>
            <a:ext cx="81587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4570043" y="3996789"/>
            <a:ext cx="0" cy="6348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 flipV="1">
            <a:off x="5511298" y="3130369"/>
            <a:ext cx="0" cy="11250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5511298" y="3130369"/>
            <a:ext cx="111229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5511298" y="3096255"/>
            <a:ext cx="0" cy="115920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5511298" y="3096255"/>
            <a:ext cx="19901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5511298" y="4255456"/>
            <a:ext cx="18072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 flipV="1">
            <a:off x="5692021" y="3801649"/>
            <a:ext cx="0" cy="4538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5511298" y="5204656"/>
            <a:ext cx="0" cy="24195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5543558" y="5156265"/>
            <a:ext cx="22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Microsoft YaHei"/>
              </a:rPr>
              <a:t>↑ 引至二层楼梯吊灯 F06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7910736" y="2964173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p → 接线见另图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7910736" y="2964173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q → 接线见另图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7910736" y="2964173"/>
            <a:ext cx="15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1F4E79"/>
                </a:solidFill>
                <a:latin typeface="Microsoft YaHei"/>
              </a:rPr>
              <a:t>v → 接线见另图</a:t>
            </a:r>
          </a:p>
        </p:txBody>
      </p:sp>
      <p:cxnSp>
        <p:nvCxnSpPr>
          <p:cNvPr id="629" name="Connector 628"/>
          <p:cNvCxnSpPr/>
          <p:nvPr/>
        </p:nvCxnSpPr>
        <p:spPr>
          <a:xfrm>
            <a:off x="2329663" y="4482716"/>
            <a:ext cx="3056250" cy="148894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3763383" y="4519932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3791577" y="4521305"/>
            <a:ext cx="76033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3819772" y="4522679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3847966" y="4524052"/>
            <a:ext cx="76033" cy="6896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3876161" y="4525426"/>
            <a:ext cx="76032" cy="6896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5" name="TextBox 634"/>
          <p:cNvSpPr txBox="1"/>
          <p:nvPr/>
        </p:nvSpPr>
        <p:spPr>
          <a:xfrm>
            <a:off x="3906179" y="4428121"/>
            <a:ext cx="241953" cy="112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cxnSp>
        <p:nvCxnSpPr>
          <p:cNvPr id="636" name="Connector 635"/>
          <p:cNvCxnSpPr/>
          <p:nvPr/>
        </p:nvCxnSpPr>
        <p:spPr>
          <a:xfrm flipH="1" flipV="1">
            <a:off x="5158653" y="3989014"/>
            <a:ext cx="352645" cy="26644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H="1">
            <a:off x="5329184" y="4149190"/>
            <a:ext cx="101672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H="1">
            <a:off x="5306662" y="4132173"/>
            <a:ext cx="101671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H="1">
            <a:off x="5284140" y="4115157"/>
            <a:ext cx="101671" cy="1415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H="1">
            <a:off x="5261618" y="4098140"/>
            <a:ext cx="101671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5239095" y="4081123"/>
            <a:ext cx="101672" cy="1415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2" name="TextBox 641"/>
          <p:cNvSpPr txBox="1"/>
          <p:nvPr/>
        </p:nvSpPr>
        <p:spPr>
          <a:xfrm>
            <a:off x="5383366" y="3993193"/>
            <a:ext cx="241953" cy="112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643" name="Rectangle 642"/>
          <p:cNvSpPr/>
          <p:nvPr/>
        </p:nvSpPr>
        <p:spPr>
          <a:xfrm>
            <a:off x="3573736" y="4998959"/>
            <a:ext cx="191950" cy="95975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TextBox 643"/>
          <p:cNvSpPr txBox="1"/>
          <p:nvPr/>
        </p:nvSpPr>
        <p:spPr>
          <a:xfrm>
            <a:off x="3573736" y="4998959"/>
            <a:ext cx="191950" cy="959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MK</a:t>
            </a:r>
          </a:p>
        </p:txBody>
      </p:sp>
      <p:cxnSp>
        <p:nvCxnSpPr>
          <p:cNvPr id="645" name="Connector 644"/>
          <p:cNvCxnSpPr/>
          <p:nvPr/>
        </p:nvCxnSpPr>
        <p:spPr>
          <a:xfrm>
            <a:off x="3669711" y="5046947"/>
            <a:ext cx="211456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881167" y="5046947"/>
            <a:ext cx="0" cy="9378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7" name="TextBox 646"/>
          <p:cNvSpPr txBox="1"/>
          <p:nvPr/>
        </p:nvSpPr>
        <p:spPr>
          <a:xfrm>
            <a:off x="3069711" y="4837253"/>
            <a:ext cx="12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" b="0">
                <a:solidFill>
                  <a:srgbClr val="1A1A1A"/>
                </a:solidFill>
                <a:latin typeface="Microsoft YaHei"/>
              </a:rPr>
              <a:t>MK 门控（开门亮灯）</a:t>
            </a:r>
          </a:p>
        </p:txBody>
      </p:sp>
      <p:sp>
        <p:nvSpPr>
          <p:cNvPr id="648" name="Rectangle 647"/>
          <p:cNvSpPr/>
          <p:nvPr/>
        </p:nvSpPr>
        <p:spPr>
          <a:xfrm>
            <a:off x="7129346" y="5320781"/>
            <a:ext cx="290344" cy="14194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7129346" y="5320781"/>
            <a:ext cx="290345" cy="141946"/>
          </a:xfrm>
          <a:custGeom>
            <a:avLst/>
            <a:gdLst/>
            <a:ahLst/>
            <a:cxnLst/>
            <a:rect l="l" t="t" r="r" b="b"/>
            <a:pathLst>
              <a:path w="290345" h="141946">
                <a:moveTo>
                  <a:pt x="0" y="141946"/>
                </a:moveTo>
                <a:lnTo>
                  <a:pt x="290345" y="0"/>
                </a:lnTo>
                <a:lnTo>
                  <a:pt x="290345" y="141946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7080956" y="5475632"/>
            <a:ext cx="387126" cy="116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650" name="Oval 649"/>
          <p:cNvSpPr/>
          <p:nvPr/>
        </p:nvSpPr>
        <p:spPr>
          <a:xfrm>
            <a:off x="5374601" y="4281486"/>
            <a:ext cx="177432" cy="1774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374601" y="4370202"/>
            <a:ext cx="177433" cy="88716"/>
          </a:xfrm>
          <a:custGeom>
            <a:avLst/>
            <a:gdLst/>
            <a:ahLst/>
            <a:cxnLst/>
            <a:rect l="l" t="t" r="r" b="b"/>
            <a:pathLst>
              <a:path w="177433" h="88716">
                <a:moveTo>
                  <a:pt x="177433" y="0"/>
                </a:moveTo>
                <a:lnTo>
                  <a:pt x="175728" y="17308"/>
                </a:lnTo>
                <a:lnTo>
                  <a:pt x="170680" y="33950"/>
                </a:lnTo>
                <a:lnTo>
                  <a:pt x="162482" y="49288"/>
                </a:lnTo>
                <a:lnTo>
                  <a:pt x="151449" y="62732"/>
                </a:lnTo>
                <a:lnTo>
                  <a:pt x="138005" y="73765"/>
                </a:lnTo>
                <a:lnTo>
                  <a:pt x="122667" y="81963"/>
                </a:lnTo>
                <a:lnTo>
                  <a:pt x="106024" y="87012"/>
                </a:lnTo>
                <a:lnTo>
                  <a:pt x="88717" y="88716"/>
                </a:lnTo>
                <a:lnTo>
                  <a:pt x="71409" y="87012"/>
                </a:lnTo>
                <a:lnTo>
                  <a:pt x="54766" y="81963"/>
                </a:lnTo>
                <a:lnTo>
                  <a:pt x="39428" y="73765"/>
                </a:lnTo>
                <a:lnTo>
                  <a:pt x="25985" y="62732"/>
                </a:lnTo>
                <a:lnTo>
                  <a:pt x="14952" y="49288"/>
                </a:lnTo>
                <a:lnTo>
                  <a:pt x="6753" y="33950"/>
                </a:lnTo>
                <a:lnTo>
                  <a:pt x="1705" y="17308"/>
                </a:lnTo>
                <a:lnTo>
                  <a:pt x="0" y="0"/>
                </a:lnTo>
                <a:lnTo>
                  <a:pt x="1774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5552034" y="4184704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n</a:t>
            </a:r>
          </a:p>
        </p:txBody>
      </p:sp>
      <p:sp>
        <p:nvSpPr>
          <p:cNvPr id="652" name="Oval 651"/>
          <p:cNvSpPr/>
          <p:nvPr/>
        </p:nvSpPr>
        <p:spPr>
          <a:xfrm>
            <a:off x="6526807" y="3033588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3" name="Connector 652"/>
          <p:cNvCxnSpPr/>
          <p:nvPr/>
        </p:nvCxnSpPr>
        <p:spPr>
          <a:xfrm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V="1">
            <a:off x="6555164" y="3061945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5" name="TextBox 654"/>
          <p:cNvSpPr txBox="1"/>
          <p:nvPr/>
        </p:nvSpPr>
        <p:spPr>
          <a:xfrm>
            <a:off x="6712305" y="294487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656" name="Oval 655"/>
          <p:cNvSpPr/>
          <p:nvPr/>
        </p:nvSpPr>
        <p:spPr>
          <a:xfrm>
            <a:off x="3580982" y="3126325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 flipV="1">
            <a:off x="3609339" y="3154681"/>
            <a:ext cx="136849" cy="1368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3766480" y="303760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660" name="Oval 659"/>
          <p:cNvSpPr/>
          <p:nvPr/>
        </p:nvSpPr>
        <p:spPr>
          <a:xfrm>
            <a:off x="2902757" y="5069822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1" name="Connector 660"/>
          <p:cNvCxnSpPr/>
          <p:nvPr/>
        </p:nvCxnSpPr>
        <p:spPr>
          <a:xfrm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 flipV="1">
            <a:off x="2931114" y="5098179"/>
            <a:ext cx="136849" cy="136849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3088255" y="498110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664" name="Oval 663"/>
          <p:cNvSpPr/>
          <p:nvPr/>
        </p:nvSpPr>
        <p:spPr>
          <a:xfrm>
            <a:off x="2154682" y="5059919"/>
            <a:ext cx="177432" cy="1774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154682" y="5148636"/>
            <a:ext cx="177433" cy="88716"/>
          </a:xfrm>
          <a:custGeom>
            <a:avLst/>
            <a:gdLst/>
            <a:ahLst/>
            <a:cxnLst/>
            <a:rect l="l" t="t" r="r" b="b"/>
            <a:pathLst>
              <a:path w="177433" h="88716">
                <a:moveTo>
                  <a:pt x="177433" y="0"/>
                </a:moveTo>
                <a:lnTo>
                  <a:pt x="175728" y="17308"/>
                </a:lnTo>
                <a:lnTo>
                  <a:pt x="170679" y="33950"/>
                </a:lnTo>
                <a:lnTo>
                  <a:pt x="162481" y="49288"/>
                </a:lnTo>
                <a:lnTo>
                  <a:pt x="151448" y="62732"/>
                </a:lnTo>
                <a:lnTo>
                  <a:pt x="138004" y="73765"/>
                </a:lnTo>
                <a:lnTo>
                  <a:pt x="122666" y="81963"/>
                </a:lnTo>
                <a:lnTo>
                  <a:pt x="106024" y="87012"/>
                </a:lnTo>
                <a:lnTo>
                  <a:pt x="88716" y="88716"/>
                </a:lnTo>
                <a:lnTo>
                  <a:pt x="71408" y="87012"/>
                </a:lnTo>
                <a:lnTo>
                  <a:pt x="54766" y="81963"/>
                </a:lnTo>
                <a:lnTo>
                  <a:pt x="39428" y="73765"/>
                </a:lnTo>
                <a:lnTo>
                  <a:pt x="25984" y="62732"/>
                </a:lnTo>
                <a:lnTo>
                  <a:pt x="14951" y="49288"/>
                </a:lnTo>
                <a:lnTo>
                  <a:pt x="6753" y="33950"/>
                </a:lnTo>
                <a:lnTo>
                  <a:pt x="1704" y="17308"/>
                </a:lnTo>
                <a:lnTo>
                  <a:pt x="0" y="0"/>
                </a:lnTo>
                <a:lnTo>
                  <a:pt x="1774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TextBox 664"/>
          <p:cNvSpPr txBox="1"/>
          <p:nvPr/>
        </p:nvSpPr>
        <p:spPr>
          <a:xfrm>
            <a:off x="2332115" y="496313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666" name="Oval 665"/>
          <p:cNvSpPr/>
          <p:nvPr/>
        </p:nvSpPr>
        <p:spPr>
          <a:xfrm>
            <a:off x="4505522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4549880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4658759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69" name="Oval 668"/>
          <p:cNvSpPr/>
          <p:nvPr/>
        </p:nvSpPr>
        <p:spPr>
          <a:xfrm>
            <a:off x="3603696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648054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3756933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72" name="Oval 671"/>
          <p:cNvSpPr/>
          <p:nvPr/>
        </p:nvSpPr>
        <p:spPr>
          <a:xfrm>
            <a:off x="2697467" y="3932267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2741826" y="397662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2850705" y="381129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75" name="Oval 674"/>
          <p:cNvSpPr/>
          <p:nvPr/>
        </p:nvSpPr>
        <p:spPr>
          <a:xfrm>
            <a:off x="2707834" y="3182685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2752192" y="322704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2861071" y="306170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78" name="Oval 677"/>
          <p:cNvSpPr/>
          <p:nvPr/>
        </p:nvSpPr>
        <p:spPr>
          <a:xfrm>
            <a:off x="3614062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3658420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TextBox 679"/>
          <p:cNvSpPr txBox="1"/>
          <p:nvPr/>
        </p:nvSpPr>
        <p:spPr>
          <a:xfrm>
            <a:off x="3767299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81" name="Oval 680"/>
          <p:cNvSpPr/>
          <p:nvPr/>
        </p:nvSpPr>
        <p:spPr>
          <a:xfrm>
            <a:off x="4515888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4560246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4669125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84" name="Oval 683"/>
          <p:cNvSpPr/>
          <p:nvPr/>
        </p:nvSpPr>
        <p:spPr>
          <a:xfrm>
            <a:off x="4515888" y="3168020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4560246" y="3212378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TextBox 685"/>
          <p:cNvSpPr txBox="1"/>
          <p:nvPr/>
        </p:nvSpPr>
        <p:spPr>
          <a:xfrm>
            <a:off x="4669125" y="3047043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687" name="Oval 686"/>
          <p:cNvSpPr/>
          <p:nvPr/>
        </p:nvSpPr>
        <p:spPr>
          <a:xfrm>
            <a:off x="270783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275219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TextBox 688"/>
          <p:cNvSpPr txBox="1"/>
          <p:nvPr/>
        </p:nvSpPr>
        <p:spPr>
          <a:xfrm>
            <a:off x="2861071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690" name="Oval 689"/>
          <p:cNvSpPr/>
          <p:nvPr/>
        </p:nvSpPr>
        <p:spPr>
          <a:xfrm>
            <a:off x="6533726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6578084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6686963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93" name="Oval 692"/>
          <p:cNvSpPr/>
          <p:nvPr/>
        </p:nvSpPr>
        <p:spPr>
          <a:xfrm>
            <a:off x="5627500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5671858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780738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696" name="Oval 695"/>
          <p:cNvSpPr/>
          <p:nvPr/>
        </p:nvSpPr>
        <p:spPr>
          <a:xfrm>
            <a:off x="5645796" y="303173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5690154" y="3076092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799034" y="2910757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699" name="Oval 698"/>
          <p:cNvSpPr/>
          <p:nvPr/>
        </p:nvSpPr>
        <p:spPr>
          <a:xfrm>
            <a:off x="5627500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671858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780738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2" name="Oval 701"/>
          <p:cNvSpPr/>
          <p:nvPr/>
        </p:nvSpPr>
        <p:spPr>
          <a:xfrm>
            <a:off x="6533726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6578084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6686963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5" name="Oval 704"/>
          <p:cNvSpPr/>
          <p:nvPr/>
        </p:nvSpPr>
        <p:spPr>
          <a:xfrm>
            <a:off x="7435554" y="2380193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7479912" y="2424551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7588792" y="2259216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708" name="Oval 707"/>
          <p:cNvSpPr/>
          <p:nvPr/>
        </p:nvSpPr>
        <p:spPr>
          <a:xfrm>
            <a:off x="7453850" y="3080726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7498209" y="3125084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7607088" y="2959749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11" name="Oval 710"/>
          <p:cNvSpPr/>
          <p:nvPr/>
        </p:nvSpPr>
        <p:spPr>
          <a:xfrm>
            <a:off x="7435554" y="3737128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7479912" y="3781486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7588792" y="3616151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714" name="Oval 713"/>
          <p:cNvSpPr/>
          <p:nvPr/>
        </p:nvSpPr>
        <p:spPr>
          <a:xfrm>
            <a:off x="3816646" y="5076214"/>
            <a:ext cx="129042" cy="12904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3861004" y="5120573"/>
            <a:ext cx="40325" cy="40325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3969884" y="4955238"/>
            <a:ext cx="161302" cy="12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717" name="Oval 716"/>
          <p:cNvSpPr/>
          <p:nvPr/>
        </p:nvSpPr>
        <p:spPr>
          <a:xfrm>
            <a:off x="2300629" y="4453681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8" name="Connector 717"/>
          <p:cNvCxnSpPr/>
          <p:nvPr/>
        </p:nvCxnSpPr>
        <p:spPr>
          <a:xfrm flipV="1">
            <a:off x="2329663" y="4373220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2439159" y="437322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2419450" y="4392929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2399740" y="4412639"/>
            <a:ext cx="27374" cy="273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2380031" y="443234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H="1">
            <a:off x="2247541" y="4482716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H="1" flipV="1">
            <a:off x="2220167" y="453746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5" name="TextBox 724"/>
          <p:cNvSpPr txBox="1"/>
          <p:nvPr/>
        </p:nvSpPr>
        <p:spPr>
          <a:xfrm>
            <a:off x="2455289" y="424417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726" name="Oval 725"/>
          <p:cNvSpPr/>
          <p:nvPr/>
        </p:nvSpPr>
        <p:spPr>
          <a:xfrm>
            <a:off x="3264523" y="4876854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7" name="Connector 726"/>
          <p:cNvCxnSpPr/>
          <p:nvPr/>
        </p:nvCxnSpPr>
        <p:spPr>
          <a:xfrm flipV="1">
            <a:off x="3293557" y="4796393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3403053" y="4796393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3383344" y="4816102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0" name="TextBox 729"/>
          <p:cNvSpPr txBox="1"/>
          <p:nvPr/>
        </p:nvSpPr>
        <p:spPr>
          <a:xfrm>
            <a:off x="3419183" y="466735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731" name="Oval 730"/>
          <p:cNvSpPr/>
          <p:nvPr/>
        </p:nvSpPr>
        <p:spPr>
          <a:xfrm>
            <a:off x="5129619" y="3959979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2" name="Connector 731"/>
          <p:cNvCxnSpPr/>
          <p:nvPr/>
        </p:nvCxnSpPr>
        <p:spPr>
          <a:xfrm flipV="1">
            <a:off x="5158653" y="3879518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5268149" y="387951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5248440" y="3899227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5228731" y="3918937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 flipH="1">
            <a:off x="5076531" y="3989014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 flipH="1" flipV="1">
            <a:off x="5049158" y="4043762"/>
            <a:ext cx="27373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8" name="TextBox 737"/>
          <p:cNvSpPr txBox="1"/>
          <p:nvPr/>
        </p:nvSpPr>
        <p:spPr>
          <a:xfrm>
            <a:off x="5284279" y="375047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739" name="Oval 738"/>
          <p:cNvSpPr/>
          <p:nvPr/>
        </p:nvSpPr>
        <p:spPr>
          <a:xfrm>
            <a:off x="5356879" y="4602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0" name="Connector 739"/>
          <p:cNvCxnSpPr/>
          <p:nvPr/>
        </p:nvCxnSpPr>
        <p:spPr>
          <a:xfrm flipV="1">
            <a:off x="5385913" y="4522114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5495409" y="452211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5475700" y="4541824"/>
            <a:ext cx="27373" cy="273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5455990" y="4561533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5436281" y="4581242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 flipH="1">
            <a:off x="5303791" y="4631610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 flipH="1" flipV="1">
            <a:off x="5276417" y="4686358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TextBox 746"/>
          <p:cNvSpPr txBox="1"/>
          <p:nvPr/>
        </p:nvSpPr>
        <p:spPr>
          <a:xfrm>
            <a:off x="5511539" y="439307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748" name="Oval 747"/>
          <p:cNvSpPr/>
          <p:nvPr/>
        </p:nvSpPr>
        <p:spPr>
          <a:xfrm>
            <a:off x="5482263" y="4226422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9" name="Connector 748"/>
          <p:cNvCxnSpPr/>
          <p:nvPr/>
        </p:nvCxnSpPr>
        <p:spPr>
          <a:xfrm flipV="1">
            <a:off x="5511298" y="4145960"/>
            <a:ext cx="109495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5620793" y="414596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5601084" y="4165670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5581375" y="4185379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 flipH="1">
            <a:off x="5429176" y="4255456"/>
            <a:ext cx="82122" cy="821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 flipH="1" flipV="1">
            <a:off x="5401802" y="431020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5" name="TextBox 754"/>
          <p:cNvSpPr txBox="1"/>
          <p:nvPr/>
        </p:nvSpPr>
        <p:spPr>
          <a:xfrm>
            <a:off x="5636924" y="401691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756" name="Oval 755"/>
          <p:cNvSpPr/>
          <p:nvPr/>
        </p:nvSpPr>
        <p:spPr>
          <a:xfrm>
            <a:off x="5482263" y="5417576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7" name="Connector 756"/>
          <p:cNvCxnSpPr/>
          <p:nvPr/>
        </p:nvCxnSpPr>
        <p:spPr>
          <a:xfrm flipV="1">
            <a:off x="5511298" y="5337114"/>
            <a:ext cx="109495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5620793" y="533711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TextBox 758"/>
          <p:cNvSpPr txBox="1"/>
          <p:nvPr/>
        </p:nvSpPr>
        <p:spPr>
          <a:xfrm>
            <a:off x="5636924" y="520807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760" name="Oval 759"/>
          <p:cNvSpPr/>
          <p:nvPr/>
        </p:nvSpPr>
        <p:spPr>
          <a:xfrm>
            <a:off x="7833311" y="2870617"/>
            <a:ext cx="58068" cy="5806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1" name="Connector 760"/>
          <p:cNvCxnSpPr/>
          <p:nvPr/>
        </p:nvCxnSpPr>
        <p:spPr>
          <a:xfrm flipV="1">
            <a:off x="7862345" y="2790156"/>
            <a:ext cx="109496" cy="10949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7971841" y="2790156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7952132" y="2809865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7932423" y="2829574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 flipH="1">
            <a:off x="7780223" y="2899652"/>
            <a:ext cx="82122" cy="821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 flipH="1" flipV="1">
            <a:off x="7752849" y="2954399"/>
            <a:ext cx="27374" cy="2737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7" name="TextBox 766"/>
          <p:cNvSpPr txBox="1"/>
          <p:nvPr/>
        </p:nvSpPr>
        <p:spPr>
          <a:xfrm>
            <a:off x="7987971" y="266111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cxnSp>
        <p:nvCxnSpPr>
          <p:cNvPr id="768" name="Connector 767"/>
          <p:cNvCxnSpPr/>
          <p:nvPr/>
        </p:nvCxnSpPr>
        <p:spPr>
          <a:xfrm flipV="1">
            <a:off x="5511298" y="5125867"/>
            <a:ext cx="1487911" cy="320743"/>
          </a:xfrm>
          <a:prstGeom prst="line">
            <a:avLst/>
          </a:prstGeom>
          <a:ln w="9525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9" name="Oval 768"/>
          <p:cNvSpPr/>
          <p:nvPr/>
        </p:nvSpPr>
        <p:spPr>
          <a:xfrm>
            <a:off x="6902427" y="5029086"/>
            <a:ext cx="193563" cy="193563"/>
          </a:xfrm>
          <a:prstGeom prst="ellipse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0" name="Connector 769"/>
          <p:cNvCxnSpPr/>
          <p:nvPr/>
        </p:nvCxnSpPr>
        <p:spPr>
          <a:xfrm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6930784" y="5057443"/>
            <a:ext cx="136849" cy="136849"/>
          </a:xfrm>
          <a:prstGeom prst="line">
            <a:avLst/>
          </a:prstGeom>
          <a:ln w="95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TextBox 771"/>
          <p:cNvSpPr txBox="1"/>
          <p:nvPr/>
        </p:nvSpPr>
        <p:spPr>
          <a:xfrm>
            <a:off x="7120186" y="5050867"/>
            <a:ext cx="22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二层楼梯吊灯 F06（在楼上，S6 控）</a:t>
            </a:r>
          </a:p>
        </p:txBody>
      </p:sp>
      <p:sp>
        <p:nvSpPr>
          <p:cNvPr id="773" name="TextBox 772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774" name="TextBox 773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门厅 · 前门内侧</a:t>
            </a:r>
          </a:p>
        </p:txBody>
      </p:sp>
      <p:sp>
        <p:nvSpPr>
          <p:cNvPr id="775" name="TextBox 774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  键2=d  键3=e  键4=f</a:t>
            </a:r>
          </a:p>
        </p:txBody>
      </p:sp>
      <p:sp>
        <p:nvSpPr>
          <p:cNvPr id="776" name="TextBox 775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门厅 · 前储物间旁</a:t>
            </a:r>
          </a:p>
        </p:txBody>
      </p:sp>
      <p:sp>
        <p:nvSpPr>
          <p:cNvPr id="777" name="TextBox 776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778" name="TextBox 777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起居室侧 · 拱门旁</a:t>
            </a:r>
          </a:p>
        </p:txBody>
      </p:sp>
      <p:sp>
        <p:nvSpPr>
          <p:cNvPr id="779" name="TextBox 778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80" name="TextBox 779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楼梯口 · 拱门旁</a:t>
            </a:r>
          </a:p>
        </p:txBody>
      </p:sp>
      <p:sp>
        <p:nvSpPr>
          <p:cNvPr id="781" name="TextBox 780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键1=n  键2=d  键3=e  键4=f</a:t>
            </a:r>
          </a:p>
        </p:txBody>
      </p:sp>
      <p:sp>
        <p:nvSpPr>
          <p:cNvPr id="782" name="TextBox 781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G07 区侧 · 拱门旁</a:t>
            </a:r>
          </a:p>
        </p:txBody>
      </p:sp>
      <p:sp>
        <p:nvSpPr>
          <p:cNvPr id="783" name="TextBox 782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  键2=h  键3=i</a:t>
            </a:r>
          </a:p>
        </p:txBody>
      </p:sp>
      <p:sp>
        <p:nvSpPr>
          <p:cNvPr id="784" name="TextBox 783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楼梯底</a:t>
            </a:r>
          </a:p>
        </p:txBody>
      </p:sp>
      <p:sp>
        <p:nvSpPr>
          <p:cNvPr id="785" name="TextBox 784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键1=F06</a:t>
            </a:r>
          </a:p>
        </p:txBody>
      </p:sp>
      <p:sp>
        <p:nvSpPr>
          <p:cNvPr id="786" name="TextBox 785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G07 区东侧 · 卫生间走道口</a:t>
            </a:r>
          </a:p>
        </p:txBody>
      </p:sp>
      <p:sp>
        <p:nvSpPr>
          <p:cNvPr id="787" name="TextBox 786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788" name="TextBox 787"/>
          <p:cNvSpPr txBox="1"/>
          <p:nvPr/>
        </p:nvSpPr>
        <p:spPr>
          <a:xfrm>
            <a:off x="8710000" y="29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MK  前储物间门控开关 → b（与 S2 键 2 并联）</a:t>
            </a:r>
          </a:p>
        </p:txBody>
      </p:sp>
      <p:sp>
        <p:nvSpPr>
          <p:cNvPr id="789" name="Rectangle 788"/>
          <p:cNvSpPr/>
          <p:nvPr/>
        </p:nvSpPr>
        <p:spPr>
          <a:xfrm>
            <a:off x="399999" y="6540000"/>
            <a:ext cx="73319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133193" y="6540000"/>
            <a:ext cx="73319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TextBox 790"/>
          <p:cNvSpPr txBox="1"/>
          <p:nvPr/>
        </p:nvSpPr>
        <p:spPr>
          <a:xfrm>
            <a:off x="1906386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3812269" y="-1445597"/>
            <a:ext cx="7407753" cy="15138287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4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4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一层照明平面放大图（G15 区 · 卫生间 · 储物间）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一层照明平面放大图（G15 区 · 卫生间 · 储物间）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电施-04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600400" y="3182841"/>
            <a:ext cx="0" cy="84366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H="1">
            <a:off x="3595890" y="3182841"/>
            <a:ext cx="451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595890" y="3182841"/>
            <a:ext cx="8417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4437630" y="3182841"/>
            <a:ext cx="97001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5407647" y="3182841"/>
            <a:ext cx="0" cy="1393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5435543" y="3994283"/>
            <a:ext cx="0" cy="94885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H="1">
            <a:off x="4455541" y="4943138"/>
            <a:ext cx="98000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4455541" y="4926790"/>
            <a:ext cx="0" cy="163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H="1">
            <a:off x="3585339" y="4926790"/>
            <a:ext cx="87020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3585339" y="4914538"/>
            <a:ext cx="0" cy="1225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4918333" y="5167760"/>
            <a:ext cx="210541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7023750" y="4412187"/>
            <a:ext cx="0" cy="75557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H="1">
            <a:off x="2931770" y="5167760"/>
            <a:ext cx="198656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2931770" y="3342500"/>
            <a:ext cx="0" cy="182526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7" name="TextBox 576"/>
          <p:cNvSpPr txBox="1"/>
          <p:nvPr/>
        </p:nvSpPr>
        <p:spPr>
          <a:xfrm>
            <a:off x="5031917" y="5237658"/>
            <a:ext cx="18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WL1 引自 AL1</a:t>
            </a:r>
          </a:p>
        </p:txBody>
      </p:sp>
      <p:cxnSp>
        <p:nvCxnSpPr>
          <p:cNvPr id="578" name="Connector 577"/>
          <p:cNvCxnSpPr/>
          <p:nvPr/>
        </p:nvCxnSpPr>
        <p:spPr>
          <a:xfrm flipV="1">
            <a:off x="4918333" y="4023697"/>
            <a:ext cx="0" cy="11440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H="1">
            <a:off x="4451986" y="4023697"/>
            <a:ext cx="46634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4918333" y="3512225"/>
            <a:ext cx="0" cy="165553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4918333" y="3512225"/>
            <a:ext cx="202227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H="1">
            <a:off x="3600400" y="5167760"/>
            <a:ext cx="131793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3600400" y="4026503"/>
            <a:ext cx="0" cy="11412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 flipH="1">
            <a:off x="4455541" y="5167760"/>
            <a:ext cx="46279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 flipV="1">
            <a:off x="4455541" y="4926790"/>
            <a:ext cx="0" cy="24097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2931770" y="3342500"/>
            <a:ext cx="152021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4451986" y="3342500"/>
            <a:ext cx="0" cy="68119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2931770" y="3342500"/>
            <a:ext cx="0" cy="169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2931770" y="3512225"/>
            <a:ext cx="40088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V="1">
            <a:off x="2931770" y="3182841"/>
            <a:ext cx="0" cy="15965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931770" y="3182841"/>
            <a:ext cx="66412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2931770" y="3342500"/>
            <a:ext cx="0" cy="15720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931770" y="4914538"/>
            <a:ext cx="6535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7023750" y="4412187"/>
            <a:ext cx="1922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7215988" y="4412187"/>
            <a:ext cx="0" cy="6500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 flipH="1" flipV="1">
            <a:off x="2931770" y="3342500"/>
            <a:ext cx="1986563" cy="1825260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 flipH="1">
            <a:off x="3914535" y="4294159"/>
            <a:ext cx="111107" cy="470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 flipH="1">
            <a:off x="3892016" y="4273469"/>
            <a:ext cx="111108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 flipH="1">
            <a:off x="3869498" y="425277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 flipH="1">
            <a:off x="3846980" y="423208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 flipH="1">
            <a:off x="3824461" y="4211399"/>
            <a:ext cx="111107" cy="4702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2" name="TextBox 601"/>
          <p:cNvSpPr txBox="1"/>
          <p:nvPr/>
        </p:nvSpPr>
        <p:spPr>
          <a:xfrm>
            <a:off x="3977475" y="4115334"/>
            <a:ext cx="262116" cy="122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9</a:t>
            </a:r>
          </a:p>
        </p:txBody>
      </p:sp>
      <p:sp>
        <p:nvSpPr>
          <p:cNvPr id="603" name="Oval 602"/>
          <p:cNvSpPr/>
          <p:nvPr/>
        </p:nvSpPr>
        <p:spPr>
          <a:xfrm>
            <a:off x="4347139" y="3918851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4" name="Connector 603"/>
          <p:cNvCxnSpPr/>
          <p:nvPr/>
        </p:nvCxnSpPr>
        <p:spPr>
          <a:xfrm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 flipV="1">
            <a:off x="4377859" y="3949571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TextBox 605"/>
          <p:cNvSpPr txBox="1"/>
          <p:nvPr/>
        </p:nvSpPr>
        <p:spPr>
          <a:xfrm>
            <a:off x="4548096" y="3822741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607" name="Oval 606"/>
          <p:cNvSpPr/>
          <p:nvPr/>
        </p:nvSpPr>
        <p:spPr>
          <a:xfrm>
            <a:off x="6835758" y="3407378"/>
            <a:ext cx="209693" cy="20969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8" name="Connector 607"/>
          <p:cNvCxnSpPr/>
          <p:nvPr/>
        </p:nvCxnSpPr>
        <p:spPr>
          <a:xfrm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 flipV="1">
            <a:off x="6866478" y="3438098"/>
            <a:ext cx="148254" cy="14825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0" name="TextBox 609"/>
          <p:cNvSpPr txBox="1"/>
          <p:nvPr/>
        </p:nvSpPr>
        <p:spPr>
          <a:xfrm>
            <a:off x="7036715" y="3311269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611" name="Oval 610"/>
          <p:cNvSpPr/>
          <p:nvPr/>
        </p:nvSpPr>
        <p:spPr>
          <a:xfrm>
            <a:off x="4385644" y="4856892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433698" y="490494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TextBox 612"/>
          <p:cNvSpPr txBox="1"/>
          <p:nvPr/>
        </p:nvSpPr>
        <p:spPr>
          <a:xfrm>
            <a:off x="4551651" y="4725834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14" name="Oval 613"/>
          <p:cNvSpPr/>
          <p:nvPr/>
        </p:nvSpPr>
        <p:spPr>
          <a:xfrm>
            <a:off x="3515441" y="484464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3563496" y="48926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3681448" y="471358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17" name="Oval 616"/>
          <p:cNvSpPr/>
          <p:nvPr/>
        </p:nvSpPr>
        <p:spPr>
          <a:xfrm>
            <a:off x="3530502" y="395660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3578556" y="400466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3696509" y="3825547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0" name="Oval 619"/>
          <p:cNvSpPr/>
          <p:nvPr/>
        </p:nvSpPr>
        <p:spPr>
          <a:xfrm>
            <a:off x="352599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357404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TextBox 621"/>
          <p:cNvSpPr txBox="1"/>
          <p:nvPr/>
        </p:nvSpPr>
        <p:spPr>
          <a:xfrm>
            <a:off x="3691999" y="2981885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3" name="Oval 622"/>
          <p:cNvSpPr/>
          <p:nvPr/>
        </p:nvSpPr>
        <p:spPr>
          <a:xfrm>
            <a:off x="4367732" y="311294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4415787" y="3160998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4533739" y="2981885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6" name="Oval 625"/>
          <p:cNvSpPr/>
          <p:nvPr/>
        </p:nvSpPr>
        <p:spPr>
          <a:xfrm>
            <a:off x="5337750" y="3126880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385804" y="317493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TextBox 627"/>
          <p:cNvSpPr txBox="1"/>
          <p:nvPr/>
        </p:nvSpPr>
        <p:spPr>
          <a:xfrm>
            <a:off x="5503757" y="299582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629" name="Oval 628"/>
          <p:cNvSpPr/>
          <p:nvPr/>
        </p:nvSpPr>
        <p:spPr>
          <a:xfrm>
            <a:off x="5365645" y="3924386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5413700" y="3972440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5531653" y="3793327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32" name="Oval 631"/>
          <p:cNvSpPr/>
          <p:nvPr/>
        </p:nvSpPr>
        <p:spPr>
          <a:xfrm>
            <a:off x="5365645" y="4873241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413700" y="4921295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TextBox 633"/>
          <p:cNvSpPr txBox="1"/>
          <p:nvPr/>
        </p:nvSpPr>
        <p:spPr>
          <a:xfrm>
            <a:off x="5531653" y="4742182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635" name="Oval 634"/>
          <p:cNvSpPr/>
          <p:nvPr/>
        </p:nvSpPr>
        <p:spPr>
          <a:xfrm>
            <a:off x="7146090" y="4992383"/>
            <a:ext cx="139795" cy="139795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7194145" y="5040437"/>
            <a:ext cx="43686" cy="436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TextBox 636"/>
          <p:cNvSpPr txBox="1"/>
          <p:nvPr/>
        </p:nvSpPr>
        <p:spPr>
          <a:xfrm>
            <a:off x="7312097" y="4861324"/>
            <a:ext cx="174744" cy="131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o</a:t>
            </a:r>
          </a:p>
        </p:txBody>
      </p:sp>
      <p:sp>
        <p:nvSpPr>
          <p:cNvPr id="638" name="Oval 637"/>
          <p:cNvSpPr/>
          <p:nvPr/>
        </p:nvSpPr>
        <p:spPr>
          <a:xfrm>
            <a:off x="4886879" y="513630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9" name="Connector 638"/>
          <p:cNvCxnSpPr/>
          <p:nvPr/>
        </p:nvCxnSpPr>
        <p:spPr>
          <a:xfrm flipV="1">
            <a:off x="4918333" y="5049139"/>
            <a:ext cx="118620" cy="1186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5036953" y="5049139"/>
            <a:ext cx="29655" cy="2965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>
            <a:off x="5015602" y="5070491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>
            <a:off x="4994250" y="5091843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>
            <a:off x="4972898" y="5113195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H="1">
            <a:off x="4829367" y="5167760"/>
            <a:ext cx="88966" cy="8896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H="1" flipV="1">
            <a:off x="4799712" y="5227070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6" name="TextBox 645"/>
          <p:cNvSpPr txBox="1"/>
          <p:nvPr/>
        </p:nvSpPr>
        <p:spPr>
          <a:xfrm>
            <a:off x="5054428" y="490934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647" name="Oval 646"/>
          <p:cNvSpPr/>
          <p:nvPr/>
        </p:nvSpPr>
        <p:spPr>
          <a:xfrm>
            <a:off x="2900316" y="3311046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8" name="Connector 647"/>
          <p:cNvCxnSpPr/>
          <p:nvPr/>
        </p:nvCxnSpPr>
        <p:spPr>
          <a:xfrm flipV="1">
            <a:off x="2931770" y="3223879"/>
            <a:ext cx="118621" cy="1186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3050391" y="3223879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3029039" y="3245231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3007687" y="3266582"/>
            <a:ext cx="29656" cy="2965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2986336" y="3287934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 flipH="1">
            <a:off x="2842805" y="3342500"/>
            <a:ext cx="88965" cy="8896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 flipH="1" flipV="1">
            <a:off x="2813150" y="3401810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5" name="TextBox 654"/>
          <p:cNvSpPr txBox="1"/>
          <p:nvPr/>
        </p:nvSpPr>
        <p:spPr>
          <a:xfrm>
            <a:off x="3067865" y="30840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656" name="Oval 655"/>
          <p:cNvSpPr/>
          <p:nvPr/>
        </p:nvSpPr>
        <p:spPr>
          <a:xfrm>
            <a:off x="6992296" y="4380733"/>
            <a:ext cx="62907" cy="62907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7" name="Connector 656"/>
          <p:cNvCxnSpPr/>
          <p:nvPr/>
        </p:nvCxnSpPr>
        <p:spPr>
          <a:xfrm flipV="1">
            <a:off x="7023750" y="4293567"/>
            <a:ext cx="118620" cy="1186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7142370" y="4293567"/>
            <a:ext cx="29655" cy="2965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TextBox 658"/>
          <p:cNvSpPr txBox="1"/>
          <p:nvPr/>
        </p:nvSpPr>
        <p:spPr>
          <a:xfrm>
            <a:off x="7159844" y="415377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G15 区南门旁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G15 区 · 储物间门旁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键1=j  键2=k  键3=l  键4=m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卫生间门外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键1=o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400000" y="6540000"/>
            <a:ext cx="794292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194292" y="6540000"/>
            <a:ext cx="794292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TextBox 668"/>
          <p:cNvSpPr txBox="1"/>
          <p:nvPr/>
        </p:nvSpPr>
        <p:spPr>
          <a:xfrm>
            <a:off x="2028585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37" name="Group 536">
            <a:extLst>
              <a:ext uri="{FF2B5EF4-FFF2-40B4-BE49-F238E27FC236}">
                <a16:creationId xmlns:a16="http://schemas.microsoft.com/office/drawing/2014/main" id="{C0720C8A-57E7-2187-373E-7A1E2B212779}"/>
              </a:ext>
            </a:extLst>
          </p:cNvPr>
          <p:cNvGrpSpPr/>
          <p:nvPr/>
        </p:nvGrpSpPr>
        <p:grpSpPr>
          <a:xfrm rot="5400000">
            <a:off x="-1280212" y="-1604295"/>
            <a:ext cx="5327267" cy="10886662"/>
            <a:chOff x="358703" y="843064"/>
            <a:chExt cx="2312689" cy="4726150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5E1F18B8-B18C-FAFE-C9CA-5201F7783D28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8703" y="1008790"/>
              <a:ext cx="2244687" cy="4199488"/>
              <a:chOff x="358703" y="1008790"/>
              <a:chExt cx="2244687" cy="4199488"/>
            </a:xfrm>
          </p:grpSpPr>
          <p:sp>
            <p:nvSpPr>
              <p:cNvPr id="4" name="墙_GF_Wall_Shell">
                <a:extLst>
                  <a:ext uri="{FF2B5EF4-FFF2-40B4-BE49-F238E27FC236}">
                    <a16:creationId xmlns:a16="http://schemas.microsoft.com/office/drawing/2014/main" id="{184A8DC7-17CB-F4DE-A1A9-66AAE14C41A4}"/>
                  </a:ext>
                </a:extLst>
              </p:cNvPr>
              <p:cNvSpPr/>
              <p:nvPr/>
            </p:nvSpPr>
            <p:spPr>
              <a:xfrm>
                <a:off x="358703" y="1008790"/>
                <a:ext cx="2244687" cy="4199488"/>
              </a:xfrm>
              <a:custGeom>
                <a:avLst/>
                <a:gdLst/>
                <a:ahLst/>
                <a:cxnLst/>
                <a:rect l="l" t="t" r="r" b="b"/>
                <a:pathLst>
                  <a:path w="2244687" h="4199488">
                    <a:moveTo>
                      <a:pt x="1918764" y="3678985"/>
                    </a:moveTo>
                    <a:lnTo>
                      <a:pt x="1918764" y="3601616"/>
                    </a:lnTo>
                    <a:lnTo>
                      <a:pt x="1918516" y="3601616"/>
                    </a:lnTo>
                    <a:lnTo>
                      <a:pt x="1918516" y="3596607"/>
                    </a:lnTo>
                    <a:lnTo>
                      <a:pt x="1944775" y="3596607"/>
                    </a:lnTo>
                    <a:lnTo>
                      <a:pt x="1944775" y="3560154"/>
                    </a:lnTo>
                    <a:lnTo>
                      <a:pt x="1918516" y="3560154"/>
                    </a:lnTo>
                    <a:lnTo>
                      <a:pt x="1918516" y="3166664"/>
                    </a:lnTo>
                    <a:lnTo>
                      <a:pt x="1918516" y="2968283"/>
                    </a:lnTo>
                    <a:lnTo>
                      <a:pt x="1902895" y="2968283"/>
                    </a:lnTo>
                    <a:lnTo>
                      <a:pt x="1902895" y="2953404"/>
                    </a:lnTo>
                    <a:lnTo>
                      <a:pt x="1732519" y="2953404"/>
                    </a:lnTo>
                    <a:lnTo>
                      <a:pt x="1672685" y="2953404"/>
                    </a:lnTo>
                    <a:lnTo>
                      <a:pt x="1659667" y="2953404"/>
                    </a:lnTo>
                    <a:lnTo>
                      <a:pt x="1659667" y="2983162"/>
                    </a:lnTo>
                    <a:lnTo>
                      <a:pt x="1702590" y="2983162"/>
                    </a:lnTo>
                    <a:lnTo>
                      <a:pt x="1887298" y="2983162"/>
                    </a:lnTo>
                    <a:lnTo>
                      <a:pt x="1887298" y="3166664"/>
                    </a:lnTo>
                    <a:lnTo>
                      <a:pt x="1887298" y="3578306"/>
                    </a:lnTo>
                    <a:lnTo>
                      <a:pt x="1887298" y="3601616"/>
                    </a:lnTo>
                    <a:lnTo>
                      <a:pt x="1887050" y="3601616"/>
                    </a:lnTo>
                    <a:lnTo>
                      <a:pt x="1887050" y="3678985"/>
                    </a:lnTo>
                    <a:close/>
                    <a:moveTo>
                      <a:pt x="2133228" y="3560154"/>
                    </a:moveTo>
                    <a:lnTo>
                      <a:pt x="2133228" y="3596607"/>
                    </a:lnTo>
                    <a:lnTo>
                      <a:pt x="2185176" y="3596607"/>
                    </a:lnTo>
                    <a:lnTo>
                      <a:pt x="2185176" y="3945312"/>
                    </a:lnTo>
                    <a:lnTo>
                      <a:pt x="2194598" y="3945312"/>
                    </a:lnTo>
                    <a:lnTo>
                      <a:pt x="2194598" y="3973829"/>
                    </a:lnTo>
                    <a:lnTo>
                      <a:pt x="2207493" y="3973829"/>
                    </a:lnTo>
                    <a:lnTo>
                      <a:pt x="2207493" y="3945312"/>
                    </a:lnTo>
                    <a:lnTo>
                      <a:pt x="2211212" y="3945312"/>
                    </a:lnTo>
                    <a:lnTo>
                      <a:pt x="2237248" y="3945312"/>
                    </a:lnTo>
                    <a:lnTo>
                      <a:pt x="2237248" y="3578306"/>
                    </a:lnTo>
                    <a:lnTo>
                      <a:pt x="2237248" y="3166664"/>
                    </a:lnTo>
                    <a:lnTo>
                      <a:pt x="2237248" y="2968283"/>
                    </a:lnTo>
                    <a:lnTo>
                      <a:pt x="2237248" y="2799659"/>
                    </a:lnTo>
                    <a:lnTo>
                      <a:pt x="2237248" y="2008613"/>
                    </a:lnTo>
                    <a:lnTo>
                      <a:pt x="2244687" y="2008613"/>
                    </a:lnTo>
                    <a:lnTo>
                      <a:pt x="2244687" y="1730878"/>
                    </a:lnTo>
                    <a:lnTo>
                      <a:pt x="2244687" y="1383711"/>
                    </a:lnTo>
                    <a:lnTo>
                      <a:pt x="2244687" y="1066300"/>
                    </a:lnTo>
                    <a:lnTo>
                      <a:pt x="2244687" y="369486"/>
                    </a:lnTo>
                    <a:lnTo>
                      <a:pt x="2244687" y="28517"/>
                    </a:lnTo>
                    <a:lnTo>
                      <a:pt x="2214931" y="28517"/>
                    </a:lnTo>
                    <a:lnTo>
                      <a:pt x="2214931" y="0"/>
                    </a:lnTo>
                    <a:lnTo>
                      <a:pt x="2087602" y="0"/>
                    </a:lnTo>
                    <a:lnTo>
                      <a:pt x="1931509" y="0"/>
                    </a:lnTo>
                    <a:lnTo>
                      <a:pt x="1739016" y="0"/>
                    </a:lnTo>
                    <a:lnTo>
                      <a:pt x="1739016" y="28517"/>
                    </a:lnTo>
                    <a:lnTo>
                      <a:pt x="1739016" y="57035"/>
                    </a:lnTo>
                    <a:lnTo>
                      <a:pt x="1931509" y="57035"/>
                    </a:lnTo>
                    <a:lnTo>
                      <a:pt x="2087602" y="57035"/>
                    </a:lnTo>
                    <a:lnTo>
                      <a:pt x="2214931" y="57035"/>
                    </a:lnTo>
                    <a:lnTo>
                      <a:pt x="2214931" y="87437"/>
                    </a:lnTo>
                    <a:lnTo>
                      <a:pt x="2185176" y="87437"/>
                    </a:lnTo>
                    <a:lnTo>
                      <a:pt x="2185176" y="354607"/>
                    </a:lnTo>
                    <a:lnTo>
                      <a:pt x="1675289" y="354607"/>
                    </a:lnTo>
                    <a:lnTo>
                      <a:pt x="1675289" y="384364"/>
                    </a:lnTo>
                    <a:lnTo>
                      <a:pt x="2185176" y="384364"/>
                    </a:lnTo>
                    <a:lnTo>
                      <a:pt x="2185176" y="1031584"/>
                    </a:lnTo>
                    <a:lnTo>
                      <a:pt x="2056384" y="1031584"/>
                    </a:lnTo>
                    <a:lnTo>
                      <a:pt x="2056384" y="1101017"/>
                    </a:lnTo>
                    <a:lnTo>
                      <a:pt x="2185176" y="1101017"/>
                    </a:lnTo>
                    <a:lnTo>
                      <a:pt x="2185176" y="1383711"/>
                    </a:lnTo>
                    <a:lnTo>
                      <a:pt x="2185176" y="1730878"/>
                    </a:lnTo>
                    <a:lnTo>
                      <a:pt x="2185176" y="1993734"/>
                    </a:lnTo>
                    <a:lnTo>
                      <a:pt x="1948669" y="1993734"/>
                    </a:lnTo>
                    <a:lnTo>
                      <a:pt x="1948669" y="2023491"/>
                    </a:lnTo>
                    <a:lnTo>
                      <a:pt x="2177737" y="2023491"/>
                    </a:lnTo>
                    <a:lnTo>
                      <a:pt x="2177737" y="2008613"/>
                    </a:lnTo>
                    <a:lnTo>
                      <a:pt x="2185176" y="2008613"/>
                    </a:lnTo>
                    <a:lnTo>
                      <a:pt x="2185176" y="2799659"/>
                    </a:lnTo>
                    <a:lnTo>
                      <a:pt x="2185176" y="2968283"/>
                    </a:lnTo>
                    <a:lnTo>
                      <a:pt x="2185176" y="3166664"/>
                    </a:lnTo>
                    <a:lnTo>
                      <a:pt x="2185176" y="3560154"/>
                    </a:lnTo>
                    <a:close/>
                    <a:moveTo>
                      <a:pt x="1407811" y="0"/>
                    </a:moveTo>
                    <a:lnTo>
                      <a:pt x="1427648" y="0"/>
                    </a:lnTo>
                    <a:lnTo>
                      <a:pt x="1427648" y="28517"/>
                    </a:lnTo>
                    <a:lnTo>
                      <a:pt x="1436327" y="28517"/>
                    </a:lnTo>
                    <a:lnTo>
                      <a:pt x="1436327" y="109135"/>
                    </a:lnTo>
                    <a:lnTo>
                      <a:pt x="1407811" y="109135"/>
                    </a:lnTo>
                    <a:lnTo>
                      <a:pt x="1379295" y="109135"/>
                    </a:lnTo>
                    <a:lnTo>
                      <a:pt x="1379295" y="28517"/>
                    </a:lnTo>
                    <a:lnTo>
                      <a:pt x="1407811" y="28517"/>
                    </a:lnTo>
                    <a:close/>
                    <a:moveTo>
                      <a:pt x="730872" y="2017292"/>
                    </a:moveTo>
                    <a:lnTo>
                      <a:pt x="879650" y="2017292"/>
                    </a:lnTo>
                    <a:lnTo>
                      <a:pt x="944120" y="2017292"/>
                    </a:lnTo>
                    <a:lnTo>
                      <a:pt x="1026444" y="2017292"/>
                    </a:lnTo>
                    <a:lnTo>
                      <a:pt x="1026444" y="2045809"/>
                    </a:lnTo>
                    <a:lnTo>
                      <a:pt x="1026444" y="2074326"/>
                    </a:lnTo>
                    <a:lnTo>
                      <a:pt x="958998" y="2074326"/>
                    </a:lnTo>
                    <a:lnTo>
                      <a:pt x="958998" y="2462410"/>
                    </a:lnTo>
                    <a:lnTo>
                      <a:pt x="958998" y="2693029"/>
                    </a:lnTo>
                    <a:lnTo>
                      <a:pt x="929242" y="2693029"/>
                    </a:lnTo>
                    <a:lnTo>
                      <a:pt x="929242" y="2477289"/>
                    </a:lnTo>
                    <a:lnTo>
                      <a:pt x="651523" y="2477289"/>
                    </a:lnTo>
                    <a:lnTo>
                      <a:pt x="651523" y="2447532"/>
                    </a:lnTo>
                    <a:lnTo>
                      <a:pt x="651523" y="2316104"/>
                    </a:lnTo>
                    <a:lnTo>
                      <a:pt x="681279" y="2316104"/>
                    </a:lnTo>
                    <a:lnTo>
                      <a:pt x="681279" y="2447532"/>
                    </a:lnTo>
                    <a:lnTo>
                      <a:pt x="929242" y="2447532"/>
                    </a:lnTo>
                    <a:lnTo>
                      <a:pt x="929242" y="2074326"/>
                    </a:lnTo>
                    <a:lnTo>
                      <a:pt x="879650" y="2074326"/>
                    </a:lnTo>
                    <a:lnTo>
                      <a:pt x="730872" y="2074326"/>
                    </a:lnTo>
                    <a:lnTo>
                      <a:pt x="681279" y="2074326"/>
                    </a:lnTo>
                    <a:lnTo>
                      <a:pt x="681279" y="2147480"/>
                    </a:lnTo>
                    <a:lnTo>
                      <a:pt x="651523" y="2147480"/>
                    </a:lnTo>
                    <a:lnTo>
                      <a:pt x="651523" y="2086428"/>
                    </a:lnTo>
                    <a:lnTo>
                      <a:pt x="652639" y="2086428"/>
                    </a:lnTo>
                    <a:lnTo>
                      <a:pt x="652639" y="2017292"/>
                    </a:lnTo>
                    <a:close/>
                    <a:moveTo>
                      <a:pt x="130677" y="2074326"/>
                    </a:moveTo>
                    <a:lnTo>
                      <a:pt x="130677" y="2017292"/>
                    </a:lnTo>
                    <a:lnTo>
                      <a:pt x="29136" y="2017292"/>
                    </a:lnTo>
                    <a:lnTo>
                      <a:pt x="0" y="2017292"/>
                    </a:lnTo>
                    <a:lnTo>
                      <a:pt x="0" y="2074326"/>
                    </a:lnTo>
                    <a:lnTo>
                      <a:pt x="620" y="2074326"/>
                    </a:lnTo>
                    <a:lnTo>
                      <a:pt x="620" y="2536803"/>
                    </a:lnTo>
                    <a:lnTo>
                      <a:pt x="620" y="3684936"/>
                    </a:lnTo>
                    <a:lnTo>
                      <a:pt x="620" y="3823803"/>
                    </a:lnTo>
                    <a:lnTo>
                      <a:pt x="29136" y="3823803"/>
                    </a:lnTo>
                    <a:lnTo>
                      <a:pt x="29136" y="3852320"/>
                    </a:lnTo>
                    <a:lnTo>
                      <a:pt x="175434" y="3852320"/>
                    </a:lnTo>
                    <a:lnTo>
                      <a:pt x="175434" y="3823803"/>
                    </a:lnTo>
                    <a:lnTo>
                      <a:pt x="175434" y="3795286"/>
                    </a:lnTo>
                    <a:lnTo>
                      <a:pt x="57651" y="3795286"/>
                    </a:lnTo>
                    <a:lnTo>
                      <a:pt x="57651" y="3713453"/>
                    </a:lnTo>
                    <a:lnTo>
                      <a:pt x="89143" y="3713453"/>
                    </a:lnTo>
                    <a:lnTo>
                      <a:pt x="89143" y="3684936"/>
                    </a:lnTo>
                    <a:lnTo>
                      <a:pt x="89143" y="3656419"/>
                    </a:lnTo>
                    <a:lnTo>
                      <a:pt x="57651" y="3656419"/>
                    </a:lnTo>
                    <a:lnTo>
                      <a:pt x="57651" y="2536803"/>
                    </a:lnTo>
                    <a:lnTo>
                      <a:pt x="57651" y="2074326"/>
                    </a:lnTo>
                    <a:close/>
                    <a:moveTo>
                      <a:pt x="1027188" y="2953404"/>
                    </a:moveTo>
                    <a:lnTo>
                      <a:pt x="1027188" y="2983162"/>
                    </a:lnTo>
                    <a:lnTo>
                      <a:pt x="958998" y="2983162"/>
                    </a:lnTo>
                    <a:lnTo>
                      <a:pt x="958998" y="2968283"/>
                    </a:lnTo>
                    <a:lnTo>
                      <a:pt x="944120" y="2968283"/>
                    </a:lnTo>
                    <a:lnTo>
                      <a:pt x="944120" y="2953404"/>
                    </a:lnTo>
                    <a:close/>
                    <a:moveTo>
                      <a:pt x="672104" y="3656419"/>
                    </a:moveTo>
                    <a:lnTo>
                      <a:pt x="672104" y="3684936"/>
                    </a:lnTo>
                    <a:lnTo>
                      <a:pt x="672104" y="3713453"/>
                    </a:lnTo>
                    <a:lnTo>
                      <a:pt x="680039" y="3713453"/>
                    </a:lnTo>
                    <a:lnTo>
                      <a:pt x="680039" y="3823803"/>
                    </a:lnTo>
                    <a:lnTo>
                      <a:pt x="708555" y="3823803"/>
                    </a:lnTo>
                    <a:close/>
                    <a:moveTo>
                      <a:pt x="708555" y="3656419"/>
                    </a:moveTo>
                    <a:lnTo>
                      <a:pt x="708555" y="3684936"/>
                    </a:lnTo>
                    <a:lnTo>
                      <a:pt x="737071" y="3684936"/>
                    </a:lnTo>
                    <a:lnTo>
                      <a:pt x="737071" y="3795286"/>
                    </a:lnTo>
                    <a:lnTo>
                      <a:pt x="929242" y="3795286"/>
                    </a:lnTo>
                    <a:lnTo>
                      <a:pt x="929242" y="3823803"/>
                    </a:lnTo>
                    <a:lnTo>
                      <a:pt x="944120" y="3823803"/>
                    </a:lnTo>
                    <a:lnTo>
                      <a:pt x="946352" y="3823803"/>
                    </a:lnTo>
                    <a:lnTo>
                      <a:pt x="958998" y="3823803"/>
                    </a:lnTo>
                    <a:lnTo>
                      <a:pt x="972636" y="3823803"/>
                    </a:lnTo>
                    <a:lnTo>
                      <a:pt x="972636" y="3945312"/>
                    </a:lnTo>
                    <a:lnTo>
                      <a:pt x="972636" y="4015985"/>
                    </a:lnTo>
                    <a:lnTo>
                      <a:pt x="1100337" y="4015985"/>
                    </a:lnTo>
                    <a:lnTo>
                      <a:pt x="1100337" y="4040386"/>
                    </a:lnTo>
                    <a:lnTo>
                      <a:pt x="1114223" y="4021565"/>
                    </a:lnTo>
                    <a:lnTo>
                      <a:pt x="1149334" y="4047528"/>
                    </a:lnTo>
                    <a:lnTo>
                      <a:pt x="1132374" y="4070441"/>
                    </a:lnTo>
                    <a:lnTo>
                      <a:pt x="1115438" y="4093379"/>
                    </a:lnTo>
                    <a:lnTo>
                      <a:pt x="1087889" y="4073020"/>
                    </a:lnTo>
                    <a:lnTo>
                      <a:pt x="944120" y="4073020"/>
                    </a:lnTo>
                    <a:lnTo>
                      <a:pt x="944120" y="4044502"/>
                    </a:lnTo>
                    <a:lnTo>
                      <a:pt x="915604" y="4044502"/>
                    </a:lnTo>
                    <a:lnTo>
                      <a:pt x="915604" y="3945312"/>
                    </a:lnTo>
                    <a:lnTo>
                      <a:pt x="915604" y="3852320"/>
                    </a:lnTo>
                    <a:lnTo>
                      <a:pt x="708555" y="3852320"/>
                    </a:lnTo>
                    <a:lnTo>
                      <a:pt x="708555" y="3823803"/>
                    </a:lnTo>
                    <a:close/>
                    <a:moveTo>
                      <a:pt x="1926848" y="3916794"/>
                    </a:moveTo>
                    <a:lnTo>
                      <a:pt x="1913309" y="3916794"/>
                    </a:lnTo>
                    <a:lnTo>
                      <a:pt x="1913309" y="3930433"/>
                    </a:lnTo>
                    <a:lnTo>
                      <a:pt x="1902895" y="3930433"/>
                    </a:lnTo>
                    <a:lnTo>
                      <a:pt x="1902895" y="3941493"/>
                    </a:lnTo>
                    <a:lnTo>
                      <a:pt x="1883405" y="3941468"/>
                    </a:lnTo>
                    <a:lnTo>
                      <a:pt x="1883405" y="4015985"/>
                    </a:lnTo>
                    <a:lnTo>
                      <a:pt x="1691605" y="4015985"/>
                    </a:lnTo>
                    <a:lnTo>
                      <a:pt x="1691605" y="4016828"/>
                    </a:lnTo>
                    <a:lnTo>
                      <a:pt x="1691233" y="4016233"/>
                    </a:lnTo>
                    <a:lnTo>
                      <a:pt x="1651361" y="4046585"/>
                    </a:lnTo>
                    <a:lnTo>
                      <a:pt x="1669834" y="4069003"/>
                    </a:lnTo>
                    <a:lnTo>
                      <a:pt x="1688307" y="4091444"/>
                    </a:lnTo>
                    <a:lnTo>
                      <a:pt x="1721063" y="4066944"/>
                    </a:lnTo>
                    <a:lnTo>
                      <a:pt x="1712930" y="4073020"/>
                    </a:lnTo>
                    <a:lnTo>
                      <a:pt x="1913309" y="4073020"/>
                    </a:lnTo>
                    <a:lnTo>
                      <a:pt x="1913309" y="4044502"/>
                    </a:lnTo>
                    <a:lnTo>
                      <a:pt x="1943238" y="4044502"/>
                    </a:lnTo>
                    <a:lnTo>
                      <a:pt x="1943238" y="3941468"/>
                    </a:lnTo>
                    <a:lnTo>
                      <a:pt x="1926848" y="3941468"/>
                    </a:lnTo>
                    <a:close/>
                    <a:moveTo>
                      <a:pt x="1407811" y="318427"/>
                    </a:moveTo>
                    <a:lnTo>
                      <a:pt x="1379295" y="318427"/>
                    </a:lnTo>
                    <a:lnTo>
                      <a:pt x="1379295" y="369486"/>
                    </a:lnTo>
                    <a:lnTo>
                      <a:pt x="1379295" y="534167"/>
                    </a:lnTo>
                    <a:lnTo>
                      <a:pt x="1407811" y="534167"/>
                    </a:lnTo>
                    <a:lnTo>
                      <a:pt x="1436327" y="534167"/>
                    </a:lnTo>
                    <a:lnTo>
                      <a:pt x="1436327" y="369486"/>
                    </a:lnTo>
                    <a:lnTo>
                      <a:pt x="1436327" y="318427"/>
                    </a:lnTo>
                    <a:close/>
                    <a:moveTo>
                      <a:pt x="1407811" y="901693"/>
                    </a:moveTo>
                    <a:lnTo>
                      <a:pt x="1379295" y="901693"/>
                    </a:lnTo>
                    <a:lnTo>
                      <a:pt x="1379295" y="1066300"/>
                    </a:lnTo>
                    <a:lnTo>
                      <a:pt x="1379295" y="1475462"/>
                    </a:lnTo>
                    <a:lnTo>
                      <a:pt x="1407811" y="1475462"/>
                    </a:lnTo>
                    <a:lnTo>
                      <a:pt x="1436327" y="1475462"/>
                    </a:lnTo>
                    <a:lnTo>
                      <a:pt x="1436327" y="1066300"/>
                    </a:lnTo>
                    <a:lnTo>
                      <a:pt x="1436327" y="901693"/>
                    </a:lnTo>
                    <a:close/>
                    <a:moveTo>
                      <a:pt x="1233270" y="4145032"/>
                    </a:moveTo>
                    <a:lnTo>
                      <a:pt x="1216334" y="4167970"/>
                    </a:lnTo>
                    <a:lnTo>
                      <a:pt x="1254991" y="4196537"/>
                    </a:lnTo>
                    <a:lnTo>
                      <a:pt x="1267414" y="4179352"/>
                    </a:lnTo>
                    <a:lnTo>
                      <a:pt x="1265877" y="4199488"/>
                    </a:lnTo>
                    <a:lnTo>
                      <a:pt x="1275647" y="4199488"/>
                    </a:lnTo>
                    <a:lnTo>
                      <a:pt x="1275647" y="4170971"/>
                    </a:lnTo>
                    <a:lnTo>
                      <a:pt x="1275647" y="4166086"/>
                    </a:lnTo>
                    <a:lnTo>
                      <a:pt x="1285317" y="4148033"/>
                    </a:lnTo>
                    <a:lnTo>
                      <a:pt x="1250231" y="4122094"/>
                    </a:lnTo>
                    <a:close/>
                    <a:moveTo>
                      <a:pt x="1702267" y="2008637"/>
                    </a:moveTo>
                    <a:lnTo>
                      <a:pt x="1705193" y="2008613"/>
                    </a:lnTo>
                    <a:lnTo>
                      <a:pt x="1728328" y="2008613"/>
                    </a:lnTo>
                    <a:lnTo>
                      <a:pt x="1743851" y="2008613"/>
                    </a:lnTo>
                    <a:lnTo>
                      <a:pt x="1759547" y="2008613"/>
                    </a:lnTo>
                    <a:lnTo>
                      <a:pt x="1759497" y="2045809"/>
                    </a:lnTo>
                    <a:lnTo>
                      <a:pt x="1759473" y="2083006"/>
                    </a:lnTo>
                    <a:lnTo>
                      <a:pt x="1705193" y="2083006"/>
                    </a:lnTo>
                    <a:lnTo>
                      <a:pt x="1702243" y="2083006"/>
                    </a:lnTo>
                    <a:lnTo>
                      <a:pt x="1407811" y="2083006"/>
                    </a:lnTo>
                    <a:lnTo>
                      <a:pt x="1407811" y="2074326"/>
                    </a:lnTo>
                    <a:lnTo>
                      <a:pt x="1325487" y="2074326"/>
                    </a:lnTo>
                    <a:lnTo>
                      <a:pt x="1325487" y="2045809"/>
                    </a:lnTo>
                    <a:lnTo>
                      <a:pt x="1325487" y="2017292"/>
                    </a:lnTo>
                    <a:lnTo>
                      <a:pt x="1379295" y="2017292"/>
                    </a:lnTo>
                    <a:lnTo>
                      <a:pt x="1379295" y="1882144"/>
                    </a:lnTo>
                    <a:lnTo>
                      <a:pt x="1407811" y="1882144"/>
                    </a:lnTo>
                    <a:lnTo>
                      <a:pt x="1436327" y="1882144"/>
                    </a:lnTo>
                    <a:lnTo>
                      <a:pt x="1436327" y="2008613"/>
                    </a:lnTo>
                    <a:close/>
                    <a:moveTo>
                      <a:pt x="1542629" y="4199488"/>
                    </a:moveTo>
                    <a:lnTo>
                      <a:pt x="1529090" y="4199488"/>
                    </a:lnTo>
                    <a:lnTo>
                      <a:pt x="1529090" y="4173773"/>
                    </a:lnTo>
                    <a:lnTo>
                      <a:pt x="1515055" y="4148529"/>
                    </a:lnTo>
                    <a:lnTo>
                      <a:pt x="1547811" y="4124029"/>
                    </a:lnTo>
                    <a:lnTo>
                      <a:pt x="1566284" y="4146471"/>
                    </a:lnTo>
                    <a:lnTo>
                      <a:pt x="1584733" y="4168912"/>
                    </a:lnTo>
                    <a:lnTo>
                      <a:pt x="1544885" y="4199240"/>
                    </a:lnTo>
                    <a:lnTo>
                      <a:pt x="1541959" y="419452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Wall_GF_KitchenSmallWindow_Infill">
                <a:extLst>
                  <a:ext uri="{FF2B5EF4-FFF2-40B4-BE49-F238E27FC236}">
                    <a16:creationId xmlns:a16="http://schemas.microsoft.com/office/drawing/2014/main" id="{7F35B348-141E-82D2-814C-2105AE8F9159}"/>
                  </a:ext>
                </a:extLst>
              </p:cNvPr>
              <p:cNvSpPr/>
              <p:nvPr/>
            </p:nvSpPr>
            <p:spPr>
              <a:xfrm>
                <a:off x="1737874" y="1229192"/>
                <a:ext cx="57032" cy="97951"/>
              </a:xfrm>
              <a:custGeom>
                <a:avLst/>
                <a:gdLst/>
                <a:ahLst/>
                <a:cxnLst/>
                <a:rect l="l" t="t" r="r" b="b"/>
                <a:pathLst>
                  <a:path w="57032" h="97951">
                    <a:moveTo>
                      <a:pt x="57032" y="0"/>
                    </a:moveTo>
                    <a:lnTo>
                      <a:pt x="57032" y="97951"/>
                    </a:lnTo>
                    <a:lnTo>
                      <a:pt x="0" y="979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Stair_Tread_06">
                <a:extLst>
                  <a:ext uri="{FF2B5EF4-FFF2-40B4-BE49-F238E27FC236}">
                    <a16:creationId xmlns:a16="http://schemas.microsoft.com/office/drawing/2014/main" id="{1896FE24-C49E-2E98-4BBA-6DE36034CED1}"/>
                  </a:ext>
                </a:extLst>
              </p:cNvPr>
              <p:cNvSpPr/>
              <p:nvPr/>
            </p:nvSpPr>
            <p:spPr>
              <a:xfrm>
                <a:off x="2303231" y="3467704"/>
                <a:ext cx="240648" cy="54927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54927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54927"/>
                    </a:lnTo>
                    <a:lnTo>
                      <a:pt x="0" y="5492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Stair_Riser_06">
                <a:extLst>
                  <a:ext uri="{FF2B5EF4-FFF2-40B4-BE49-F238E27FC236}">
                    <a16:creationId xmlns:a16="http://schemas.microsoft.com/office/drawing/2014/main" id="{7583E6B4-0B00-91CB-C458-3EC6D265A8C4}"/>
                  </a:ext>
                </a:extLst>
              </p:cNvPr>
              <p:cNvSpPr/>
              <p:nvPr/>
            </p:nvSpPr>
            <p:spPr>
              <a:xfrm>
                <a:off x="2303231" y="3515166"/>
                <a:ext cx="240648" cy="7465"/>
              </a:xfrm>
              <a:custGeom>
                <a:avLst/>
                <a:gdLst/>
                <a:ahLst/>
                <a:cxnLst/>
                <a:rect l="l" t="t" r="r" b="b"/>
                <a:pathLst>
                  <a:path w="240648" h="7465">
                    <a:moveTo>
                      <a:pt x="0" y="0"/>
                    </a:moveTo>
                    <a:lnTo>
                      <a:pt x="240648" y="0"/>
                    </a:lnTo>
                    <a:lnTo>
                      <a:pt x="240648" y="7465"/>
                    </a:lnTo>
                    <a:lnTo>
                      <a:pt x="0" y="746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Stair_Baluster">
                <a:extLst>
                  <a:ext uri="{FF2B5EF4-FFF2-40B4-BE49-F238E27FC236}">
                    <a16:creationId xmlns:a16="http://schemas.microsoft.com/office/drawing/2014/main" id="{01BB6607-B57E-0D3A-AA1D-2F847212E4A6}"/>
                  </a:ext>
                </a:extLst>
              </p:cNvPr>
              <p:cNvSpPr/>
              <p:nvPr/>
            </p:nvSpPr>
            <p:spPr>
              <a:xfrm>
                <a:off x="2307074" y="3729443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Stair_Baluster.001">
                <a:extLst>
                  <a:ext uri="{FF2B5EF4-FFF2-40B4-BE49-F238E27FC236}">
                    <a16:creationId xmlns:a16="http://schemas.microsoft.com/office/drawing/2014/main" id="{BECDFC8D-723E-A482-7907-EB16CF938CDD}"/>
                  </a:ext>
                </a:extLst>
              </p:cNvPr>
              <p:cNvSpPr/>
              <p:nvPr/>
            </p:nvSpPr>
            <p:spPr>
              <a:xfrm>
                <a:off x="2307074" y="3712184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3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4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墙_Stair_Baluster.002">
                <a:extLst>
                  <a:ext uri="{FF2B5EF4-FFF2-40B4-BE49-F238E27FC236}">
                    <a16:creationId xmlns:a16="http://schemas.microsoft.com/office/drawing/2014/main" id="{C139AE8C-6413-A531-B496-2EB8FE8F6E88}"/>
                  </a:ext>
                </a:extLst>
              </p:cNvPr>
              <p:cNvSpPr/>
              <p:nvPr/>
            </p:nvSpPr>
            <p:spPr>
              <a:xfrm>
                <a:off x="2303503" y="3694925"/>
                <a:ext cx="1063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83">
                    <a:moveTo>
                      <a:pt x="9596" y="4414"/>
                    </a:moveTo>
                    <a:lnTo>
                      <a:pt x="8456" y="4984"/>
                    </a:lnTo>
                    <a:lnTo>
                      <a:pt x="7092" y="5183"/>
                    </a:lnTo>
                    <a:lnTo>
                      <a:pt x="5753" y="4984"/>
                    </a:lnTo>
                    <a:lnTo>
                      <a:pt x="4612" y="4414"/>
                    </a:lnTo>
                    <a:lnTo>
                      <a:pt x="199" y="4563"/>
                    </a:lnTo>
                    <a:lnTo>
                      <a:pt x="0" y="3546"/>
                    </a:lnTo>
                    <a:lnTo>
                      <a:pt x="199" y="595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墙_Stair_Baluster.003">
                <a:extLst>
                  <a:ext uri="{FF2B5EF4-FFF2-40B4-BE49-F238E27FC236}">
                    <a16:creationId xmlns:a16="http://schemas.microsoft.com/office/drawing/2014/main" id="{DCE1443F-6B8F-EFCD-C543-E9D446DFB392}"/>
                  </a:ext>
                </a:extLst>
              </p:cNvPr>
              <p:cNvSpPr/>
              <p:nvPr/>
            </p:nvSpPr>
            <p:spPr>
              <a:xfrm>
                <a:off x="2303503" y="3677666"/>
                <a:ext cx="10638" cy="515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5158">
                    <a:moveTo>
                      <a:pt x="9596" y="4414"/>
                    </a:moveTo>
                    <a:lnTo>
                      <a:pt x="8456" y="4959"/>
                    </a:lnTo>
                    <a:lnTo>
                      <a:pt x="7092" y="5158"/>
                    </a:lnTo>
                    <a:lnTo>
                      <a:pt x="5753" y="4959"/>
                    </a:lnTo>
                    <a:lnTo>
                      <a:pt x="4612" y="4414"/>
                    </a:lnTo>
                    <a:lnTo>
                      <a:pt x="199" y="4562"/>
                    </a:lnTo>
                    <a:lnTo>
                      <a:pt x="0" y="3546"/>
                    </a:lnTo>
                    <a:lnTo>
                      <a:pt x="3844" y="1587"/>
                    </a:lnTo>
                    <a:lnTo>
                      <a:pt x="4612" y="744"/>
                    </a:lnTo>
                    <a:lnTo>
                      <a:pt x="5753" y="198"/>
                    </a:lnTo>
                    <a:lnTo>
                      <a:pt x="7092" y="0"/>
                    </a:lnTo>
                    <a:lnTo>
                      <a:pt x="8456" y="198"/>
                    </a:lnTo>
                    <a:lnTo>
                      <a:pt x="9596" y="744"/>
                    </a:lnTo>
                    <a:lnTo>
                      <a:pt x="10365" y="1587"/>
                    </a:lnTo>
                    <a:lnTo>
                      <a:pt x="10638" y="2579"/>
                    </a:lnTo>
                    <a:lnTo>
                      <a:pt x="1036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Stair_Baluster.004">
                <a:extLst>
                  <a:ext uri="{FF2B5EF4-FFF2-40B4-BE49-F238E27FC236}">
                    <a16:creationId xmlns:a16="http://schemas.microsoft.com/office/drawing/2014/main" id="{1FE4FF15-5CD2-FC48-9A3D-DAF52B149F0D}"/>
                  </a:ext>
                </a:extLst>
              </p:cNvPr>
              <p:cNvSpPr/>
              <p:nvPr/>
            </p:nvSpPr>
            <p:spPr>
              <a:xfrm>
                <a:off x="2303528" y="3660382"/>
                <a:ext cx="10613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2">
                    <a:moveTo>
                      <a:pt x="9571" y="4438"/>
                    </a:moveTo>
                    <a:lnTo>
                      <a:pt x="8431" y="4984"/>
                    </a:lnTo>
                    <a:lnTo>
                      <a:pt x="7067" y="5182"/>
                    </a:lnTo>
                    <a:lnTo>
                      <a:pt x="5728" y="4984"/>
                    </a:lnTo>
                    <a:lnTo>
                      <a:pt x="4587" y="4438"/>
                    </a:lnTo>
                    <a:lnTo>
                      <a:pt x="3819" y="3595"/>
                    </a:lnTo>
                    <a:lnTo>
                      <a:pt x="0" y="1636"/>
                    </a:lnTo>
                    <a:lnTo>
                      <a:pt x="174" y="620"/>
                    </a:lnTo>
                    <a:lnTo>
                      <a:pt x="4587" y="768"/>
                    </a:lnTo>
                    <a:lnTo>
                      <a:pt x="5728" y="198"/>
                    </a:lnTo>
                    <a:lnTo>
                      <a:pt x="7067" y="0"/>
                    </a:lnTo>
                    <a:lnTo>
                      <a:pt x="8431" y="198"/>
                    </a:lnTo>
                    <a:lnTo>
                      <a:pt x="9571" y="768"/>
                    </a:lnTo>
                    <a:lnTo>
                      <a:pt x="10340" y="1612"/>
                    </a:lnTo>
                    <a:lnTo>
                      <a:pt x="10613" y="2603"/>
                    </a:lnTo>
                    <a:lnTo>
                      <a:pt x="10340" y="359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Stair_Baluster.005">
                <a:extLst>
                  <a:ext uri="{FF2B5EF4-FFF2-40B4-BE49-F238E27FC236}">
                    <a16:creationId xmlns:a16="http://schemas.microsoft.com/office/drawing/2014/main" id="{AFF075DC-7603-8ECD-CB64-D0DFFF379214}"/>
                  </a:ext>
                </a:extLst>
              </p:cNvPr>
              <p:cNvSpPr/>
              <p:nvPr/>
            </p:nvSpPr>
            <p:spPr>
              <a:xfrm>
                <a:off x="2303528" y="3643122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71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Stair_Baluster.006">
                <a:extLst>
                  <a:ext uri="{FF2B5EF4-FFF2-40B4-BE49-F238E27FC236}">
                    <a16:creationId xmlns:a16="http://schemas.microsoft.com/office/drawing/2014/main" id="{01C2E669-D9B3-83C5-69FD-107F171F40E9}"/>
                  </a:ext>
                </a:extLst>
              </p:cNvPr>
              <p:cNvSpPr/>
              <p:nvPr/>
            </p:nvSpPr>
            <p:spPr>
              <a:xfrm>
                <a:off x="2303528" y="3625863"/>
                <a:ext cx="10613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613" h="5183">
                    <a:moveTo>
                      <a:pt x="9571" y="4439"/>
                    </a:moveTo>
                    <a:lnTo>
                      <a:pt x="8431" y="4985"/>
                    </a:lnTo>
                    <a:lnTo>
                      <a:pt x="7067" y="5183"/>
                    </a:lnTo>
                    <a:lnTo>
                      <a:pt x="5728" y="4985"/>
                    </a:lnTo>
                    <a:lnTo>
                      <a:pt x="4587" y="4439"/>
                    </a:lnTo>
                    <a:lnTo>
                      <a:pt x="149" y="4588"/>
                    </a:lnTo>
                    <a:lnTo>
                      <a:pt x="0" y="3546"/>
                    </a:lnTo>
                    <a:lnTo>
                      <a:pt x="149" y="620"/>
                    </a:lnTo>
                    <a:lnTo>
                      <a:pt x="4587" y="769"/>
                    </a:lnTo>
                    <a:lnTo>
                      <a:pt x="5728" y="199"/>
                    </a:lnTo>
                    <a:lnTo>
                      <a:pt x="7067" y="0"/>
                    </a:lnTo>
                    <a:lnTo>
                      <a:pt x="8431" y="199"/>
                    </a:lnTo>
                    <a:lnTo>
                      <a:pt x="9571" y="769"/>
                    </a:lnTo>
                    <a:lnTo>
                      <a:pt x="10340" y="1612"/>
                    </a:lnTo>
                    <a:lnTo>
                      <a:pt x="10613" y="2604"/>
                    </a:lnTo>
                    <a:lnTo>
                      <a:pt x="10340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Stair_Baluster.007">
                <a:extLst>
                  <a:ext uri="{FF2B5EF4-FFF2-40B4-BE49-F238E27FC236}">
                    <a16:creationId xmlns:a16="http://schemas.microsoft.com/office/drawing/2014/main" id="{ED7C3B2C-5D9D-BBDF-86AA-9350995F8CE0}"/>
                  </a:ext>
                </a:extLst>
              </p:cNvPr>
              <p:cNvSpPr/>
              <p:nvPr/>
            </p:nvSpPr>
            <p:spPr>
              <a:xfrm>
                <a:off x="2303553" y="3608604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3794" y="3596"/>
                    </a:lnTo>
                    <a:lnTo>
                      <a:pt x="0" y="1637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9"/>
                    </a:lnTo>
                    <a:lnTo>
                      <a:pt x="7042" y="0"/>
                    </a:lnTo>
                    <a:lnTo>
                      <a:pt x="8406" y="199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604"/>
                    </a:lnTo>
                    <a:lnTo>
                      <a:pt x="10315" y="359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Stair_Baluster.008">
                <a:extLst>
                  <a:ext uri="{FF2B5EF4-FFF2-40B4-BE49-F238E27FC236}">
                    <a16:creationId xmlns:a16="http://schemas.microsoft.com/office/drawing/2014/main" id="{22F321B9-B09C-A2E6-BE01-78E939AD49DE}"/>
                  </a:ext>
                </a:extLst>
              </p:cNvPr>
              <p:cNvSpPr/>
              <p:nvPr/>
            </p:nvSpPr>
            <p:spPr>
              <a:xfrm>
                <a:off x="2303553" y="3591345"/>
                <a:ext cx="10588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5183">
                    <a:moveTo>
                      <a:pt x="9546" y="4414"/>
                    </a:moveTo>
                    <a:lnTo>
                      <a:pt x="8406" y="4984"/>
                    </a:lnTo>
                    <a:lnTo>
                      <a:pt x="7042" y="5183"/>
                    </a:lnTo>
                    <a:lnTo>
                      <a:pt x="5703" y="4984"/>
                    </a:lnTo>
                    <a:lnTo>
                      <a:pt x="4562" y="4414"/>
                    </a:lnTo>
                    <a:lnTo>
                      <a:pt x="99" y="4588"/>
                    </a:lnTo>
                    <a:lnTo>
                      <a:pt x="0" y="3546"/>
                    </a:lnTo>
                    <a:lnTo>
                      <a:pt x="99" y="595"/>
                    </a:lnTo>
                    <a:lnTo>
                      <a:pt x="4562" y="769"/>
                    </a:lnTo>
                    <a:lnTo>
                      <a:pt x="5703" y="198"/>
                    </a:lnTo>
                    <a:lnTo>
                      <a:pt x="7042" y="0"/>
                    </a:lnTo>
                    <a:lnTo>
                      <a:pt x="8406" y="198"/>
                    </a:lnTo>
                    <a:lnTo>
                      <a:pt x="9546" y="769"/>
                    </a:lnTo>
                    <a:lnTo>
                      <a:pt x="10315" y="1612"/>
                    </a:lnTo>
                    <a:lnTo>
                      <a:pt x="10588" y="2579"/>
                    </a:lnTo>
                    <a:lnTo>
                      <a:pt x="10315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Stair_Baluster.009">
                <a:extLst>
                  <a:ext uri="{FF2B5EF4-FFF2-40B4-BE49-F238E27FC236}">
                    <a16:creationId xmlns:a16="http://schemas.microsoft.com/office/drawing/2014/main" id="{DB187B17-6B9D-6CB4-EE37-DE568097B63D}"/>
                  </a:ext>
                </a:extLst>
              </p:cNvPr>
              <p:cNvSpPr/>
              <p:nvPr/>
            </p:nvSpPr>
            <p:spPr>
              <a:xfrm>
                <a:off x="2303553" y="3573218"/>
                <a:ext cx="10588" cy="6050"/>
              </a:xfrm>
              <a:custGeom>
                <a:avLst/>
                <a:gdLst/>
                <a:ahLst/>
                <a:cxnLst/>
                <a:rect l="l" t="t" r="r" b="b"/>
                <a:pathLst>
                  <a:path w="10588" h="6050">
                    <a:moveTo>
                      <a:pt x="9546" y="5282"/>
                    </a:moveTo>
                    <a:lnTo>
                      <a:pt x="8406" y="5852"/>
                    </a:lnTo>
                    <a:lnTo>
                      <a:pt x="7042" y="6050"/>
                    </a:lnTo>
                    <a:lnTo>
                      <a:pt x="5703" y="5852"/>
                    </a:lnTo>
                    <a:lnTo>
                      <a:pt x="4562" y="5282"/>
                    </a:lnTo>
                    <a:lnTo>
                      <a:pt x="99" y="5455"/>
                    </a:lnTo>
                    <a:lnTo>
                      <a:pt x="0" y="4414"/>
                    </a:lnTo>
                    <a:lnTo>
                      <a:pt x="99" y="1463"/>
                    </a:lnTo>
                    <a:lnTo>
                      <a:pt x="3868" y="223"/>
                    </a:lnTo>
                    <a:lnTo>
                      <a:pt x="5182" y="0"/>
                    </a:lnTo>
                    <a:lnTo>
                      <a:pt x="6943" y="49"/>
                    </a:lnTo>
                    <a:lnTo>
                      <a:pt x="8555" y="124"/>
                    </a:lnTo>
                    <a:lnTo>
                      <a:pt x="10241" y="223"/>
                    </a:lnTo>
                    <a:lnTo>
                      <a:pt x="10315" y="2455"/>
                    </a:lnTo>
                    <a:lnTo>
                      <a:pt x="10588" y="3447"/>
                    </a:lnTo>
                    <a:lnTo>
                      <a:pt x="10315" y="4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Stair_Baluster.010">
                <a:extLst>
                  <a:ext uri="{FF2B5EF4-FFF2-40B4-BE49-F238E27FC236}">
                    <a16:creationId xmlns:a16="http://schemas.microsoft.com/office/drawing/2014/main" id="{E56438DC-F250-DE1A-11D5-A1D30113C14D}"/>
                  </a:ext>
                </a:extLst>
              </p:cNvPr>
              <p:cNvSpPr/>
              <p:nvPr/>
            </p:nvSpPr>
            <p:spPr>
              <a:xfrm>
                <a:off x="2307074" y="3556827"/>
                <a:ext cx="7067" cy="5182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2">
                    <a:moveTo>
                      <a:pt x="6025" y="4414"/>
                    </a:moveTo>
                    <a:lnTo>
                      <a:pt x="4885" y="4984"/>
                    </a:lnTo>
                    <a:lnTo>
                      <a:pt x="3521" y="5182"/>
                    </a:lnTo>
                    <a:lnTo>
                      <a:pt x="2182" y="4984"/>
                    </a:lnTo>
                    <a:lnTo>
                      <a:pt x="1041" y="4414"/>
                    </a:lnTo>
                    <a:lnTo>
                      <a:pt x="273" y="3570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41" y="743"/>
                    </a:lnTo>
                    <a:lnTo>
                      <a:pt x="2182" y="198"/>
                    </a:lnTo>
                    <a:lnTo>
                      <a:pt x="3521" y="0"/>
                    </a:lnTo>
                    <a:lnTo>
                      <a:pt x="4885" y="198"/>
                    </a:lnTo>
                    <a:lnTo>
                      <a:pt x="6025" y="743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Stair_Baluster.011">
                <a:extLst>
                  <a:ext uri="{FF2B5EF4-FFF2-40B4-BE49-F238E27FC236}">
                    <a16:creationId xmlns:a16="http://schemas.microsoft.com/office/drawing/2014/main" id="{2FDFABCD-2AEC-CCF2-FF5B-46E4DDCB9D71}"/>
                  </a:ext>
                </a:extLst>
              </p:cNvPr>
              <p:cNvSpPr/>
              <p:nvPr/>
            </p:nvSpPr>
            <p:spPr>
              <a:xfrm>
                <a:off x="2307074" y="3539567"/>
                <a:ext cx="7067" cy="5183"/>
              </a:xfrm>
              <a:custGeom>
                <a:avLst/>
                <a:gdLst/>
                <a:ahLst/>
                <a:cxnLst/>
                <a:rect l="l" t="t" r="r" b="b"/>
                <a:pathLst>
                  <a:path w="7067" h="5183">
                    <a:moveTo>
                      <a:pt x="6025" y="4414"/>
                    </a:moveTo>
                    <a:lnTo>
                      <a:pt x="4885" y="4985"/>
                    </a:lnTo>
                    <a:lnTo>
                      <a:pt x="3521" y="5183"/>
                    </a:lnTo>
                    <a:lnTo>
                      <a:pt x="2182" y="4985"/>
                    </a:lnTo>
                    <a:lnTo>
                      <a:pt x="1041" y="4414"/>
                    </a:lnTo>
                    <a:lnTo>
                      <a:pt x="273" y="3571"/>
                    </a:lnTo>
                    <a:lnTo>
                      <a:pt x="0" y="2579"/>
                    </a:lnTo>
                    <a:lnTo>
                      <a:pt x="273" y="1587"/>
                    </a:lnTo>
                    <a:lnTo>
                      <a:pt x="1017" y="744"/>
                    </a:lnTo>
                    <a:lnTo>
                      <a:pt x="2182" y="199"/>
                    </a:lnTo>
                    <a:lnTo>
                      <a:pt x="3521" y="0"/>
                    </a:lnTo>
                    <a:lnTo>
                      <a:pt x="4885" y="199"/>
                    </a:lnTo>
                    <a:lnTo>
                      <a:pt x="6025" y="744"/>
                    </a:lnTo>
                    <a:lnTo>
                      <a:pt x="6794" y="1587"/>
                    </a:lnTo>
                    <a:lnTo>
                      <a:pt x="7067" y="2579"/>
                    </a:lnTo>
                    <a:lnTo>
                      <a:pt x="6794" y="357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Stair_Baluster.012">
                <a:extLst>
                  <a:ext uri="{FF2B5EF4-FFF2-40B4-BE49-F238E27FC236}">
                    <a16:creationId xmlns:a16="http://schemas.microsoft.com/office/drawing/2014/main" id="{C1761588-7738-DB15-5AF7-AB8290784407}"/>
                  </a:ext>
                </a:extLst>
              </p:cNvPr>
              <p:cNvSpPr/>
              <p:nvPr/>
            </p:nvSpPr>
            <p:spPr>
              <a:xfrm>
                <a:off x="2303602" y="3520448"/>
                <a:ext cx="10638" cy="7018"/>
              </a:xfrm>
              <a:custGeom>
                <a:avLst/>
                <a:gdLst/>
                <a:ahLst/>
                <a:cxnLst/>
                <a:rect l="l" t="t" r="r" b="b"/>
                <a:pathLst>
                  <a:path w="10638" h="7018">
                    <a:moveTo>
                      <a:pt x="9497" y="6274"/>
                    </a:moveTo>
                    <a:lnTo>
                      <a:pt x="8357" y="6845"/>
                    </a:lnTo>
                    <a:lnTo>
                      <a:pt x="6993" y="7018"/>
                    </a:lnTo>
                    <a:lnTo>
                      <a:pt x="5654" y="6845"/>
                    </a:lnTo>
                    <a:lnTo>
                      <a:pt x="4513" y="6274"/>
                    </a:lnTo>
                    <a:lnTo>
                      <a:pt x="25" y="6448"/>
                    </a:lnTo>
                    <a:lnTo>
                      <a:pt x="0" y="5381"/>
                    </a:lnTo>
                    <a:lnTo>
                      <a:pt x="25" y="2431"/>
                    </a:lnTo>
                    <a:lnTo>
                      <a:pt x="3249" y="25"/>
                    </a:lnTo>
                    <a:lnTo>
                      <a:pt x="4637" y="0"/>
                    </a:lnTo>
                    <a:lnTo>
                      <a:pt x="6745" y="0"/>
                    </a:lnTo>
                    <a:lnTo>
                      <a:pt x="8654" y="100"/>
                    </a:lnTo>
                    <a:lnTo>
                      <a:pt x="10638" y="298"/>
                    </a:lnTo>
                    <a:lnTo>
                      <a:pt x="10266" y="3447"/>
                    </a:lnTo>
                    <a:lnTo>
                      <a:pt x="10539" y="4439"/>
                    </a:lnTo>
                    <a:lnTo>
                      <a:pt x="10266" y="543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DuoClassic_CurvedShell">
                <a:extLst>
                  <a:ext uri="{FF2B5EF4-FFF2-40B4-BE49-F238E27FC236}">
                    <a16:creationId xmlns:a16="http://schemas.microsoft.com/office/drawing/2014/main" id="{E4F604B3-E67F-9703-357C-F8924AC3C771}"/>
                  </a:ext>
                </a:extLst>
              </p:cNvPr>
              <p:cNvSpPr/>
              <p:nvPr/>
            </p:nvSpPr>
            <p:spPr>
              <a:xfrm>
                <a:off x="1049281" y="3484541"/>
                <a:ext cx="229118" cy="221196"/>
              </a:xfrm>
              <a:custGeom>
                <a:avLst/>
                <a:gdLst/>
                <a:ahLst/>
                <a:cxnLst/>
                <a:rect l="l" t="t" r="r" b="b"/>
                <a:pathLst>
                  <a:path w="229118" h="221196">
                    <a:moveTo>
                      <a:pt x="16365" y="110598"/>
                    </a:moveTo>
                    <a:lnTo>
                      <a:pt x="16836" y="103233"/>
                    </a:lnTo>
                    <a:lnTo>
                      <a:pt x="18250" y="95943"/>
                    </a:lnTo>
                    <a:lnTo>
                      <a:pt x="20605" y="88776"/>
                    </a:lnTo>
                    <a:lnTo>
                      <a:pt x="23829" y="81833"/>
                    </a:lnTo>
                    <a:lnTo>
                      <a:pt x="27970" y="75187"/>
                    </a:lnTo>
                    <a:lnTo>
                      <a:pt x="32904" y="68863"/>
                    </a:lnTo>
                    <a:lnTo>
                      <a:pt x="38657" y="62937"/>
                    </a:lnTo>
                    <a:lnTo>
                      <a:pt x="45129" y="57457"/>
                    </a:lnTo>
                    <a:lnTo>
                      <a:pt x="52270" y="52522"/>
                    </a:lnTo>
                    <a:lnTo>
                      <a:pt x="60007" y="48133"/>
                    </a:lnTo>
                    <a:lnTo>
                      <a:pt x="68264" y="44339"/>
                    </a:lnTo>
                    <a:lnTo>
                      <a:pt x="76992" y="41189"/>
                    </a:lnTo>
                    <a:lnTo>
                      <a:pt x="86043" y="38685"/>
                    </a:lnTo>
                    <a:lnTo>
                      <a:pt x="95391" y="36899"/>
                    </a:lnTo>
                    <a:lnTo>
                      <a:pt x="104938" y="35833"/>
                    </a:lnTo>
                    <a:lnTo>
                      <a:pt x="114559" y="35461"/>
                    </a:lnTo>
                    <a:lnTo>
                      <a:pt x="124180" y="35833"/>
                    </a:lnTo>
                    <a:lnTo>
                      <a:pt x="133726" y="36899"/>
                    </a:lnTo>
                    <a:lnTo>
                      <a:pt x="143074" y="38685"/>
                    </a:lnTo>
                    <a:lnTo>
                      <a:pt x="152125" y="41189"/>
                    </a:lnTo>
                    <a:lnTo>
                      <a:pt x="160853" y="44339"/>
                    </a:lnTo>
                    <a:lnTo>
                      <a:pt x="169110" y="48133"/>
                    </a:lnTo>
                    <a:lnTo>
                      <a:pt x="176847" y="52522"/>
                    </a:lnTo>
                    <a:lnTo>
                      <a:pt x="183988" y="57457"/>
                    </a:lnTo>
                    <a:lnTo>
                      <a:pt x="190460" y="62937"/>
                    </a:lnTo>
                    <a:lnTo>
                      <a:pt x="196213" y="68863"/>
                    </a:lnTo>
                    <a:lnTo>
                      <a:pt x="201147" y="75187"/>
                    </a:lnTo>
                    <a:lnTo>
                      <a:pt x="205288" y="81833"/>
                    </a:lnTo>
                    <a:lnTo>
                      <a:pt x="208512" y="88776"/>
                    </a:lnTo>
                    <a:lnTo>
                      <a:pt x="210867" y="95943"/>
                    </a:lnTo>
                    <a:lnTo>
                      <a:pt x="212281" y="103233"/>
                    </a:lnTo>
                    <a:lnTo>
                      <a:pt x="212752" y="110598"/>
                    </a:lnTo>
                    <a:lnTo>
                      <a:pt x="212752" y="189951"/>
                    </a:lnTo>
                    <a:lnTo>
                      <a:pt x="187460" y="189951"/>
                    </a:lnTo>
                    <a:lnTo>
                      <a:pt x="187460" y="221196"/>
                    </a:lnTo>
                    <a:lnTo>
                      <a:pt x="229118" y="221196"/>
                    </a:lnTo>
                    <a:lnTo>
                      <a:pt x="229118" y="110598"/>
                    </a:lnTo>
                    <a:lnTo>
                      <a:pt x="228572" y="99761"/>
                    </a:lnTo>
                    <a:lnTo>
                      <a:pt x="226911" y="89024"/>
                    </a:lnTo>
                    <a:lnTo>
                      <a:pt x="224183" y="78485"/>
                    </a:lnTo>
                    <a:lnTo>
                      <a:pt x="220389" y="68268"/>
                    </a:lnTo>
                    <a:lnTo>
                      <a:pt x="215579" y="58473"/>
                    </a:lnTo>
                    <a:lnTo>
                      <a:pt x="209801" y="49149"/>
                    </a:lnTo>
                    <a:lnTo>
                      <a:pt x="203106" y="40445"/>
                    </a:lnTo>
                    <a:lnTo>
                      <a:pt x="195568" y="32386"/>
                    </a:lnTo>
                    <a:lnTo>
                      <a:pt x="187237" y="25096"/>
                    </a:lnTo>
                    <a:lnTo>
                      <a:pt x="178211" y="18648"/>
                    </a:lnTo>
                    <a:lnTo>
                      <a:pt x="168565" y="13069"/>
                    </a:lnTo>
                    <a:lnTo>
                      <a:pt x="158398" y="8407"/>
                    </a:lnTo>
                    <a:lnTo>
                      <a:pt x="147810" y="4761"/>
                    </a:lnTo>
                    <a:lnTo>
                      <a:pt x="136900" y="2133"/>
                    </a:lnTo>
                    <a:lnTo>
                      <a:pt x="125791" y="521"/>
                    </a:lnTo>
                    <a:lnTo>
                      <a:pt x="114559" y="0"/>
                    </a:lnTo>
                    <a:lnTo>
                      <a:pt x="103326" y="521"/>
                    </a:lnTo>
                    <a:lnTo>
                      <a:pt x="92217" y="2133"/>
                    </a:lnTo>
                    <a:lnTo>
                      <a:pt x="81307" y="4761"/>
                    </a:lnTo>
                    <a:lnTo>
                      <a:pt x="70719" y="8407"/>
                    </a:lnTo>
                    <a:lnTo>
                      <a:pt x="60552" y="13069"/>
                    </a:lnTo>
                    <a:lnTo>
                      <a:pt x="50906" y="18648"/>
                    </a:lnTo>
                    <a:lnTo>
                      <a:pt x="41881" y="25096"/>
                    </a:lnTo>
                    <a:lnTo>
                      <a:pt x="33549" y="32386"/>
                    </a:lnTo>
                    <a:lnTo>
                      <a:pt x="26011" y="40445"/>
                    </a:lnTo>
                    <a:lnTo>
                      <a:pt x="19316" y="49149"/>
                    </a:lnTo>
                    <a:lnTo>
                      <a:pt x="13538" y="58473"/>
                    </a:lnTo>
                    <a:lnTo>
                      <a:pt x="8728" y="68268"/>
                    </a:lnTo>
                    <a:lnTo>
                      <a:pt x="4934" y="78485"/>
                    </a:lnTo>
                    <a:lnTo>
                      <a:pt x="2206" y="89024"/>
                    </a:lnTo>
                    <a:lnTo>
                      <a:pt x="545" y="99761"/>
                    </a:lnTo>
                    <a:lnTo>
                      <a:pt x="0" y="110598"/>
                    </a:lnTo>
                    <a:lnTo>
                      <a:pt x="0" y="221196"/>
                    </a:lnTo>
                    <a:lnTo>
                      <a:pt x="41657" y="221196"/>
                    </a:lnTo>
                    <a:lnTo>
                      <a:pt x="41657" y="189951"/>
                    </a:lnTo>
                    <a:lnTo>
                      <a:pt x="16365" y="189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ift_Guide_Duo_-1">
                <a:extLst>
                  <a:ext uri="{FF2B5EF4-FFF2-40B4-BE49-F238E27FC236}">
                    <a16:creationId xmlns:a16="http://schemas.microsoft.com/office/drawing/2014/main" id="{FD042812-4121-BD28-5B18-38DA2C933E7D}"/>
                  </a:ext>
                </a:extLst>
              </p:cNvPr>
              <p:cNvSpPr/>
              <p:nvPr/>
            </p:nvSpPr>
            <p:spPr>
              <a:xfrm>
                <a:off x="1030435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1">
                <a:extLst>
                  <a:ext uri="{FF2B5EF4-FFF2-40B4-BE49-F238E27FC236}">
                    <a16:creationId xmlns:a16="http://schemas.microsoft.com/office/drawing/2014/main" id="{CA09D8FB-9E4D-716F-DE03-CAD3725F48E8}"/>
                  </a:ext>
                </a:extLst>
              </p:cNvPr>
              <p:cNvSpPr/>
              <p:nvPr/>
            </p:nvSpPr>
            <p:spPr>
              <a:xfrm>
                <a:off x="1274803" y="3586757"/>
                <a:ext cx="15250" cy="34717"/>
              </a:xfrm>
              <a:custGeom>
                <a:avLst/>
                <a:gdLst/>
                <a:ahLst/>
                <a:cxnLst/>
                <a:rect l="l" t="t" r="r" b="b"/>
                <a:pathLst>
                  <a:path w="15250" h="34717">
                    <a:moveTo>
                      <a:pt x="0" y="0"/>
                    </a:moveTo>
                    <a:lnTo>
                      <a:pt x="15250" y="0"/>
                    </a:lnTo>
                    <a:lnTo>
                      <a:pt x="15250" y="34717"/>
                    </a:lnTo>
                    <a:lnTo>
                      <a:pt x="0" y="347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FrameJamb.006">
                <a:extLst>
                  <a:ext uri="{FF2B5EF4-FFF2-40B4-BE49-F238E27FC236}">
                    <a16:creationId xmlns:a16="http://schemas.microsoft.com/office/drawing/2014/main" id="{A75B7AA9-FEFA-DC2B-3465-261E9A3A87DC}"/>
                  </a:ext>
                </a:extLst>
              </p:cNvPr>
              <p:cNvSpPr/>
              <p:nvPr/>
            </p:nvSpPr>
            <p:spPr>
              <a:xfrm>
                <a:off x="2242752" y="4942943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07">
                <a:extLst>
                  <a:ext uri="{FF2B5EF4-FFF2-40B4-BE49-F238E27FC236}">
                    <a16:creationId xmlns:a16="http://schemas.microsoft.com/office/drawing/2014/main" id="{4AE2796B-22C2-59F9-3F94-109B002AA54D}"/>
                  </a:ext>
                </a:extLst>
              </p:cNvPr>
              <p:cNvSpPr/>
              <p:nvPr/>
            </p:nvSpPr>
            <p:spPr>
              <a:xfrm>
                <a:off x="2242752" y="4687527"/>
                <a:ext cx="37716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7716" h="7439">
                    <a:moveTo>
                      <a:pt x="0" y="7439"/>
                    </a:moveTo>
                    <a:lnTo>
                      <a:pt x="0" y="0"/>
                    </a:lnTo>
                    <a:lnTo>
                      <a:pt x="37716" y="0"/>
                    </a:lnTo>
                    <a:lnTo>
                      <a:pt x="37716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10">
                <a:extLst>
                  <a:ext uri="{FF2B5EF4-FFF2-40B4-BE49-F238E27FC236}">
                    <a16:creationId xmlns:a16="http://schemas.microsoft.com/office/drawing/2014/main" id="{6BE9F1C2-D85D-C05E-9944-8044B8DE9B7C}"/>
                  </a:ext>
                </a:extLst>
              </p:cNvPr>
              <p:cNvSpPr/>
              <p:nvPr/>
            </p:nvSpPr>
            <p:spPr>
              <a:xfrm>
                <a:off x="1777672" y="1360297"/>
                <a:ext cx="7439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439" h="35957">
                    <a:moveTo>
                      <a:pt x="0" y="0"/>
                    </a:moveTo>
                    <a:lnTo>
                      <a:pt x="7439" y="0"/>
                    </a:lnTo>
                    <a:lnTo>
                      <a:pt x="7439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FrameJamb.011">
                <a:extLst>
                  <a:ext uri="{FF2B5EF4-FFF2-40B4-BE49-F238E27FC236}">
                    <a16:creationId xmlns:a16="http://schemas.microsoft.com/office/drawing/2014/main" id="{59F74163-E344-674A-9FD8-BFBE93DB4CBB}"/>
                  </a:ext>
                </a:extLst>
              </p:cNvPr>
              <p:cNvSpPr/>
              <p:nvPr/>
            </p:nvSpPr>
            <p:spPr>
              <a:xfrm>
                <a:off x="2026181" y="1360297"/>
                <a:ext cx="7811" cy="35957"/>
              </a:xfrm>
              <a:custGeom>
                <a:avLst/>
                <a:gdLst/>
                <a:ahLst/>
                <a:cxnLst/>
                <a:rect l="l" t="t" r="r" b="b"/>
                <a:pathLst>
                  <a:path w="7811" h="35957">
                    <a:moveTo>
                      <a:pt x="0" y="0"/>
                    </a:moveTo>
                    <a:lnTo>
                      <a:pt x="7811" y="0"/>
                    </a:lnTo>
                    <a:lnTo>
                      <a:pt x="7811" y="35957"/>
                    </a:lnTo>
                    <a:lnTo>
                      <a:pt x="0" y="3595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DoorLeaf.003">
                <a:extLst>
                  <a:ext uri="{FF2B5EF4-FFF2-40B4-BE49-F238E27FC236}">
                    <a16:creationId xmlns:a16="http://schemas.microsoft.com/office/drawing/2014/main" id="{380EE58B-2B8E-6408-0864-6EF980404B22}"/>
                  </a:ext>
                </a:extLst>
              </p:cNvPr>
              <p:cNvSpPr/>
              <p:nvPr/>
            </p:nvSpPr>
            <p:spPr>
              <a:xfrm>
                <a:off x="1780946" y="1160477"/>
                <a:ext cx="40988" cy="218270"/>
              </a:xfrm>
              <a:custGeom>
                <a:avLst/>
                <a:gdLst/>
                <a:ahLst/>
                <a:cxnLst/>
                <a:rect l="l" t="t" r="r" b="b"/>
                <a:pathLst>
                  <a:path w="40988" h="218270">
                    <a:moveTo>
                      <a:pt x="24" y="216608"/>
                    </a:moveTo>
                    <a:lnTo>
                      <a:pt x="0" y="216211"/>
                    </a:lnTo>
                    <a:lnTo>
                      <a:pt x="31962" y="844"/>
                    </a:lnTo>
                    <a:lnTo>
                      <a:pt x="32086" y="496"/>
                    </a:lnTo>
                    <a:lnTo>
                      <a:pt x="32359" y="199"/>
                    </a:lnTo>
                    <a:lnTo>
                      <a:pt x="32706" y="25"/>
                    </a:lnTo>
                    <a:lnTo>
                      <a:pt x="33103" y="0"/>
                    </a:lnTo>
                    <a:lnTo>
                      <a:pt x="40145" y="893"/>
                    </a:lnTo>
                    <a:lnTo>
                      <a:pt x="40517" y="1017"/>
                    </a:lnTo>
                    <a:lnTo>
                      <a:pt x="40790" y="1265"/>
                    </a:lnTo>
                    <a:lnTo>
                      <a:pt x="40963" y="1612"/>
                    </a:lnTo>
                    <a:lnTo>
                      <a:pt x="40988" y="2009"/>
                    </a:lnTo>
                    <a:lnTo>
                      <a:pt x="8604" y="217427"/>
                    </a:lnTo>
                    <a:lnTo>
                      <a:pt x="8480" y="217799"/>
                    </a:lnTo>
                    <a:lnTo>
                      <a:pt x="8207" y="218071"/>
                    </a:lnTo>
                    <a:lnTo>
                      <a:pt x="7860" y="218245"/>
                    </a:lnTo>
                    <a:lnTo>
                      <a:pt x="7463" y="218270"/>
                    </a:lnTo>
                    <a:lnTo>
                      <a:pt x="843" y="217327"/>
                    </a:lnTo>
                    <a:lnTo>
                      <a:pt x="471" y="217203"/>
                    </a:lnTo>
                    <a:lnTo>
                      <a:pt x="198" y="21695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Wall_GF_OldWindow_Infill">
                <a:extLst>
                  <a:ext uri="{FF2B5EF4-FFF2-40B4-BE49-F238E27FC236}">
                    <a16:creationId xmlns:a16="http://schemas.microsoft.com/office/drawing/2014/main" id="{C32309B8-8544-7BB1-9D09-90CFA4DFFC69}"/>
                  </a:ext>
                </a:extLst>
              </p:cNvPr>
              <p:cNvSpPr/>
              <p:nvPr/>
            </p:nvSpPr>
            <p:spPr>
              <a:xfrm>
                <a:off x="447722" y="4665159"/>
                <a:ext cx="235069" cy="57035"/>
              </a:xfrm>
              <a:custGeom>
                <a:avLst/>
                <a:gdLst/>
                <a:ahLst/>
                <a:cxnLst/>
                <a:rect l="l" t="t" r="r" b="b"/>
                <a:pathLst>
                  <a:path w="235069" h="57035">
                    <a:moveTo>
                      <a:pt x="235069" y="0"/>
                    </a:moveTo>
                    <a:lnTo>
                      <a:pt x="235069" y="57035"/>
                    </a:lnTo>
                    <a:lnTo>
                      <a:pt x="0" y="570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DDA_Frame">
                <a:extLst>
                  <a:ext uri="{FF2B5EF4-FFF2-40B4-BE49-F238E27FC236}">
                    <a16:creationId xmlns:a16="http://schemas.microsoft.com/office/drawing/2014/main" id="{A89F86A9-3CC8-6DFD-417A-1C580DD9FC28}"/>
                  </a:ext>
                </a:extLst>
              </p:cNvPr>
              <p:cNvSpPr/>
              <p:nvPr/>
            </p:nvSpPr>
            <p:spPr>
              <a:xfrm>
                <a:off x="682791" y="4684501"/>
                <a:ext cx="347892" cy="18599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8599">
                    <a:moveTo>
                      <a:pt x="347793" y="99"/>
                    </a:moveTo>
                    <a:lnTo>
                      <a:pt x="347520" y="0"/>
                    </a:lnTo>
                    <a:lnTo>
                      <a:pt x="335370" y="0"/>
                    </a:lnTo>
                    <a:lnTo>
                      <a:pt x="335023" y="75"/>
                    </a:lnTo>
                    <a:lnTo>
                      <a:pt x="334725" y="273"/>
                    </a:lnTo>
                    <a:lnTo>
                      <a:pt x="334527" y="471"/>
                    </a:lnTo>
                    <a:lnTo>
                      <a:pt x="334329" y="769"/>
                    </a:lnTo>
                    <a:lnTo>
                      <a:pt x="334254" y="1116"/>
                    </a:lnTo>
                    <a:lnTo>
                      <a:pt x="334254" y="13267"/>
                    </a:lnTo>
                    <a:lnTo>
                      <a:pt x="334155" y="13540"/>
                    </a:lnTo>
                    <a:lnTo>
                      <a:pt x="333882" y="13639"/>
                    </a:lnTo>
                    <a:lnTo>
                      <a:pt x="332395" y="13639"/>
                    </a:lnTo>
                    <a:lnTo>
                      <a:pt x="332047" y="13713"/>
                    </a:lnTo>
                    <a:lnTo>
                      <a:pt x="331725" y="13887"/>
                    </a:lnTo>
                    <a:lnTo>
                      <a:pt x="331576" y="14011"/>
                    </a:lnTo>
                    <a:lnTo>
                      <a:pt x="331353" y="14284"/>
                    </a:lnTo>
                    <a:lnTo>
                      <a:pt x="331279" y="14631"/>
                    </a:lnTo>
                    <a:lnTo>
                      <a:pt x="331279" y="18227"/>
                    </a:lnTo>
                    <a:lnTo>
                      <a:pt x="331378" y="18499"/>
                    </a:lnTo>
                    <a:lnTo>
                      <a:pt x="331651" y="18599"/>
                    </a:lnTo>
                    <a:lnTo>
                      <a:pt x="347520" y="18599"/>
                    </a:lnTo>
                    <a:lnTo>
                      <a:pt x="347793" y="18499"/>
                    </a:lnTo>
                    <a:lnTo>
                      <a:pt x="347892" y="18227"/>
                    </a:lnTo>
                    <a:lnTo>
                      <a:pt x="347892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522" y="0"/>
                    </a:lnTo>
                    <a:lnTo>
                      <a:pt x="12869" y="75"/>
                    </a:lnTo>
                    <a:lnTo>
                      <a:pt x="13167" y="273"/>
                    </a:lnTo>
                    <a:lnTo>
                      <a:pt x="13365" y="471"/>
                    </a:lnTo>
                    <a:lnTo>
                      <a:pt x="13564" y="769"/>
                    </a:lnTo>
                    <a:lnTo>
                      <a:pt x="13638" y="1116"/>
                    </a:lnTo>
                    <a:lnTo>
                      <a:pt x="13638" y="13267"/>
                    </a:lnTo>
                    <a:lnTo>
                      <a:pt x="13737" y="13540"/>
                    </a:lnTo>
                    <a:lnTo>
                      <a:pt x="14010" y="13639"/>
                    </a:lnTo>
                    <a:lnTo>
                      <a:pt x="15498" y="13639"/>
                    </a:lnTo>
                    <a:lnTo>
                      <a:pt x="15845" y="13713"/>
                    </a:lnTo>
                    <a:lnTo>
                      <a:pt x="16167" y="13887"/>
                    </a:lnTo>
                    <a:lnTo>
                      <a:pt x="16316" y="14011"/>
                    </a:lnTo>
                    <a:lnTo>
                      <a:pt x="16539" y="14284"/>
                    </a:lnTo>
                    <a:lnTo>
                      <a:pt x="16613" y="14631"/>
                    </a:lnTo>
                    <a:lnTo>
                      <a:pt x="16613" y="18227"/>
                    </a:lnTo>
                    <a:lnTo>
                      <a:pt x="16514" y="18499"/>
                    </a:lnTo>
                    <a:lnTo>
                      <a:pt x="16242" y="18599"/>
                    </a:lnTo>
                    <a:lnTo>
                      <a:pt x="372" y="18599"/>
                    </a:lnTo>
                    <a:lnTo>
                      <a:pt x="99" y="18499"/>
                    </a:lnTo>
                    <a:lnTo>
                      <a:pt x="0" y="18227"/>
                    </a:lnTo>
                    <a:lnTo>
                      <a:pt x="0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DDA_Architrave">
                <a:extLst>
                  <a:ext uri="{FF2B5EF4-FFF2-40B4-BE49-F238E27FC236}">
                    <a16:creationId xmlns:a16="http://schemas.microsoft.com/office/drawing/2014/main" id="{087E23B9-76AB-FEF0-8664-B77A05BB8AED}"/>
                  </a:ext>
                </a:extLst>
              </p:cNvPr>
              <p:cNvSpPr/>
              <p:nvPr/>
            </p:nvSpPr>
            <p:spPr>
              <a:xfrm>
                <a:off x="665433" y="4659704"/>
                <a:ext cx="382608" cy="5455"/>
              </a:xfrm>
              <a:custGeom>
                <a:avLst/>
                <a:gdLst/>
                <a:ahLst/>
                <a:cxnLst/>
                <a:rect l="l" t="t" r="r" b="b"/>
                <a:pathLst>
                  <a:path w="382608" h="5455">
                    <a:moveTo>
                      <a:pt x="370706" y="248"/>
                    </a:moveTo>
                    <a:lnTo>
                      <a:pt x="367730" y="0"/>
                    </a:lnTo>
                    <a:lnTo>
                      <a:pt x="365250" y="0"/>
                    </a:lnTo>
                    <a:lnTo>
                      <a:pt x="351116" y="0"/>
                    </a:lnTo>
                    <a:lnTo>
                      <a:pt x="350943" y="74"/>
                    </a:lnTo>
                    <a:lnTo>
                      <a:pt x="350868" y="248"/>
                    </a:lnTo>
                    <a:lnTo>
                      <a:pt x="350868" y="5207"/>
                    </a:lnTo>
                    <a:lnTo>
                      <a:pt x="350943" y="5381"/>
                    </a:lnTo>
                    <a:lnTo>
                      <a:pt x="351116" y="5455"/>
                    </a:lnTo>
                    <a:lnTo>
                      <a:pt x="382360" y="5455"/>
                    </a:lnTo>
                    <a:lnTo>
                      <a:pt x="382533" y="5381"/>
                    </a:lnTo>
                    <a:lnTo>
                      <a:pt x="382608" y="5207"/>
                    </a:lnTo>
                    <a:lnTo>
                      <a:pt x="382608" y="3223"/>
                    </a:lnTo>
                    <a:lnTo>
                      <a:pt x="382558" y="3000"/>
                    </a:lnTo>
                    <a:lnTo>
                      <a:pt x="382459" y="2777"/>
                    </a:lnTo>
                    <a:lnTo>
                      <a:pt x="381765" y="1934"/>
                    </a:lnTo>
                    <a:lnTo>
                      <a:pt x="381591" y="1785"/>
                    </a:lnTo>
                    <a:lnTo>
                      <a:pt x="381368" y="1686"/>
                    </a:lnTo>
                    <a:lnTo>
                      <a:pt x="379632" y="1239"/>
                    </a:lnTo>
                    <a:lnTo>
                      <a:pt x="376409" y="1239"/>
                    </a:lnTo>
                    <a:lnTo>
                      <a:pt x="373929" y="744"/>
                    </a:lnTo>
                    <a:close/>
                    <a:moveTo>
                      <a:pt x="14878" y="0"/>
                    </a:moveTo>
                    <a:lnTo>
                      <a:pt x="17358" y="0"/>
                    </a:lnTo>
                    <a:lnTo>
                      <a:pt x="31492" y="0"/>
                    </a:lnTo>
                    <a:lnTo>
                      <a:pt x="31665" y="74"/>
                    </a:lnTo>
                    <a:lnTo>
                      <a:pt x="31740" y="248"/>
                    </a:lnTo>
                    <a:lnTo>
                      <a:pt x="31740" y="5207"/>
                    </a:lnTo>
                    <a:lnTo>
                      <a:pt x="31665" y="5381"/>
                    </a:lnTo>
                    <a:lnTo>
                      <a:pt x="31492" y="5455"/>
                    </a:lnTo>
                    <a:lnTo>
                      <a:pt x="248" y="5455"/>
                    </a:lnTo>
                    <a:lnTo>
                      <a:pt x="75" y="5381"/>
                    </a:lnTo>
                    <a:lnTo>
                      <a:pt x="0" y="5207"/>
                    </a:lnTo>
                    <a:lnTo>
                      <a:pt x="0" y="3223"/>
                    </a:lnTo>
                    <a:lnTo>
                      <a:pt x="50" y="3000"/>
                    </a:lnTo>
                    <a:lnTo>
                      <a:pt x="149" y="2777"/>
                    </a:lnTo>
                    <a:lnTo>
                      <a:pt x="844" y="1934"/>
                    </a:lnTo>
                    <a:lnTo>
                      <a:pt x="1017" y="1785"/>
                    </a:lnTo>
                    <a:lnTo>
                      <a:pt x="1240" y="1686"/>
                    </a:lnTo>
                    <a:lnTo>
                      <a:pt x="2976" y="1239"/>
                    </a:lnTo>
                    <a:lnTo>
                      <a:pt x="6200" y="1239"/>
                    </a:lnTo>
                    <a:lnTo>
                      <a:pt x="8679" y="744"/>
                    </a:lnTo>
                    <a:lnTo>
                      <a:pt x="11903" y="24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DDA_RevealLining">
                <a:extLst>
                  <a:ext uri="{FF2B5EF4-FFF2-40B4-BE49-F238E27FC236}">
                    <a16:creationId xmlns:a16="http://schemas.microsoft.com/office/drawing/2014/main" id="{46A88D7F-0127-AB01-64B1-4401001B457E}"/>
                  </a:ext>
                </a:extLst>
              </p:cNvPr>
              <p:cNvSpPr/>
              <p:nvPr/>
            </p:nvSpPr>
            <p:spPr>
              <a:xfrm>
                <a:off x="682791" y="4665159"/>
                <a:ext cx="347892" cy="19342"/>
              </a:xfrm>
              <a:custGeom>
                <a:avLst/>
                <a:gdLst/>
                <a:ahLst/>
                <a:cxnLst/>
                <a:rect l="l" t="t" r="r" b="b"/>
                <a:pathLst>
                  <a:path w="347892" h="19342">
                    <a:moveTo>
                      <a:pt x="344917" y="0"/>
                    </a:moveTo>
                    <a:lnTo>
                      <a:pt x="344917" y="19342"/>
                    </a:lnTo>
                    <a:lnTo>
                      <a:pt x="347892" y="19342"/>
                    </a:lnTo>
                    <a:lnTo>
                      <a:pt x="347892" y="0"/>
                    </a:lnTo>
                    <a:close/>
                    <a:moveTo>
                      <a:pt x="2975" y="0"/>
                    </a:moveTo>
                    <a:lnTo>
                      <a:pt x="2975" y="19342"/>
                    </a:lnTo>
                    <a:lnTo>
                      <a:pt x="0" y="193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墙_DDA_Main_LeafFrame">
                <a:extLst>
                  <a:ext uri="{FF2B5EF4-FFF2-40B4-BE49-F238E27FC236}">
                    <a16:creationId xmlns:a16="http://schemas.microsoft.com/office/drawing/2014/main" id="{D5CD302D-5775-5A55-359D-DEF4E6EB90CE}"/>
                  </a:ext>
                </a:extLst>
              </p:cNvPr>
              <p:cNvSpPr/>
              <p:nvPr/>
            </p:nvSpPr>
            <p:spPr>
              <a:xfrm>
                <a:off x="820411" y="4684625"/>
                <a:ext cx="196138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96138" h="13143">
                    <a:moveTo>
                      <a:pt x="195915" y="223"/>
                    </a:moveTo>
                    <a:lnTo>
                      <a:pt x="195395" y="0"/>
                    </a:lnTo>
                    <a:lnTo>
                      <a:pt x="172086" y="0"/>
                    </a:lnTo>
                    <a:lnTo>
                      <a:pt x="171565" y="223"/>
                    </a:lnTo>
                    <a:lnTo>
                      <a:pt x="171342" y="744"/>
                    </a:lnTo>
                    <a:lnTo>
                      <a:pt x="171342" y="12399"/>
                    </a:lnTo>
                    <a:lnTo>
                      <a:pt x="171565" y="12920"/>
                    </a:lnTo>
                    <a:lnTo>
                      <a:pt x="172086" y="13143"/>
                    </a:lnTo>
                    <a:lnTo>
                      <a:pt x="195395" y="13143"/>
                    </a:lnTo>
                    <a:lnTo>
                      <a:pt x="195915" y="12920"/>
                    </a:lnTo>
                    <a:lnTo>
                      <a:pt x="196138" y="12399"/>
                    </a:lnTo>
                    <a:lnTo>
                      <a:pt x="196138" y="744"/>
                    </a:lnTo>
                    <a:close/>
                    <a:moveTo>
                      <a:pt x="24573" y="223"/>
                    </a:moveTo>
                    <a:lnTo>
                      <a:pt x="24052" y="0"/>
                    </a:lnTo>
                    <a:lnTo>
                      <a:pt x="743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3" y="13143"/>
                    </a:lnTo>
                    <a:lnTo>
                      <a:pt x="24052" y="13143"/>
                    </a:lnTo>
                    <a:lnTo>
                      <a:pt x="24573" y="12920"/>
                    </a:lnTo>
                    <a:lnTo>
                      <a:pt x="24796" y="12399"/>
                    </a:lnTo>
                    <a:lnTo>
                      <a:pt x="24796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DDA_Main_Mould_3o">
                <a:extLst>
                  <a:ext uri="{FF2B5EF4-FFF2-40B4-BE49-F238E27FC236}">
                    <a16:creationId xmlns:a16="http://schemas.microsoft.com/office/drawing/2014/main" id="{66F13EE7-0395-7B0B-0BA6-3AAED396348F}"/>
                  </a:ext>
                </a:extLst>
              </p:cNvPr>
              <p:cNvSpPr/>
              <p:nvPr/>
            </p:nvSpPr>
            <p:spPr>
              <a:xfrm>
                <a:off x="845207" y="4697768"/>
                <a:ext cx="146546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1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146546" y="0"/>
                    </a:moveTo>
                    <a:lnTo>
                      <a:pt x="146546" y="496"/>
                    </a:lnTo>
                    <a:lnTo>
                      <a:pt x="145554" y="2232"/>
                    </a:lnTo>
                    <a:lnTo>
                      <a:pt x="144314" y="2976"/>
                    </a:lnTo>
                    <a:lnTo>
                      <a:pt x="142579" y="3224"/>
                    </a:lnTo>
                    <a:lnTo>
                      <a:pt x="142083" y="3224"/>
                    </a:lnTo>
                    <a:lnTo>
                      <a:pt x="14208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DDA_Main_Mould_3i">
                <a:extLst>
                  <a:ext uri="{FF2B5EF4-FFF2-40B4-BE49-F238E27FC236}">
                    <a16:creationId xmlns:a16="http://schemas.microsoft.com/office/drawing/2014/main" id="{05200743-A1AB-651F-C7D3-BEF9EDF1F3D2}"/>
                  </a:ext>
                </a:extLst>
              </p:cNvPr>
              <p:cNvSpPr/>
              <p:nvPr/>
            </p:nvSpPr>
            <p:spPr>
              <a:xfrm>
                <a:off x="845207" y="4681402"/>
                <a:ext cx="146546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146546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1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142083" y="3223"/>
                    </a:moveTo>
                    <a:lnTo>
                      <a:pt x="142083" y="0"/>
                    </a:lnTo>
                    <a:lnTo>
                      <a:pt x="142579" y="0"/>
                    </a:lnTo>
                    <a:lnTo>
                      <a:pt x="144314" y="248"/>
                    </a:lnTo>
                    <a:lnTo>
                      <a:pt x="145554" y="991"/>
                    </a:lnTo>
                    <a:lnTo>
                      <a:pt x="146546" y="2727"/>
                    </a:lnTo>
                    <a:lnTo>
                      <a:pt x="146546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DDA_Main_Panel_3">
                <a:extLst>
                  <a:ext uri="{FF2B5EF4-FFF2-40B4-BE49-F238E27FC236}">
                    <a16:creationId xmlns:a16="http://schemas.microsoft.com/office/drawing/2014/main" id="{68D26BF4-A8D9-C9C3-ABE9-3FFBC0546795}"/>
                  </a:ext>
                </a:extLst>
              </p:cNvPr>
              <p:cNvSpPr/>
              <p:nvPr/>
            </p:nvSpPr>
            <p:spPr>
              <a:xfrm>
                <a:off x="844215" y="4687477"/>
                <a:ext cx="148530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148530" h="7439">
                    <a:moveTo>
                      <a:pt x="141860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141860" y="0"/>
                    </a:lnTo>
                    <a:lnTo>
                      <a:pt x="148530" y="1488"/>
                    </a:lnTo>
                    <a:lnTo>
                      <a:pt x="148530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DDA_Side_LeafFrame">
                <a:extLst>
                  <a:ext uri="{FF2B5EF4-FFF2-40B4-BE49-F238E27FC236}">
                    <a16:creationId xmlns:a16="http://schemas.microsoft.com/office/drawing/2014/main" id="{6B0EEAA3-84E8-C91F-5C68-6F5C4EAA451F}"/>
                  </a:ext>
                </a:extLst>
              </p:cNvPr>
              <p:cNvSpPr/>
              <p:nvPr/>
            </p:nvSpPr>
            <p:spPr>
              <a:xfrm>
                <a:off x="696925" y="4684625"/>
                <a:ext cx="122494" cy="13143"/>
              </a:xfrm>
              <a:custGeom>
                <a:avLst/>
                <a:gdLst/>
                <a:ahLst/>
                <a:cxnLst/>
                <a:rect l="l" t="t" r="r" b="b"/>
                <a:pathLst>
                  <a:path w="122494" h="13143">
                    <a:moveTo>
                      <a:pt x="122270" y="223"/>
                    </a:moveTo>
                    <a:lnTo>
                      <a:pt x="121750" y="0"/>
                    </a:lnTo>
                    <a:lnTo>
                      <a:pt x="103400" y="0"/>
                    </a:lnTo>
                    <a:lnTo>
                      <a:pt x="102880" y="223"/>
                    </a:lnTo>
                    <a:lnTo>
                      <a:pt x="102657" y="744"/>
                    </a:lnTo>
                    <a:lnTo>
                      <a:pt x="102657" y="12399"/>
                    </a:lnTo>
                    <a:lnTo>
                      <a:pt x="102880" y="12920"/>
                    </a:lnTo>
                    <a:lnTo>
                      <a:pt x="103400" y="13143"/>
                    </a:lnTo>
                    <a:lnTo>
                      <a:pt x="121750" y="13143"/>
                    </a:lnTo>
                    <a:lnTo>
                      <a:pt x="122270" y="12920"/>
                    </a:lnTo>
                    <a:lnTo>
                      <a:pt x="122494" y="12399"/>
                    </a:lnTo>
                    <a:lnTo>
                      <a:pt x="122494" y="744"/>
                    </a:lnTo>
                    <a:close/>
                    <a:moveTo>
                      <a:pt x="19614" y="223"/>
                    </a:moveTo>
                    <a:lnTo>
                      <a:pt x="19093" y="0"/>
                    </a:lnTo>
                    <a:lnTo>
                      <a:pt x="744" y="0"/>
                    </a:lnTo>
                    <a:lnTo>
                      <a:pt x="223" y="223"/>
                    </a:lnTo>
                    <a:lnTo>
                      <a:pt x="0" y="744"/>
                    </a:lnTo>
                    <a:lnTo>
                      <a:pt x="0" y="12399"/>
                    </a:lnTo>
                    <a:lnTo>
                      <a:pt x="223" y="12920"/>
                    </a:lnTo>
                    <a:lnTo>
                      <a:pt x="744" y="13143"/>
                    </a:lnTo>
                    <a:lnTo>
                      <a:pt x="19093" y="13143"/>
                    </a:lnTo>
                    <a:lnTo>
                      <a:pt x="19614" y="12920"/>
                    </a:lnTo>
                    <a:lnTo>
                      <a:pt x="19837" y="12399"/>
                    </a:lnTo>
                    <a:lnTo>
                      <a:pt x="19837" y="7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DDA_Side_Mould_3o">
                <a:extLst>
                  <a:ext uri="{FF2B5EF4-FFF2-40B4-BE49-F238E27FC236}">
                    <a16:creationId xmlns:a16="http://schemas.microsoft.com/office/drawing/2014/main" id="{2767ED0A-B858-ADEF-9700-386642C0827D}"/>
                  </a:ext>
                </a:extLst>
              </p:cNvPr>
              <p:cNvSpPr/>
              <p:nvPr/>
            </p:nvSpPr>
            <p:spPr>
              <a:xfrm>
                <a:off x="716762" y="4697768"/>
                <a:ext cx="82820" cy="3224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4">
                    <a:moveTo>
                      <a:pt x="0" y="0"/>
                    </a:moveTo>
                    <a:lnTo>
                      <a:pt x="0" y="496"/>
                    </a:lnTo>
                    <a:lnTo>
                      <a:pt x="992" y="2232"/>
                    </a:lnTo>
                    <a:lnTo>
                      <a:pt x="2232" y="2976"/>
                    </a:lnTo>
                    <a:lnTo>
                      <a:pt x="3967" y="3224"/>
                    </a:lnTo>
                    <a:lnTo>
                      <a:pt x="4463" y="3224"/>
                    </a:lnTo>
                    <a:lnTo>
                      <a:pt x="4463" y="0"/>
                    </a:lnTo>
                    <a:close/>
                    <a:moveTo>
                      <a:pt x="82820" y="0"/>
                    </a:moveTo>
                    <a:lnTo>
                      <a:pt x="82820" y="496"/>
                    </a:lnTo>
                    <a:lnTo>
                      <a:pt x="81828" y="2232"/>
                    </a:lnTo>
                    <a:lnTo>
                      <a:pt x="80588" y="2976"/>
                    </a:lnTo>
                    <a:lnTo>
                      <a:pt x="78852" y="3224"/>
                    </a:lnTo>
                    <a:lnTo>
                      <a:pt x="78356" y="3224"/>
                    </a:lnTo>
                    <a:lnTo>
                      <a:pt x="7835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DDA_Side_Mould_3i">
                <a:extLst>
                  <a:ext uri="{FF2B5EF4-FFF2-40B4-BE49-F238E27FC236}">
                    <a16:creationId xmlns:a16="http://schemas.microsoft.com/office/drawing/2014/main" id="{98091F39-BE51-0121-31F2-91C867D184F4}"/>
                  </a:ext>
                </a:extLst>
              </p:cNvPr>
              <p:cNvSpPr/>
              <p:nvPr/>
            </p:nvSpPr>
            <p:spPr>
              <a:xfrm>
                <a:off x="716762" y="4681402"/>
                <a:ext cx="82820" cy="3223"/>
              </a:xfrm>
              <a:custGeom>
                <a:avLst/>
                <a:gdLst/>
                <a:ahLst/>
                <a:cxnLst/>
                <a:rect l="l" t="t" r="r" b="b"/>
                <a:pathLst>
                  <a:path w="82820" h="3223">
                    <a:moveTo>
                      <a:pt x="4463" y="3223"/>
                    </a:moveTo>
                    <a:lnTo>
                      <a:pt x="4463" y="0"/>
                    </a:lnTo>
                    <a:lnTo>
                      <a:pt x="3967" y="0"/>
                    </a:lnTo>
                    <a:lnTo>
                      <a:pt x="2232" y="248"/>
                    </a:lnTo>
                    <a:lnTo>
                      <a:pt x="992" y="991"/>
                    </a:lnTo>
                    <a:lnTo>
                      <a:pt x="0" y="2727"/>
                    </a:lnTo>
                    <a:lnTo>
                      <a:pt x="0" y="3223"/>
                    </a:lnTo>
                    <a:close/>
                    <a:moveTo>
                      <a:pt x="78356" y="3223"/>
                    </a:moveTo>
                    <a:lnTo>
                      <a:pt x="78356" y="0"/>
                    </a:lnTo>
                    <a:lnTo>
                      <a:pt x="78852" y="0"/>
                    </a:lnTo>
                    <a:lnTo>
                      <a:pt x="80588" y="248"/>
                    </a:lnTo>
                    <a:lnTo>
                      <a:pt x="81828" y="991"/>
                    </a:lnTo>
                    <a:lnTo>
                      <a:pt x="82820" y="2727"/>
                    </a:lnTo>
                    <a:lnTo>
                      <a:pt x="82820" y="322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DDA_Side_Panel_3">
                <a:extLst>
                  <a:ext uri="{FF2B5EF4-FFF2-40B4-BE49-F238E27FC236}">
                    <a16:creationId xmlns:a16="http://schemas.microsoft.com/office/drawing/2014/main" id="{F14A0A95-9DED-0DB4-D754-80209AEDBDEB}"/>
                  </a:ext>
                </a:extLst>
              </p:cNvPr>
              <p:cNvSpPr/>
              <p:nvPr/>
            </p:nvSpPr>
            <p:spPr>
              <a:xfrm>
                <a:off x="715770" y="4687477"/>
                <a:ext cx="84803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84803" h="7439">
                    <a:moveTo>
                      <a:pt x="78133" y="7439"/>
                    </a:moveTo>
                    <a:lnTo>
                      <a:pt x="6670" y="7439"/>
                    </a:lnTo>
                    <a:lnTo>
                      <a:pt x="0" y="5951"/>
                    </a:lnTo>
                    <a:lnTo>
                      <a:pt x="0" y="1488"/>
                    </a:lnTo>
                    <a:lnTo>
                      <a:pt x="6670" y="0"/>
                    </a:lnTo>
                    <a:lnTo>
                      <a:pt x="78133" y="0"/>
                    </a:lnTo>
                    <a:lnTo>
                      <a:pt x="84803" y="1488"/>
                    </a:lnTo>
                    <a:lnTo>
                      <a:pt x="84803" y="595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DDA_Main_Astragal">
                <a:extLst>
                  <a:ext uri="{FF2B5EF4-FFF2-40B4-BE49-F238E27FC236}">
                    <a16:creationId xmlns:a16="http://schemas.microsoft.com/office/drawing/2014/main" id="{34661EAD-8B22-752C-BC77-2302B636BCEB}"/>
                  </a:ext>
                </a:extLst>
              </p:cNvPr>
              <p:cNvSpPr/>
              <p:nvPr/>
            </p:nvSpPr>
            <p:spPr>
              <a:xfrm>
                <a:off x="812228" y="4697768"/>
                <a:ext cx="15621" cy="2976"/>
              </a:xfrm>
              <a:custGeom>
                <a:avLst/>
                <a:gdLst/>
                <a:ahLst/>
                <a:cxnLst/>
                <a:rect l="l" t="t" r="r" b="b"/>
                <a:pathLst>
                  <a:path w="15621" h="2976">
                    <a:moveTo>
                      <a:pt x="5207" y="0"/>
                    </a:moveTo>
                    <a:lnTo>
                      <a:pt x="10414" y="992"/>
                    </a:lnTo>
                    <a:lnTo>
                      <a:pt x="10017" y="1761"/>
                    </a:lnTo>
                    <a:lnTo>
                      <a:pt x="8877" y="2405"/>
                    </a:lnTo>
                    <a:lnTo>
                      <a:pt x="7191" y="2827"/>
                    </a:lnTo>
                    <a:lnTo>
                      <a:pt x="5207" y="2976"/>
                    </a:lnTo>
                    <a:lnTo>
                      <a:pt x="3223" y="2827"/>
                    </a:lnTo>
                    <a:lnTo>
                      <a:pt x="1537" y="2405"/>
                    </a:lnTo>
                    <a:lnTo>
                      <a:pt x="396" y="1761"/>
                    </a:lnTo>
                    <a:lnTo>
                      <a:pt x="0" y="992"/>
                    </a:lnTo>
                    <a:lnTo>
                      <a:pt x="15621" y="992"/>
                    </a:lnTo>
                    <a:lnTo>
                      <a:pt x="15621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02_03_Utility Single Door_OuterR">
                <a:extLst>
                  <a:ext uri="{FF2B5EF4-FFF2-40B4-BE49-F238E27FC236}">
                    <a16:creationId xmlns:a16="http://schemas.microsoft.com/office/drawing/2014/main" id="{5F6199FB-8E08-C472-68D9-EB298CFD1241}"/>
                  </a:ext>
                </a:extLst>
              </p:cNvPr>
              <p:cNvSpPr/>
              <p:nvPr/>
            </p:nvSpPr>
            <p:spPr>
              <a:xfrm>
                <a:off x="1794906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02_03_Utility Single Door_OuterL">
                <a:extLst>
                  <a:ext uri="{FF2B5EF4-FFF2-40B4-BE49-F238E27FC236}">
                    <a16:creationId xmlns:a16="http://schemas.microsoft.com/office/drawing/2014/main" id="{2529E3AA-2ACB-8F76-CD7C-B9EB3231FF87}"/>
                  </a:ext>
                </a:extLst>
              </p:cNvPr>
              <p:cNvSpPr/>
              <p:nvPr/>
            </p:nvSpPr>
            <p:spPr>
              <a:xfrm>
                <a:off x="2001955" y="1059080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13638" y="0"/>
                    </a:moveTo>
                    <a:lnTo>
                      <a:pt x="13638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02_03_Utility Single Door_LeafR">
                <a:extLst>
                  <a:ext uri="{FF2B5EF4-FFF2-40B4-BE49-F238E27FC236}">
                    <a16:creationId xmlns:a16="http://schemas.microsoft.com/office/drawing/2014/main" id="{42C43CC6-F8AC-C7AB-54DA-33CAF502E789}"/>
                  </a:ext>
                </a:extLst>
              </p:cNvPr>
              <p:cNvSpPr/>
              <p:nvPr/>
            </p:nvSpPr>
            <p:spPr>
              <a:xfrm>
                <a:off x="1808544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02_03_Utility Single Door_LeafL">
                <a:extLst>
                  <a:ext uri="{FF2B5EF4-FFF2-40B4-BE49-F238E27FC236}">
                    <a16:creationId xmlns:a16="http://schemas.microsoft.com/office/drawing/2014/main" id="{E1ABFDFF-B9FC-9843-EA33-9097706A430C}"/>
                  </a:ext>
                </a:extLst>
              </p:cNvPr>
              <p:cNvSpPr/>
              <p:nvPr/>
            </p:nvSpPr>
            <p:spPr>
              <a:xfrm>
                <a:off x="1994020" y="1059080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7935" y="0"/>
                    </a:moveTo>
                    <a:lnTo>
                      <a:pt x="7935" y="18598"/>
                    </a:lnTo>
                    <a:lnTo>
                      <a:pt x="0" y="1859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03_04_Front Entrance Door_BlueLeafL">
                <a:extLst>
                  <a:ext uri="{FF2B5EF4-FFF2-40B4-BE49-F238E27FC236}">
                    <a16:creationId xmlns:a16="http://schemas.microsoft.com/office/drawing/2014/main" id="{C0DEC79D-081F-237D-85E8-BDD1EF46CF66}"/>
                  </a:ext>
                </a:extLst>
              </p:cNvPr>
              <p:cNvSpPr/>
              <p:nvPr/>
            </p:nvSpPr>
            <p:spPr>
              <a:xfrm>
                <a:off x="2298569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03_04_Front Entrance Door_BlueLeafR">
                <a:extLst>
                  <a:ext uri="{FF2B5EF4-FFF2-40B4-BE49-F238E27FC236}">
                    <a16:creationId xmlns:a16="http://schemas.microsoft.com/office/drawing/2014/main" id="{ABAF0DFF-D86C-8690-FB58-8DEECA656AA7}"/>
                  </a:ext>
                </a:extLst>
              </p:cNvPr>
              <p:cNvSpPr/>
              <p:nvPr/>
            </p:nvSpPr>
            <p:spPr>
              <a:xfrm>
                <a:off x="2506858" y="4946241"/>
                <a:ext cx="19837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9837" h="18598">
                    <a:moveTo>
                      <a:pt x="0" y="0"/>
                    </a:moveTo>
                    <a:lnTo>
                      <a:pt x="19837" y="0"/>
                    </a:lnTo>
                    <a:lnTo>
                      <a:pt x="19837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03_04_Front Entrance Door_DoorHandle">
                <a:extLst>
                  <a:ext uri="{FF2B5EF4-FFF2-40B4-BE49-F238E27FC236}">
                    <a16:creationId xmlns:a16="http://schemas.microsoft.com/office/drawing/2014/main" id="{E0BED2A4-4F94-4027-0420-998B8318CC30}"/>
                  </a:ext>
                </a:extLst>
              </p:cNvPr>
              <p:cNvSpPr/>
              <p:nvPr/>
            </p:nvSpPr>
            <p:spPr>
              <a:xfrm>
                <a:off x="2499667" y="4937562"/>
                <a:ext cx="4463" cy="6199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6199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6199"/>
                    </a:lnTo>
                    <a:lnTo>
                      <a:pt x="0" y="619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03_04_Front Entrance Door_UpperPanel">
                <a:extLst>
                  <a:ext uri="{FF2B5EF4-FFF2-40B4-BE49-F238E27FC236}">
                    <a16:creationId xmlns:a16="http://schemas.microsoft.com/office/drawing/2014/main" id="{CCEBF2AB-4570-7148-0B05-7E120C939050}"/>
                  </a:ext>
                </a:extLst>
              </p:cNvPr>
              <p:cNvSpPr/>
              <p:nvPr/>
            </p:nvSpPr>
            <p:spPr>
              <a:xfrm>
                <a:off x="2318406" y="4949961"/>
                <a:ext cx="188452" cy="11158"/>
              </a:xfrm>
              <a:custGeom>
                <a:avLst/>
                <a:gdLst/>
                <a:ahLst/>
                <a:cxnLst/>
                <a:rect l="l" t="t" r="r" b="b"/>
                <a:pathLst>
                  <a:path w="188452" h="11158">
                    <a:moveTo>
                      <a:pt x="0" y="0"/>
                    </a:moveTo>
                    <a:lnTo>
                      <a:pt x="188452" y="0"/>
                    </a:lnTo>
                    <a:lnTo>
                      <a:pt x="188452" y="11158"/>
                    </a:lnTo>
                    <a:lnTo>
                      <a:pt x="0" y="1115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WD_03_04_Front Entrance Door_OuterL">
                <a:extLst>
                  <a:ext uri="{FF2B5EF4-FFF2-40B4-BE49-F238E27FC236}">
                    <a16:creationId xmlns:a16="http://schemas.microsoft.com/office/drawing/2014/main" id="{1367541D-9E22-90F2-560D-4AE9DC4FB3C4}"/>
                  </a:ext>
                </a:extLst>
              </p:cNvPr>
              <p:cNvSpPr/>
              <p:nvPr/>
            </p:nvSpPr>
            <p:spPr>
              <a:xfrm>
                <a:off x="2284931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WD_03_04_Front Entrance Door_OuterR">
                <a:extLst>
                  <a:ext uri="{FF2B5EF4-FFF2-40B4-BE49-F238E27FC236}">
                    <a16:creationId xmlns:a16="http://schemas.microsoft.com/office/drawing/2014/main" id="{92B99839-4C43-93AB-FCBC-9CA70333BD12}"/>
                  </a:ext>
                </a:extLst>
              </p:cNvPr>
              <p:cNvSpPr/>
              <p:nvPr/>
            </p:nvSpPr>
            <p:spPr>
              <a:xfrm>
                <a:off x="2526695" y="4946241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WD_06_07_Lounge Bay Window_LowerL">
                <a:extLst>
                  <a:ext uri="{FF2B5EF4-FFF2-40B4-BE49-F238E27FC236}">
                    <a16:creationId xmlns:a16="http://schemas.microsoft.com/office/drawing/2014/main" id="{D43898BA-499C-9287-C267-5A0876BFABC8}"/>
                  </a:ext>
                </a:extLst>
              </p:cNvPr>
              <p:cNvSpPr/>
              <p:nvPr/>
            </p:nvSpPr>
            <p:spPr>
              <a:xfrm>
                <a:off x="1571565" y="5133067"/>
                <a:ext cx="17432" cy="19689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89">
                    <a:moveTo>
                      <a:pt x="6373" y="19689"/>
                    </a:moveTo>
                    <a:lnTo>
                      <a:pt x="0" y="14977"/>
                    </a:lnTo>
                    <a:lnTo>
                      <a:pt x="11035" y="0"/>
                    </a:lnTo>
                    <a:lnTo>
                      <a:pt x="17432" y="473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WD_06_07_Lounge Bay Window_LowerR">
                <a:extLst>
                  <a:ext uri="{FF2B5EF4-FFF2-40B4-BE49-F238E27FC236}">
                    <a16:creationId xmlns:a16="http://schemas.microsoft.com/office/drawing/2014/main" id="{00026297-81D4-54A3-C737-167C839AADD5}"/>
                  </a:ext>
                </a:extLst>
              </p:cNvPr>
              <p:cNvSpPr/>
              <p:nvPr/>
            </p:nvSpPr>
            <p:spPr>
              <a:xfrm>
                <a:off x="1500177" y="5080297"/>
                <a:ext cx="17432" cy="19690"/>
              </a:xfrm>
              <a:custGeom>
                <a:avLst/>
                <a:gdLst/>
                <a:ahLst/>
                <a:cxnLst/>
                <a:rect l="l" t="t" r="r" b="b"/>
                <a:pathLst>
                  <a:path w="17432" h="19690">
                    <a:moveTo>
                      <a:pt x="6373" y="19690"/>
                    </a:moveTo>
                    <a:lnTo>
                      <a:pt x="0" y="14978"/>
                    </a:lnTo>
                    <a:lnTo>
                      <a:pt x="11034" y="0"/>
                    </a:lnTo>
                    <a:lnTo>
                      <a:pt x="17432" y="47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WD_06_07_Lounge Bay Window_OuterL">
                <a:extLst>
                  <a:ext uri="{FF2B5EF4-FFF2-40B4-BE49-F238E27FC236}">
                    <a16:creationId xmlns:a16="http://schemas.microsoft.com/office/drawing/2014/main" id="{0816A902-5B49-BC24-B28A-D63119A7CA70}"/>
                  </a:ext>
                </a:extLst>
              </p:cNvPr>
              <p:cNvSpPr/>
              <p:nvPr/>
            </p:nvSpPr>
            <p:spPr>
              <a:xfrm>
                <a:off x="1577938" y="513780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60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10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WD_06_07_Lounge Bay Window_OuterR">
                <a:extLst>
                  <a:ext uri="{FF2B5EF4-FFF2-40B4-BE49-F238E27FC236}">
                    <a16:creationId xmlns:a16="http://schemas.microsoft.com/office/drawing/2014/main" id="{47AED7CC-2514-41D2-C228-CF59C31F94DA}"/>
                  </a:ext>
                </a:extLst>
              </p:cNvPr>
              <p:cNvSpPr/>
              <p:nvPr/>
            </p:nvSpPr>
            <p:spPr>
              <a:xfrm>
                <a:off x="1489192" y="5072213"/>
                <a:ext cx="22019" cy="23062"/>
              </a:xfrm>
              <a:custGeom>
                <a:avLst/>
                <a:gdLst/>
                <a:ahLst/>
                <a:cxnLst/>
                <a:rect l="l" t="t" r="r" b="b"/>
                <a:pathLst>
                  <a:path w="22019" h="23062">
                    <a:moveTo>
                      <a:pt x="10985" y="23062"/>
                    </a:moveTo>
                    <a:lnTo>
                      <a:pt x="0" y="14953"/>
                    </a:lnTo>
                    <a:lnTo>
                      <a:pt x="11059" y="0"/>
                    </a:lnTo>
                    <a:lnTo>
                      <a:pt x="22019" y="808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WD_06_08_Lounge Bay Window_LowerL">
                <a:extLst>
                  <a:ext uri="{FF2B5EF4-FFF2-40B4-BE49-F238E27FC236}">
                    <a16:creationId xmlns:a16="http://schemas.microsoft.com/office/drawing/2014/main" id="{F593EE31-CC10-EB23-C232-C3FA47C48371}"/>
                  </a:ext>
                </a:extLst>
              </p:cNvPr>
              <p:cNvSpPr/>
              <p:nvPr/>
            </p:nvSpPr>
            <p:spPr>
              <a:xfrm>
                <a:off x="1648732" y="5170462"/>
                <a:ext cx="7934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4" h="18598">
                    <a:moveTo>
                      <a:pt x="0" y="0"/>
                    </a:moveTo>
                    <a:lnTo>
                      <a:pt x="7934" y="0"/>
                    </a:lnTo>
                    <a:lnTo>
                      <a:pt x="7934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WD_06_08_Lounge Bay Window_LowerR">
                <a:extLst>
                  <a:ext uri="{FF2B5EF4-FFF2-40B4-BE49-F238E27FC236}">
                    <a16:creationId xmlns:a16="http://schemas.microsoft.com/office/drawing/2014/main" id="{FD4FE8B2-AB8E-7AB4-FFF7-FA185CB40DD4}"/>
                  </a:ext>
                </a:extLst>
              </p:cNvPr>
              <p:cNvSpPr/>
              <p:nvPr/>
            </p:nvSpPr>
            <p:spPr>
              <a:xfrm>
                <a:off x="1861484" y="5170462"/>
                <a:ext cx="7935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7935" h="18598">
                    <a:moveTo>
                      <a:pt x="0" y="0"/>
                    </a:moveTo>
                    <a:lnTo>
                      <a:pt x="7935" y="0"/>
                    </a:lnTo>
                    <a:lnTo>
                      <a:pt x="7935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D_06_08_Lounge Bay Window_OuterL">
                <a:extLst>
                  <a:ext uri="{FF2B5EF4-FFF2-40B4-BE49-F238E27FC236}">
                    <a16:creationId xmlns:a16="http://schemas.microsoft.com/office/drawing/2014/main" id="{CA221B1F-561C-A7EB-D898-11CABF9686A6}"/>
                  </a:ext>
                </a:extLst>
              </p:cNvPr>
              <p:cNvSpPr/>
              <p:nvPr/>
            </p:nvSpPr>
            <p:spPr>
              <a:xfrm>
                <a:off x="1635094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D_06_08_Lounge Bay Window_OuterR">
                <a:extLst>
                  <a:ext uri="{FF2B5EF4-FFF2-40B4-BE49-F238E27FC236}">
                    <a16:creationId xmlns:a16="http://schemas.microsoft.com/office/drawing/2014/main" id="{A21C431F-9FC5-2259-6195-FF04DFCB786F}"/>
                  </a:ext>
                </a:extLst>
              </p:cNvPr>
              <p:cNvSpPr/>
              <p:nvPr/>
            </p:nvSpPr>
            <p:spPr>
              <a:xfrm>
                <a:off x="1869419" y="5170462"/>
                <a:ext cx="13638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18598">
                    <a:moveTo>
                      <a:pt x="0" y="0"/>
                    </a:moveTo>
                    <a:lnTo>
                      <a:pt x="13638" y="0"/>
                    </a:lnTo>
                    <a:lnTo>
                      <a:pt x="13638" y="18598"/>
                    </a:lnTo>
                    <a:lnTo>
                      <a:pt x="0" y="185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D_06_09_Lounge Bay Window_LowerL">
                <a:extLst>
                  <a:ext uri="{FF2B5EF4-FFF2-40B4-BE49-F238E27FC236}">
                    <a16:creationId xmlns:a16="http://schemas.microsoft.com/office/drawing/2014/main" id="{BCD58066-44E9-63CD-4836-9DA7C04BAFFD}"/>
                  </a:ext>
                </a:extLst>
              </p:cNvPr>
              <p:cNvSpPr/>
              <p:nvPr/>
            </p:nvSpPr>
            <p:spPr>
              <a:xfrm>
                <a:off x="2002377" y="5079355"/>
                <a:ext cx="17704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04" h="19540">
                    <a:moveTo>
                      <a:pt x="17704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D_06_09_Lounge Bay Window_LowerR">
                <a:extLst>
                  <a:ext uri="{FF2B5EF4-FFF2-40B4-BE49-F238E27FC236}">
                    <a16:creationId xmlns:a16="http://schemas.microsoft.com/office/drawing/2014/main" id="{009C1C98-8ED5-2E78-E911-9ACAAB4ED125}"/>
                  </a:ext>
                </a:extLst>
              </p:cNvPr>
              <p:cNvSpPr/>
              <p:nvPr/>
            </p:nvSpPr>
            <p:spPr>
              <a:xfrm>
                <a:off x="1932526" y="5134158"/>
                <a:ext cx="17729" cy="19540"/>
              </a:xfrm>
              <a:custGeom>
                <a:avLst/>
                <a:gdLst/>
                <a:ahLst/>
                <a:cxnLst/>
                <a:rect l="l" t="t" r="r" b="b"/>
                <a:pathLst>
                  <a:path w="17729" h="19540">
                    <a:moveTo>
                      <a:pt x="17729" y="14630"/>
                    </a:moveTo>
                    <a:lnTo>
                      <a:pt x="11480" y="19540"/>
                    </a:lnTo>
                    <a:lnTo>
                      <a:pt x="0" y="4910"/>
                    </a:lnTo>
                    <a:lnTo>
                      <a:pt x="624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D_06_09_Lounge Bay Window_OuterL">
                <a:extLst>
                  <a:ext uri="{FF2B5EF4-FFF2-40B4-BE49-F238E27FC236}">
                    <a16:creationId xmlns:a16="http://schemas.microsoft.com/office/drawing/2014/main" id="{70C951E9-8005-DC2A-F0B5-4F86AD243CA8}"/>
                  </a:ext>
                </a:extLst>
              </p:cNvPr>
              <p:cNvSpPr/>
              <p:nvPr/>
            </p:nvSpPr>
            <p:spPr>
              <a:xfrm>
                <a:off x="2008601" y="507094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1"/>
                    </a:moveTo>
                    <a:lnTo>
                      <a:pt x="11480" y="23037"/>
                    </a:lnTo>
                    <a:lnTo>
                      <a:pt x="0" y="8407"/>
                    </a:lnTo>
                    <a:lnTo>
                      <a:pt x="1073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墙_WD_06_09_Lounge Bay Window_OuterR">
                <a:extLst>
                  <a:ext uri="{FF2B5EF4-FFF2-40B4-BE49-F238E27FC236}">
                    <a16:creationId xmlns:a16="http://schemas.microsoft.com/office/drawing/2014/main" id="{F2EE4D63-9456-4756-91D5-ECB2EFE6AD8D}"/>
                  </a:ext>
                </a:extLst>
              </p:cNvPr>
              <p:cNvSpPr/>
              <p:nvPr/>
            </p:nvSpPr>
            <p:spPr>
              <a:xfrm>
                <a:off x="1921789" y="5139068"/>
                <a:ext cx="22217" cy="23037"/>
              </a:xfrm>
              <a:custGeom>
                <a:avLst/>
                <a:gdLst/>
                <a:ahLst/>
                <a:cxnLst/>
                <a:rect l="l" t="t" r="r" b="b"/>
                <a:pathLst>
                  <a:path w="22217" h="23037">
                    <a:moveTo>
                      <a:pt x="22217" y="14630"/>
                    </a:moveTo>
                    <a:lnTo>
                      <a:pt x="11480" y="23037"/>
                    </a:lnTo>
                    <a:lnTo>
                      <a:pt x="0" y="8406"/>
                    </a:lnTo>
                    <a:lnTo>
                      <a:pt x="1073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6" name="墙_WD_12_18_Kitchen Large Window_FixedMiddleB">
                <a:extLst>
                  <a:ext uri="{FF2B5EF4-FFF2-40B4-BE49-F238E27FC236}">
                    <a16:creationId xmlns:a16="http://schemas.microsoft.com/office/drawing/2014/main" id="{5D594EBE-CD3F-4CB1-6894-AEE4FA053BAE}"/>
                  </a:ext>
                </a:extLst>
              </p:cNvPr>
              <p:cNvSpPr/>
              <p:nvPr/>
            </p:nvSpPr>
            <p:spPr>
              <a:xfrm>
                <a:off x="1757216" y="1670938"/>
                <a:ext cx="18597" cy="11158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11589">
                    <a:moveTo>
                      <a:pt x="0" y="11158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1158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墙_WD_12_18_Kitchen Large Window_OuterL">
                <a:extLst>
                  <a:ext uri="{FF2B5EF4-FFF2-40B4-BE49-F238E27FC236}">
                    <a16:creationId xmlns:a16="http://schemas.microsoft.com/office/drawing/2014/main" id="{F6647B01-3BAA-5D4A-B1D3-FA23A89538EA}"/>
                  </a:ext>
                </a:extLst>
              </p:cNvPr>
              <p:cNvSpPr/>
              <p:nvPr/>
            </p:nvSpPr>
            <p:spPr>
              <a:xfrm>
                <a:off x="1757216" y="189535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8" name="墙_WD_12_18_Kitchen Large Window_OuterR">
                <a:extLst>
                  <a:ext uri="{FF2B5EF4-FFF2-40B4-BE49-F238E27FC236}">
                    <a16:creationId xmlns:a16="http://schemas.microsoft.com/office/drawing/2014/main" id="{D1E11A80-3BCC-2F62-3AAB-A308B90D84AD}"/>
                  </a:ext>
                </a:extLst>
              </p:cNvPr>
              <p:cNvSpPr/>
              <p:nvPr/>
            </p:nvSpPr>
            <p:spPr>
              <a:xfrm>
                <a:off x="1757216" y="1544470"/>
                <a:ext cx="18597" cy="13638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8">
                    <a:moveTo>
                      <a:pt x="0" y="13638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墙_WD_12_18_Kitchen Large Window_Side0L">
                <a:extLst>
                  <a:ext uri="{FF2B5EF4-FFF2-40B4-BE49-F238E27FC236}">
                    <a16:creationId xmlns:a16="http://schemas.microsoft.com/office/drawing/2014/main" id="{96A8D9E1-94C2-8A9B-2638-55AA138AF412}"/>
                  </a:ext>
                </a:extLst>
              </p:cNvPr>
              <p:cNvSpPr/>
              <p:nvPr/>
            </p:nvSpPr>
            <p:spPr>
              <a:xfrm>
                <a:off x="1757216" y="189424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0" name="墙_WD_12_18_Kitchen Large Window_Side0R">
                <a:extLst>
                  <a:ext uri="{FF2B5EF4-FFF2-40B4-BE49-F238E27FC236}">
                    <a16:creationId xmlns:a16="http://schemas.microsoft.com/office/drawing/2014/main" id="{A7A51D3D-2C9C-0EE5-3E42-CDA1D1357A2B}"/>
                  </a:ext>
                </a:extLst>
              </p:cNvPr>
              <p:cNvSpPr/>
              <p:nvPr/>
            </p:nvSpPr>
            <p:spPr>
              <a:xfrm>
                <a:off x="1757216" y="1789347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墙_WD_12_18_Kitchen Large Window_Side2L">
                <a:extLst>
                  <a:ext uri="{FF2B5EF4-FFF2-40B4-BE49-F238E27FC236}">
                    <a16:creationId xmlns:a16="http://schemas.microsoft.com/office/drawing/2014/main" id="{14416D6C-377F-63F8-10C9-72E05C940266}"/>
                  </a:ext>
                </a:extLst>
              </p:cNvPr>
              <p:cNvSpPr/>
              <p:nvPr/>
            </p:nvSpPr>
            <p:spPr>
              <a:xfrm>
                <a:off x="1757216" y="1656183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2" name="墙_WD_12_18_Kitchen Large Window_Side2R">
                <a:extLst>
                  <a:ext uri="{FF2B5EF4-FFF2-40B4-BE49-F238E27FC236}">
                    <a16:creationId xmlns:a16="http://schemas.microsoft.com/office/drawing/2014/main" id="{186511F7-FCCF-C1DA-3643-364BE2004B7D}"/>
                  </a:ext>
                </a:extLst>
              </p:cNvPr>
              <p:cNvSpPr/>
              <p:nvPr/>
            </p:nvSpPr>
            <p:spPr>
              <a:xfrm>
                <a:off x="1757216" y="1551289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墙_WD_13_19_Kitchen Small Window_OuterL">
                <a:extLst>
                  <a:ext uri="{FF2B5EF4-FFF2-40B4-BE49-F238E27FC236}">
                    <a16:creationId xmlns:a16="http://schemas.microsoft.com/office/drawing/2014/main" id="{7053E45C-E96F-36D9-8844-B2918D07EE4B}"/>
                  </a:ext>
                </a:extLst>
              </p:cNvPr>
              <p:cNvSpPr/>
              <p:nvPr/>
            </p:nvSpPr>
            <p:spPr>
              <a:xfrm>
                <a:off x="1757216" y="1215627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4" name="墙_WD_13_19_Kitchen Small Window_OuterR">
                <a:extLst>
                  <a:ext uri="{FF2B5EF4-FFF2-40B4-BE49-F238E27FC236}">
                    <a16:creationId xmlns:a16="http://schemas.microsoft.com/office/drawing/2014/main" id="{8FB0F1F0-BFB5-3EC5-FB36-CAB532CD721C}"/>
                  </a:ext>
                </a:extLst>
              </p:cNvPr>
              <p:cNvSpPr/>
              <p:nvPr/>
            </p:nvSpPr>
            <p:spPr>
              <a:xfrm>
                <a:off x="1757216" y="1110981"/>
                <a:ext cx="18597" cy="13639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13639">
                    <a:moveTo>
                      <a:pt x="0" y="13639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136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墙_WD_13_19_Kitchen Small Window_Side1L">
                <a:extLst>
                  <a:ext uri="{FF2B5EF4-FFF2-40B4-BE49-F238E27FC236}">
                    <a16:creationId xmlns:a16="http://schemas.microsoft.com/office/drawing/2014/main" id="{77BE0F13-578F-4E38-855F-C40DD71BD886}"/>
                  </a:ext>
                </a:extLst>
              </p:cNvPr>
              <p:cNvSpPr/>
              <p:nvPr/>
            </p:nvSpPr>
            <p:spPr>
              <a:xfrm>
                <a:off x="1757216" y="1207816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6" name="墙_WD_13_19_Kitchen Small Window_Side1R">
                <a:extLst>
                  <a:ext uri="{FF2B5EF4-FFF2-40B4-BE49-F238E27FC236}">
                    <a16:creationId xmlns:a16="http://schemas.microsoft.com/office/drawing/2014/main" id="{41EEF4A9-0C09-B045-82F9-DB379125CBCB}"/>
                  </a:ext>
                </a:extLst>
              </p:cNvPr>
              <p:cNvSpPr/>
              <p:nvPr/>
            </p:nvSpPr>
            <p:spPr>
              <a:xfrm>
                <a:off x="1757216" y="1117801"/>
                <a:ext cx="18597" cy="7935"/>
              </a:xfrm>
              <a:custGeom>
                <a:avLst/>
                <a:gdLst/>
                <a:ahLst/>
                <a:cxnLst/>
                <a:rect l="l" t="t" r="r" b="b"/>
                <a:pathLst>
                  <a:path w="18597" h="7935">
                    <a:moveTo>
                      <a:pt x="0" y="7935"/>
                    </a:moveTo>
                    <a:lnTo>
                      <a:pt x="0" y="0"/>
                    </a:lnTo>
                    <a:lnTo>
                      <a:pt x="18597" y="0"/>
                    </a:lnTo>
                    <a:lnTo>
                      <a:pt x="18597" y="793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墙_WC200_DoorJamb">
                <a:extLst>
                  <a:ext uri="{FF2B5EF4-FFF2-40B4-BE49-F238E27FC236}">
                    <a16:creationId xmlns:a16="http://schemas.microsoft.com/office/drawing/2014/main" id="{635BB4F2-BD47-9DEF-C9C1-008FC82D93C2}"/>
                  </a:ext>
                </a:extLst>
              </p:cNvPr>
              <p:cNvSpPr/>
              <p:nvPr/>
            </p:nvSpPr>
            <p:spPr>
              <a:xfrm>
                <a:off x="1007747" y="3317454"/>
                <a:ext cx="34715" cy="7440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40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40"/>
                    </a:lnTo>
                    <a:lnTo>
                      <a:pt x="0" y="744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8" name="墙_WC200_DoorJamb.001">
                <a:extLst>
                  <a:ext uri="{FF2B5EF4-FFF2-40B4-BE49-F238E27FC236}">
                    <a16:creationId xmlns:a16="http://schemas.microsoft.com/office/drawing/2014/main" id="{664ECBBE-824F-D1AE-1CF8-C306AB21B3E8}"/>
                  </a:ext>
                </a:extLst>
              </p:cNvPr>
              <p:cNvSpPr/>
              <p:nvPr/>
            </p:nvSpPr>
            <p:spPr>
              <a:xfrm>
                <a:off x="1007747" y="3156270"/>
                <a:ext cx="34715" cy="7439"/>
              </a:xfrm>
              <a:custGeom>
                <a:avLst/>
                <a:gdLst/>
                <a:ahLst/>
                <a:cxnLst/>
                <a:rect l="l" t="t" r="r" b="b"/>
                <a:pathLst>
                  <a:path w="34715" h="7439">
                    <a:moveTo>
                      <a:pt x="0" y="0"/>
                    </a:moveTo>
                    <a:lnTo>
                      <a:pt x="34715" y="0"/>
                    </a:lnTo>
                    <a:lnTo>
                      <a:pt x="34715" y="7439"/>
                    </a:lnTo>
                    <a:lnTo>
                      <a:pt x="0" y="743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9" name="墙_DoorLeaf_WC200">
                <a:extLst>
                  <a:ext uri="{FF2B5EF4-FFF2-40B4-BE49-F238E27FC236}">
                    <a16:creationId xmlns:a16="http://schemas.microsoft.com/office/drawing/2014/main" id="{7BB084FD-DB28-3FF2-8FB6-7DEA7E3019ED}"/>
                  </a:ext>
                </a:extLst>
              </p:cNvPr>
              <p:cNvSpPr/>
              <p:nvPr/>
            </p:nvSpPr>
            <p:spPr>
              <a:xfrm>
                <a:off x="872235" y="3159295"/>
                <a:ext cx="153489" cy="30228"/>
              </a:xfrm>
              <a:custGeom>
                <a:avLst/>
                <a:gdLst/>
                <a:ahLst/>
                <a:cxnLst/>
                <a:rect l="l" t="t" r="r" b="b"/>
                <a:pathLst>
                  <a:path w="153489" h="30228">
                    <a:moveTo>
                      <a:pt x="153489" y="8828"/>
                    </a:moveTo>
                    <a:lnTo>
                      <a:pt x="1240" y="30228"/>
                    </a:lnTo>
                    <a:lnTo>
                      <a:pt x="0" y="21400"/>
                    </a:lnTo>
                    <a:lnTo>
                      <a:pt x="15224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0" name="墙_Utility_FlushAccessDoor">
                <a:extLst>
                  <a:ext uri="{FF2B5EF4-FFF2-40B4-BE49-F238E27FC236}">
                    <a16:creationId xmlns:a16="http://schemas.microsoft.com/office/drawing/2014/main" id="{767695DE-A393-03B0-727C-80FF46C05EFA}"/>
                  </a:ext>
                </a:extLst>
              </p:cNvPr>
              <p:cNvSpPr/>
              <p:nvPr/>
            </p:nvSpPr>
            <p:spPr>
              <a:xfrm>
                <a:off x="2302239" y="3212114"/>
                <a:ext cx="4463" cy="151266"/>
              </a:xfrm>
              <a:custGeom>
                <a:avLst/>
                <a:gdLst/>
                <a:ahLst/>
                <a:cxnLst/>
                <a:rect l="l" t="t" r="r" b="b"/>
                <a:pathLst>
                  <a:path w="4463" h="151266">
                    <a:moveTo>
                      <a:pt x="0" y="0"/>
                    </a:moveTo>
                    <a:lnTo>
                      <a:pt x="4463" y="0"/>
                    </a:lnTo>
                    <a:lnTo>
                      <a:pt x="4463" y="151266"/>
                    </a:lnTo>
                    <a:lnTo>
                      <a:pt x="0" y="15126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1" name="墙_Understair_TurnClosure_Stair_Winder_12">
                <a:extLst>
                  <a:ext uri="{FF2B5EF4-FFF2-40B4-BE49-F238E27FC236}">
                    <a16:creationId xmlns:a16="http://schemas.microsoft.com/office/drawing/2014/main" id="{A03E1C75-2B50-2559-1CAA-7FC753AC78F6}"/>
                  </a:ext>
                </a:extLst>
              </p:cNvPr>
              <p:cNvSpPr/>
              <p:nvPr/>
            </p:nvSpPr>
            <p:spPr>
              <a:xfrm>
                <a:off x="2303726" y="3085993"/>
                <a:ext cx="24797" cy="11739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17392">
                    <a:moveTo>
                      <a:pt x="24797" y="0"/>
                    </a:moveTo>
                    <a:lnTo>
                      <a:pt x="24797" y="117392"/>
                    </a:lnTo>
                    <a:lnTo>
                      <a:pt x="0" y="117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2" name="墙_Understair_TurnClosure_Stair_Winder_13">
                <a:extLst>
                  <a:ext uri="{FF2B5EF4-FFF2-40B4-BE49-F238E27FC236}">
                    <a16:creationId xmlns:a16="http://schemas.microsoft.com/office/drawing/2014/main" id="{0CE7E101-C0A4-B9DC-BA15-C68124F26846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9342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93422">
                    <a:moveTo>
                      <a:pt x="24797" y="0"/>
                    </a:moveTo>
                    <a:lnTo>
                      <a:pt x="24797" y="193422"/>
                    </a:lnTo>
                    <a:lnTo>
                      <a:pt x="0" y="1934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3" name="墙_Understair_TurnClosure_Stair_Winder_14">
                <a:extLst>
                  <a:ext uri="{FF2B5EF4-FFF2-40B4-BE49-F238E27FC236}">
                    <a16:creationId xmlns:a16="http://schemas.microsoft.com/office/drawing/2014/main" id="{C6D2D993-8629-0C5B-92E5-25E00FE05A4A}"/>
                  </a:ext>
                </a:extLst>
              </p:cNvPr>
              <p:cNvSpPr/>
              <p:nvPr/>
            </p:nvSpPr>
            <p:spPr>
              <a:xfrm>
                <a:off x="2303726" y="3000044"/>
                <a:ext cx="24797" cy="186156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186156">
                    <a:moveTo>
                      <a:pt x="24797" y="0"/>
                    </a:moveTo>
                    <a:lnTo>
                      <a:pt x="24797" y="186156"/>
                    </a:lnTo>
                    <a:lnTo>
                      <a:pt x="0" y="186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4" name="墙_V11_Continuous_Stair_Side">
                <a:extLst>
                  <a:ext uri="{FF2B5EF4-FFF2-40B4-BE49-F238E27FC236}">
                    <a16:creationId xmlns:a16="http://schemas.microsoft.com/office/drawing/2014/main" id="{4A53C7A8-B71B-9872-346F-CEB9F0F66AC1}"/>
                  </a:ext>
                </a:extLst>
              </p:cNvPr>
              <p:cNvSpPr/>
              <p:nvPr/>
            </p:nvSpPr>
            <p:spPr>
              <a:xfrm>
                <a:off x="2303726" y="3203385"/>
                <a:ext cx="25293" cy="323263"/>
              </a:xfrm>
              <a:custGeom>
                <a:avLst/>
                <a:gdLst/>
                <a:ahLst/>
                <a:cxnLst/>
                <a:rect l="l" t="t" r="r" b="b"/>
                <a:pathLst>
                  <a:path w="25293" h="323263">
                    <a:moveTo>
                      <a:pt x="25293" y="323263"/>
                    </a:moveTo>
                    <a:lnTo>
                      <a:pt x="25293" y="160739"/>
                    </a:lnTo>
                    <a:lnTo>
                      <a:pt x="0" y="160739"/>
                    </a:lnTo>
                    <a:lnTo>
                      <a:pt x="0" y="323263"/>
                    </a:lnTo>
                    <a:close/>
                    <a:moveTo>
                      <a:pt x="25293" y="0"/>
                    </a:moveTo>
                    <a:lnTo>
                      <a:pt x="25293" y="7985"/>
                    </a:lnTo>
                    <a:lnTo>
                      <a:pt x="0" y="79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5" name="墙_V11_Winder_Side_Transition">
                <a:extLst>
                  <a:ext uri="{FF2B5EF4-FFF2-40B4-BE49-F238E27FC236}">
                    <a16:creationId xmlns:a16="http://schemas.microsoft.com/office/drawing/2014/main" id="{88DC4D8D-D847-B9A8-69C0-536927CDC144}"/>
                  </a:ext>
                </a:extLst>
              </p:cNvPr>
              <p:cNvSpPr/>
              <p:nvPr/>
            </p:nvSpPr>
            <p:spPr>
              <a:xfrm>
                <a:off x="2303726" y="3174570"/>
                <a:ext cx="24797" cy="29262"/>
              </a:xfrm>
              <a:custGeom>
                <a:avLst/>
                <a:gdLst/>
                <a:ahLst/>
                <a:cxnLst/>
                <a:rect l="l" t="t" r="r" b="b"/>
                <a:pathLst>
                  <a:path w="24797" h="29262">
                    <a:moveTo>
                      <a:pt x="24797" y="0"/>
                    </a:moveTo>
                    <a:lnTo>
                      <a:pt x="24797" y="29262"/>
                    </a:lnTo>
                    <a:lnTo>
                      <a:pt x="0" y="292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6" name="墙_V11_Passage_Right_Jamb_Closure">
                <a:extLst>
                  <a:ext uri="{FF2B5EF4-FFF2-40B4-BE49-F238E27FC236}">
                    <a16:creationId xmlns:a16="http://schemas.microsoft.com/office/drawing/2014/main" id="{A4CE3349-25BF-9623-906E-EDF58CD0D9F7}"/>
                  </a:ext>
                </a:extLst>
              </p:cNvPr>
              <p:cNvSpPr/>
              <p:nvPr/>
            </p:nvSpPr>
            <p:spPr>
              <a:xfrm>
                <a:off x="2303726" y="3002474"/>
                <a:ext cx="10415" cy="45628"/>
              </a:xfrm>
              <a:custGeom>
                <a:avLst/>
                <a:gdLst/>
                <a:ahLst/>
                <a:cxnLst/>
                <a:rect l="l" t="t" r="r" b="b"/>
                <a:pathLst>
                  <a:path w="10415" h="45628">
                    <a:moveTo>
                      <a:pt x="10415" y="0"/>
                    </a:moveTo>
                    <a:lnTo>
                      <a:pt x="10415" y="45628"/>
                    </a:lnTo>
                    <a:lnTo>
                      <a:pt x="0" y="4562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7" name="墙_V13_Lounge_FrenchLeaf-1L">
                <a:extLst>
                  <a:ext uri="{FF2B5EF4-FFF2-40B4-BE49-F238E27FC236}">
                    <a16:creationId xmlns:a16="http://schemas.microsoft.com/office/drawing/2014/main" id="{CBEE8835-1110-2C86-4DBF-8008E87F61D0}"/>
                  </a:ext>
                </a:extLst>
              </p:cNvPr>
              <p:cNvSpPr/>
              <p:nvPr/>
            </p:nvSpPr>
            <p:spPr>
              <a:xfrm>
                <a:off x="1657782" y="3013980"/>
                <a:ext cx="20061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4">
                    <a:moveTo>
                      <a:pt x="3968" y="16144"/>
                    </a:moveTo>
                    <a:lnTo>
                      <a:pt x="0" y="9300"/>
                    </a:lnTo>
                    <a:lnTo>
                      <a:pt x="16118" y="0"/>
                    </a:lnTo>
                    <a:lnTo>
                      <a:pt x="20061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8" name="墙_V13_Lounge_FrenchLeaf-1R">
                <a:extLst>
                  <a:ext uri="{FF2B5EF4-FFF2-40B4-BE49-F238E27FC236}">
                    <a16:creationId xmlns:a16="http://schemas.microsoft.com/office/drawing/2014/main" id="{F6C98DD5-D196-E3B9-1036-144F6DAE2FBD}"/>
                  </a:ext>
                </a:extLst>
              </p:cNvPr>
              <p:cNvSpPr/>
              <p:nvPr/>
            </p:nvSpPr>
            <p:spPr>
              <a:xfrm>
                <a:off x="1594428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2" y="16143"/>
                    </a:moveTo>
                    <a:lnTo>
                      <a:pt x="0" y="9299"/>
                    </a:lnTo>
                    <a:lnTo>
                      <a:pt x="16092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9" name="墙_V13_Lounge_FrenchLeaf1L">
                <a:extLst>
                  <a:ext uri="{FF2B5EF4-FFF2-40B4-BE49-F238E27FC236}">
                    <a16:creationId xmlns:a16="http://schemas.microsoft.com/office/drawing/2014/main" id="{88C4E636-14A6-A75C-D3EC-E33CE2AE05E5}"/>
                  </a:ext>
                </a:extLst>
              </p:cNvPr>
              <p:cNvSpPr/>
              <p:nvPr/>
            </p:nvSpPr>
            <p:spPr>
              <a:xfrm>
                <a:off x="1454824" y="2904201"/>
                <a:ext cx="20061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1" h="16143">
                    <a:moveTo>
                      <a:pt x="20061" y="9299"/>
                    </a:moveTo>
                    <a:lnTo>
                      <a:pt x="16118" y="16143"/>
                    </a:lnTo>
                    <a:lnTo>
                      <a:pt x="0" y="6844"/>
                    </a:lnTo>
                    <a:lnTo>
                      <a:pt x="396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0" name="墙_V13_Lounge_FrenchLeaf1R">
                <a:extLst>
                  <a:ext uri="{FF2B5EF4-FFF2-40B4-BE49-F238E27FC236}">
                    <a16:creationId xmlns:a16="http://schemas.microsoft.com/office/drawing/2014/main" id="{E799A0DD-72F0-E36E-9E4D-2A9468251C5D}"/>
                  </a:ext>
                </a:extLst>
              </p:cNvPr>
              <p:cNvSpPr/>
              <p:nvPr/>
            </p:nvSpPr>
            <p:spPr>
              <a:xfrm>
                <a:off x="1391470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1" name="墙_V13_Lounge_OuterL">
                <a:extLst>
                  <a:ext uri="{FF2B5EF4-FFF2-40B4-BE49-F238E27FC236}">
                    <a16:creationId xmlns:a16="http://schemas.microsoft.com/office/drawing/2014/main" id="{0507861C-46B0-23CD-F158-845AFB11AB90}"/>
                  </a:ext>
                </a:extLst>
              </p:cNvPr>
              <p:cNvSpPr/>
              <p:nvPr/>
            </p:nvSpPr>
            <p:spPr>
              <a:xfrm>
                <a:off x="1669808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2" name="墙_V13_Lounge_OuterR">
                <a:extLst>
                  <a:ext uri="{FF2B5EF4-FFF2-40B4-BE49-F238E27FC236}">
                    <a16:creationId xmlns:a16="http://schemas.microsoft.com/office/drawing/2014/main" id="{A287E7AA-2A38-D858-4517-75260AED1527}"/>
                  </a:ext>
                </a:extLst>
              </p:cNvPr>
              <p:cNvSpPr/>
              <p:nvPr/>
            </p:nvSpPr>
            <p:spPr>
              <a:xfrm>
                <a:off x="1385023" y="3023850"/>
                <a:ext cx="14506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4506" h="20210">
                    <a:moveTo>
                      <a:pt x="14506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4506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墙_V13_Utility_FrenchLeaf-1L">
                <a:extLst>
                  <a:ext uri="{FF2B5EF4-FFF2-40B4-BE49-F238E27FC236}">
                    <a16:creationId xmlns:a16="http://schemas.microsoft.com/office/drawing/2014/main" id="{2A51B9EB-386C-9EB8-A25A-B6B17A35B6D5}"/>
                  </a:ext>
                </a:extLst>
              </p:cNvPr>
              <p:cNvSpPr/>
              <p:nvPr/>
            </p:nvSpPr>
            <p:spPr>
              <a:xfrm>
                <a:off x="872979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3967" y="16144"/>
                    </a:moveTo>
                    <a:lnTo>
                      <a:pt x="0" y="9300"/>
                    </a:lnTo>
                    <a:lnTo>
                      <a:pt x="16117" y="0"/>
                    </a:lnTo>
                    <a:lnTo>
                      <a:pt x="20060" y="6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4" name="墙_V13_Utility_FrenchLeaf-1R">
                <a:extLst>
                  <a:ext uri="{FF2B5EF4-FFF2-40B4-BE49-F238E27FC236}">
                    <a16:creationId xmlns:a16="http://schemas.microsoft.com/office/drawing/2014/main" id="{8ED825F5-6315-BE09-F1DD-E74160CCAE36}"/>
                  </a:ext>
                </a:extLst>
              </p:cNvPr>
              <p:cNvSpPr/>
              <p:nvPr/>
            </p:nvSpPr>
            <p:spPr>
              <a:xfrm>
                <a:off x="809624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3943" y="16143"/>
                    </a:moveTo>
                    <a:lnTo>
                      <a:pt x="0" y="9299"/>
                    </a:lnTo>
                    <a:lnTo>
                      <a:pt x="16093" y="0"/>
                    </a:lnTo>
                    <a:lnTo>
                      <a:pt x="20060" y="6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5" name="墙_V13_Utility_FrenchLeaf1L">
                <a:extLst>
                  <a:ext uri="{FF2B5EF4-FFF2-40B4-BE49-F238E27FC236}">
                    <a16:creationId xmlns:a16="http://schemas.microsoft.com/office/drawing/2014/main" id="{0B664272-1A8A-8D0E-88E2-94A497516B50}"/>
                  </a:ext>
                </a:extLst>
              </p:cNvPr>
              <p:cNvSpPr/>
              <p:nvPr/>
            </p:nvSpPr>
            <p:spPr>
              <a:xfrm>
                <a:off x="670021" y="2904201"/>
                <a:ext cx="20060" cy="16143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3">
                    <a:moveTo>
                      <a:pt x="20060" y="9299"/>
                    </a:moveTo>
                    <a:lnTo>
                      <a:pt x="16117" y="16143"/>
                    </a:lnTo>
                    <a:lnTo>
                      <a:pt x="0" y="6844"/>
                    </a:lnTo>
                    <a:lnTo>
                      <a:pt x="3967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6" name="墙_V13_Utility_FrenchLeaf1R">
                <a:extLst>
                  <a:ext uri="{FF2B5EF4-FFF2-40B4-BE49-F238E27FC236}">
                    <a16:creationId xmlns:a16="http://schemas.microsoft.com/office/drawing/2014/main" id="{FAC57386-327F-B5ED-3587-50EF8F7A07AE}"/>
                  </a:ext>
                </a:extLst>
              </p:cNvPr>
              <p:cNvSpPr/>
              <p:nvPr/>
            </p:nvSpPr>
            <p:spPr>
              <a:xfrm>
                <a:off x="606666" y="3013980"/>
                <a:ext cx="20060" cy="16144"/>
              </a:xfrm>
              <a:custGeom>
                <a:avLst/>
                <a:gdLst/>
                <a:ahLst/>
                <a:cxnLst/>
                <a:rect l="l" t="t" r="r" b="b"/>
                <a:pathLst>
                  <a:path w="20060" h="16144">
                    <a:moveTo>
                      <a:pt x="20060" y="9300"/>
                    </a:moveTo>
                    <a:lnTo>
                      <a:pt x="16093" y="16144"/>
                    </a:lnTo>
                    <a:lnTo>
                      <a:pt x="0" y="6845"/>
                    </a:lnTo>
                    <a:lnTo>
                      <a:pt x="3943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7" name="墙_V13_Utility_OuterL">
                <a:extLst>
                  <a:ext uri="{FF2B5EF4-FFF2-40B4-BE49-F238E27FC236}">
                    <a16:creationId xmlns:a16="http://schemas.microsoft.com/office/drawing/2014/main" id="{0B649432-5537-E3D2-17BB-EF8EA50D5262}"/>
                  </a:ext>
                </a:extLst>
              </p:cNvPr>
              <p:cNvSpPr/>
              <p:nvPr/>
            </p:nvSpPr>
            <p:spPr>
              <a:xfrm>
                <a:off x="885005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8" name="墙_V13_Utility_OuterR">
                <a:extLst>
                  <a:ext uri="{FF2B5EF4-FFF2-40B4-BE49-F238E27FC236}">
                    <a16:creationId xmlns:a16="http://schemas.microsoft.com/office/drawing/2014/main" id="{6A4A3B62-B6CA-C773-03BD-A29B95E38C3A}"/>
                  </a:ext>
                </a:extLst>
              </p:cNvPr>
              <p:cNvSpPr/>
              <p:nvPr/>
            </p:nvSpPr>
            <p:spPr>
              <a:xfrm>
                <a:off x="601087" y="3023850"/>
                <a:ext cx="13638" cy="20210"/>
              </a:xfrm>
              <a:custGeom>
                <a:avLst/>
                <a:gdLst/>
                <a:ahLst/>
                <a:cxnLst/>
                <a:rect l="l" t="t" r="r" b="b"/>
                <a:pathLst>
                  <a:path w="13638" h="20210">
                    <a:moveTo>
                      <a:pt x="13638" y="20210"/>
                    </a:moveTo>
                    <a:lnTo>
                      <a:pt x="0" y="20210"/>
                    </a:lnTo>
                    <a:lnTo>
                      <a:pt x="0" y="0"/>
                    </a:lnTo>
                    <a:lnTo>
                      <a:pt x="13638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9" name="墙_V13_KitchenSide_FrenchLeaf-1L">
                <a:extLst>
                  <a:ext uri="{FF2B5EF4-FFF2-40B4-BE49-F238E27FC236}">
                    <a16:creationId xmlns:a16="http://schemas.microsoft.com/office/drawing/2014/main" id="{51A42284-5489-8A1E-F3D9-C8E7522A44A1}"/>
                  </a:ext>
                </a:extLst>
              </p:cNvPr>
              <p:cNvSpPr/>
              <p:nvPr/>
            </p:nvSpPr>
            <p:spPr>
              <a:xfrm>
                <a:off x="1723393" y="2495510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18622" y="16119"/>
                    </a:moveTo>
                    <a:lnTo>
                      <a:pt x="9299" y="21500"/>
                    </a:lnTo>
                    <a:lnTo>
                      <a:pt x="0" y="5406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" name="墙_V13_KitchenSide_FrenchLeaf-1R">
                <a:extLst>
                  <a:ext uri="{FF2B5EF4-FFF2-40B4-BE49-F238E27FC236}">
                    <a16:creationId xmlns:a16="http://schemas.microsoft.com/office/drawing/2014/main" id="{03E9288A-5660-635F-A07D-E8D8BC6EA8B8}"/>
                  </a:ext>
                </a:extLst>
              </p:cNvPr>
              <p:cNvSpPr/>
              <p:nvPr/>
            </p:nvSpPr>
            <p:spPr>
              <a:xfrm>
                <a:off x="1573797" y="2581906"/>
                <a:ext cx="18622" cy="21474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74">
                    <a:moveTo>
                      <a:pt x="18622" y="16093"/>
                    </a:moveTo>
                    <a:lnTo>
                      <a:pt x="9299" y="21474"/>
                    </a:lnTo>
                    <a:lnTo>
                      <a:pt x="0" y="5381"/>
                    </a:lnTo>
                    <a:lnTo>
                      <a:pt x="932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1" name="墙_V13_KitchenSide_FrenchLeaf1L">
                <a:extLst>
                  <a:ext uri="{FF2B5EF4-FFF2-40B4-BE49-F238E27FC236}">
                    <a16:creationId xmlns:a16="http://schemas.microsoft.com/office/drawing/2014/main" id="{0D73072E-0227-51DB-8926-AD392C396696}"/>
                  </a:ext>
                </a:extLst>
              </p:cNvPr>
              <p:cNvSpPr/>
              <p:nvPr/>
            </p:nvSpPr>
            <p:spPr>
              <a:xfrm>
                <a:off x="1573797" y="2771806"/>
                <a:ext cx="18622" cy="21500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500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500"/>
                    </a:lnTo>
                    <a:lnTo>
                      <a:pt x="0" y="160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2" name="墙_V13_KitchenSide_FrenchLeaf1R">
                <a:extLst>
                  <a:ext uri="{FF2B5EF4-FFF2-40B4-BE49-F238E27FC236}">
                    <a16:creationId xmlns:a16="http://schemas.microsoft.com/office/drawing/2014/main" id="{05ABA440-0D2B-BAE1-9C8A-65360A022679}"/>
                  </a:ext>
                </a:extLst>
              </p:cNvPr>
              <p:cNvSpPr/>
              <p:nvPr/>
            </p:nvSpPr>
            <p:spPr>
              <a:xfrm>
                <a:off x="1723393" y="2858177"/>
                <a:ext cx="18622" cy="21499"/>
              </a:xfrm>
              <a:custGeom>
                <a:avLst/>
                <a:gdLst/>
                <a:ahLst/>
                <a:cxnLst/>
                <a:rect l="l" t="t" r="r" b="b"/>
                <a:pathLst>
                  <a:path w="18622" h="21499">
                    <a:moveTo>
                      <a:pt x="9299" y="0"/>
                    </a:moveTo>
                    <a:lnTo>
                      <a:pt x="18622" y="5381"/>
                    </a:lnTo>
                    <a:lnTo>
                      <a:pt x="9324" y="21499"/>
                    </a:lnTo>
                    <a:lnTo>
                      <a:pt x="0" y="16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3" name="墙_V13_KitchenSide_OuterL">
                <a:extLst>
                  <a:ext uri="{FF2B5EF4-FFF2-40B4-BE49-F238E27FC236}">
                    <a16:creationId xmlns:a16="http://schemas.microsoft.com/office/drawing/2014/main" id="{6E655BA2-A2A6-5CD5-093A-8E82505F6C44}"/>
                  </a:ext>
                </a:extLst>
              </p:cNvPr>
              <p:cNvSpPr/>
              <p:nvPr/>
            </p:nvSpPr>
            <p:spPr>
              <a:xfrm>
                <a:off x="1736039" y="2484128"/>
                <a:ext cx="19937" cy="19442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2">
                    <a:moveTo>
                      <a:pt x="19937" y="0"/>
                    </a:moveTo>
                    <a:lnTo>
                      <a:pt x="19937" y="19442"/>
                    </a:lnTo>
                    <a:lnTo>
                      <a:pt x="0" y="194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4" name="墙_V13_KitchenSide_OuterR">
                <a:extLst>
                  <a:ext uri="{FF2B5EF4-FFF2-40B4-BE49-F238E27FC236}">
                    <a16:creationId xmlns:a16="http://schemas.microsoft.com/office/drawing/2014/main" id="{08ECE110-4EB1-83F0-4A9D-E1005F0830B1}"/>
                  </a:ext>
                </a:extLst>
              </p:cNvPr>
              <p:cNvSpPr/>
              <p:nvPr/>
            </p:nvSpPr>
            <p:spPr>
              <a:xfrm>
                <a:off x="1736039" y="2871617"/>
                <a:ext cx="19937" cy="19441"/>
              </a:xfrm>
              <a:custGeom>
                <a:avLst/>
                <a:gdLst/>
                <a:ahLst/>
                <a:cxnLst/>
                <a:rect l="l" t="t" r="r" b="b"/>
                <a:pathLst>
                  <a:path w="19937" h="19441">
                    <a:moveTo>
                      <a:pt x="19937" y="0"/>
                    </a:moveTo>
                    <a:lnTo>
                      <a:pt x="19937" y="19441"/>
                    </a:lnTo>
                    <a:lnTo>
                      <a:pt x="0" y="194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5" name="墙_SP_OuterFrame">
                <a:extLst>
                  <a:ext uri="{FF2B5EF4-FFF2-40B4-BE49-F238E27FC236}">
                    <a16:creationId xmlns:a16="http://schemas.microsoft.com/office/drawing/2014/main" id="{388245DE-1398-003B-5F84-DF28D231BB85}"/>
                  </a:ext>
                </a:extLst>
              </p:cNvPr>
              <p:cNvSpPr/>
              <p:nvPr/>
            </p:nvSpPr>
            <p:spPr>
              <a:xfrm>
                <a:off x="489380" y="3025536"/>
                <a:ext cx="520722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520722" h="18598">
                    <a:moveTo>
                      <a:pt x="111484" y="99"/>
                    </a:moveTo>
                    <a:lnTo>
                      <a:pt x="111211" y="0"/>
                    </a:lnTo>
                    <a:lnTo>
                      <a:pt x="99309" y="0"/>
                    </a:lnTo>
                    <a:lnTo>
                      <a:pt x="98962" y="75"/>
                    </a:lnTo>
                    <a:lnTo>
                      <a:pt x="98639" y="223"/>
                    </a:lnTo>
                    <a:lnTo>
                      <a:pt x="95267" y="2753"/>
                    </a:lnTo>
                    <a:lnTo>
                      <a:pt x="95069" y="3025"/>
                    </a:lnTo>
                    <a:lnTo>
                      <a:pt x="94970" y="3348"/>
                    </a:lnTo>
                    <a:lnTo>
                      <a:pt x="94970" y="4588"/>
                    </a:lnTo>
                    <a:lnTo>
                      <a:pt x="95069" y="4860"/>
                    </a:lnTo>
                    <a:lnTo>
                      <a:pt x="95341" y="4960"/>
                    </a:lnTo>
                    <a:lnTo>
                      <a:pt x="97573" y="4960"/>
                    </a:lnTo>
                    <a:lnTo>
                      <a:pt x="97846" y="5059"/>
                    </a:lnTo>
                    <a:lnTo>
                      <a:pt x="97945" y="5332"/>
                    </a:lnTo>
                    <a:lnTo>
                      <a:pt x="97945" y="18226"/>
                    </a:lnTo>
                    <a:lnTo>
                      <a:pt x="98044" y="18499"/>
                    </a:lnTo>
                    <a:lnTo>
                      <a:pt x="98317" y="18598"/>
                    </a:lnTo>
                    <a:lnTo>
                      <a:pt x="111211" y="18598"/>
                    </a:lnTo>
                    <a:lnTo>
                      <a:pt x="111484" y="18499"/>
                    </a:lnTo>
                    <a:lnTo>
                      <a:pt x="111583" y="18226"/>
                    </a:lnTo>
                    <a:lnTo>
                      <a:pt x="111583" y="372"/>
                    </a:lnTo>
                    <a:close/>
                    <a:moveTo>
                      <a:pt x="99" y="99"/>
                    </a:moveTo>
                    <a:lnTo>
                      <a:pt x="372" y="0"/>
                    </a:lnTo>
                    <a:lnTo>
                      <a:pt x="12274" y="0"/>
                    </a:lnTo>
                    <a:lnTo>
                      <a:pt x="12621" y="75"/>
                    </a:lnTo>
                    <a:lnTo>
                      <a:pt x="12943" y="223"/>
                    </a:lnTo>
                    <a:lnTo>
                      <a:pt x="16316" y="2753"/>
                    </a:lnTo>
                    <a:lnTo>
                      <a:pt x="16514" y="3025"/>
                    </a:lnTo>
                    <a:lnTo>
                      <a:pt x="16613" y="3348"/>
                    </a:lnTo>
                    <a:lnTo>
                      <a:pt x="16613" y="4588"/>
                    </a:lnTo>
                    <a:lnTo>
                      <a:pt x="16514" y="4860"/>
                    </a:lnTo>
                    <a:lnTo>
                      <a:pt x="16241" y="4960"/>
                    </a:lnTo>
                    <a:lnTo>
                      <a:pt x="14010" y="4960"/>
                    </a:lnTo>
                    <a:lnTo>
                      <a:pt x="13737" y="5059"/>
                    </a:lnTo>
                    <a:lnTo>
                      <a:pt x="13638" y="5332"/>
                    </a:lnTo>
                    <a:lnTo>
                      <a:pt x="13638" y="18226"/>
                    </a:lnTo>
                    <a:lnTo>
                      <a:pt x="13538" y="18499"/>
                    </a:lnTo>
                    <a:lnTo>
                      <a:pt x="13266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close/>
                    <a:moveTo>
                      <a:pt x="520623" y="99"/>
                    </a:moveTo>
                    <a:lnTo>
                      <a:pt x="520350" y="0"/>
                    </a:lnTo>
                    <a:lnTo>
                      <a:pt x="508448" y="0"/>
                    </a:lnTo>
                    <a:lnTo>
                      <a:pt x="508101" y="75"/>
                    </a:lnTo>
                    <a:lnTo>
                      <a:pt x="507779" y="223"/>
                    </a:lnTo>
                    <a:lnTo>
                      <a:pt x="504406" y="2753"/>
                    </a:lnTo>
                    <a:lnTo>
                      <a:pt x="504208" y="3025"/>
                    </a:lnTo>
                    <a:lnTo>
                      <a:pt x="504109" y="3348"/>
                    </a:lnTo>
                    <a:lnTo>
                      <a:pt x="504109" y="4588"/>
                    </a:lnTo>
                    <a:lnTo>
                      <a:pt x="504208" y="4860"/>
                    </a:lnTo>
                    <a:lnTo>
                      <a:pt x="504481" y="4960"/>
                    </a:lnTo>
                    <a:lnTo>
                      <a:pt x="506712" y="4960"/>
                    </a:lnTo>
                    <a:lnTo>
                      <a:pt x="506985" y="5059"/>
                    </a:lnTo>
                    <a:lnTo>
                      <a:pt x="507084" y="5332"/>
                    </a:lnTo>
                    <a:lnTo>
                      <a:pt x="507084" y="18226"/>
                    </a:lnTo>
                    <a:lnTo>
                      <a:pt x="507184" y="18499"/>
                    </a:lnTo>
                    <a:lnTo>
                      <a:pt x="507456" y="18598"/>
                    </a:lnTo>
                    <a:lnTo>
                      <a:pt x="520350" y="18598"/>
                    </a:lnTo>
                    <a:lnTo>
                      <a:pt x="520623" y="18499"/>
                    </a:lnTo>
                    <a:lnTo>
                      <a:pt x="520722" y="18226"/>
                    </a:lnTo>
                    <a:lnTo>
                      <a:pt x="520722" y="372"/>
                    </a:lnTo>
                    <a:close/>
                    <a:moveTo>
                      <a:pt x="409238" y="99"/>
                    </a:moveTo>
                    <a:lnTo>
                      <a:pt x="409511" y="0"/>
                    </a:lnTo>
                    <a:lnTo>
                      <a:pt x="421413" y="0"/>
                    </a:lnTo>
                    <a:lnTo>
                      <a:pt x="421760" y="75"/>
                    </a:lnTo>
                    <a:lnTo>
                      <a:pt x="422083" y="223"/>
                    </a:lnTo>
                    <a:lnTo>
                      <a:pt x="425455" y="2753"/>
                    </a:lnTo>
                    <a:lnTo>
                      <a:pt x="425653" y="3025"/>
                    </a:lnTo>
                    <a:lnTo>
                      <a:pt x="425752" y="3348"/>
                    </a:lnTo>
                    <a:lnTo>
                      <a:pt x="425752" y="4588"/>
                    </a:lnTo>
                    <a:lnTo>
                      <a:pt x="425653" y="4860"/>
                    </a:lnTo>
                    <a:lnTo>
                      <a:pt x="425381" y="4960"/>
                    </a:lnTo>
                    <a:lnTo>
                      <a:pt x="423149" y="4960"/>
                    </a:lnTo>
                    <a:lnTo>
                      <a:pt x="422876" y="5059"/>
                    </a:lnTo>
                    <a:lnTo>
                      <a:pt x="422777" y="5332"/>
                    </a:lnTo>
                    <a:lnTo>
                      <a:pt x="422777" y="18226"/>
                    </a:lnTo>
                    <a:lnTo>
                      <a:pt x="422678" y="18499"/>
                    </a:lnTo>
                    <a:lnTo>
                      <a:pt x="422405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6" name="墙_SP_Transom">
                <a:extLst>
                  <a:ext uri="{FF2B5EF4-FFF2-40B4-BE49-F238E27FC236}">
                    <a16:creationId xmlns:a16="http://schemas.microsoft.com/office/drawing/2014/main" id="{9877F1F9-4FD0-123E-5926-508A91A725D6}"/>
                  </a:ext>
                </a:extLst>
              </p:cNvPr>
              <p:cNvSpPr/>
              <p:nvPr/>
            </p:nvSpPr>
            <p:spPr>
              <a:xfrm>
                <a:off x="503018" y="3025536"/>
                <a:ext cx="493446" cy="18598"/>
              </a:xfrm>
              <a:custGeom>
                <a:avLst/>
                <a:gdLst/>
                <a:ahLst/>
                <a:cxnLst/>
                <a:rect l="l" t="t" r="r" b="b"/>
                <a:pathLst>
                  <a:path w="493446" h="18598">
                    <a:moveTo>
                      <a:pt x="84208" y="124"/>
                    </a:moveTo>
                    <a:lnTo>
                      <a:pt x="84307" y="372"/>
                    </a:lnTo>
                    <a:lnTo>
                      <a:pt x="84307" y="18226"/>
                    </a:lnTo>
                    <a:lnTo>
                      <a:pt x="84208" y="18499"/>
                    </a:lnTo>
                    <a:lnTo>
                      <a:pt x="83935" y="18598"/>
                    </a:lnTo>
                    <a:lnTo>
                      <a:pt x="372" y="18598"/>
                    </a:lnTo>
                    <a:lnTo>
                      <a:pt x="99" y="18499"/>
                    </a:lnTo>
                    <a:lnTo>
                      <a:pt x="0" y="18226"/>
                    </a:lnTo>
                    <a:lnTo>
                      <a:pt x="0" y="372"/>
                    </a:lnTo>
                    <a:lnTo>
                      <a:pt x="99" y="124"/>
                    </a:lnTo>
                    <a:lnTo>
                      <a:pt x="372" y="0"/>
                    </a:lnTo>
                    <a:lnTo>
                      <a:pt x="83935" y="0"/>
                    </a:lnTo>
                    <a:close/>
                    <a:moveTo>
                      <a:pt x="493347" y="124"/>
                    </a:moveTo>
                    <a:lnTo>
                      <a:pt x="493446" y="372"/>
                    </a:lnTo>
                    <a:lnTo>
                      <a:pt x="493446" y="18226"/>
                    </a:lnTo>
                    <a:lnTo>
                      <a:pt x="493347" y="18499"/>
                    </a:lnTo>
                    <a:lnTo>
                      <a:pt x="493074" y="18598"/>
                    </a:lnTo>
                    <a:lnTo>
                      <a:pt x="409511" y="18598"/>
                    </a:lnTo>
                    <a:lnTo>
                      <a:pt x="409238" y="18499"/>
                    </a:lnTo>
                    <a:lnTo>
                      <a:pt x="409139" y="18226"/>
                    </a:lnTo>
                    <a:lnTo>
                      <a:pt x="409139" y="372"/>
                    </a:lnTo>
                    <a:lnTo>
                      <a:pt x="409238" y="124"/>
                    </a:lnTo>
                    <a:lnTo>
                      <a:pt x="409511" y="0"/>
                    </a:lnTo>
                    <a:lnTo>
                      <a:pt x="49307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7" name="墙_V15_Fixed_Acoustic_Wall">
                <a:extLst>
                  <a:ext uri="{FF2B5EF4-FFF2-40B4-BE49-F238E27FC236}">
                    <a16:creationId xmlns:a16="http://schemas.microsoft.com/office/drawing/2014/main" id="{1D0B5870-81FA-F4C0-B868-FCCF678A737E}"/>
                  </a:ext>
                </a:extLst>
              </p:cNvPr>
              <p:cNvSpPr/>
              <p:nvPr/>
            </p:nvSpPr>
            <p:spPr>
              <a:xfrm>
                <a:off x="1317577" y="3083315"/>
                <a:ext cx="11406" cy="628522"/>
              </a:xfrm>
              <a:custGeom>
                <a:avLst/>
                <a:gdLst/>
                <a:ahLst/>
                <a:cxnLst/>
                <a:rect l="l" t="t" r="r" b="b"/>
                <a:pathLst>
                  <a:path w="11406" h="628522">
                    <a:moveTo>
                      <a:pt x="11356" y="49"/>
                    </a:moveTo>
                    <a:lnTo>
                      <a:pt x="11406" y="149"/>
                    </a:lnTo>
                    <a:lnTo>
                      <a:pt x="11406" y="5802"/>
                    </a:lnTo>
                    <a:lnTo>
                      <a:pt x="11356" y="5902"/>
                    </a:lnTo>
                    <a:lnTo>
                      <a:pt x="11257" y="5951"/>
                    </a:lnTo>
                    <a:lnTo>
                      <a:pt x="7091" y="5951"/>
                    </a:lnTo>
                    <a:lnTo>
                      <a:pt x="6992" y="5902"/>
                    </a:lnTo>
                    <a:lnTo>
                      <a:pt x="6943" y="5802"/>
                    </a:lnTo>
                    <a:lnTo>
                      <a:pt x="6943" y="149"/>
                    </a:lnTo>
                    <a:lnTo>
                      <a:pt x="6992" y="49"/>
                    </a:lnTo>
                    <a:lnTo>
                      <a:pt x="7091" y="0"/>
                    </a:lnTo>
                    <a:lnTo>
                      <a:pt x="11257" y="0"/>
                    </a:lnTo>
                    <a:close/>
                    <a:moveTo>
                      <a:pt x="11356" y="8977"/>
                    </a:moveTo>
                    <a:lnTo>
                      <a:pt x="11406" y="9076"/>
                    </a:lnTo>
                    <a:lnTo>
                      <a:pt x="11406" y="15721"/>
                    </a:lnTo>
                    <a:lnTo>
                      <a:pt x="11356" y="15821"/>
                    </a:lnTo>
                    <a:lnTo>
                      <a:pt x="11257" y="15870"/>
                    </a:lnTo>
                    <a:lnTo>
                      <a:pt x="7091" y="15870"/>
                    </a:lnTo>
                    <a:lnTo>
                      <a:pt x="6992" y="15821"/>
                    </a:lnTo>
                    <a:lnTo>
                      <a:pt x="6943" y="15721"/>
                    </a:lnTo>
                    <a:lnTo>
                      <a:pt x="6943" y="9076"/>
                    </a:lnTo>
                    <a:lnTo>
                      <a:pt x="6992" y="8977"/>
                    </a:lnTo>
                    <a:lnTo>
                      <a:pt x="7091" y="8927"/>
                    </a:lnTo>
                    <a:lnTo>
                      <a:pt x="11257" y="8927"/>
                    </a:lnTo>
                    <a:close/>
                    <a:moveTo>
                      <a:pt x="11356" y="18896"/>
                    </a:moveTo>
                    <a:lnTo>
                      <a:pt x="11406" y="18995"/>
                    </a:lnTo>
                    <a:lnTo>
                      <a:pt x="11406" y="25641"/>
                    </a:lnTo>
                    <a:lnTo>
                      <a:pt x="11356" y="25740"/>
                    </a:lnTo>
                    <a:lnTo>
                      <a:pt x="11257" y="25789"/>
                    </a:lnTo>
                    <a:lnTo>
                      <a:pt x="7091" y="25789"/>
                    </a:lnTo>
                    <a:lnTo>
                      <a:pt x="6992" y="25740"/>
                    </a:lnTo>
                    <a:lnTo>
                      <a:pt x="6943" y="25641"/>
                    </a:lnTo>
                    <a:lnTo>
                      <a:pt x="6943" y="18995"/>
                    </a:lnTo>
                    <a:lnTo>
                      <a:pt x="6992" y="18896"/>
                    </a:lnTo>
                    <a:lnTo>
                      <a:pt x="7091" y="18846"/>
                    </a:lnTo>
                    <a:lnTo>
                      <a:pt x="11257" y="18846"/>
                    </a:lnTo>
                    <a:close/>
                    <a:moveTo>
                      <a:pt x="11356" y="28815"/>
                    </a:moveTo>
                    <a:lnTo>
                      <a:pt x="11406" y="28914"/>
                    </a:lnTo>
                    <a:lnTo>
                      <a:pt x="11406" y="35560"/>
                    </a:lnTo>
                    <a:lnTo>
                      <a:pt x="11356" y="35659"/>
                    </a:lnTo>
                    <a:lnTo>
                      <a:pt x="11257" y="35708"/>
                    </a:lnTo>
                    <a:lnTo>
                      <a:pt x="7091" y="35708"/>
                    </a:lnTo>
                    <a:lnTo>
                      <a:pt x="6992" y="35659"/>
                    </a:lnTo>
                    <a:lnTo>
                      <a:pt x="6943" y="35560"/>
                    </a:lnTo>
                    <a:lnTo>
                      <a:pt x="6943" y="28914"/>
                    </a:lnTo>
                    <a:lnTo>
                      <a:pt x="6992" y="28815"/>
                    </a:lnTo>
                    <a:lnTo>
                      <a:pt x="7091" y="28765"/>
                    </a:lnTo>
                    <a:lnTo>
                      <a:pt x="11257" y="28765"/>
                    </a:lnTo>
                    <a:close/>
                    <a:moveTo>
                      <a:pt x="11356" y="38734"/>
                    </a:moveTo>
                    <a:lnTo>
                      <a:pt x="11406" y="38833"/>
                    </a:lnTo>
                    <a:lnTo>
                      <a:pt x="11406" y="45479"/>
                    </a:lnTo>
                    <a:lnTo>
                      <a:pt x="11356" y="45578"/>
                    </a:lnTo>
                    <a:lnTo>
                      <a:pt x="11257" y="45627"/>
                    </a:lnTo>
                    <a:lnTo>
                      <a:pt x="7091" y="45627"/>
                    </a:lnTo>
                    <a:lnTo>
                      <a:pt x="6992" y="45578"/>
                    </a:lnTo>
                    <a:lnTo>
                      <a:pt x="6943" y="45479"/>
                    </a:lnTo>
                    <a:lnTo>
                      <a:pt x="6943" y="38833"/>
                    </a:lnTo>
                    <a:lnTo>
                      <a:pt x="6992" y="38734"/>
                    </a:lnTo>
                    <a:lnTo>
                      <a:pt x="7091" y="38684"/>
                    </a:lnTo>
                    <a:lnTo>
                      <a:pt x="11257" y="38684"/>
                    </a:lnTo>
                    <a:close/>
                    <a:moveTo>
                      <a:pt x="11356" y="48653"/>
                    </a:moveTo>
                    <a:lnTo>
                      <a:pt x="11406" y="48752"/>
                    </a:lnTo>
                    <a:lnTo>
                      <a:pt x="11406" y="55398"/>
                    </a:lnTo>
                    <a:lnTo>
                      <a:pt x="11356" y="55497"/>
                    </a:lnTo>
                    <a:lnTo>
                      <a:pt x="11257" y="55547"/>
                    </a:lnTo>
                    <a:lnTo>
                      <a:pt x="7091" y="55547"/>
                    </a:lnTo>
                    <a:lnTo>
                      <a:pt x="6992" y="55497"/>
                    </a:lnTo>
                    <a:lnTo>
                      <a:pt x="6943" y="55398"/>
                    </a:lnTo>
                    <a:lnTo>
                      <a:pt x="6943" y="48752"/>
                    </a:lnTo>
                    <a:lnTo>
                      <a:pt x="6992" y="48653"/>
                    </a:lnTo>
                    <a:lnTo>
                      <a:pt x="7091" y="48603"/>
                    </a:lnTo>
                    <a:lnTo>
                      <a:pt x="11257" y="48603"/>
                    </a:lnTo>
                    <a:close/>
                    <a:moveTo>
                      <a:pt x="11356" y="58572"/>
                    </a:moveTo>
                    <a:lnTo>
                      <a:pt x="11406" y="58671"/>
                    </a:lnTo>
                    <a:lnTo>
                      <a:pt x="11406" y="65317"/>
                    </a:lnTo>
                    <a:lnTo>
                      <a:pt x="11356" y="65416"/>
                    </a:lnTo>
                    <a:lnTo>
                      <a:pt x="11257" y="65466"/>
                    </a:lnTo>
                    <a:lnTo>
                      <a:pt x="7091" y="65466"/>
                    </a:lnTo>
                    <a:lnTo>
                      <a:pt x="6992" y="65416"/>
                    </a:lnTo>
                    <a:lnTo>
                      <a:pt x="6943" y="65317"/>
                    </a:lnTo>
                    <a:lnTo>
                      <a:pt x="6943" y="58671"/>
                    </a:lnTo>
                    <a:lnTo>
                      <a:pt x="6992" y="58572"/>
                    </a:lnTo>
                    <a:lnTo>
                      <a:pt x="7091" y="58522"/>
                    </a:lnTo>
                    <a:lnTo>
                      <a:pt x="11257" y="58522"/>
                    </a:lnTo>
                    <a:close/>
                    <a:moveTo>
                      <a:pt x="11356" y="68491"/>
                    </a:moveTo>
                    <a:lnTo>
                      <a:pt x="11406" y="68590"/>
                    </a:lnTo>
                    <a:lnTo>
                      <a:pt x="11406" y="75236"/>
                    </a:lnTo>
                    <a:lnTo>
                      <a:pt x="11356" y="75335"/>
                    </a:lnTo>
                    <a:lnTo>
                      <a:pt x="11257" y="75385"/>
                    </a:lnTo>
                    <a:lnTo>
                      <a:pt x="7091" y="75385"/>
                    </a:lnTo>
                    <a:lnTo>
                      <a:pt x="6992" y="75335"/>
                    </a:lnTo>
                    <a:lnTo>
                      <a:pt x="6943" y="75236"/>
                    </a:lnTo>
                    <a:lnTo>
                      <a:pt x="6943" y="68590"/>
                    </a:lnTo>
                    <a:lnTo>
                      <a:pt x="6992" y="68491"/>
                    </a:lnTo>
                    <a:lnTo>
                      <a:pt x="7091" y="68441"/>
                    </a:lnTo>
                    <a:lnTo>
                      <a:pt x="11257" y="68441"/>
                    </a:lnTo>
                    <a:close/>
                    <a:moveTo>
                      <a:pt x="11356" y="78410"/>
                    </a:moveTo>
                    <a:lnTo>
                      <a:pt x="11406" y="78509"/>
                    </a:lnTo>
                    <a:lnTo>
                      <a:pt x="11406" y="85155"/>
                    </a:lnTo>
                    <a:lnTo>
                      <a:pt x="11356" y="85254"/>
                    </a:lnTo>
                    <a:lnTo>
                      <a:pt x="11257" y="85304"/>
                    </a:lnTo>
                    <a:lnTo>
                      <a:pt x="7091" y="85304"/>
                    </a:lnTo>
                    <a:lnTo>
                      <a:pt x="6992" y="85254"/>
                    </a:lnTo>
                    <a:lnTo>
                      <a:pt x="6943" y="85155"/>
                    </a:lnTo>
                    <a:lnTo>
                      <a:pt x="6943" y="78509"/>
                    </a:lnTo>
                    <a:lnTo>
                      <a:pt x="6992" y="78410"/>
                    </a:lnTo>
                    <a:lnTo>
                      <a:pt x="7091" y="78360"/>
                    </a:lnTo>
                    <a:lnTo>
                      <a:pt x="11257" y="78360"/>
                    </a:lnTo>
                    <a:close/>
                    <a:moveTo>
                      <a:pt x="11356" y="88329"/>
                    </a:moveTo>
                    <a:lnTo>
                      <a:pt x="11406" y="88428"/>
                    </a:lnTo>
                    <a:lnTo>
                      <a:pt x="11406" y="95074"/>
                    </a:lnTo>
                    <a:lnTo>
                      <a:pt x="11356" y="95173"/>
                    </a:lnTo>
                    <a:lnTo>
                      <a:pt x="11257" y="95223"/>
                    </a:lnTo>
                    <a:lnTo>
                      <a:pt x="7091" y="95223"/>
                    </a:lnTo>
                    <a:lnTo>
                      <a:pt x="6992" y="95173"/>
                    </a:lnTo>
                    <a:lnTo>
                      <a:pt x="6943" y="95074"/>
                    </a:lnTo>
                    <a:lnTo>
                      <a:pt x="6943" y="88428"/>
                    </a:lnTo>
                    <a:lnTo>
                      <a:pt x="6992" y="88329"/>
                    </a:lnTo>
                    <a:lnTo>
                      <a:pt x="7091" y="88280"/>
                    </a:lnTo>
                    <a:lnTo>
                      <a:pt x="11257" y="88280"/>
                    </a:lnTo>
                    <a:close/>
                    <a:moveTo>
                      <a:pt x="11356" y="98248"/>
                    </a:moveTo>
                    <a:lnTo>
                      <a:pt x="11406" y="98347"/>
                    </a:lnTo>
                    <a:lnTo>
                      <a:pt x="11406" y="104993"/>
                    </a:lnTo>
                    <a:lnTo>
                      <a:pt x="11356" y="105092"/>
                    </a:lnTo>
                    <a:lnTo>
                      <a:pt x="11257" y="105142"/>
                    </a:lnTo>
                    <a:lnTo>
                      <a:pt x="7091" y="105142"/>
                    </a:lnTo>
                    <a:lnTo>
                      <a:pt x="6992" y="105092"/>
                    </a:lnTo>
                    <a:lnTo>
                      <a:pt x="6943" y="104993"/>
                    </a:lnTo>
                    <a:lnTo>
                      <a:pt x="6943" y="98347"/>
                    </a:lnTo>
                    <a:lnTo>
                      <a:pt x="6992" y="98248"/>
                    </a:lnTo>
                    <a:lnTo>
                      <a:pt x="7091" y="98199"/>
                    </a:lnTo>
                    <a:lnTo>
                      <a:pt x="11257" y="98199"/>
                    </a:lnTo>
                    <a:close/>
                    <a:moveTo>
                      <a:pt x="11356" y="108167"/>
                    </a:moveTo>
                    <a:lnTo>
                      <a:pt x="11406" y="108266"/>
                    </a:lnTo>
                    <a:lnTo>
                      <a:pt x="11406" y="114912"/>
                    </a:lnTo>
                    <a:lnTo>
                      <a:pt x="11356" y="115011"/>
                    </a:lnTo>
                    <a:lnTo>
                      <a:pt x="11257" y="115061"/>
                    </a:lnTo>
                    <a:lnTo>
                      <a:pt x="7091" y="115061"/>
                    </a:lnTo>
                    <a:lnTo>
                      <a:pt x="6992" y="115011"/>
                    </a:lnTo>
                    <a:lnTo>
                      <a:pt x="6943" y="114912"/>
                    </a:lnTo>
                    <a:lnTo>
                      <a:pt x="6943" y="108266"/>
                    </a:lnTo>
                    <a:lnTo>
                      <a:pt x="6992" y="108167"/>
                    </a:lnTo>
                    <a:lnTo>
                      <a:pt x="7091" y="108118"/>
                    </a:lnTo>
                    <a:lnTo>
                      <a:pt x="11257" y="108118"/>
                    </a:lnTo>
                    <a:close/>
                    <a:moveTo>
                      <a:pt x="11356" y="118086"/>
                    </a:moveTo>
                    <a:lnTo>
                      <a:pt x="11406" y="118186"/>
                    </a:lnTo>
                    <a:lnTo>
                      <a:pt x="11406" y="124831"/>
                    </a:lnTo>
                    <a:lnTo>
                      <a:pt x="11356" y="124930"/>
                    </a:lnTo>
                    <a:lnTo>
                      <a:pt x="11257" y="124980"/>
                    </a:lnTo>
                    <a:lnTo>
                      <a:pt x="7091" y="124980"/>
                    </a:lnTo>
                    <a:lnTo>
                      <a:pt x="6992" y="124930"/>
                    </a:lnTo>
                    <a:lnTo>
                      <a:pt x="6943" y="124831"/>
                    </a:lnTo>
                    <a:lnTo>
                      <a:pt x="6943" y="118186"/>
                    </a:lnTo>
                    <a:lnTo>
                      <a:pt x="6992" y="118086"/>
                    </a:lnTo>
                    <a:lnTo>
                      <a:pt x="7091" y="118037"/>
                    </a:lnTo>
                    <a:lnTo>
                      <a:pt x="11257" y="118037"/>
                    </a:lnTo>
                    <a:close/>
                    <a:moveTo>
                      <a:pt x="11356" y="128005"/>
                    </a:moveTo>
                    <a:lnTo>
                      <a:pt x="11406" y="128105"/>
                    </a:lnTo>
                    <a:lnTo>
                      <a:pt x="11406" y="134750"/>
                    </a:lnTo>
                    <a:lnTo>
                      <a:pt x="11356" y="134850"/>
                    </a:lnTo>
                    <a:lnTo>
                      <a:pt x="11257" y="134899"/>
                    </a:lnTo>
                    <a:lnTo>
                      <a:pt x="7091" y="134899"/>
                    </a:lnTo>
                    <a:lnTo>
                      <a:pt x="6992" y="134850"/>
                    </a:lnTo>
                    <a:lnTo>
                      <a:pt x="6943" y="134750"/>
                    </a:lnTo>
                    <a:lnTo>
                      <a:pt x="6943" y="128105"/>
                    </a:lnTo>
                    <a:lnTo>
                      <a:pt x="6992" y="128005"/>
                    </a:lnTo>
                    <a:lnTo>
                      <a:pt x="7091" y="127956"/>
                    </a:lnTo>
                    <a:lnTo>
                      <a:pt x="11257" y="127956"/>
                    </a:lnTo>
                    <a:close/>
                    <a:moveTo>
                      <a:pt x="11356" y="137924"/>
                    </a:moveTo>
                    <a:lnTo>
                      <a:pt x="11406" y="138024"/>
                    </a:lnTo>
                    <a:lnTo>
                      <a:pt x="11406" y="144669"/>
                    </a:lnTo>
                    <a:lnTo>
                      <a:pt x="11356" y="144769"/>
                    </a:lnTo>
                    <a:lnTo>
                      <a:pt x="11257" y="144818"/>
                    </a:lnTo>
                    <a:lnTo>
                      <a:pt x="7091" y="144818"/>
                    </a:lnTo>
                    <a:lnTo>
                      <a:pt x="6992" y="144769"/>
                    </a:lnTo>
                    <a:lnTo>
                      <a:pt x="6943" y="144669"/>
                    </a:lnTo>
                    <a:lnTo>
                      <a:pt x="6943" y="138024"/>
                    </a:lnTo>
                    <a:lnTo>
                      <a:pt x="6992" y="137924"/>
                    </a:lnTo>
                    <a:lnTo>
                      <a:pt x="7091" y="137875"/>
                    </a:lnTo>
                    <a:lnTo>
                      <a:pt x="11257" y="137875"/>
                    </a:lnTo>
                    <a:close/>
                    <a:moveTo>
                      <a:pt x="11356" y="147844"/>
                    </a:moveTo>
                    <a:lnTo>
                      <a:pt x="11406" y="147943"/>
                    </a:lnTo>
                    <a:lnTo>
                      <a:pt x="11406" y="154589"/>
                    </a:lnTo>
                    <a:lnTo>
                      <a:pt x="11356" y="154688"/>
                    </a:lnTo>
                    <a:lnTo>
                      <a:pt x="11257" y="154737"/>
                    </a:lnTo>
                    <a:lnTo>
                      <a:pt x="7091" y="154737"/>
                    </a:lnTo>
                    <a:lnTo>
                      <a:pt x="6992" y="154688"/>
                    </a:lnTo>
                    <a:lnTo>
                      <a:pt x="6943" y="154589"/>
                    </a:lnTo>
                    <a:lnTo>
                      <a:pt x="6943" y="147943"/>
                    </a:lnTo>
                    <a:lnTo>
                      <a:pt x="6992" y="147844"/>
                    </a:lnTo>
                    <a:lnTo>
                      <a:pt x="7091" y="147794"/>
                    </a:lnTo>
                    <a:lnTo>
                      <a:pt x="11257" y="147794"/>
                    </a:lnTo>
                    <a:close/>
                    <a:moveTo>
                      <a:pt x="11356" y="157763"/>
                    </a:moveTo>
                    <a:lnTo>
                      <a:pt x="11406" y="157862"/>
                    </a:lnTo>
                    <a:lnTo>
                      <a:pt x="11406" y="164508"/>
                    </a:lnTo>
                    <a:lnTo>
                      <a:pt x="11356" y="164607"/>
                    </a:lnTo>
                    <a:lnTo>
                      <a:pt x="11257" y="164656"/>
                    </a:lnTo>
                    <a:lnTo>
                      <a:pt x="7091" y="164656"/>
                    </a:lnTo>
                    <a:lnTo>
                      <a:pt x="6992" y="164607"/>
                    </a:lnTo>
                    <a:lnTo>
                      <a:pt x="6943" y="164508"/>
                    </a:lnTo>
                    <a:lnTo>
                      <a:pt x="6943" y="157862"/>
                    </a:lnTo>
                    <a:lnTo>
                      <a:pt x="6992" y="157763"/>
                    </a:lnTo>
                    <a:lnTo>
                      <a:pt x="7091" y="157713"/>
                    </a:lnTo>
                    <a:lnTo>
                      <a:pt x="11257" y="157713"/>
                    </a:lnTo>
                    <a:close/>
                    <a:moveTo>
                      <a:pt x="11356" y="168351"/>
                    </a:moveTo>
                    <a:lnTo>
                      <a:pt x="11406" y="168450"/>
                    </a:lnTo>
                    <a:lnTo>
                      <a:pt x="11406" y="174427"/>
                    </a:lnTo>
                    <a:lnTo>
                      <a:pt x="11356" y="174526"/>
                    </a:lnTo>
                    <a:lnTo>
                      <a:pt x="11257" y="174575"/>
                    </a:lnTo>
                    <a:lnTo>
                      <a:pt x="7091" y="174575"/>
                    </a:lnTo>
                    <a:lnTo>
                      <a:pt x="6992" y="174526"/>
                    </a:lnTo>
                    <a:lnTo>
                      <a:pt x="6943" y="174427"/>
                    </a:lnTo>
                    <a:lnTo>
                      <a:pt x="6943" y="168450"/>
                    </a:lnTo>
                    <a:lnTo>
                      <a:pt x="6992" y="168351"/>
                    </a:lnTo>
                    <a:lnTo>
                      <a:pt x="7091" y="168302"/>
                    </a:lnTo>
                    <a:lnTo>
                      <a:pt x="11257" y="168302"/>
                    </a:lnTo>
                    <a:close/>
                    <a:moveTo>
                      <a:pt x="11356" y="167682"/>
                    </a:moveTo>
                    <a:lnTo>
                      <a:pt x="11406" y="167781"/>
                    </a:lnTo>
                    <a:lnTo>
                      <a:pt x="11406" y="168153"/>
                    </a:lnTo>
                    <a:lnTo>
                      <a:pt x="11356" y="168252"/>
                    </a:lnTo>
                    <a:lnTo>
                      <a:pt x="11257" y="168302"/>
                    </a:lnTo>
                    <a:lnTo>
                      <a:pt x="7091" y="168302"/>
                    </a:lnTo>
                    <a:lnTo>
                      <a:pt x="6992" y="168252"/>
                    </a:lnTo>
                    <a:lnTo>
                      <a:pt x="6943" y="168153"/>
                    </a:lnTo>
                    <a:lnTo>
                      <a:pt x="6943" y="167781"/>
                    </a:lnTo>
                    <a:lnTo>
                      <a:pt x="6992" y="167682"/>
                    </a:lnTo>
                    <a:lnTo>
                      <a:pt x="7091" y="167632"/>
                    </a:lnTo>
                    <a:lnTo>
                      <a:pt x="11257" y="167632"/>
                    </a:lnTo>
                    <a:close/>
                    <a:moveTo>
                      <a:pt x="11356" y="177601"/>
                    </a:moveTo>
                    <a:lnTo>
                      <a:pt x="11406" y="177700"/>
                    </a:lnTo>
                    <a:lnTo>
                      <a:pt x="11406" y="184346"/>
                    </a:lnTo>
                    <a:lnTo>
                      <a:pt x="11356" y="184445"/>
                    </a:lnTo>
                    <a:lnTo>
                      <a:pt x="11257" y="184495"/>
                    </a:lnTo>
                    <a:lnTo>
                      <a:pt x="7091" y="184495"/>
                    </a:lnTo>
                    <a:lnTo>
                      <a:pt x="6992" y="184445"/>
                    </a:lnTo>
                    <a:lnTo>
                      <a:pt x="6943" y="184346"/>
                    </a:lnTo>
                    <a:lnTo>
                      <a:pt x="6943" y="177700"/>
                    </a:lnTo>
                    <a:lnTo>
                      <a:pt x="6992" y="177601"/>
                    </a:lnTo>
                    <a:lnTo>
                      <a:pt x="7091" y="177551"/>
                    </a:lnTo>
                    <a:lnTo>
                      <a:pt x="11257" y="177551"/>
                    </a:lnTo>
                    <a:close/>
                    <a:moveTo>
                      <a:pt x="11356" y="187520"/>
                    </a:moveTo>
                    <a:lnTo>
                      <a:pt x="11406" y="187619"/>
                    </a:lnTo>
                    <a:lnTo>
                      <a:pt x="11406" y="194265"/>
                    </a:lnTo>
                    <a:lnTo>
                      <a:pt x="11356" y="194364"/>
                    </a:lnTo>
                    <a:lnTo>
                      <a:pt x="11257" y="194414"/>
                    </a:lnTo>
                    <a:lnTo>
                      <a:pt x="7091" y="194414"/>
                    </a:lnTo>
                    <a:lnTo>
                      <a:pt x="6992" y="194364"/>
                    </a:lnTo>
                    <a:lnTo>
                      <a:pt x="6943" y="194265"/>
                    </a:lnTo>
                    <a:lnTo>
                      <a:pt x="6943" y="187619"/>
                    </a:lnTo>
                    <a:lnTo>
                      <a:pt x="6992" y="187520"/>
                    </a:lnTo>
                    <a:lnTo>
                      <a:pt x="7091" y="187470"/>
                    </a:lnTo>
                    <a:lnTo>
                      <a:pt x="11257" y="187470"/>
                    </a:lnTo>
                    <a:close/>
                    <a:moveTo>
                      <a:pt x="11356" y="197439"/>
                    </a:moveTo>
                    <a:lnTo>
                      <a:pt x="11406" y="197538"/>
                    </a:lnTo>
                    <a:lnTo>
                      <a:pt x="11406" y="204184"/>
                    </a:lnTo>
                    <a:lnTo>
                      <a:pt x="11356" y="204283"/>
                    </a:lnTo>
                    <a:lnTo>
                      <a:pt x="11257" y="204333"/>
                    </a:lnTo>
                    <a:lnTo>
                      <a:pt x="7091" y="204333"/>
                    </a:lnTo>
                    <a:lnTo>
                      <a:pt x="6992" y="204283"/>
                    </a:lnTo>
                    <a:lnTo>
                      <a:pt x="6943" y="204184"/>
                    </a:lnTo>
                    <a:lnTo>
                      <a:pt x="6943" y="197538"/>
                    </a:lnTo>
                    <a:lnTo>
                      <a:pt x="6992" y="197439"/>
                    </a:lnTo>
                    <a:lnTo>
                      <a:pt x="7091" y="197389"/>
                    </a:lnTo>
                    <a:lnTo>
                      <a:pt x="11257" y="197389"/>
                    </a:lnTo>
                    <a:close/>
                    <a:moveTo>
                      <a:pt x="11356" y="207358"/>
                    </a:moveTo>
                    <a:lnTo>
                      <a:pt x="11406" y="207457"/>
                    </a:lnTo>
                    <a:lnTo>
                      <a:pt x="11406" y="214103"/>
                    </a:lnTo>
                    <a:lnTo>
                      <a:pt x="11356" y="214202"/>
                    </a:lnTo>
                    <a:lnTo>
                      <a:pt x="11257" y="214252"/>
                    </a:lnTo>
                    <a:lnTo>
                      <a:pt x="7091" y="214252"/>
                    </a:lnTo>
                    <a:lnTo>
                      <a:pt x="6992" y="214202"/>
                    </a:lnTo>
                    <a:lnTo>
                      <a:pt x="6943" y="214103"/>
                    </a:lnTo>
                    <a:lnTo>
                      <a:pt x="6943" y="207457"/>
                    </a:lnTo>
                    <a:lnTo>
                      <a:pt x="6992" y="207358"/>
                    </a:lnTo>
                    <a:lnTo>
                      <a:pt x="7091" y="207308"/>
                    </a:lnTo>
                    <a:lnTo>
                      <a:pt x="11257" y="207308"/>
                    </a:lnTo>
                    <a:close/>
                    <a:moveTo>
                      <a:pt x="11356" y="217277"/>
                    </a:moveTo>
                    <a:lnTo>
                      <a:pt x="11406" y="217376"/>
                    </a:lnTo>
                    <a:lnTo>
                      <a:pt x="11406" y="224022"/>
                    </a:lnTo>
                    <a:lnTo>
                      <a:pt x="11356" y="224121"/>
                    </a:lnTo>
                    <a:lnTo>
                      <a:pt x="11257" y="224171"/>
                    </a:lnTo>
                    <a:lnTo>
                      <a:pt x="7091" y="224171"/>
                    </a:lnTo>
                    <a:lnTo>
                      <a:pt x="6992" y="224121"/>
                    </a:lnTo>
                    <a:lnTo>
                      <a:pt x="6943" y="224022"/>
                    </a:lnTo>
                    <a:lnTo>
                      <a:pt x="6943" y="217376"/>
                    </a:lnTo>
                    <a:lnTo>
                      <a:pt x="6992" y="217277"/>
                    </a:lnTo>
                    <a:lnTo>
                      <a:pt x="7091" y="217227"/>
                    </a:lnTo>
                    <a:lnTo>
                      <a:pt x="11257" y="217227"/>
                    </a:lnTo>
                    <a:close/>
                    <a:moveTo>
                      <a:pt x="11356" y="227196"/>
                    </a:moveTo>
                    <a:lnTo>
                      <a:pt x="11406" y="227295"/>
                    </a:lnTo>
                    <a:lnTo>
                      <a:pt x="11406" y="233941"/>
                    </a:lnTo>
                    <a:lnTo>
                      <a:pt x="11356" y="234040"/>
                    </a:lnTo>
                    <a:lnTo>
                      <a:pt x="11257" y="234090"/>
                    </a:lnTo>
                    <a:lnTo>
                      <a:pt x="7091" y="234090"/>
                    </a:lnTo>
                    <a:lnTo>
                      <a:pt x="6992" y="234040"/>
                    </a:lnTo>
                    <a:lnTo>
                      <a:pt x="6943" y="233941"/>
                    </a:lnTo>
                    <a:lnTo>
                      <a:pt x="6943" y="227295"/>
                    </a:lnTo>
                    <a:lnTo>
                      <a:pt x="6992" y="227196"/>
                    </a:lnTo>
                    <a:lnTo>
                      <a:pt x="7091" y="227147"/>
                    </a:lnTo>
                    <a:lnTo>
                      <a:pt x="11257" y="227147"/>
                    </a:lnTo>
                    <a:close/>
                    <a:moveTo>
                      <a:pt x="11356" y="237115"/>
                    </a:moveTo>
                    <a:lnTo>
                      <a:pt x="11406" y="237214"/>
                    </a:lnTo>
                    <a:lnTo>
                      <a:pt x="11406" y="243860"/>
                    </a:lnTo>
                    <a:lnTo>
                      <a:pt x="11356" y="243959"/>
                    </a:lnTo>
                    <a:lnTo>
                      <a:pt x="11257" y="244009"/>
                    </a:lnTo>
                    <a:lnTo>
                      <a:pt x="7091" y="244009"/>
                    </a:lnTo>
                    <a:lnTo>
                      <a:pt x="6992" y="243959"/>
                    </a:lnTo>
                    <a:lnTo>
                      <a:pt x="6943" y="243860"/>
                    </a:lnTo>
                    <a:lnTo>
                      <a:pt x="6943" y="237214"/>
                    </a:lnTo>
                    <a:lnTo>
                      <a:pt x="6992" y="237115"/>
                    </a:lnTo>
                    <a:lnTo>
                      <a:pt x="7091" y="237066"/>
                    </a:lnTo>
                    <a:lnTo>
                      <a:pt x="11257" y="237066"/>
                    </a:lnTo>
                    <a:close/>
                    <a:moveTo>
                      <a:pt x="11356" y="247034"/>
                    </a:moveTo>
                    <a:lnTo>
                      <a:pt x="11406" y="247133"/>
                    </a:lnTo>
                    <a:lnTo>
                      <a:pt x="11406" y="253779"/>
                    </a:lnTo>
                    <a:lnTo>
                      <a:pt x="11356" y="253878"/>
                    </a:lnTo>
                    <a:lnTo>
                      <a:pt x="11257" y="253928"/>
                    </a:lnTo>
                    <a:lnTo>
                      <a:pt x="7091" y="253928"/>
                    </a:lnTo>
                    <a:lnTo>
                      <a:pt x="6992" y="253878"/>
                    </a:lnTo>
                    <a:lnTo>
                      <a:pt x="6943" y="253779"/>
                    </a:lnTo>
                    <a:lnTo>
                      <a:pt x="6943" y="247133"/>
                    </a:lnTo>
                    <a:lnTo>
                      <a:pt x="6992" y="247034"/>
                    </a:lnTo>
                    <a:lnTo>
                      <a:pt x="7091" y="246985"/>
                    </a:lnTo>
                    <a:lnTo>
                      <a:pt x="11257" y="246985"/>
                    </a:lnTo>
                    <a:close/>
                    <a:moveTo>
                      <a:pt x="11356" y="256953"/>
                    </a:moveTo>
                    <a:lnTo>
                      <a:pt x="11406" y="257053"/>
                    </a:lnTo>
                    <a:lnTo>
                      <a:pt x="11406" y="263698"/>
                    </a:lnTo>
                    <a:lnTo>
                      <a:pt x="11356" y="263798"/>
                    </a:lnTo>
                    <a:lnTo>
                      <a:pt x="11257" y="263847"/>
                    </a:lnTo>
                    <a:lnTo>
                      <a:pt x="7091" y="263847"/>
                    </a:lnTo>
                    <a:lnTo>
                      <a:pt x="6992" y="263798"/>
                    </a:lnTo>
                    <a:lnTo>
                      <a:pt x="6943" y="263698"/>
                    </a:lnTo>
                    <a:lnTo>
                      <a:pt x="6943" y="257053"/>
                    </a:lnTo>
                    <a:lnTo>
                      <a:pt x="6992" y="256953"/>
                    </a:lnTo>
                    <a:lnTo>
                      <a:pt x="7091" y="256904"/>
                    </a:lnTo>
                    <a:lnTo>
                      <a:pt x="11257" y="256904"/>
                    </a:lnTo>
                    <a:close/>
                    <a:moveTo>
                      <a:pt x="11356" y="266872"/>
                    </a:moveTo>
                    <a:lnTo>
                      <a:pt x="11406" y="266972"/>
                    </a:lnTo>
                    <a:lnTo>
                      <a:pt x="11406" y="273617"/>
                    </a:lnTo>
                    <a:lnTo>
                      <a:pt x="11356" y="273717"/>
                    </a:lnTo>
                    <a:lnTo>
                      <a:pt x="11257" y="273766"/>
                    </a:lnTo>
                    <a:lnTo>
                      <a:pt x="7091" y="273766"/>
                    </a:lnTo>
                    <a:lnTo>
                      <a:pt x="6992" y="273717"/>
                    </a:lnTo>
                    <a:lnTo>
                      <a:pt x="6943" y="273617"/>
                    </a:lnTo>
                    <a:lnTo>
                      <a:pt x="6943" y="266972"/>
                    </a:lnTo>
                    <a:lnTo>
                      <a:pt x="6992" y="266872"/>
                    </a:lnTo>
                    <a:lnTo>
                      <a:pt x="7091" y="266823"/>
                    </a:lnTo>
                    <a:lnTo>
                      <a:pt x="11257" y="266823"/>
                    </a:lnTo>
                    <a:close/>
                    <a:moveTo>
                      <a:pt x="11356" y="276792"/>
                    </a:moveTo>
                    <a:lnTo>
                      <a:pt x="11406" y="276891"/>
                    </a:lnTo>
                    <a:lnTo>
                      <a:pt x="11406" y="283536"/>
                    </a:lnTo>
                    <a:lnTo>
                      <a:pt x="11356" y="283636"/>
                    </a:lnTo>
                    <a:lnTo>
                      <a:pt x="11257" y="283685"/>
                    </a:lnTo>
                    <a:lnTo>
                      <a:pt x="7091" y="283685"/>
                    </a:lnTo>
                    <a:lnTo>
                      <a:pt x="6992" y="283636"/>
                    </a:lnTo>
                    <a:lnTo>
                      <a:pt x="6943" y="283536"/>
                    </a:lnTo>
                    <a:lnTo>
                      <a:pt x="6943" y="276891"/>
                    </a:lnTo>
                    <a:lnTo>
                      <a:pt x="6992" y="276792"/>
                    </a:lnTo>
                    <a:lnTo>
                      <a:pt x="7091" y="276742"/>
                    </a:lnTo>
                    <a:lnTo>
                      <a:pt x="11257" y="276742"/>
                    </a:lnTo>
                    <a:close/>
                    <a:moveTo>
                      <a:pt x="11356" y="286711"/>
                    </a:moveTo>
                    <a:lnTo>
                      <a:pt x="11406" y="286810"/>
                    </a:lnTo>
                    <a:lnTo>
                      <a:pt x="11406" y="293456"/>
                    </a:lnTo>
                    <a:lnTo>
                      <a:pt x="11356" y="293555"/>
                    </a:lnTo>
                    <a:lnTo>
                      <a:pt x="11257" y="293604"/>
                    </a:lnTo>
                    <a:lnTo>
                      <a:pt x="7091" y="293604"/>
                    </a:lnTo>
                    <a:lnTo>
                      <a:pt x="6992" y="293555"/>
                    </a:lnTo>
                    <a:lnTo>
                      <a:pt x="6943" y="293456"/>
                    </a:lnTo>
                    <a:lnTo>
                      <a:pt x="6943" y="286810"/>
                    </a:lnTo>
                    <a:lnTo>
                      <a:pt x="6992" y="286711"/>
                    </a:lnTo>
                    <a:lnTo>
                      <a:pt x="7091" y="286661"/>
                    </a:lnTo>
                    <a:lnTo>
                      <a:pt x="11257" y="286661"/>
                    </a:lnTo>
                    <a:close/>
                    <a:moveTo>
                      <a:pt x="11356" y="296630"/>
                    </a:moveTo>
                    <a:lnTo>
                      <a:pt x="11406" y="296729"/>
                    </a:lnTo>
                    <a:lnTo>
                      <a:pt x="11406" y="303375"/>
                    </a:lnTo>
                    <a:lnTo>
                      <a:pt x="11356" y="303474"/>
                    </a:lnTo>
                    <a:lnTo>
                      <a:pt x="11257" y="303523"/>
                    </a:lnTo>
                    <a:lnTo>
                      <a:pt x="7091" y="303523"/>
                    </a:lnTo>
                    <a:lnTo>
                      <a:pt x="6992" y="303474"/>
                    </a:lnTo>
                    <a:lnTo>
                      <a:pt x="6943" y="303375"/>
                    </a:lnTo>
                    <a:lnTo>
                      <a:pt x="6943" y="296729"/>
                    </a:lnTo>
                    <a:lnTo>
                      <a:pt x="6992" y="296630"/>
                    </a:lnTo>
                    <a:lnTo>
                      <a:pt x="7091" y="296580"/>
                    </a:lnTo>
                    <a:lnTo>
                      <a:pt x="11257" y="296580"/>
                    </a:lnTo>
                    <a:close/>
                    <a:moveTo>
                      <a:pt x="11356" y="306549"/>
                    </a:moveTo>
                    <a:lnTo>
                      <a:pt x="11406" y="306648"/>
                    </a:lnTo>
                    <a:lnTo>
                      <a:pt x="11406" y="313294"/>
                    </a:lnTo>
                    <a:lnTo>
                      <a:pt x="11356" y="313393"/>
                    </a:lnTo>
                    <a:lnTo>
                      <a:pt x="11257" y="313442"/>
                    </a:lnTo>
                    <a:lnTo>
                      <a:pt x="7091" y="313442"/>
                    </a:lnTo>
                    <a:lnTo>
                      <a:pt x="6992" y="313393"/>
                    </a:lnTo>
                    <a:lnTo>
                      <a:pt x="6943" y="313294"/>
                    </a:lnTo>
                    <a:lnTo>
                      <a:pt x="6943" y="306648"/>
                    </a:lnTo>
                    <a:lnTo>
                      <a:pt x="6992" y="306549"/>
                    </a:lnTo>
                    <a:lnTo>
                      <a:pt x="7091" y="306499"/>
                    </a:lnTo>
                    <a:lnTo>
                      <a:pt x="11257" y="306499"/>
                    </a:lnTo>
                    <a:close/>
                    <a:moveTo>
                      <a:pt x="11356" y="316468"/>
                    </a:moveTo>
                    <a:lnTo>
                      <a:pt x="11406" y="316567"/>
                    </a:lnTo>
                    <a:lnTo>
                      <a:pt x="11406" y="323213"/>
                    </a:lnTo>
                    <a:lnTo>
                      <a:pt x="11356" y="323312"/>
                    </a:lnTo>
                    <a:lnTo>
                      <a:pt x="11257" y="323362"/>
                    </a:lnTo>
                    <a:lnTo>
                      <a:pt x="7091" y="323362"/>
                    </a:lnTo>
                    <a:lnTo>
                      <a:pt x="6992" y="323312"/>
                    </a:lnTo>
                    <a:lnTo>
                      <a:pt x="6943" y="323213"/>
                    </a:lnTo>
                    <a:lnTo>
                      <a:pt x="6943" y="316567"/>
                    </a:lnTo>
                    <a:lnTo>
                      <a:pt x="6992" y="316468"/>
                    </a:lnTo>
                    <a:lnTo>
                      <a:pt x="7091" y="316418"/>
                    </a:lnTo>
                    <a:lnTo>
                      <a:pt x="11257" y="316418"/>
                    </a:lnTo>
                    <a:close/>
                    <a:moveTo>
                      <a:pt x="11356" y="326387"/>
                    </a:moveTo>
                    <a:lnTo>
                      <a:pt x="11406" y="326486"/>
                    </a:lnTo>
                    <a:lnTo>
                      <a:pt x="11406" y="333132"/>
                    </a:lnTo>
                    <a:lnTo>
                      <a:pt x="11356" y="333231"/>
                    </a:lnTo>
                    <a:lnTo>
                      <a:pt x="11257" y="333281"/>
                    </a:lnTo>
                    <a:lnTo>
                      <a:pt x="7091" y="333281"/>
                    </a:lnTo>
                    <a:lnTo>
                      <a:pt x="6992" y="333231"/>
                    </a:lnTo>
                    <a:lnTo>
                      <a:pt x="6943" y="333132"/>
                    </a:lnTo>
                    <a:lnTo>
                      <a:pt x="6943" y="326486"/>
                    </a:lnTo>
                    <a:lnTo>
                      <a:pt x="6992" y="326387"/>
                    </a:lnTo>
                    <a:lnTo>
                      <a:pt x="7091" y="326337"/>
                    </a:lnTo>
                    <a:lnTo>
                      <a:pt x="11257" y="326337"/>
                    </a:lnTo>
                    <a:close/>
                    <a:moveTo>
                      <a:pt x="11356" y="336306"/>
                    </a:moveTo>
                    <a:lnTo>
                      <a:pt x="11406" y="336405"/>
                    </a:lnTo>
                    <a:lnTo>
                      <a:pt x="11406" y="343051"/>
                    </a:lnTo>
                    <a:lnTo>
                      <a:pt x="11356" y="343150"/>
                    </a:lnTo>
                    <a:lnTo>
                      <a:pt x="11257" y="343200"/>
                    </a:lnTo>
                    <a:lnTo>
                      <a:pt x="7091" y="343200"/>
                    </a:lnTo>
                    <a:lnTo>
                      <a:pt x="6992" y="343150"/>
                    </a:lnTo>
                    <a:lnTo>
                      <a:pt x="6943" y="343051"/>
                    </a:lnTo>
                    <a:lnTo>
                      <a:pt x="6943" y="336405"/>
                    </a:lnTo>
                    <a:lnTo>
                      <a:pt x="6992" y="336306"/>
                    </a:lnTo>
                    <a:lnTo>
                      <a:pt x="7091" y="336256"/>
                    </a:lnTo>
                    <a:lnTo>
                      <a:pt x="11257" y="336256"/>
                    </a:lnTo>
                    <a:close/>
                    <a:moveTo>
                      <a:pt x="11356" y="346225"/>
                    </a:moveTo>
                    <a:lnTo>
                      <a:pt x="11406" y="346324"/>
                    </a:lnTo>
                    <a:lnTo>
                      <a:pt x="11406" y="352970"/>
                    </a:lnTo>
                    <a:lnTo>
                      <a:pt x="11356" y="353069"/>
                    </a:lnTo>
                    <a:lnTo>
                      <a:pt x="11257" y="353119"/>
                    </a:lnTo>
                    <a:lnTo>
                      <a:pt x="7091" y="353119"/>
                    </a:lnTo>
                    <a:lnTo>
                      <a:pt x="6992" y="353069"/>
                    </a:lnTo>
                    <a:lnTo>
                      <a:pt x="6943" y="352970"/>
                    </a:lnTo>
                    <a:lnTo>
                      <a:pt x="6943" y="346324"/>
                    </a:lnTo>
                    <a:lnTo>
                      <a:pt x="6992" y="346225"/>
                    </a:lnTo>
                    <a:lnTo>
                      <a:pt x="7091" y="346175"/>
                    </a:lnTo>
                    <a:lnTo>
                      <a:pt x="11257" y="346175"/>
                    </a:lnTo>
                    <a:close/>
                    <a:moveTo>
                      <a:pt x="11356" y="356144"/>
                    </a:moveTo>
                    <a:lnTo>
                      <a:pt x="11406" y="356243"/>
                    </a:lnTo>
                    <a:lnTo>
                      <a:pt x="11406" y="362889"/>
                    </a:lnTo>
                    <a:lnTo>
                      <a:pt x="11356" y="362988"/>
                    </a:lnTo>
                    <a:lnTo>
                      <a:pt x="11257" y="363038"/>
                    </a:lnTo>
                    <a:lnTo>
                      <a:pt x="7091" y="363038"/>
                    </a:lnTo>
                    <a:lnTo>
                      <a:pt x="6992" y="362988"/>
                    </a:lnTo>
                    <a:lnTo>
                      <a:pt x="6943" y="362889"/>
                    </a:lnTo>
                    <a:lnTo>
                      <a:pt x="6943" y="356243"/>
                    </a:lnTo>
                    <a:lnTo>
                      <a:pt x="6992" y="356144"/>
                    </a:lnTo>
                    <a:lnTo>
                      <a:pt x="7091" y="356095"/>
                    </a:lnTo>
                    <a:lnTo>
                      <a:pt x="11257" y="356095"/>
                    </a:lnTo>
                    <a:close/>
                    <a:moveTo>
                      <a:pt x="11356" y="366063"/>
                    </a:moveTo>
                    <a:lnTo>
                      <a:pt x="11406" y="366162"/>
                    </a:lnTo>
                    <a:lnTo>
                      <a:pt x="11406" y="372808"/>
                    </a:lnTo>
                    <a:lnTo>
                      <a:pt x="11356" y="372907"/>
                    </a:lnTo>
                    <a:lnTo>
                      <a:pt x="11257" y="372957"/>
                    </a:lnTo>
                    <a:lnTo>
                      <a:pt x="7091" y="372957"/>
                    </a:lnTo>
                    <a:lnTo>
                      <a:pt x="6992" y="372907"/>
                    </a:lnTo>
                    <a:lnTo>
                      <a:pt x="6943" y="372808"/>
                    </a:lnTo>
                    <a:lnTo>
                      <a:pt x="6943" y="366162"/>
                    </a:lnTo>
                    <a:lnTo>
                      <a:pt x="6992" y="366063"/>
                    </a:lnTo>
                    <a:lnTo>
                      <a:pt x="7091" y="366014"/>
                    </a:lnTo>
                    <a:lnTo>
                      <a:pt x="11257" y="366014"/>
                    </a:lnTo>
                    <a:close/>
                    <a:moveTo>
                      <a:pt x="11356" y="375982"/>
                    </a:moveTo>
                    <a:lnTo>
                      <a:pt x="11406" y="376081"/>
                    </a:lnTo>
                    <a:lnTo>
                      <a:pt x="11406" y="382727"/>
                    </a:lnTo>
                    <a:lnTo>
                      <a:pt x="11356" y="382826"/>
                    </a:lnTo>
                    <a:lnTo>
                      <a:pt x="11257" y="382876"/>
                    </a:lnTo>
                    <a:lnTo>
                      <a:pt x="7091" y="382876"/>
                    </a:lnTo>
                    <a:lnTo>
                      <a:pt x="6992" y="382826"/>
                    </a:lnTo>
                    <a:lnTo>
                      <a:pt x="6943" y="382727"/>
                    </a:lnTo>
                    <a:lnTo>
                      <a:pt x="6943" y="376081"/>
                    </a:lnTo>
                    <a:lnTo>
                      <a:pt x="6992" y="375982"/>
                    </a:lnTo>
                    <a:lnTo>
                      <a:pt x="7091" y="375933"/>
                    </a:lnTo>
                    <a:lnTo>
                      <a:pt x="11257" y="375933"/>
                    </a:lnTo>
                    <a:close/>
                    <a:moveTo>
                      <a:pt x="11356" y="385901"/>
                    </a:moveTo>
                    <a:lnTo>
                      <a:pt x="11406" y="386001"/>
                    </a:lnTo>
                    <a:lnTo>
                      <a:pt x="11406" y="392646"/>
                    </a:lnTo>
                    <a:lnTo>
                      <a:pt x="11356" y="392745"/>
                    </a:lnTo>
                    <a:lnTo>
                      <a:pt x="11257" y="392795"/>
                    </a:lnTo>
                    <a:lnTo>
                      <a:pt x="7091" y="392795"/>
                    </a:lnTo>
                    <a:lnTo>
                      <a:pt x="6992" y="392745"/>
                    </a:lnTo>
                    <a:lnTo>
                      <a:pt x="6943" y="392646"/>
                    </a:lnTo>
                    <a:lnTo>
                      <a:pt x="6943" y="386001"/>
                    </a:lnTo>
                    <a:lnTo>
                      <a:pt x="6992" y="385901"/>
                    </a:lnTo>
                    <a:lnTo>
                      <a:pt x="7091" y="385852"/>
                    </a:lnTo>
                    <a:lnTo>
                      <a:pt x="11257" y="385852"/>
                    </a:lnTo>
                    <a:close/>
                    <a:moveTo>
                      <a:pt x="11356" y="395820"/>
                    </a:moveTo>
                    <a:lnTo>
                      <a:pt x="11406" y="395920"/>
                    </a:lnTo>
                    <a:lnTo>
                      <a:pt x="11406" y="402565"/>
                    </a:lnTo>
                    <a:lnTo>
                      <a:pt x="11356" y="402665"/>
                    </a:lnTo>
                    <a:lnTo>
                      <a:pt x="11257" y="402714"/>
                    </a:lnTo>
                    <a:lnTo>
                      <a:pt x="7091" y="402714"/>
                    </a:lnTo>
                    <a:lnTo>
                      <a:pt x="6992" y="402665"/>
                    </a:lnTo>
                    <a:lnTo>
                      <a:pt x="6943" y="402565"/>
                    </a:lnTo>
                    <a:lnTo>
                      <a:pt x="6943" y="395920"/>
                    </a:lnTo>
                    <a:lnTo>
                      <a:pt x="6992" y="395820"/>
                    </a:lnTo>
                    <a:lnTo>
                      <a:pt x="7091" y="395771"/>
                    </a:lnTo>
                    <a:lnTo>
                      <a:pt x="11257" y="395771"/>
                    </a:lnTo>
                    <a:close/>
                    <a:moveTo>
                      <a:pt x="11356" y="405739"/>
                    </a:moveTo>
                    <a:lnTo>
                      <a:pt x="11406" y="405839"/>
                    </a:lnTo>
                    <a:lnTo>
                      <a:pt x="11406" y="412484"/>
                    </a:lnTo>
                    <a:lnTo>
                      <a:pt x="11356" y="412584"/>
                    </a:lnTo>
                    <a:lnTo>
                      <a:pt x="11257" y="412633"/>
                    </a:lnTo>
                    <a:lnTo>
                      <a:pt x="7091" y="412633"/>
                    </a:lnTo>
                    <a:lnTo>
                      <a:pt x="6992" y="412584"/>
                    </a:lnTo>
                    <a:lnTo>
                      <a:pt x="6943" y="412484"/>
                    </a:lnTo>
                    <a:lnTo>
                      <a:pt x="6943" y="405839"/>
                    </a:lnTo>
                    <a:lnTo>
                      <a:pt x="6992" y="405739"/>
                    </a:lnTo>
                    <a:lnTo>
                      <a:pt x="7091" y="405690"/>
                    </a:lnTo>
                    <a:lnTo>
                      <a:pt x="11257" y="405690"/>
                    </a:lnTo>
                    <a:close/>
                    <a:moveTo>
                      <a:pt x="11356" y="415659"/>
                    </a:moveTo>
                    <a:lnTo>
                      <a:pt x="11406" y="415758"/>
                    </a:lnTo>
                    <a:lnTo>
                      <a:pt x="11406" y="422404"/>
                    </a:lnTo>
                    <a:lnTo>
                      <a:pt x="11356" y="422503"/>
                    </a:lnTo>
                    <a:lnTo>
                      <a:pt x="11257" y="422552"/>
                    </a:lnTo>
                    <a:lnTo>
                      <a:pt x="7091" y="422552"/>
                    </a:lnTo>
                    <a:lnTo>
                      <a:pt x="6992" y="422503"/>
                    </a:lnTo>
                    <a:lnTo>
                      <a:pt x="6943" y="422404"/>
                    </a:lnTo>
                    <a:lnTo>
                      <a:pt x="6943" y="415758"/>
                    </a:lnTo>
                    <a:lnTo>
                      <a:pt x="6992" y="415659"/>
                    </a:lnTo>
                    <a:lnTo>
                      <a:pt x="7091" y="415609"/>
                    </a:lnTo>
                    <a:lnTo>
                      <a:pt x="11257" y="415609"/>
                    </a:lnTo>
                    <a:close/>
                    <a:moveTo>
                      <a:pt x="11356" y="425578"/>
                    </a:moveTo>
                    <a:lnTo>
                      <a:pt x="11406" y="425677"/>
                    </a:lnTo>
                    <a:lnTo>
                      <a:pt x="11406" y="432323"/>
                    </a:lnTo>
                    <a:lnTo>
                      <a:pt x="11356" y="432422"/>
                    </a:lnTo>
                    <a:lnTo>
                      <a:pt x="11257" y="432471"/>
                    </a:lnTo>
                    <a:lnTo>
                      <a:pt x="7091" y="432471"/>
                    </a:lnTo>
                    <a:lnTo>
                      <a:pt x="6992" y="432422"/>
                    </a:lnTo>
                    <a:lnTo>
                      <a:pt x="6943" y="432323"/>
                    </a:lnTo>
                    <a:lnTo>
                      <a:pt x="6943" y="425677"/>
                    </a:lnTo>
                    <a:lnTo>
                      <a:pt x="6992" y="425578"/>
                    </a:lnTo>
                    <a:lnTo>
                      <a:pt x="7091" y="425528"/>
                    </a:lnTo>
                    <a:lnTo>
                      <a:pt x="11257" y="425528"/>
                    </a:lnTo>
                    <a:close/>
                    <a:moveTo>
                      <a:pt x="11356" y="435497"/>
                    </a:moveTo>
                    <a:lnTo>
                      <a:pt x="11406" y="435596"/>
                    </a:lnTo>
                    <a:lnTo>
                      <a:pt x="11406" y="442242"/>
                    </a:lnTo>
                    <a:lnTo>
                      <a:pt x="11356" y="442341"/>
                    </a:lnTo>
                    <a:lnTo>
                      <a:pt x="11257" y="442390"/>
                    </a:lnTo>
                    <a:lnTo>
                      <a:pt x="7091" y="442390"/>
                    </a:lnTo>
                    <a:lnTo>
                      <a:pt x="6992" y="442341"/>
                    </a:lnTo>
                    <a:lnTo>
                      <a:pt x="6943" y="442242"/>
                    </a:lnTo>
                    <a:lnTo>
                      <a:pt x="6943" y="435596"/>
                    </a:lnTo>
                    <a:lnTo>
                      <a:pt x="6992" y="435497"/>
                    </a:lnTo>
                    <a:lnTo>
                      <a:pt x="7091" y="435447"/>
                    </a:lnTo>
                    <a:lnTo>
                      <a:pt x="11257" y="435447"/>
                    </a:lnTo>
                    <a:close/>
                    <a:moveTo>
                      <a:pt x="11356" y="445416"/>
                    </a:moveTo>
                    <a:lnTo>
                      <a:pt x="11406" y="445515"/>
                    </a:lnTo>
                    <a:lnTo>
                      <a:pt x="11406" y="452161"/>
                    </a:lnTo>
                    <a:lnTo>
                      <a:pt x="11356" y="452260"/>
                    </a:lnTo>
                    <a:lnTo>
                      <a:pt x="11257" y="452310"/>
                    </a:lnTo>
                    <a:lnTo>
                      <a:pt x="7091" y="452310"/>
                    </a:lnTo>
                    <a:lnTo>
                      <a:pt x="6992" y="452260"/>
                    </a:lnTo>
                    <a:lnTo>
                      <a:pt x="6943" y="452161"/>
                    </a:lnTo>
                    <a:lnTo>
                      <a:pt x="6943" y="445515"/>
                    </a:lnTo>
                    <a:lnTo>
                      <a:pt x="6992" y="445416"/>
                    </a:lnTo>
                    <a:lnTo>
                      <a:pt x="7091" y="445366"/>
                    </a:lnTo>
                    <a:lnTo>
                      <a:pt x="11257" y="445366"/>
                    </a:lnTo>
                    <a:close/>
                    <a:moveTo>
                      <a:pt x="11356" y="455335"/>
                    </a:moveTo>
                    <a:lnTo>
                      <a:pt x="11406" y="455434"/>
                    </a:lnTo>
                    <a:lnTo>
                      <a:pt x="11406" y="462080"/>
                    </a:lnTo>
                    <a:lnTo>
                      <a:pt x="11356" y="462179"/>
                    </a:lnTo>
                    <a:lnTo>
                      <a:pt x="11257" y="462229"/>
                    </a:lnTo>
                    <a:lnTo>
                      <a:pt x="7091" y="462229"/>
                    </a:lnTo>
                    <a:lnTo>
                      <a:pt x="6992" y="462179"/>
                    </a:lnTo>
                    <a:lnTo>
                      <a:pt x="6943" y="462080"/>
                    </a:lnTo>
                    <a:lnTo>
                      <a:pt x="6943" y="455434"/>
                    </a:lnTo>
                    <a:lnTo>
                      <a:pt x="6992" y="455335"/>
                    </a:lnTo>
                    <a:lnTo>
                      <a:pt x="7091" y="455285"/>
                    </a:lnTo>
                    <a:lnTo>
                      <a:pt x="11257" y="455285"/>
                    </a:lnTo>
                    <a:close/>
                    <a:moveTo>
                      <a:pt x="11356" y="465254"/>
                    </a:moveTo>
                    <a:lnTo>
                      <a:pt x="11406" y="465353"/>
                    </a:lnTo>
                    <a:lnTo>
                      <a:pt x="11406" y="471999"/>
                    </a:lnTo>
                    <a:lnTo>
                      <a:pt x="11356" y="472098"/>
                    </a:lnTo>
                    <a:lnTo>
                      <a:pt x="11257" y="472148"/>
                    </a:lnTo>
                    <a:lnTo>
                      <a:pt x="7091" y="472148"/>
                    </a:lnTo>
                    <a:lnTo>
                      <a:pt x="6992" y="472098"/>
                    </a:lnTo>
                    <a:lnTo>
                      <a:pt x="6943" y="471999"/>
                    </a:lnTo>
                    <a:lnTo>
                      <a:pt x="6943" y="465353"/>
                    </a:lnTo>
                    <a:lnTo>
                      <a:pt x="6992" y="465254"/>
                    </a:lnTo>
                    <a:lnTo>
                      <a:pt x="7091" y="465204"/>
                    </a:lnTo>
                    <a:lnTo>
                      <a:pt x="11257" y="465204"/>
                    </a:lnTo>
                    <a:close/>
                    <a:moveTo>
                      <a:pt x="11356" y="475173"/>
                    </a:moveTo>
                    <a:lnTo>
                      <a:pt x="11406" y="475272"/>
                    </a:lnTo>
                    <a:lnTo>
                      <a:pt x="11406" y="481918"/>
                    </a:lnTo>
                    <a:lnTo>
                      <a:pt x="11356" y="482017"/>
                    </a:lnTo>
                    <a:lnTo>
                      <a:pt x="11257" y="482067"/>
                    </a:lnTo>
                    <a:lnTo>
                      <a:pt x="7091" y="482067"/>
                    </a:lnTo>
                    <a:lnTo>
                      <a:pt x="6992" y="482017"/>
                    </a:lnTo>
                    <a:lnTo>
                      <a:pt x="6943" y="481918"/>
                    </a:lnTo>
                    <a:lnTo>
                      <a:pt x="6943" y="475272"/>
                    </a:lnTo>
                    <a:lnTo>
                      <a:pt x="6992" y="475173"/>
                    </a:lnTo>
                    <a:lnTo>
                      <a:pt x="7091" y="475123"/>
                    </a:lnTo>
                    <a:lnTo>
                      <a:pt x="11257" y="475123"/>
                    </a:lnTo>
                    <a:close/>
                    <a:moveTo>
                      <a:pt x="11356" y="485092"/>
                    </a:moveTo>
                    <a:lnTo>
                      <a:pt x="11406" y="485191"/>
                    </a:lnTo>
                    <a:lnTo>
                      <a:pt x="11406" y="491837"/>
                    </a:lnTo>
                    <a:lnTo>
                      <a:pt x="11356" y="491936"/>
                    </a:lnTo>
                    <a:lnTo>
                      <a:pt x="11257" y="491986"/>
                    </a:lnTo>
                    <a:lnTo>
                      <a:pt x="7091" y="491986"/>
                    </a:lnTo>
                    <a:lnTo>
                      <a:pt x="6992" y="491936"/>
                    </a:lnTo>
                    <a:lnTo>
                      <a:pt x="6943" y="491837"/>
                    </a:lnTo>
                    <a:lnTo>
                      <a:pt x="6943" y="485191"/>
                    </a:lnTo>
                    <a:lnTo>
                      <a:pt x="6992" y="485092"/>
                    </a:lnTo>
                    <a:lnTo>
                      <a:pt x="7091" y="485042"/>
                    </a:lnTo>
                    <a:lnTo>
                      <a:pt x="11257" y="485042"/>
                    </a:lnTo>
                    <a:close/>
                    <a:moveTo>
                      <a:pt x="11356" y="495011"/>
                    </a:moveTo>
                    <a:lnTo>
                      <a:pt x="11406" y="495110"/>
                    </a:lnTo>
                    <a:lnTo>
                      <a:pt x="11406" y="501756"/>
                    </a:lnTo>
                    <a:lnTo>
                      <a:pt x="11356" y="501855"/>
                    </a:lnTo>
                    <a:lnTo>
                      <a:pt x="11257" y="501905"/>
                    </a:lnTo>
                    <a:lnTo>
                      <a:pt x="7091" y="501905"/>
                    </a:lnTo>
                    <a:lnTo>
                      <a:pt x="6992" y="501855"/>
                    </a:lnTo>
                    <a:lnTo>
                      <a:pt x="6943" y="501756"/>
                    </a:lnTo>
                    <a:lnTo>
                      <a:pt x="6943" y="495110"/>
                    </a:lnTo>
                    <a:lnTo>
                      <a:pt x="6992" y="495011"/>
                    </a:lnTo>
                    <a:lnTo>
                      <a:pt x="7091" y="494962"/>
                    </a:lnTo>
                    <a:lnTo>
                      <a:pt x="11257" y="494962"/>
                    </a:lnTo>
                    <a:close/>
                    <a:moveTo>
                      <a:pt x="11356" y="504930"/>
                    </a:moveTo>
                    <a:lnTo>
                      <a:pt x="11406" y="505029"/>
                    </a:lnTo>
                    <a:lnTo>
                      <a:pt x="11406" y="511675"/>
                    </a:lnTo>
                    <a:lnTo>
                      <a:pt x="11356" y="511774"/>
                    </a:lnTo>
                    <a:lnTo>
                      <a:pt x="11257" y="511824"/>
                    </a:lnTo>
                    <a:lnTo>
                      <a:pt x="7091" y="511824"/>
                    </a:lnTo>
                    <a:lnTo>
                      <a:pt x="6992" y="511774"/>
                    </a:lnTo>
                    <a:lnTo>
                      <a:pt x="6943" y="511675"/>
                    </a:lnTo>
                    <a:lnTo>
                      <a:pt x="6943" y="505029"/>
                    </a:lnTo>
                    <a:lnTo>
                      <a:pt x="6992" y="504930"/>
                    </a:lnTo>
                    <a:lnTo>
                      <a:pt x="7091" y="504881"/>
                    </a:lnTo>
                    <a:lnTo>
                      <a:pt x="11257" y="504881"/>
                    </a:lnTo>
                    <a:close/>
                    <a:moveTo>
                      <a:pt x="11356" y="514849"/>
                    </a:moveTo>
                    <a:lnTo>
                      <a:pt x="11406" y="514948"/>
                    </a:lnTo>
                    <a:lnTo>
                      <a:pt x="11406" y="521594"/>
                    </a:lnTo>
                    <a:lnTo>
                      <a:pt x="11356" y="521693"/>
                    </a:lnTo>
                    <a:lnTo>
                      <a:pt x="11257" y="521743"/>
                    </a:lnTo>
                    <a:lnTo>
                      <a:pt x="7091" y="521743"/>
                    </a:lnTo>
                    <a:lnTo>
                      <a:pt x="6992" y="521693"/>
                    </a:lnTo>
                    <a:lnTo>
                      <a:pt x="6943" y="521594"/>
                    </a:lnTo>
                    <a:lnTo>
                      <a:pt x="6943" y="514948"/>
                    </a:lnTo>
                    <a:lnTo>
                      <a:pt x="6992" y="514849"/>
                    </a:lnTo>
                    <a:lnTo>
                      <a:pt x="7091" y="514800"/>
                    </a:lnTo>
                    <a:lnTo>
                      <a:pt x="11257" y="514800"/>
                    </a:lnTo>
                    <a:close/>
                    <a:moveTo>
                      <a:pt x="11356" y="524768"/>
                    </a:moveTo>
                    <a:lnTo>
                      <a:pt x="11406" y="524868"/>
                    </a:lnTo>
                    <a:lnTo>
                      <a:pt x="11406" y="531513"/>
                    </a:lnTo>
                    <a:lnTo>
                      <a:pt x="11356" y="531613"/>
                    </a:lnTo>
                    <a:lnTo>
                      <a:pt x="11257" y="531662"/>
                    </a:lnTo>
                    <a:lnTo>
                      <a:pt x="7091" y="531662"/>
                    </a:lnTo>
                    <a:lnTo>
                      <a:pt x="6992" y="531613"/>
                    </a:lnTo>
                    <a:lnTo>
                      <a:pt x="6943" y="531513"/>
                    </a:lnTo>
                    <a:lnTo>
                      <a:pt x="6943" y="524868"/>
                    </a:lnTo>
                    <a:lnTo>
                      <a:pt x="6992" y="524768"/>
                    </a:lnTo>
                    <a:lnTo>
                      <a:pt x="7091" y="524719"/>
                    </a:lnTo>
                    <a:lnTo>
                      <a:pt x="11257" y="524719"/>
                    </a:lnTo>
                    <a:close/>
                    <a:moveTo>
                      <a:pt x="11356" y="534687"/>
                    </a:moveTo>
                    <a:lnTo>
                      <a:pt x="11406" y="534787"/>
                    </a:lnTo>
                    <a:lnTo>
                      <a:pt x="11406" y="541432"/>
                    </a:lnTo>
                    <a:lnTo>
                      <a:pt x="11356" y="541532"/>
                    </a:lnTo>
                    <a:lnTo>
                      <a:pt x="11257" y="541581"/>
                    </a:lnTo>
                    <a:lnTo>
                      <a:pt x="7091" y="541581"/>
                    </a:lnTo>
                    <a:lnTo>
                      <a:pt x="6992" y="541532"/>
                    </a:lnTo>
                    <a:lnTo>
                      <a:pt x="6943" y="541432"/>
                    </a:lnTo>
                    <a:lnTo>
                      <a:pt x="6943" y="534787"/>
                    </a:lnTo>
                    <a:lnTo>
                      <a:pt x="6992" y="534687"/>
                    </a:lnTo>
                    <a:lnTo>
                      <a:pt x="7091" y="534638"/>
                    </a:lnTo>
                    <a:lnTo>
                      <a:pt x="11257" y="534638"/>
                    </a:lnTo>
                    <a:close/>
                    <a:moveTo>
                      <a:pt x="11356" y="544607"/>
                    </a:moveTo>
                    <a:lnTo>
                      <a:pt x="11406" y="544706"/>
                    </a:lnTo>
                    <a:lnTo>
                      <a:pt x="11406" y="551351"/>
                    </a:lnTo>
                    <a:lnTo>
                      <a:pt x="11356" y="551451"/>
                    </a:lnTo>
                    <a:lnTo>
                      <a:pt x="11257" y="551500"/>
                    </a:lnTo>
                    <a:lnTo>
                      <a:pt x="7091" y="551500"/>
                    </a:lnTo>
                    <a:lnTo>
                      <a:pt x="6992" y="551451"/>
                    </a:lnTo>
                    <a:lnTo>
                      <a:pt x="6943" y="551351"/>
                    </a:lnTo>
                    <a:lnTo>
                      <a:pt x="6943" y="544706"/>
                    </a:lnTo>
                    <a:lnTo>
                      <a:pt x="6992" y="544607"/>
                    </a:lnTo>
                    <a:lnTo>
                      <a:pt x="7091" y="544557"/>
                    </a:lnTo>
                    <a:lnTo>
                      <a:pt x="11257" y="544557"/>
                    </a:lnTo>
                    <a:close/>
                    <a:moveTo>
                      <a:pt x="11356" y="554526"/>
                    </a:moveTo>
                    <a:lnTo>
                      <a:pt x="11406" y="554625"/>
                    </a:lnTo>
                    <a:lnTo>
                      <a:pt x="11406" y="561271"/>
                    </a:lnTo>
                    <a:lnTo>
                      <a:pt x="11356" y="561370"/>
                    </a:lnTo>
                    <a:lnTo>
                      <a:pt x="11257" y="561419"/>
                    </a:lnTo>
                    <a:lnTo>
                      <a:pt x="7091" y="561419"/>
                    </a:lnTo>
                    <a:lnTo>
                      <a:pt x="6992" y="561370"/>
                    </a:lnTo>
                    <a:lnTo>
                      <a:pt x="6943" y="561271"/>
                    </a:lnTo>
                    <a:lnTo>
                      <a:pt x="6943" y="554625"/>
                    </a:lnTo>
                    <a:lnTo>
                      <a:pt x="6992" y="554526"/>
                    </a:lnTo>
                    <a:lnTo>
                      <a:pt x="7091" y="554476"/>
                    </a:lnTo>
                    <a:lnTo>
                      <a:pt x="11257" y="554476"/>
                    </a:lnTo>
                    <a:close/>
                    <a:moveTo>
                      <a:pt x="11356" y="564445"/>
                    </a:moveTo>
                    <a:lnTo>
                      <a:pt x="11406" y="564544"/>
                    </a:lnTo>
                    <a:lnTo>
                      <a:pt x="11406" y="571190"/>
                    </a:lnTo>
                    <a:lnTo>
                      <a:pt x="11356" y="571289"/>
                    </a:lnTo>
                    <a:lnTo>
                      <a:pt x="11257" y="571338"/>
                    </a:lnTo>
                    <a:lnTo>
                      <a:pt x="7091" y="571338"/>
                    </a:lnTo>
                    <a:lnTo>
                      <a:pt x="6992" y="571289"/>
                    </a:lnTo>
                    <a:lnTo>
                      <a:pt x="6943" y="571190"/>
                    </a:lnTo>
                    <a:lnTo>
                      <a:pt x="6943" y="564544"/>
                    </a:lnTo>
                    <a:lnTo>
                      <a:pt x="6992" y="564445"/>
                    </a:lnTo>
                    <a:lnTo>
                      <a:pt x="7091" y="564395"/>
                    </a:lnTo>
                    <a:lnTo>
                      <a:pt x="11257" y="564395"/>
                    </a:lnTo>
                    <a:close/>
                    <a:moveTo>
                      <a:pt x="11356" y="574364"/>
                    </a:moveTo>
                    <a:lnTo>
                      <a:pt x="11406" y="574463"/>
                    </a:lnTo>
                    <a:lnTo>
                      <a:pt x="11406" y="581109"/>
                    </a:lnTo>
                    <a:lnTo>
                      <a:pt x="11356" y="581208"/>
                    </a:lnTo>
                    <a:lnTo>
                      <a:pt x="11257" y="581257"/>
                    </a:lnTo>
                    <a:lnTo>
                      <a:pt x="7091" y="581257"/>
                    </a:lnTo>
                    <a:lnTo>
                      <a:pt x="6992" y="581208"/>
                    </a:lnTo>
                    <a:lnTo>
                      <a:pt x="6943" y="581109"/>
                    </a:lnTo>
                    <a:lnTo>
                      <a:pt x="6943" y="574463"/>
                    </a:lnTo>
                    <a:lnTo>
                      <a:pt x="6992" y="574364"/>
                    </a:lnTo>
                    <a:lnTo>
                      <a:pt x="7091" y="574314"/>
                    </a:lnTo>
                    <a:lnTo>
                      <a:pt x="11257" y="574314"/>
                    </a:lnTo>
                    <a:close/>
                    <a:moveTo>
                      <a:pt x="11356" y="584283"/>
                    </a:moveTo>
                    <a:lnTo>
                      <a:pt x="11406" y="584382"/>
                    </a:lnTo>
                    <a:lnTo>
                      <a:pt x="11406" y="591028"/>
                    </a:lnTo>
                    <a:lnTo>
                      <a:pt x="11356" y="591127"/>
                    </a:lnTo>
                    <a:lnTo>
                      <a:pt x="11257" y="591177"/>
                    </a:lnTo>
                    <a:lnTo>
                      <a:pt x="7091" y="591177"/>
                    </a:lnTo>
                    <a:lnTo>
                      <a:pt x="6992" y="591127"/>
                    </a:lnTo>
                    <a:lnTo>
                      <a:pt x="6943" y="591028"/>
                    </a:lnTo>
                    <a:lnTo>
                      <a:pt x="6943" y="584382"/>
                    </a:lnTo>
                    <a:lnTo>
                      <a:pt x="6992" y="584283"/>
                    </a:lnTo>
                    <a:lnTo>
                      <a:pt x="7091" y="584233"/>
                    </a:lnTo>
                    <a:lnTo>
                      <a:pt x="11257" y="584233"/>
                    </a:lnTo>
                    <a:close/>
                    <a:moveTo>
                      <a:pt x="11356" y="594202"/>
                    </a:moveTo>
                    <a:lnTo>
                      <a:pt x="11406" y="594301"/>
                    </a:lnTo>
                    <a:lnTo>
                      <a:pt x="11406" y="600947"/>
                    </a:lnTo>
                    <a:lnTo>
                      <a:pt x="11356" y="601046"/>
                    </a:lnTo>
                    <a:lnTo>
                      <a:pt x="11257" y="601096"/>
                    </a:lnTo>
                    <a:lnTo>
                      <a:pt x="7091" y="601096"/>
                    </a:lnTo>
                    <a:lnTo>
                      <a:pt x="6992" y="601046"/>
                    </a:lnTo>
                    <a:lnTo>
                      <a:pt x="6943" y="600947"/>
                    </a:lnTo>
                    <a:lnTo>
                      <a:pt x="6943" y="594301"/>
                    </a:lnTo>
                    <a:lnTo>
                      <a:pt x="6992" y="594202"/>
                    </a:lnTo>
                    <a:lnTo>
                      <a:pt x="7091" y="594152"/>
                    </a:lnTo>
                    <a:lnTo>
                      <a:pt x="11257" y="594152"/>
                    </a:lnTo>
                    <a:close/>
                    <a:moveTo>
                      <a:pt x="11356" y="604121"/>
                    </a:moveTo>
                    <a:lnTo>
                      <a:pt x="11406" y="604220"/>
                    </a:lnTo>
                    <a:lnTo>
                      <a:pt x="11406" y="610866"/>
                    </a:lnTo>
                    <a:lnTo>
                      <a:pt x="11356" y="610965"/>
                    </a:lnTo>
                    <a:lnTo>
                      <a:pt x="11257" y="611015"/>
                    </a:lnTo>
                    <a:lnTo>
                      <a:pt x="7091" y="611015"/>
                    </a:lnTo>
                    <a:lnTo>
                      <a:pt x="6992" y="610965"/>
                    </a:lnTo>
                    <a:lnTo>
                      <a:pt x="6943" y="610866"/>
                    </a:lnTo>
                    <a:lnTo>
                      <a:pt x="6943" y="604220"/>
                    </a:lnTo>
                    <a:lnTo>
                      <a:pt x="6992" y="604121"/>
                    </a:lnTo>
                    <a:lnTo>
                      <a:pt x="7091" y="604071"/>
                    </a:lnTo>
                    <a:lnTo>
                      <a:pt x="11257" y="604071"/>
                    </a:lnTo>
                    <a:close/>
                    <a:moveTo>
                      <a:pt x="11356" y="614040"/>
                    </a:moveTo>
                    <a:lnTo>
                      <a:pt x="11406" y="614139"/>
                    </a:lnTo>
                    <a:lnTo>
                      <a:pt x="11406" y="620785"/>
                    </a:lnTo>
                    <a:lnTo>
                      <a:pt x="11356" y="620884"/>
                    </a:lnTo>
                    <a:lnTo>
                      <a:pt x="11257" y="620934"/>
                    </a:lnTo>
                    <a:lnTo>
                      <a:pt x="7091" y="620934"/>
                    </a:lnTo>
                    <a:lnTo>
                      <a:pt x="6992" y="620884"/>
                    </a:lnTo>
                    <a:lnTo>
                      <a:pt x="6943" y="620785"/>
                    </a:lnTo>
                    <a:lnTo>
                      <a:pt x="6943" y="614139"/>
                    </a:lnTo>
                    <a:lnTo>
                      <a:pt x="6992" y="614040"/>
                    </a:lnTo>
                    <a:lnTo>
                      <a:pt x="7091" y="613990"/>
                    </a:lnTo>
                    <a:lnTo>
                      <a:pt x="11257" y="613990"/>
                    </a:lnTo>
                    <a:close/>
                    <a:moveTo>
                      <a:pt x="11356" y="623959"/>
                    </a:moveTo>
                    <a:lnTo>
                      <a:pt x="11406" y="624058"/>
                    </a:lnTo>
                    <a:lnTo>
                      <a:pt x="11406" y="628373"/>
                    </a:lnTo>
                    <a:lnTo>
                      <a:pt x="11356" y="628472"/>
                    </a:lnTo>
                    <a:lnTo>
                      <a:pt x="11257" y="628522"/>
                    </a:lnTo>
                    <a:lnTo>
                      <a:pt x="7091" y="628522"/>
                    </a:lnTo>
                    <a:lnTo>
                      <a:pt x="6992" y="628472"/>
                    </a:lnTo>
                    <a:lnTo>
                      <a:pt x="6943" y="628373"/>
                    </a:lnTo>
                    <a:lnTo>
                      <a:pt x="6943" y="624058"/>
                    </a:lnTo>
                    <a:lnTo>
                      <a:pt x="6992" y="623959"/>
                    </a:lnTo>
                    <a:lnTo>
                      <a:pt x="7091" y="623910"/>
                    </a:lnTo>
                    <a:lnTo>
                      <a:pt x="11257" y="623910"/>
                    </a:lnTo>
                    <a:close/>
                    <a:moveTo>
                      <a:pt x="6893" y="168351"/>
                    </a:moveTo>
                    <a:lnTo>
                      <a:pt x="6943" y="168450"/>
                    </a:lnTo>
                    <a:lnTo>
                      <a:pt x="6943" y="206837"/>
                    </a:lnTo>
                    <a:lnTo>
                      <a:pt x="6893" y="206936"/>
                    </a:lnTo>
                    <a:lnTo>
                      <a:pt x="6794" y="206986"/>
                    </a:lnTo>
                    <a:lnTo>
                      <a:pt x="149" y="206986"/>
                    </a:lnTo>
                    <a:lnTo>
                      <a:pt x="25" y="206936"/>
                    </a:lnTo>
                    <a:lnTo>
                      <a:pt x="0" y="206837"/>
                    </a:lnTo>
                    <a:lnTo>
                      <a:pt x="0" y="168450"/>
                    </a:lnTo>
                    <a:lnTo>
                      <a:pt x="25" y="168351"/>
                    </a:lnTo>
                    <a:lnTo>
                      <a:pt x="149" y="168302"/>
                    </a:lnTo>
                    <a:lnTo>
                      <a:pt x="6794" y="168302"/>
                    </a:lnTo>
                    <a:close/>
                    <a:moveTo>
                      <a:pt x="6893" y="49"/>
                    </a:moveTo>
                    <a:lnTo>
                      <a:pt x="6943" y="149"/>
                    </a:lnTo>
                    <a:lnTo>
                      <a:pt x="6943" y="168153"/>
                    </a:lnTo>
                    <a:lnTo>
                      <a:pt x="6893" y="168252"/>
                    </a:lnTo>
                    <a:lnTo>
                      <a:pt x="6794" y="168302"/>
                    </a:lnTo>
                    <a:lnTo>
                      <a:pt x="149" y="168302"/>
                    </a:lnTo>
                    <a:lnTo>
                      <a:pt x="25" y="168252"/>
                    </a:lnTo>
                    <a:lnTo>
                      <a:pt x="0" y="168153"/>
                    </a:lnTo>
                    <a:lnTo>
                      <a:pt x="0" y="149"/>
                    </a:lnTo>
                    <a:lnTo>
                      <a:pt x="25" y="49"/>
                    </a:lnTo>
                    <a:lnTo>
                      <a:pt x="149" y="0"/>
                    </a:lnTo>
                    <a:lnTo>
                      <a:pt x="6794" y="0"/>
                    </a:lnTo>
                    <a:close/>
                    <a:moveTo>
                      <a:pt x="6893" y="207036"/>
                    </a:moveTo>
                    <a:lnTo>
                      <a:pt x="6943" y="207135"/>
                    </a:lnTo>
                    <a:lnTo>
                      <a:pt x="6943" y="628373"/>
                    </a:lnTo>
                    <a:lnTo>
                      <a:pt x="6893" y="628472"/>
                    </a:lnTo>
                    <a:lnTo>
                      <a:pt x="6794" y="628522"/>
                    </a:lnTo>
                    <a:lnTo>
                      <a:pt x="1388" y="628522"/>
                    </a:lnTo>
                    <a:lnTo>
                      <a:pt x="1289" y="628472"/>
                    </a:lnTo>
                    <a:lnTo>
                      <a:pt x="1240" y="628373"/>
                    </a:lnTo>
                    <a:lnTo>
                      <a:pt x="1240" y="207135"/>
                    </a:lnTo>
                    <a:lnTo>
                      <a:pt x="1289" y="207036"/>
                    </a:lnTo>
                    <a:lnTo>
                      <a:pt x="1388" y="206986"/>
                    </a:lnTo>
                    <a:lnTo>
                      <a:pt x="6794" y="20698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8" name="墙_V15_Concealed_Door_Leaf">
                <a:extLst>
                  <a:ext uri="{FF2B5EF4-FFF2-40B4-BE49-F238E27FC236}">
                    <a16:creationId xmlns:a16="http://schemas.microsoft.com/office/drawing/2014/main" id="{8D731464-C3FB-3C24-D5F1-3ED6884EFEF6}"/>
                  </a:ext>
                </a:extLst>
              </p:cNvPr>
              <p:cNvSpPr/>
              <p:nvPr/>
            </p:nvSpPr>
            <p:spPr>
              <a:xfrm>
                <a:off x="1318817" y="3711688"/>
                <a:ext cx="10166" cy="248969"/>
              </a:xfrm>
              <a:custGeom>
                <a:avLst/>
                <a:gdLst/>
                <a:ahLst/>
                <a:cxnLst/>
                <a:rect l="l" t="t" r="r" b="b"/>
                <a:pathLst>
                  <a:path w="10166" h="248969">
                    <a:moveTo>
                      <a:pt x="10116" y="50"/>
                    </a:moveTo>
                    <a:lnTo>
                      <a:pt x="10166" y="149"/>
                    </a:lnTo>
                    <a:lnTo>
                      <a:pt x="10166" y="2331"/>
                    </a:lnTo>
                    <a:lnTo>
                      <a:pt x="10116" y="2430"/>
                    </a:lnTo>
                    <a:lnTo>
                      <a:pt x="10017" y="2480"/>
                    </a:lnTo>
                    <a:lnTo>
                      <a:pt x="5851" y="2480"/>
                    </a:lnTo>
                    <a:lnTo>
                      <a:pt x="5752" y="2430"/>
                    </a:lnTo>
                    <a:lnTo>
                      <a:pt x="5703" y="2331"/>
                    </a:lnTo>
                    <a:lnTo>
                      <a:pt x="5703" y="149"/>
                    </a:lnTo>
                    <a:lnTo>
                      <a:pt x="5752" y="50"/>
                    </a:lnTo>
                    <a:lnTo>
                      <a:pt x="5851" y="0"/>
                    </a:lnTo>
                    <a:lnTo>
                      <a:pt x="10017" y="0"/>
                    </a:lnTo>
                    <a:close/>
                    <a:moveTo>
                      <a:pt x="10116" y="5505"/>
                    </a:moveTo>
                    <a:lnTo>
                      <a:pt x="10166" y="5604"/>
                    </a:lnTo>
                    <a:lnTo>
                      <a:pt x="10166" y="12250"/>
                    </a:lnTo>
                    <a:lnTo>
                      <a:pt x="10116" y="12349"/>
                    </a:lnTo>
                    <a:lnTo>
                      <a:pt x="10017" y="12399"/>
                    </a:lnTo>
                    <a:lnTo>
                      <a:pt x="5851" y="12399"/>
                    </a:lnTo>
                    <a:lnTo>
                      <a:pt x="5752" y="12349"/>
                    </a:lnTo>
                    <a:lnTo>
                      <a:pt x="5703" y="12250"/>
                    </a:lnTo>
                    <a:lnTo>
                      <a:pt x="5703" y="5604"/>
                    </a:lnTo>
                    <a:lnTo>
                      <a:pt x="5752" y="5505"/>
                    </a:lnTo>
                    <a:lnTo>
                      <a:pt x="5851" y="5456"/>
                    </a:lnTo>
                    <a:lnTo>
                      <a:pt x="10017" y="5456"/>
                    </a:lnTo>
                    <a:close/>
                    <a:moveTo>
                      <a:pt x="10116" y="15424"/>
                    </a:moveTo>
                    <a:lnTo>
                      <a:pt x="10166" y="15523"/>
                    </a:lnTo>
                    <a:lnTo>
                      <a:pt x="10166" y="22169"/>
                    </a:lnTo>
                    <a:lnTo>
                      <a:pt x="10116" y="22268"/>
                    </a:lnTo>
                    <a:lnTo>
                      <a:pt x="10017" y="22318"/>
                    </a:lnTo>
                    <a:lnTo>
                      <a:pt x="5851" y="22318"/>
                    </a:lnTo>
                    <a:lnTo>
                      <a:pt x="5752" y="22268"/>
                    </a:lnTo>
                    <a:lnTo>
                      <a:pt x="5703" y="22169"/>
                    </a:lnTo>
                    <a:lnTo>
                      <a:pt x="5703" y="15523"/>
                    </a:lnTo>
                    <a:lnTo>
                      <a:pt x="5752" y="15424"/>
                    </a:lnTo>
                    <a:lnTo>
                      <a:pt x="5851" y="15375"/>
                    </a:lnTo>
                    <a:lnTo>
                      <a:pt x="10017" y="15375"/>
                    </a:lnTo>
                    <a:close/>
                    <a:moveTo>
                      <a:pt x="10116" y="25343"/>
                    </a:moveTo>
                    <a:lnTo>
                      <a:pt x="10166" y="25443"/>
                    </a:lnTo>
                    <a:lnTo>
                      <a:pt x="10166" y="32088"/>
                    </a:lnTo>
                    <a:lnTo>
                      <a:pt x="10116" y="32187"/>
                    </a:lnTo>
                    <a:lnTo>
                      <a:pt x="10017" y="32237"/>
                    </a:lnTo>
                    <a:lnTo>
                      <a:pt x="5851" y="32237"/>
                    </a:lnTo>
                    <a:lnTo>
                      <a:pt x="5752" y="32187"/>
                    </a:lnTo>
                    <a:lnTo>
                      <a:pt x="5703" y="32088"/>
                    </a:lnTo>
                    <a:lnTo>
                      <a:pt x="5703" y="25443"/>
                    </a:lnTo>
                    <a:lnTo>
                      <a:pt x="5752" y="25343"/>
                    </a:lnTo>
                    <a:lnTo>
                      <a:pt x="5851" y="25294"/>
                    </a:lnTo>
                    <a:lnTo>
                      <a:pt x="10017" y="25294"/>
                    </a:lnTo>
                    <a:close/>
                    <a:moveTo>
                      <a:pt x="10116" y="35262"/>
                    </a:moveTo>
                    <a:lnTo>
                      <a:pt x="10166" y="35362"/>
                    </a:lnTo>
                    <a:lnTo>
                      <a:pt x="10166" y="42007"/>
                    </a:lnTo>
                    <a:lnTo>
                      <a:pt x="10116" y="42107"/>
                    </a:lnTo>
                    <a:lnTo>
                      <a:pt x="10017" y="42156"/>
                    </a:lnTo>
                    <a:lnTo>
                      <a:pt x="5851" y="42156"/>
                    </a:lnTo>
                    <a:lnTo>
                      <a:pt x="5752" y="42107"/>
                    </a:lnTo>
                    <a:lnTo>
                      <a:pt x="5703" y="42007"/>
                    </a:lnTo>
                    <a:lnTo>
                      <a:pt x="5703" y="35362"/>
                    </a:lnTo>
                    <a:lnTo>
                      <a:pt x="5752" y="35262"/>
                    </a:lnTo>
                    <a:lnTo>
                      <a:pt x="5851" y="35213"/>
                    </a:lnTo>
                    <a:lnTo>
                      <a:pt x="10017" y="35213"/>
                    </a:lnTo>
                    <a:close/>
                    <a:moveTo>
                      <a:pt x="10116" y="45181"/>
                    </a:moveTo>
                    <a:lnTo>
                      <a:pt x="10166" y="45281"/>
                    </a:lnTo>
                    <a:lnTo>
                      <a:pt x="10166" y="51926"/>
                    </a:lnTo>
                    <a:lnTo>
                      <a:pt x="10116" y="52026"/>
                    </a:lnTo>
                    <a:lnTo>
                      <a:pt x="10017" y="52075"/>
                    </a:lnTo>
                    <a:lnTo>
                      <a:pt x="5851" y="52075"/>
                    </a:lnTo>
                    <a:lnTo>
                      <a:pt x="5752" y="52026"/>
                    </a:lnTo>
                    <a:lnTo>
                      <a:pt x="5703" y="51926"/>
                    </a:lnTo>
                    <a:lnTo>
                      <a:pt x="5703" y="45281"/>
                    </a:lnTo>
                    <a:lnTo>
                      <a:pt x="5752" y="45181"/>
                    </a:lnTo>
                    <a:lnTo>
                      <a:pt x="5851" y="45132"/>
                    </a:lnTo>
                    <a:lnTo>
                      <a:pt x="10017" y="45132"/>
                    </a:lnTo>
                    <a:close/>
                    <a:moveTo>
                      <a:pt x="10116" y="55101"/>
                    </a:moveTo>
                    <a:lnTo>
                      <a:pt x="10166" y="55200"/>
                    </a:lnTo>
                    <a:lnTo>
                      <a:pt x="10166" y="61846"/>
                    </a:lnTo>
                    <a:lnTo>
                      <a:pt x="10116" y="61945"/>
                    </a:lnTo>
                    <a:lnTo>
                      <a:pt x="10017" y="61994"/>
                    </a:lnTo>
                    <a:lnTo>
                      <a:pt x="5851" y="61994"/>
                    </a:lnTo>
                    <a:lnTo>
                      <a:pt x="5752" y="61945"/>
                    </a:lnTo>
                    <a:lnTo>
                      <a:pt x="5703" y="61846"/>
                    </a:lnTo>
                    <a:lnTo>
                      <a:pt x="5703" y="55200"/>
                    </a:lnTo>
                    <a:lnTo>
                      <a:pt x="5752" y="55101"/>
                    </a:lnTo>
                    <a:lnTo>
                      <a:pt x="5851" y="55051"/>
                    </a:lnTo>
                    <a:lnTo>
                      <a:pt x="10017" y="55051"/>
                    </a:lnTo>
                    <a:close/>
                    <a:moveTo>
                      <a:pt x="10116" y="65020"/>
                    </a:moveTo>
                    <a:lnTo>
                      <a:pt x="10166" y="65119"/>
                    </a:lnTo>
                    <a:lnTo>
                      <a:pt x="10166" y="71765"/>
                    </a:lnTo>
                    <a:lnTo>
                      <a:pt x="10116" y="71864"/>
                    </a:lnTo>
                    <a:lnTo>
                      <a:pt x="10017" y="71913"/>
                    </a:lnTo>
                    <a:lnTo>
                      <a:pt x="5851" y="71913"/>
                    </a:lnTo>
                    <a:lnTo>
                      <a:pt x="5752" y="71864"/>
                    </a:lnTo>
                    <a:lnTo>
                      <a:pt x="5703" y="71765"/>
                    </a:lnTo>
                    <a:lnTo>
                      <a:pt x="5703" y="65119"/>
                    </a:lnTo>
                    <a:lnTo>
                      <a:pt x="5752" y="65020"/>
                    </a:lnTo>
                    <a:lnTo>
                      <a:pt x="5851" y="64970"/>
                    </a:lnTo>
                    <a:lnTo>
                      <a:pt x="10017" y="64970"/>
                    </a:lnTo>
                    <a:close/>
                    <a:moveTo>
                      <a:pt x="10116" y="74939"/>
                    </a:moveTo>
                    <a:lnTo>
                      <a:pt x="10166" y="75038"/>
                    </a:lnTo>
                    <a:lnTo>
                      <a:pt x="10166" y="81684"/>
                    </a:lnTo>
                    <a:lnTo>
                      <a:pt x="10116" y="81783"/>
                    </a:lnTo>
                    <a:lnTo>
                      <a:pt x="10017" y="81832"/>
                    </a:lnTo>
                    <a:lnTo>
                      <a:pt x="5851" y="81832"/>
                    </a:lnTo>
                    <a:lnTo>
                      <a:pt x="5752" y="81783"/>
                    </a:lnTo>
                    <a:lnTo>
                      <a:pt x="5703" y="81684"/>
                    </a:lnTo>
                    <a:lnTo>
                      <a:pt x="5703" y="75038"/>
                    </a:lnTo>
                    <a:lnTo>
                      <a:pt x="5752" y="74939"/>
                    </a:lnTo>
                    <a:lnTo>
                      <a:pt x="5851" y="74889"/>
                    </a:lnTo>
                    <a:lnTo>
                      <a:pt x="10017" y="74889"/>
                    </a:lnTo>
                    <a:close/>
                    <a:moveTo>
                      <a:pt x="10116" y="84858"/>
                    </a:moveTo>
                    <a:lnTo>
                      <a:pt x="10166" y="84957"/>
                    </a:lnTo>
                    <a:lnTo>
                      <a:pt x="10166" y="91603"/>
                    </a:lnTo>
                    <a:lnTo>
                      <a:pt x="10116" y="91702"/>
                    </a:lnTo>
                    <a:lnTo>
                      <a:pt x="10017" y="91752"/>
                    </a:lnTo>
                    <a:lnTo>
                      <a:pt x="5851" y="91752"/>
                    </a:lnTo>
                    <a:lnTo>
                      <a:pt x="5752" y="91702"/>
                    </a:lnTo>
                    <a:lnTo>
                      <a:pt x="5703" y="91603"/>
                    </a:lnTo>
                    <a:lnTo>
                      <a:pt x="5703" y="84957"/>
                    </a:lnTo>
                    <a:lnTo>
                      <a:pt x="5752" y="84858"/>
                    </a:lnTo>
                    <a:lnTo>
                      <a:pt x="5851" y="84808"/>
                    </a:lnTo>
                    <a:lnTo>
                      <a:pt x="10017" y="84808"/>
                    </a:lnTo>
                    <a:close/>
                    <a:moveTo>
                      <a:pt x="10116" y="94777"/>
                    </a:moveTo>
                    <a:lnTo>
                      <a:pt x="10166" y="94876"/>
                    </a:lnTo>
                    <a:lnTo>
                      <a:pt x="10166" y="101522"/>
                    </a:lnTo>
                    <a:lnTo>
                      <a:pt x="10116" y="101621"/>
                    </a:lnTo>
                    <a:lnTo>
                      <a:pt x="10017" y="101671"/>
                    </a:lnTo>
                    <a:lnTo>
                      <a:pt x="5851" y="101671"/>
                    </a:lnTo>
                    <a:lnTo>
                      <a:pt x="5752" y="101621"/>
                    </a:lnTo>
                    <a:lnTo>
                      <a:pt x="5703" y="101522"/>
                    </a:lnTo>
                    <a:lnTo>
                      <a:pt x="5703" y="94876"/>
                    </a:lnTo>
                    <a:lnTo>
                      <a:pt x="5752" y="94777"/>
                    </a:lnTo>
                    <a:lnTo>
                      <a:pt x="5851" y="94727"/>
                    </a:lnTo>
                    <a:lnTo>
                      <a:pt x="10017" y="94727"/>
                    </a:lnTo>
                    <a:close/>
                    <a:moveTo>
                      <a:pt x="10116" y="104696"/>
                    </a:moveTo>
                    <a:lnTo>
                      <a:pt x="10166" y="104795"/>
                    </a:lnTo>
                    <a:lnTo>
                      <a:pt x="10166" y="111441"/>
                    </a:lnTo>
                    <a:lnTo>
                      <a:pt x="10116" y="111540"/>
                    </a:lnTo>
                    <a:lnTo>
                      <a:pt x="10017" y="111590"/>
                    </a:lnTo>
                    <a:lnTo>
                      <a:pt x="5851" y="111590"/>
                    </a:lnTo>
                    <a:lnTo>
                      <a:pt x="5752" y="111540"/>
                    </a:lnTo>
                    <a:lnTo>
                      <a:pt x="5703" y="111441"/>
                    </a:lnTo>
                    <a:lnTo>
                      <a:pt x="5703" y="104795"/>
                    </a:lnTo>
                    <a:lnTo>
                      <a:pt x="5752" y="104696"/>
                    </a:lnTo>
                    <a:lnTo>
                      <a:pt x="5851" y="104646"/>
                    </a:lnTo>
                    <a:lnTo>
                      <a:pt x="10017" y="104646"/>
                    </a:lnTo>
                    <a:close/>
                    <a:moveTo>
                      <a:pt x="10116" y="114615"/>
                    </a:moveTo>
                    <a:lnTo>
                      <a:pt x="10166" y="114714"/>
                    </a:lnTo>
                    <a:lnTo>
                      <a:pt x="10166" y="121360"/>
                    </a:lnTo>
                    <a:lnTo>
                      <a:pt x="10116" y="121459"/>
                    </a:lnTo>
                    <a:lnTo>
                      <a:pt x="10017" y="121509"/>
                    </a:lnTo>
                    <a:lnTo>
                      <a:pt x="5851" y="121509"/>
                    </a:lnTo>
                    <a:lnTo>
                      <a:pt x="5752" y="121459"/>
                    </a:lnTo>
                    <a:lnTo>
                      <a:pt x="5703" y="121360"/>
                    </a:lnTo>
                    <a:lnTo>
                      <a:pt x="5703" y="114714"/>
                    </a:lnTo>
                    <a:lnTo>
                      <a:pt x="5752" y="114615"/>
                    </a:lnTo>
                    <a:lnTo>
                      <a:pt x="5851" y="114565"/>
                    </a:lnTo>
                    <a:lnTo>
                      <a:pt x="10017" y="114565"/>
                    </a:lnTo>
                    <a:close/>
                    <a:moveTo>
                      <a:pt x="10116" y="124534"/>
                    </a:moveTo>
                    <a:lnTo>
                      <a:pt x="10166" y="124633"/>
                    </a:lnTo>
                    <a:lnTo>
                      <a:pt x="10166" y="131279"/>
                    </a:lnTo>
                    <a:lnTo>
                      <a:pt x="10116" y="131378"/>
                    </a:lnTo>
                    <a:lnTo>
                      <a:pt x="10017" y="131428"/>
                    </a:lnTo>
                    <a:lnTo>
                      <a:pt x="5851" y="131428"/>
                    </a:lnTo>
                    <a:lnTo>
                      <a:pt x="5752" y="131378"/>
                    </a:lnTo>
                    <a:lnTo>
                      <a:pt x="5703" y="131279"/>
                    </a:lnTo>
                    <a:lnTo>
                      <a:pt x="5703" y="124633"/>
                    </a:lnTo>
                    <a:lnTo>
                      <a:pt x="5752" y="124534"/>
                    </a:lnTo>
                    <a:lnTo>
                      <a:pt x="5851" y="124484"/>
                    </a:lnTo>
                    <a:lnTo>
                      <a:pt x="10017" y="124484"/>
                    </a:lnTo>
                    <a:close/>
                    <a:moveTo>
                      <a:pt x="10116" y="134453"/>
                    </a:moveTo>
                    <a:lnTo>
                      <a:pt x="10166" y="134552"/>
                    </a:lnTo>
                    <a:lnTo>
                      <a:pt x="10166" y="141198"/>
                    </a:lnTo>
                    <a:lnTo>
                      <a:pt x="10116" y="141297"/>
                    </a:lnTo>
                    <a:lnTo>
                      <a:pt x="10017" y="141347"/>
                    </a:lnTo>
                    <a:lnTo>
                      <a:pt x="5851" y="141347"/>
                    </a:lnTo>
                    <a:lnTo>
                      <a:pt x="5752" y="141297"/>
                    </a:lnTo>
                    <a:lnTo>
                      <a:pt x="5703" y="141198"/>
                    </a:lnTo>
                    <a:lnTo>
                      <a:pt x="5703" y="134552"/>
                    </a:lnTo>
                    <a:lnTo>
                      <a:pt x="5752" y="134453"/>
                    </a:lnTo>
                    <a:lnTo>
                      <a:pt x="5851" y="134404"/>
                    </a:lnTo>
                    <a:lnTo>
                      <a:pt x="10017" y="134404"/>
                    </a:lnTo>
                    <a:close/>
                    <a:moveTo>
                      <a:pt x="10116" y="144372"/>
                    </a:moveTo>
                    <a:lnTo>
                      <a:pt x="10166" y="144471"/>
                    </a:lnTo>
                    <a:lnTo>
                      <a:pt x="10166" y="151117"/>
                    </a:lnTo>
                    <a:lnTo>
                      <a:pt x="10116" y="151216"/>
                    </a:lnTo>
                    <a:lnTo>
                      <a:pt x="10017" y="151266"/>
                    </a:lnTo>
                    <a:lnTo>
                      <a:pt x="5851" y="151266"/>
                    </a:lnTo>
                    <a:lnTo>
                      <a:pt x="5752" y="151216"/>
                    </a:lnTo>
                    <a:lnTo>
                      <a:pt x="5703" y="151117"/>
                    </a:lnTo>
                    <a:lnTo>
                      <a:pt x="5703" y="144471"/>
                    </a:lnTo>
                    <a:lnTo>
                      <a:pt x="5752" y="144372"/>
                    </a:lnTo>
                    <a:lnTo>
                      <a:pt x="5851" y="144323"/>
                    </a:lnTo>
                    <a:lnTo>
                      <a:pt x="10017" y="144323"/>
                    </a:lnTo>
                    <a:close/>
                    <a:moveTo>
                      <a:pt x="10116" y="154291"/>
                    </a:moveTo>
                    <a:lnTo>
                      <a:pt x="10166" y="154390"/>
                    </a:lnTo>
                    <a:lnTo>
                      <a:pt x="10166" y="161036"/>
                    </a:lnTo>
                    <a:lnTo>
                      <a:pt x="10116" y="161135"/>
                    </a:lnTo>
                    <a:lnTo>
                      <a:pt x="10017" y="161185"/>
                    </a:lnTo>
                    <a:lnTo>
                      <a:pt x="5851" y="161185"/>
                    </a:lnTo>
                    <a:lnTo>
                      <a:pt x="5752" y="161135"/>
                    </a:lnTo>
                    <a:lnTo>
                      <a:pt x="5703" y="161036"/>
                    </a:lnTo>
                    <a:lnTo>
                      <a:pt x="5703" y="154390"/>
                    </a:lnTo>
                    <a:lnTo>
                      <a:pt x="5752" y="154291"/>
                    </a:lnTo>
                    <a:lnTo>
                      <a:pt x="5851" y="154242"/>
                    </a:lnTo>
                    <a:lnTo>
                      <a:pt x="10017" y="154242"/>
                    </a:lnTo>
                    <a:close/>
                    <a:moveTo>
                      <a:pt x="10116" y="164210"/>
                    </a:moveTo>
                    <a:lnTo>
                      <a:pt x="10166" y="164310"/>
                    </a:lnTo>
                    <a:lnTo>
                      <a:pt x="10166" y="170955"/>
                    </a:lnTo>
                    <a:lnTo>
                      <a:pt x="10116" y="171055"/>
                    </a:lnTo>
                    <a:lnTo>
                      <a:pt x="10017" y="171104"/>
                    </a:lnTo>
                    <a:lnTo>
                      <a:pt x="5851" y="171104"/>
                    </a:lnTo>
                    <a:lnTo>
                      <a:pt x="5752" y="171055"/>
                    </a:lnTo>
                    <a:lnTo>
                      <a:pt x="5703" y="170955"/>
                    </a:lnTo>
                    <a:lnTo>
                      <a:pt x="5703" y="164310"/>
                    </a:lnTo>
                    <a:lnTo>
                      <a:pt x="5752" y="164210"/>
                    </a:lnTo>
                    <a:lnTo>
                      <a:pt x="5851" y="164161"/>
                    </a:lnTo>
                    <a:lnTo>
                      <a:pt x="10017" y="164161"/>
                    </a:lnTo>
                    <a:close/>
                    <a:moveTo>
                      <a:pt x="10116" y="174129"/>
                    </a:moveTo>
                    <a:lnTo>
                      <a:pt x="10166" y="174229"/>
                    </a:lnTo>
                    <a:lnTo>
                      <a:pt x="10166" y="180874"/>
                    </a:lnTo>
                    <a:lnTo>
                      <a:pt x="10116" y="180974"/>
                    </a:lnTo>
                    <a:lnTo>
                      <a:pt x="10017" y="181023"/>
                    </a:lnTo>
                    <a:lnTo>
                      <a:pt x="5851" y="181023"/>
                    </a:lnTo>
                    <a:lnTo>
                      <a:pt x="5752" y="180974"/>
                    </a:lnTo>
                    <a:lnTo>
                      <a:pt x="5703" y="180874"/>
                    </a:lnTo>
                    <a:lnTo>
                      <a:pt x="5703" y="174229"/>
                    </a:lnTo>
                    <a:lnTo>
                      <a:pt x="5752" y="174129"/>
                    </a:lnTo>
                    <a:lnTo>
                      <a:pt x="5851" y="174080"/>
                    </a:lnTo>
                    <a:lnTo>
                      <a:pt x="10017" y="174080"/>
                    </a:lnTo>
                    <a:close/>
                    <a:moveTo>
                      <a:pt x="10116" y="184049"/>
                    </a:moveTo>
                    <a:lnTo>
                      <a:pt x="10166" y="184148"/>
                    </a:lnTo>
                    <a:lnTo>
                      <a:pt x="10166" y="190793"/>
                    </a:lnTo>
                    <a:lnTo>
                      <a:pt x="10116" y="190893"/>
                    </a:lnTo>
                    <a:lnTo>
                      <a:pt x="10017" y="190942"/>
                    </a:lnTo>
                    <a:lnTo>
                      <a:pt x="5851" y="190942"/>
                    </a:lnTo>
                    <a:lnTo>
                      <a:pt x="5752" y="190893"/>
                    </a:lnTo>
                    <a:lnTo>
                      <a:pt x="5703" y="190793"/>
                    </a:lnTo>
                    <a:lnTo>
                      <a:pt x="5703" y="184148"/>
                    </a:lnTo>
                    <a:lnTo>
                      <a:pt x="5752" y="184049"/>
                    </a:lnTo>
                    <a:lnTo>
                      <a:pt x="5851" y="183999"/>
                    </a:lnTo>
                    <a:lnTo>
                      <a:pt x="10017" y="183999"/>
                    </a:lnTo>
                    <a:close/>
                    <a:moveTo>
                      <a:pt x="10116" y="193968"/>
                    </a:moveTo>
                    <a:lnTo>
                      <a:pt x="10166" y="194067"/>
                    </a:lnTo>
                    <a:lnTo>
                      <a:pt x="10166" y="200713"/>
                    </a:lnTo>
                    <a:lnTo>
                      <a:pt x="10116" y="200812"/>
                    </a:lnTo>
                    <a:lnTo>
                      <a:pt x="10017" y="200861"/>
                    </a:lnTo>
                    <a:lnTo>
                      <a:pt x="5851" y="200861"/>
                    </a:lnTo>
                    <a:lnTo>
                      <a:pt x="5752" y="200812"/>
                    </a:lnTo>
                    <a:lnTo>
                      <a:pt x="5703" y="200713"/>
                    </a:lnTo>
                    <a:lnTo>
                      <a:pt x="5703" y="194067"/>
                    </a:lnTo>
                    <a:lnTo>
                      <a:pt x="5752" y="193968"/>
                    </a:lnTo>
                    <a:lnTo>
                      <a:pt x="5851" y="193918"/>
                    </a:lnTo>
                    <a:lnTo>
                      <a:pt x="10017" y="193918"/>
                    </a:lnTo>
                    <a:close/>
                    <a:moveTo>
                      <a:pt x="10116" y="203887"/>
                    </a:moveTo>
                    <a:lnTo>
                      <a:pt x="10166" y="203986"/>
                    </a:lnTo>
                    <a:lnTo>
                      <a:pt x="10166" y="210632"/>
                    </a:lnTo>
                    <a:lnTo>
                      <a:pt x="10116" y="210731"/>
                    </a:lnTo>
                    <a:lnTo>
                      <a:pt x="10017" y="210780"/>
                    </a:lnTo>
                    <a:lnTo>
                      <a:pt x="5851" y="210780"/>
                    </a:lnTo>
                    <a:lnTo>
                      <a:pt x="5752" y="210731"/>
                    </a:lnTo>
                    <a:lnTo>
                      <a:pt x="5703" y="210632"/>
                    </a:lnTo>
                    <a:lnTo>
                      <a:pt x="5703" y="203986"/>
                    </a:lnTo>
                    <a:lnTo>
                      <a:pt x="5752" y="203887"/>
                    </a:lnTo>
                    <a:lnTo>
                      <a:pt x="5851" y="203837"/>
                    </a:lnTo>
                    <a:lnTo>
                      <a:pt x="10017" y="203837"/>
                    </a:lnTo>
                    <a:close/>
                    <a:moveTo>
                      <a:pt x="10116" y="213806"/>
                    </a:moveTo>
                    <a:lnTo>
                      <a:pt x="10166" y="213905"/>
                    </a:lnTo>
                    <a:lnTo>
                      <a:pt x="10166" y="220551"/>
                    </a:lnTo>
                    <a:lnTo>
                      <a:pt x="10116" y="220650"/>
                    </a:lnTo>
                    <a:lnTo>
                      <a:pt x="10017" y="220699"/>
                    </a:lnTo>
                    <a:lnTo>
                      <a:pt x="5851" y="220699"/>
                    </a:lnTo>
                    <a:lnTo>
                      <a:pt x="5752" y="220650"/>
                    </a:lnTo>
                    <a:lnTo>
                      <a:pt x="5703" y="220551"/>
                    </a:lnTo>
                    <a:lnTo>
                      <a:pt x="5703" y="213905"/>
                    </a:lnTo>
                    <a:lnTo>
                      <a:pt x="5752" y="213806"/>
                    </a:lnTo>
                    <a:lnTo>
                      <a:pt x="5851" y="213756"/>
                    </a:lnTo>
                    <a:lnTo>
                      <a:pt x="10017" y="213756"/>
                    </a:lnTo>
                    <a:close/>
                    <a:moveTo>
                      <a:pt x="10116" y="223725"/>
                    </a:moveTo>
                    <a:lnTo>
                      <a:pt x="10166" y="223824"/>
                    </a:lnTo>
                    <a:lnTo>
                      <a:pt x="10166" y="230470"/>
                    </a:lnTo>
                    <a:lnTo>
                      <a:pt x="10116" y="230569"/>
                    </a:lnTo>
                    <a:lnTo>
                      <a:pt x="10017" y="230619"/>
                    </a:lnTo>
                    <a:lnTo>
                      <a:pt x="5851" y="230619"/>
                    </a:lnTo>
                    <a:lnTo>
                      <a:pt x="5752" y="230569"/>
                    </a:lnTo>
                    <a:lnTo>
                      <a:pt x="5703" y="230470"/>
                    </a:lnTo>
                    <a:lnTo>
                      <a:pt x="5703" y="223824"/>
                    </a:lnTo>
                    <a:lnTo>
                      <a:pt x="5752" y="223725"/>
                    </a:lnTo>
                    <a:lnTo>
                      <a:pt x="5851" y="223675"/>
                    </a:lnTo>
                    <a:lnTo>
                      <a:pt x="10017" y="223675"/>
                    </a:lnTo>
                    <a:close/>
                    <a:moveTo>
                      <a:pt x="10116" y="233644"/>
                    </a:moveTo>
                    <a:lnTo>
                      <a:pt x="10166" y="233743"/>
                    </a:lnTo>
                    <a:lnTo>
                      <a:pt x="10166" y="240389"/>
                    </a:lnTo>
                    <a:lnTo>
                      <a:pt x="10116" y="240488"/>
                    </a:lnTo>
                    <a:lnTo>
                      <a:pt x="10017" y="240538"/>
                    </a:lnTo>
                    <a:lnTo>
                      <a:pt x="5851" y="240538"/>
                    </a:lnTo>
                    <a:lnTo>
                      <a:pt x="5752" y="240488"/>
                    </a:lnTo>
                    <a:lnTo>
                      <a:pt x="5703" y="240389"/>
                    </a:lnTo>
                    <a:lnTo>
                      <a:pt x="5703" y="233743"/>
                    </a:lnTo>
                    <a:lnTo>
                      <a:pt x="5752" y="233644"/>
                    </a:lnTo>
                    <a:lnTo>
                      <a:pt x="5851" y="233594"/>
                    </a:lnTo>
                    <a:lnTo>
                      <a:pt x="10017" y="233594"/>
                    </a:lnTo>
                    <a:close/>
                    <a:moveTo>
                      <a:pt x="10116" y="243563"/>
                    </a:moveTo>
                    <a:lnTo>
                      <a:pt x="10166" y="243662"/>
                    </a:lnTo>
                    <a:lnTo>
                      <a:pt x="10166" y="248820"/>
                    </a:lnTo>
                    <a:lnTo>
                      <a:pt x="10116" y="248919"/>
                    </a:lnTo>
                    <a:lnTo>
                      <a:pt x="10017" y="248969"/>
                    </a:lnTo>
                    <a:lnTo>
                      <a:pt x="5851" y="248969"/>
                    </a:lnTo>
                    <a:lnTo>
                      <a:pt x="5752" y="248919"/>
                    </a:lnTo>
                    <a:lnTo>
                      <a:pt x="5703" y="248820"/>
                    </a:lnTo>
                    <a:lnTo>
                      <a:pt x="5703" y="243662"/>
                    </a:lnTo>
                    <a:lnTo>
                      <a:pt x="5752" y="243563"/>
                    </a:lnTo>
                    <a:lnTo>
                      <a:pt x="5851" y="243513"/>
                    </a:lnTo>
                    <a:lnTo>
                      <a:pt x="10017" y="243513"/>
                    </a:lnTo>
                    <a:close/>
                    <a:moveTo>
                      <a:pt x="5653" y="50"/>
                    </a:moveTo>
                    <a:lnTo>
                      <a:pt x="5703" y="149"/>
                    </a:lnTo>
                    <a:lnTo>
                      <a:pt x="5703" y="248820"/>
                    </a:lnTo>
                    <a:lnTo>
                      <a:pt x="5653" y="248919"/>
                    </a:lnTo>
                    <a:lnTo>
                      <a:pt x="5554" y="248969"/>
                    </a:lnTo>
                    <a:lnTo>
                      <a:pt x="148" y="248969"/>
                    </a:lnTo>
                    <a:lnTo>
                      <a:pt x="49" y="248919"/>
                    </a:lnTo>
                    <a:lnTo>
                      <a:pt x="0" y="248820"/>
                    </a:lnTo>
                    <a:lnTo>
                      <a:pt x="0" y="149"/>
                    </a:lnTo>
                    <a:lnTo>
                      <a:pt x="49" y="50"/>
                    </a:lnTo>
                    <a:lnTo>
                      <a:pt x="148" y="0"/>
                    </a:lnTo>
                    <a:lnTo>
                      <a:pt x="555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9" name="墙_V17_Storage_North_Casing">
                <a:extLst>
                  <a:ext uri="{FF2B5EF4-FFF2-40B4-BE49-F238E27FC236}">
                    <a16:creationId xmlns:a16="http://schemas.microsoft.com/office/drawing/2014/main" id="{4A43F4A0-8ED9-211A-4AAC-537CF13F280A}"/>
                  </a:ext>
                </a:extLst>
              </p:cNvPr>
              <p:cNvSpPr/>
              <p:nvPr/>
            </p:nvSpPr>
            <p:spPr>
              <a:xfrm>
                <a:off x="2240297" y="4676368"/>
                <a:ext cx="4960" cy="11159"/>
              </a:xfrm>
              <a:custGeom>
                <a:avLst/>
                <a:gdLst/>
                <a:ahLst/>
                <a:cxnLst/>
                <a:rect l="l" t="t" r="r" b="b"/>
                <a:pathLst>
                  <a:path w="4960" h="11159">
                    <a:moveTo>
                      <a:pt x="4960" y="0"/>
                    </a:moveTo>
                    <a:lnTo>
                      <a:pt x="0" y="0"/>
                    </a:lnTo>
                    <a:lnTo>
                      <a:pt x="0" y="11159"/>
                    </a:lnTo>
                    <a:lnTo>
                      <a:pt x="4960" y="11159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423" name="房间名（沿用施工图）">
              <a:extLst>
                <a:ext uri="{FF2B5EF4-FFF2-40B4-BE49-F238E27FC236}">
                  <a16:creationId xmlns:a16="http://schemas.microsoft.com/office/drawing/2014/main" id="{999474E9-7318-2C4D-EF6E-2949F8F8533D}"/>
                </a:ext>
              </a:extLst>
            </p:cNvPr>
            <p:cNvGrpSpPr/>
            <p:nvPr/>
          </p:nvGrpSpPr>
          <p:grpSpPr>
            <a:xfrm>
              <a:off x="658780" y="1171576"/>
              <a:ext cx="1914044" cy="4397638"/>
              <a:chOff x="658780" y="1171576"/>
              <a:chExt cx="1914044" cy="4397638"/>
            </a:xfrm>
          </p:grpSpPr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43FEC776-CEDF-3216-2E0A-B9CE63EE2390}"/>
                  </a:ext>
                </a:extLst>
              </p:cNvPr>
              <p:cNvSpPr txBox="1"/>
              <p:nvPr/>
            </p:nvSpPr>
            <p:spPr>
              <a:xfrm rot="16200000">
                <a:off x="1704467" y="464322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起居室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4E1035C1-A79A-E69F-B479-A165BD13CC06}"/>
                  </a:ext>
                </a:extLst>
              </p:cNvPr>
              <p:cNvSpPr txBox="1"/>
              <p:nvPr/>
            </p:nvSpPr>
            <p:spPr>
              <a:xfrm rot="16200000">
                <a:off x="1952573" y="2508311"/>
                <a:ext cx="54125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厨房（吧台区）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58A143EE-E6E5-2CE6-EA82-045D91BC6A96}"/>
                  </a:ext>
                </a:extLst>
              </p:cNvPr>
              <p:cNvSpPr txBox="1"/>
              <p:nvPr/>
            </p:nvSpPr>
            <p:spPr>
              <a:xfrm rot="16200000">
                <a:off x="1377294" y="547717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前院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A7A11826-15A1-F21D-B60C-531AAE91EB7C}"/>
                  </a:ext>
                </a:extLst>
              </p:cNvPr>
              <p:cNvSpPr txBox="1"/>
              <p:nvPr/>
            </p:nvSpPr>
            <p:spPr>
              <a:xfrm rot="16200000">
                <a:off x="1792213" y="3624550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餐厅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28" name="TextBox 427">
                <a:extLst>
                  <a:ext uri="{FF2B5EF4-FFF2-40B4-BE49-F238E27FC236}">
                    <a16:creationId xmlns:a16="http://schemas.microsoft.com/office/drawing/2014/main" id="{7343EACE-CE65-E7E9-B861-48D7090D7218}"/>
                  </a:ext>
                </a:extLst>
              </p:cNvPr>
              <p:cNvSpPr txBox="1"/>
              <p:nvPr/>
            </p:nvSpPr>
            <p:spPr>
              <a:xfrm rot="16200000">
                <a:off x="2320821" y="4239600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A10F7F30-E0C5-2FE9-F6DD-3D4FE703DA0D}"/>
                  </a:ext>
                </a:extLst>
              </p:cNvPr>
              <p:cNvSpPr txBox="1"/>
              <p:nvPr/>
            </p:nvSpPr>
            <p:spPr>
              <a:xfrm rot="16200000">
                <a:off x="964969" y="201019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后花园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3387C132-2888-B401-4ED1-11F4143ECB2F}"/>
                  </a:ext>
                </a:extLst>
              </p:cNvPr>
              <p:cNvSpPr txBox="1"/>
              <p:nvPr/>
            </p:nvSpPr>
            <p:spPr>
              <a:xfrm rot="16200000">
                <a:off x="2320821" y="472944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 dirty="0" err="1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  <a:endParaRPr sz="13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5AB5D4B4-1267-862F-370E-CB023A94A0EA}"/>
                  </a:ext>
                </a:extLst>
              </p:cNvPr>
              <p:cNvSpPr txBox="1"/>
              <p:nvPr/>
            </p:nvSpPr>
            <p:spPr>
              <a:xfrm rot="16200000">
                <a:off x="1098651" y="3219235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A94F9BBF-6BA1-7A05-33AF-81559C4F895C}"/>
                  </a:ext>
                </a:extLst>
              </p:cNvPr>
              <p:cNvSpPr txBox="1"/>
              <p:nvPr/>
            </p:nvSpPr>
            <p:spPr>
              <a:xfrm rot="16200000">
                <a:off x="2378657" y="3368357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94530346-B00F-94EA-1F07-D67074D2FEC6}"/>
                  </a:ext>
                </a:extLst>
              </p:cNvPr>
              <p:cNvSpPr txBox="1"/>
              <p:nvPr/>
            </p:nvSpPr>
            <p:spPr>
              <a:xfrm rot="16200000">
                <a:off x="2120615" y="1821014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厨房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D3666B31-7E3E-C075-3FAC-62278ECCD7E6}"/>
                  </a:ext>
                </a:extLst>
              </p:cNvPr>
              <p:cNvSpPr txBox="1"/>
              <p:nvPr/>
            </p:nvSpPr>
            <p:spPr>
              <a:xfrm rot="16200000">
                <a:off x="2087745" y="1171576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洗衣房</a:t>
                </a:r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121FAF64-6464-C9C9-726F-FE3A1C91C334}"/>
                  </a:ext>
                </a:extLst>
              </p:cNvPr>
              <p:cNvSpPr txBox="1"/>
              <p:nvPr/>
            </p:nvSpPr>
            <p:spPr>
              <a:xfrm rot="16200000">
                <a:off x="791437" y="4040748"/>
                <a:ext cx="179689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客厅</a:t>
                </a:r>
              </a:p>
            </p:txBody>
          </p:sp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CD08588D-5387-80FF-3321-1E90D1A52452}"/>
                  </a:ext>
                </a:extLst>
              </p:cNvPr>
              <p:cNvSpPr txBox="1"/>
              <p:nvPr/>
            </p:nvSpPr>
            <p:spPr>
              <a:xfrm rot="16200000">
                <a:off x="658780" y="4720908"/>
                <a:ext cx="252003" cy="92036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13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储物间</a:t>
                </a:r>
              </a:p>
            </p:txBody>
          </p:sp>
        </p:grpSp>
      </p:grpSp>
      <p:sp>
        <p:nvSpPr>
          <p:cNvPr id="538" name="Rectangle 537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一层照明平面放大图（厨房 · 洗衣房 · 后花园）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547" name="Connector 54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TextBox 54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一层照明平面放大图（厨房 · 洗衣房 · 后花园）</a:t>
            </a:r>
          </a:p>
        </p:txBody>
      </p:sp>
      <p:cxnSp>
        <p:nvCxnSpPr>
          <p:cNvPr id="550" name="Connector 54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1" name="TextBox 55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552" name="TextBox 55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电施-05</a:t>
            </a:r>
          </a:p>
        </p:txBody>
      </p:sp>
      <p:cxnSp>
        <p:nvCxnSpPr>
          <p:cNvPr id="553" name="Connector 55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TextBox 55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556" name="Connector 55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559" name="Connector 55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562" name="Connector 56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>
            <a:off x="3677151" y="4318219"/>
            <a:ext cx="159368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>
            <a:off x="2404240" y="1302782"/>
            <a:ext cx="1148138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>
            <a:off x="3552378" y="1302782"/>
            <a:ext cx="105674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4609123" y="1302782"/>
            <a:ext cx="59977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5208897" y="1302782"/>
            <a:ext cx="0" cy="2891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1981736" y="5123684"/>
            <a:ext cx="3699790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5681526" y="5123684"/>
            <a:ext cx="0" cy="1221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1101510" y="5123684"/>
            <a:ext cx="0" cy="989052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1101510" y="5123684"/>
            <a:ext cx="880226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TextBox 571"/>
          <p:cNvSpPr txBox="1"/>
          <p:nvPr/>
        </p:nvSpPr>
        <p:spPr>
          <a:xfrm>
            <a:off x="-655039" y="597136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WL1  BV-3×2.5 PC20 WC/CC</a:t>
            </a:r>
          </a:p>
        </p:txBody>
      </p:sp>
      <p:cxnSp>
        <p:nvCxnSpPr>
          <p:cNvPr id="573" name="Connector 572"/>
          <p:cNvCxnSpPr/>
          <p:nvPr/>
        </p:nvCxnSpPr>
        <p:spPr>
          <a:xfrm>
            <a:off x="1597105" y="1588736"/>
            <a:ext cx="0" cy="30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1597105" y="4629157"/>
            <a:ext cx="147747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3074578" y="4629157"/>
            <a:ext cx="310147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6176052" y="4629157"/>
            <a:ext cx="0" cy="50673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1139210" y="6112736"/>
            <a:ext cx="1935368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3074578" y="4629157"/>
            <a:ext cx="0" cy="148357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TextBox 578"/>
          <p:cNvSpPr txBox="1"/>
          <p:nvPr/>
        </p:nvSpPr>
        <p:spPr>
          <a:xfrm>
            <a:off x="-655039" y="587711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WL3  BV-3×2.5 PC20 WC/CC</a:t>
            </a:r>
          </a:p>
        </p:txBody>
      </p:sp>
      <p:cxnSp>
        <p:nvCxnSpPr>
          <p:cNvPr id="580" name="Connector 579"/>
          <p:cNvCxnSpPr/>
          <p:nvPr/>
        </p:nvCxnSpPr>
        <p:spPr>
          <a:xfrm>
            <a:off x="1597105" y="1588736"/>
            <a:ext cx="208004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3677151" y="1588736"/>
            <a:ext cx="0" cy="27294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597105" y="1588736"/>
            <a:ext cx="80713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404240" y="1302782"/>
            <a:ext cx="0" cy="28595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597105" y="1588736"/>
            <a:ext cx="0" cy="17101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597105" y="3298887"/>
            <a:ext cx="21999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 flipV="1">
            <a:off x="3074578" y="4318219"/>
            <a:ext cx="0" cy="31093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3074578" y="4318219"/>
            <a:ext cx="60257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 flipV="1">
            <a:off x="3074578" y="1302782"/>
            <a:ext cx="0" cy="332637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3074578" y="1302782"/>
            <a:ext cx="47780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 flipH="1">
            <a:off x="1817102" y="4629157"/>
            <a:ext cx="125747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 flipV="1">
            <a:off x="1817102" y="3298887"/>
            <a:ext cx="0" cy="133027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981736" y="5123684"/>
            <a:ext cx="0" cy="1689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981736" y="5292641"/>
            <a:ext cx="113922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981736" y="5123684"/>
            <a:ext cx="288157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4863313" y="5123684"/>
            <a:ext cx="0" cy="1364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5681526" y="5135894"/>
            <a:ext cx="0" cy="49383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5681526" y="5629725"/>
            <a:ext cx="24024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6176052" y="5135894"/>
            <a:ext cx="52107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6697128" y="5135894"/>
            <a:ext cx="0" cy="22736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597105" y="1588736"/>
            <a:ext cx="1477473" cy="304042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2278828" y="305631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2288440" y="307609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2298052" y="309587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2307664" y="311565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2317276" y="3135434"/>
            <a:ext cx="75579" cy="2614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6" name="TextBox 605"/>
          <p:cNvSpPr txBox="1"/>
          <p:nvPr/>
        </p:nvSpPr>
        <p:spPr>
          <a:xfrm>
            <a:off x="2373542" y="3008413"/>
            <a:ext cx="188500" cy="879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7</a:t>
            </a:r>
          </a:p>
        </p:txBody>
      </p:sp>
      <p:sp>
        <p:nvSpPr>
          <p:cNvPr id="607" name="Rectangle 606"/>
          <p:cNvSpPr/>
          <p:nvPr/>
        </p:nvSpPr>
        <p:spPr>
          <a:xfrm>
            <a:off x="1026110" y="6057443"/>
            <a:ext cx="226200" cy="110586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1026110" y="6057443"/>
            <a:ext cx="226200" cy="110587"/>
          </a:xfrm>
          <a:custGeom>
            <a:avLst/>
            <a:gdLst/>
            <a:ahLst/>
            <a:cxnLst/>
            <a:rect l="l" t="t" r="r" b="b"/>
            <a:pathLst>
              <a:path w="226200" h="110587">
                <a:moveTo>
                  <a:pt x="0" y="110587"/>
                </a:moveTo>
                <a:lnTo>
                  <a:pt x="226200" y="0"/>
                </a:lnTo>
                <a:lnTo>
                  <a:pt x="226200" y="110587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TextBox 607"/>
          <p:cNvSpPr txBox="1"/>
          <p:nvPr/>
        </p:nvSpPr>
        <p:spPr>
          <a:xfrm>
            <a:off x="988410" y="6178083"/>
            <a:ext cx="301600" cy="9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>AL1</a:t>
            </a:r>
          </a:p>
        </p:txBody>
      </p:sp>
      <p:sp>
        <p:nvSpPr>
          <p:cNvPr id="609" name="Oval 608"/>
          <p:cNvSpPr/>
          <p:nvPr/>
        </p:nvSpPr>
        <p:spPr>
          <a:xfrm>
            <a:off x="6628011" y="5294140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628011" y="5363257"/>
            <a:ext cx="138234" cy="69117"/>
          </a:xfrm>
          <a:custGeom>
            <a:avLst/>
            <a:gdLst/>
            <a:ahLst/>
            <a:cxnLst/>
            <a:rect l="l" t="t" r="r" b="b"/>
            <a:pathLst>
              <a:path w="138234" h="69117">
                <a:moveTo>
                  <a:pt x="138234" y="0"/>
                </a:moveTo>
                <a:lnTo>
                  <a:pt x="136906" y="13484"/>
                </a:lnTo>
                <a:lnTo>
                  <a:pt x="132972" y="26450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7" y="63855"/>
                </a:lnTo>
                <a:lnTo>
                  <a:pt x="82601" y="67788"/>
                </a:lnTo>
                <a:lnTo>
                  <a:pt x="69117" y="69117"/>
                </a:lnTo>
                <a:lnTo>
                  <a:pt x="55633" y="67788"/>
                </a:lnTo>
                <a:lnTo>
                  <a:pt x="42667" y="63855"/>
                </a:lnTo>
                <a:lnTo>
                  <a:pt x="30718" y="57468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50"/>
                </a:lnTo>
                <a:lnTo>
                  <a:pt x="1328" y="13484"/>
                </a:lnTo>
                <a:lnTo>
                  <a:pt x="0" y="0"/>
                </a:lnTo>
                <a:lnTo>
                  <a:pt x="1382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TextBox 609"/>
          <p:cNvSpPr txBox="1"/>
          <p:nvPr/>
        </p:nvSpPr>
        <p:spPr>
          <a:xfrm>
            <a:off x="6766245" y="5218740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u</a:t>
            </a:r>
          </a:p>
        </p:txBody>
      </p:sp>
      <p:sp>
        <p:nvSpPr>
          <p:cNvPr id="611" name="Oval 610"/>
          <p:cNvSpPr/>
          <p:nvPr/>
        </p:nvSpPr>
        <p:spPr>
          <a:xfrm>
            <a:off x="3608035" y="4249102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608035" y="4318219"/>
            <a:ext cx="138233" cy="69116"/>
          </a:xfrm>
          <a:custGeom>
            <a:avLst/>
            <a:gdLst/>
            <a:ahLst/>
            <a:cxnLst/>
            <a:rect l="l" t="t" r="r" b="b"/>
            <a:pathLst>
              <a:path w="138233" h="69116">
                <a:moveTo>
                  <a:pt x="138233" y="0"/>
                </a:moveTo>
                <a:lnTo>
                  <a:pt x="136905" y="13484"/>
                </a:lnTo>
                <a:lnTo>
                  <a:pt x="132972" y="26449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6" y="63855"/>
                </a:lnTo>
                <a:lnTo>
                  <a:pt x="82601" y="67788"/>
                </a:lnTo>
                <a:lnTo>
                  <a:pt x="69116" y="69116"/>
                </a:lnTo>
                <a:lnTo>
                  <a:pt x="55632" y="67788"/>
                </a:lnTo>
                <a:lnTo>
                  <a:pt x="42667" y="63855"/>
                </a:lnTo>
                <a:lnTo>
                  <a:pt x="30717" y="57468"/>
                </a:lnTo>
                <a:lnTo>
                  <a:pt x="20243" y="48873"/>
                </a:lnTo>
                <a:lnTo>
                  <a:pt x="11648" y="38399"/>
                </a:lnTo>
                <a:lnTo>
                  <a:pt x="5261" y="26449"/>
                </a:lnTo>
                <a:lnTo>
                  <a:pt x="1328" y="13484"/>
                </a:lnTo>
                <a:lnTo>
                  <a:pt x="0" y="0"/>
                </a:lnTo>
                <a:lnTo>
                  <a:pt x="1382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TextBox 611"/>
          <p:cNvSpPr txBox="1"/>
          <p:nvPr/>
        </p:nvSpPr>
        <p:spPr>
          <a:xfrm>
            <a:off x="3746268" y="4173701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613" name="Oval 612"/>
          <p:cNvSpPr/>
          <p:nvPr/>
        </p:nvSpPr>
        <p:spPr>
          <a:xfrm>
            <a:off x="5201719" y="4249102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5201719" y="4318219"/>
            <a:ext cx="138234" cy="69116"/>
          </a:xfrm>
          <a:custGeom>
            <a:avLst/>
            <a:gdLst/>
            <a:ahLst/>
            <a:cxnLst/>
            <a:rect l="l" t="t" r="r" b="b"/>
            <a:pathLst>
              <a:path w="138234" h="69116">
                <a:moveTo>
                  <a:pt x="138234" y="0"/>
                </a:moveTo>
                <a:lnTo>
                  <a:pt x="136906" y="13484"/>
                </a:lnTo>
                <a:lnTo>
                  <a:pt x="132973" y="26449"/>
                </a:lnTo>
                <a:lnTo>
                  <a:pt x="126586" y="38399"/>
                </a:lnTo>
                <a:lnTo>
                  <a:pt x="117990" y="48873"/>
                </a:lnTo>
                <a:lnTo>
                  <a:pt x="107516" y="57468"/>
                </a:lnTo>
                <a:lnTo>
                  <a:pt x="95567" y="63855"/>
                </a:lnTo>
                <a:lnTo>
                  <a:pt x="82601" y="67788"/>
                </a:lnTo>
                <a:lnTo>
                  <a:pt x="69117" y="69116"/>
                </a:lnTo>
                <a:lnTo>
                  <a:pt x="55633" y="67788"/>
                </a:lnTo>
                <a:lnTo>
                  <a:pt x="42667" y="63855"/>
                </a:lnTo>
                <a:lnTo>
                  <a:pt x="30718" y="57468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49"/>
                </a:lnTo>
                <a:lnTo>
                  <a:pt x="1328" y="13484"/>
                </a:lnTo>
                <a:lnTo>
                  <a:pt x="0" y="0"/>
                </a:lnTo>
                <a:lnTo>
                  <a:pt x="1382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TextBox 613"/>
          <p:cNvSpPr txBox="1"/>
          <p:nvPr/>
        </p:nvSpPr>
        <p:spPr>
          <a:xfrm>
            <a:off x="5339953" y="4173701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p</a:t>
            </a:r>
          </a:p>
        </p:txBody>
      </p:sp>
      <p:sp>
        <p:nvSpPr>
          <p:cNvPr id="615" name="Oval 614"/>
          <p:cNvSpPr/>
          <p:nvPr/>
        </p:nvSpPr>
        <p:spPr>
          <a:xfrm>
            <a:off x="4787913" y="518475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6" name="Connector 615"/>
          <p:cNvCxnSpPr/>
          <p:nvPr/>
        </p:nvCxnSpPr>
        <p:spPr>
          <a:xfrm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4810005" y="5206842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8" name="TextBox 617"/>
          <p:cNvSpPr txBox="1"/>
          <p:nvPr/>
        </p:nvSpPr>
        <p:spPr>
          <a:xfrm>
            <a:off x="4932430" y="5115633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s</a:t>
            </a:r>
          </a:p>
        </p:txBody>
      </p:sp>
      <p:sp>
        <p:nvSpPr>
          <p:cNvPr id="619" name="Oval 618"/>
          <p:cNvSpPr/>
          <p:nvPr/>
        </p:nvSpPr>
        <p:spPr>
          <a:xfrm>
            <a:off x="3045561" y="5217240"/>
            <a:ext cx="150800" cy="150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0" name="Connector 619"/>
          <p:cNvCxnSpPr/>
          <p:nvPr/>
        </p:nvCxnSpPr>
        <p:spPr>
          <a:xfrm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3067653" y="5239333"/>
            <a:ext cx="106616" cy="10661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2" name="TextBox 621"/>
          <p:cNvSpPr txBox="1"/>
          <p:nvPr/>
        </p:nvSpPr>
        <p:spPr>
          <a:xfrm>
            <a:off x="3190078" y="5148124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r</a:t>
            </a:r>
          </a:p>
        </p:txBody>
      </p:sp>
      <p:sp>
        <p:nvSpPr>
          <p:cNvPr id="623" name="Oval 622"/>
          <p:cNvSpPr/>
          <p:nvPr/>
        </p:nvSpPr>
        <p:spPr>
          <a:xfrm>
            <a:off x="5871505" y="5579458"/>
            <a:ext cx="100533" cy="1005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5906063" y="5614017"/>
            <a:ext cx="31416" cy="314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5990888" y="5485208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t</a:t>
            </a:r>
          </a:p>
        </p:txBody>
      </p:sp>
      <p:sp>
        <p:nvSpPr>
          <p:cNvPr id="626" name="Oval 625"/>
          <p:cNvSpPr/>
          <p:nvPr/>
        </p:nvSpPr>
        <p:spPr>
          <a:xfrm>
            <a:off x="2360257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379107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2473357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28" name="Oval 627"/>
          <p:cNvSpPr/>
          <p:nvPr/>
        </p:nvSpPr>
        <p:spPr>
          <a:xfrm>
            <a:off x="3508395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527245" y="1274507"/>
            <a:ext cx="50266" cy="47125"/>
          </a:xfrm>
          <a:custGeom>
            <a:avLst/>
            <a:gdLst/>
            <a:ahLst/>
            <a:cxnLst/>
            <a:rect l="l" t="t" r="r" b="b"/>
            <a:pathLst>
              <a:path w="50266" h="47125">
                <a:moveTo>
                  <a:pt x="25133" y="0"/>
                </a:moveTo>
                <a:lnTo>
                  <a:pt x="0" y="47125"/>
                </a:lnTo>
                <a:lnTo>
                  <a:pt x="50266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3621495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0" name="Oval 629"/>
          <p:cNvSpPr/>
          <p:nvPr/>
        </p:nvSpPr>
        <p:spPr>
          <a:xfrm>
            <a:off x="4565139" y="1258799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583989" y="1274507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4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4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4678239" y="1158265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2" name="Oval 631"/>
          <p:cNvSpPr/>
          <p:nvPr/>
        </p:nvSpPr>
        <p:spPr>
          <a:xfrm>
            <a:off x="5164914" y="1261690"/>
            <a:ext cx="87966" cy="879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5183764" y="1277398"/>
            <a:ext cx="50267" cy="47125"/>
          </a:xfrm>
          <a:custGeom>
            <a:avLst/>
            <a:gdLst/>
            <a:ahLst/>
            <a:cxnLst/>
            <a:rect l="l" t="t" r="r" b="b"/>
            <a:pathLst>
              <a:path w="50267" h="47125">
                <a:moveTo>
                  <a:pt x="25133" y="0"/>
                </a:moveTo>
                <a:lnTo>
                  <a:pt x="0" y="47125"/>
                </a:lnTo>
                <a:lnTo>
                  <a:pt x="50267" y="47125"/>
                </a:lnTo>
                <a:lnTo>
                  <a:pt x="251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5278014" y="1161156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q</a:t>
            </a:r>
          </a:p>
        </p:txBody>
      </p:sp>
      <p:sp>
        <p:nvSpPr>
          <p:cNvPr id="634" name="Oval 633"/>
          <p:cNvSpPr/>
          <p:nvPr/>
        </p:nvSpPr>
        <p:spPr>
          <a:xfrm>
            <a:off x="1747985" y="3229770"/>
            <a:ext cx="138233" cy="138233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747985" y="3298887"/>
            <a:ext cx="138233" cy="69117"/>
          </a:xfrm>
          <a:custGeom>
            <a:avLst/>
            <a:gdLst/>
            <a:ahLst/>
            <a:cxnLst/>
            <a:rect l="l" t="t" r="r" b="b"/>
            <a:pathLst>
              <a:path w="138233" h="69117">
                <a:moveTo>
                  <a:pt x="138233" y="0"/>
                </a:moveTo>
                <a:lnTo>
                  <a:pt x="136905" y="13484"/>
                </a:lnTo>
                <a:lnTo>
                  <a:pt x="132972" y="26450"/>
                </a:lnTo>
                <a:lnTo>
                  <a:pt x="126585" y="38399"/>
                </a:lnTo>
                <a:lnTo>
                  <a:pt x="117990" y="48873"/>
                </a:lnTo>
                <a:lnTo>
                  <a:pt x="107516" y="57469"/>
                </a:lnTo>
                <a:lnTo>
                  <a:pt x="95566" y="63856"/>
                </a:lnTo>
                <a:lnTo>
                  <a:pt x="82601" y="67789"/>
                </a:lnTo>
                <a:lnTo>
                  <a:pt x="69117" y="69117"/>
                </a:lnTo>
                <a:lnTo>
                  <a:pt x="55633" y="67789"/>
                </a:lnTo>
                <a:lnTo>
                  <a:pt x="42667" y="63856"/>
                </a:lnTo>
                <a:lnTo>
                  <a:pt x="30717" y="57469"/>
                </a:lnTo>
                <a:lnTo>
                  <a:pt x="20244" y="48873"/>
                </a:lnTo>
                <a:lnTo>
                  <a:pt x="11648" y="38399"/>
                </a:lnTo>
                <a:lnTo>
                  <a:pt x="5261" y="26450"/>
                </a:lnTo>
                <a:lnTo>
                  <a:pt x="1328" y="13484"/>
                </a:lnTo>
                <a:lnTo>
                  <a:pt x="0" y="0"/>
                </a:lnTo>
                <a:lnTo>
                  <a:pt x="138233" y="0"/>
                </a:lnTo>
                <a:close/>
              </a:path>
            </a:pathLst>
          </a:cu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TextBox 634"/>
          <p:cNvSpPr txBox="1"/>
          <p:nvPr/>
        </p:nvSpPr>
        <p:spPr>
          <a:xfrm>
            <a:off x="1886218" y="3154370"/>
            <a:ext cx="125667" cy="94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v</a:t>
            </a:r>
          </a:p>
        </p:txBody>
      </p:sp>
      <p:sp>
        <p:nvSpPr>
          <p:cNvPr id="636" name="Oval 635"/>
          <p:cNvSpPr/>
          <p:nvPr/>
        </p:nvSpPr>
        <p:spPr>
          <a:xfrm>
            <a:off x="1574485" y="1566116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7" name="Connector 636"/>
          <p:cNvCxnSpPr/>
          <p:nvPr/>
        </p:nvCxnSpPr>
        <p:spPr>
          <a:xfrm flipV="1">
            <a:off x="1597105" y="1503431"/>
            <a:ext cx="85305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1682410" y="1503431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>
            <a:off x="1667055" y="1518786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1651700" y="1534141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H="1">
            <a:off x="1533126" y="1588736"/>
            <a:ext cx="63979" cy="6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H="1" flipV="1">
            <a:off x="1511799" y="1631389"/>
            <a:ext cx="21327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3" name="TextBox 642"/>
          <p:cNvSpPr txBox="1"/>
          <p:nvPr/>
        </p:nvSpPr>
        <p:spPr>
          <a:xfrm>
            <a:off x="1694977" y="14028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644" name="Oval 643"/>
          <p:cNvSpPr/>
          <p:nvPr/>
        </p:nvSpPr>
        <p:spPr>
          <a:xfrm>
            <a:off x="3051958" y="4606537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5" name="Connector 644"/>
          <p:cNvCxnSpPr/>
          <p:nvPr/>
        </p:nvCxnSpPr>
        <p:spPr>
          <a:xfrm flipV="1">
            <a:off x="3074578" y="4543852"/>
            <a:ext cx="85306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3159884" y="4543852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3144529" y="4559207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3129174" y="4574562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 flipH="1">
            <a:off x="3010599" y="4629157"/>
            <a:ext cx="63979" cy="6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 flipH="1" flipV="1">
            <a:off x="2989273" y="4671810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1" name="TextBox 650"/>
          <p:cNvSpPr txBox="1"/>
          <p:nvPr/>
        </p:nvSpPr>
        <p:spPr>
          <a:xfrm>
            <a:off x="3172451" y="444331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652" name="Oval 651"/>
          <p:cNvSpPr/>
          <p:nvPr/>
        </p:nvSpPr>
        <p:spPr>
          <a:xfrm>
            <a:off x="1959116" y="510106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3" name="Connector 652"/>
          <p:cNvCxnSpPr/>
          <p:nvPr/>
        </p:nvCxnSpPr>
        <p:spPr>
          <a:xfrm flipV="1">
            <a:off x="1981736" y="5038378"/>
            <a:ext cx="85306" cy="853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2067042" y="5038378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2051687" y="5053733"/>
            <a:ext cx="21326" cy="2132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6" name="TextBox 655"/>
          <p:cNvSpPr txBox="1"/>
          <p:nvPr/>
        </p:nvSpPr>
        <p:spPr>
          <a:xfrm>
            <a:off x="2079609" y="493784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657" name="Oval 656"/>
          <p:cNvSpPr/>
          <p:nvPr/>
        </p:nvSpPr>
        <p:spPr>
          <a:xfrm>
            <a:off x="5658906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8" name="Connector 657"/>
          <p:cNvCxnSpPr/>
          <p:nvPr/>
        </p:nvCxnSpPr>
        <p:spPr>
          <a:xfrm flipV="1">
            <a:off x="5681526" y="5050589"/>
            <a:ext cx="85305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5766831" y="5050589"/>
            <a:ext cx="21327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0" name="TextBox 659"/>
          <p:cNvSpPr txBox="1"/>
          <p:nvPr/>
        </p:nvSpPr>
        <p:spPr>
          <a:xfrm>
            <a:off x="5779398" y="495005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661" name="Oval 660"/>
          <p:cNvSpPr/>
          <p:nvPr/>
        </p:nvSpPr>
        <p:spPr>
          <a:xfrm>
            <a:off x="6153432" y="5113274"/>
            <a:ext cx="45240" cy="452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2" name="Connector 661"/>
          <p:cNvCxnSpPr/>
          <p:nvPr/>
        </p:nvCxnSpPr>
        <p:spPr>
          <a:xfrm flipV="1">
            <a:off x="6176052" y="5050589"/>
            <a:ext cx="85306" cy="853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6261358" y="5050589"/>
            <a:ext cx="21326" cy="213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4" name="TextBox 663"/>
          <p:cNvSpPr txBox="1"/>
          <p:nvPr/>
        </p:nvSpPr>
        <p:spPr>
          <a:xfrm>
            <a:off x="6273924" y="495005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S15</a:t>
            </a:r>
          </a:p>
        </p:txBody>
      </p:sp>
      <p:sp>
        <p:nvSpPr>
          <p:cNvPr id="665" name="Rectangle 664"/>
          <p:cNvSpPr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TextBox 665"/>
          <p:cNvSpPr txBox="1"/>
          <p:nvPr/>
        </p:nvSpPr>
        <p:spPr>
          <a:xfrm>
            <a:off x="3294388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TextBox 667"/>
          <p:cNvSpPr txBox="1"/>
          <p:nvPr/>
        </p:nvSpPr>
        <p:spPr>
          <a:xfrm>
            <a:off x="4594809" y="6198220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4936704" y="6137167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1" name="Rectangle 670"/>
          <p:cNvSpPr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TextBox 671"/>
          <p:cNvSpPr txBox="1"/>
          <p:nvPr/>
        </p:nvSpPr>
        <p:spPr>
          <a:xfrm>
            <a:off x="5675441" y="6088325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5992914" y="6112746"/>
            <a:ext cx="170907" cy="8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" b="1">
                <a:solidFill>
                  <a:srgbClr val="1A1A1A"/>
                </a:solidFill>
                <a:latin typeface="Microsoft YaHei"/>
              </a:rPr>
              <a:t>FCU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G15 区 · 通后花园门旁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厨房后门旁（吧台区）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键1=p  键2=q  键3=v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厨房入口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键1=r  键2=s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洗衣房门旁</a:t>
            </a:r>
          </a:p>
        </p:txBody>
      </p:sp>
      <p:sp>
        <p:nvSpPr>
          <p:cNvPr id="683" name="TextBox 682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键1=t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S15  洗衣房后门旁</a:t>
            </a:r>
          </a:p>
        </p:txBody>
      </p:sp>
      <p:sp>
        <p:nvSpPr>
          <p:cNvPr id="685" name="TextBox 684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键1=u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400000" y="6540000"/>
            <a:ext cx="571213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971213" y="6540000"/>
            <a:ext cx="571213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TextBox 687"/>
          <p:cNvSpPr txBox="1"/>
          <p:nvPr/>
        </p:nvSpPr>
        <p:spPr>
          <a:xfrm>
            <a:off x="1582427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25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B10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一层照明（门廊 / 门厅 / 起居室 / 餐厅 / 楼梯 / 客厅 / 卫生间 / 厨房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36 盏（一层，字母 a b c d e f g h i j k l m n o r s t）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p q u v）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见二层图）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000000" y="37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一层开关面板表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住宅改造（一层）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一层开关面板表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电施-07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I-B 2026-10-06）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48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前门内侧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门廊壁灯 G25（户外）（单控）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 · 前储物间旁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门厅吊灯 G08（单控）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前储物间筒灯（+门控开关）（单控）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起居室侧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楼梯口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 楼梯壁灯 F32（单控）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起居室主灯 G06（双控）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起居室筒灯 上两排（含电梯旁）（双控）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起居室筒灯 右列+下排（双控）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区侧 · 拱门旁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G07 区主灯（双控）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G07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G07 区筒灯 右+下排（双控）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楼梯底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二层楼梯吊灯 F06（与二层 S11、S12 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区东侧 · 卫生间走道口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区南门旁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储物间门旁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四位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G15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G16 吊灯（双控）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G15 区筒灯 上排+左（双控）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G15 区筒灯 下排+右（双控）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 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 · 通后花园门旁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厨房后门旁（吧台区）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三位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 后花园壁灯 G26_2、G26_3（三控：S11、S12、S7）（三控）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 围栏地灯 ×4（户外，三控：S11、S12、S7）（三控）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 后花园壁灯 G26_4（卫生间后墙，三控：S11、S12、S7）（三控）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厨房入口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 吧台区吊灯（待选）（单控）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 厨房主灯（待选）（单控）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 洗衣房筒灯（单控）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洗衣房后门旁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 后花园壁灯 G26_1（单控）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前储物间门框锁侧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门控开关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前储物间筒灯（与 S2 键 2 并联）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471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门厅吊灯 G08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前储物间筒灯（+门控开关）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S2-2，MK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门廊壁灯 G25（户外）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起居室主灯 G06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S1-2，S4-2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上两排（含电梯旁）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S1-3，S4-3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起居室筒灯 右列+下排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S1-4，S4-4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区主灯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S5-1，S3-1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上排+左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S5-2，S3-2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G07 区筒灯 右+下排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S5-3，S3-3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G16 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S8-2，S9-2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上排+左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S8-3，S9-3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G15 区筒灯 下排+右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S8-4，S9-4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n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楼梯壁灯 F32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o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p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G26_2、G26_3（三控：S11、S12、S7）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S7-1，S11-1，S12-1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q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围栏地灯 ×4（户外，三控：S11、S12、S7）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S7-2，S11-2，S12-2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r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吧台区吊灯（待选）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厨房主灯（待选）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t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洗衣房筒灯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u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v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后花园壁灯 G26_4（卫生间后墙，三控：S11、S12、S7）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S7-3，S11-3，S12-3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1005</TotalTime>
  <Words>1302</Words>
  <Application>Microsoft Office PowerPoint</Application>
  <PresentationFormat>Widescreen</PresentationFormat>
  <Paragraphs>338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11</cp:revision>
  <dcterms:created xsi:type="dcterms:W3CDTF">2013-01-27T09:14:16Z</dcterms:created>
  <dcterms:modified xsi:type="dcterms:W3CDTF">2026-10-03T08:02:17Z</dcterms:modified>
  <cp:category/>
</cp:coreProperties>
</file>