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G-A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二层照明由照明配电箱 AL1沿楼梯井引上引出 1 个回路：WL4 二层照明（B6），均为 30 mA RCBO。本图为方案 A · 专业 18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F：二层照明曾按区域分 3 路；Rev G 起按全屋 18 路方案合为 1 路 WL4（约 320 W）。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本套图：方案 A · 专业 18 路，全屋照明 4 路（WL1 一层前区照明 / WL2 一层后区照明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16" name="Connector 415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TextBox 416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419" name="Connector 418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TextBox 419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422" name="Connector 421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TextBox 422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425" name="Connector 424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TextBox 425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G-A 2026-10-03）</a:t>
            </a:r>
          </a:p>
        </p:txBody>
      </p:sp>
      <p:cxnSp>
        <p:nvCxnSpPr>
          <p:cNvPr id="428" name="Connector 427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TextBox 428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1" name="Connector 430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3354134" y="4582164"/>
            <a:ext cx="0" cy="68992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3354134" y="5272091"/>
            <a:ext cx="2252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2251820" y="3896282"/>
            <a:ext cx="58094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2832769" y="3428179"/>
            <a:ext cx="0" cy="468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832769" y="3428179"/>
            <a:ext cx="764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3597615" y="3123076"/>
            <a:ext cx="0" cy="305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3597615" y="3123076"/>
            <a:ext cx="0" cy="47646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3597615" y="3599538"/>
            <a:ext cx="45556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053179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4053179" y="392135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H="1">
            <a:off x="3442974" y="3921358"/>
            <a:ext cx="756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3442974" y="3921358"/>
            <a:ext cx="0" cy="4806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3442974" y="4402000"/>
            <a:ext cx="0" cy="5475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3442974" y="4949512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3589256" y="4949512"/>
            <a:ext cx="72305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4312307" y="4949512"/>
            <a:ext cx="0" cy="417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5323743" y="4870102"/>
            <a:ext cx="85261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6176358" y="4473051"/>
            <a:ext cx="0" cy="397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3597615" y="3123076"/>
            <a:ext cx="94874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4546358" y="2496153"/>
            <a:ext cx="0" cy="626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5145358" y="4966230"/>
            <a:ext cx="0" cy="65200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H="1">
            <a:off x="4897435" y="4966230"/>
            <a:ext cx="247923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2832769" y="2807454"/>
            <a:ext cx="0" cy="620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2832769" y="2807454"/>
            <a:ext cx="1859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442974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H="1">
            <a:off x="3251566" y="4012738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2055384" y="5630769"/>
            <a:ext cx="13212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3376661" y="5272091"/>
            <a:ext cx="0" cy="3586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H="1">
            <a:off x="2543258" y="4949512"/>
            <a:ext cx="10459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2543258" y="4949512"/>
            <a:ext cx="0" cy="250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3589256" y="4949512"/>
            <a:ext cx="0" cy="32257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H="1">
            <a:off x="3376661" y="5272091"/>
            <a:ext cx="21259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5323743" y="4870102"/>
            <a:ext cx="5753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899117" y="4870102"/>
            <a:ext cx="0" cy="520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6176358" y="4473051"/>
            <a:ext cx="40317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6579533" y="4473051"/>
            <a:ext cx="0" cy="51685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2832769" y="3123076"/>
            <a:ext cx="764846" cy="30510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2055384" y="4949512"/>
            <a:ext cx="1533872" cy="68125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V="1">
            <a:off x="2787957" y="5277881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V="1">
            <a:off x="2800615" y="5272259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2813274" y="5266637"/>
            <a:ext cx="18092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V="1">
            <a:off x="2825932" y="5261015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2838590" y="5255393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Oval 510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Connector 511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514" name="Oval 513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TextBox 516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18" name="Oval 517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9" name="Connector 518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22" name="Oval 521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26" name="Oval 525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530" name="Oval 529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34" name="Oval 533"/>
          <p:cNvSpPr/>
          <p:nvPr/>
        </p:nvSpPr>
        <p:spPr>
          <a:xfrm>
            <a:off x="5851630" y="487470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Connector 534"/>
          <p:cNvCxnSpPr/>
          <p:nvPr/>
        </p:nvCxnSpPr>
        <p:spPr>
          <a:xfrm>
            <a:off x="5865544" y="488861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5865544" y="488861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5942647" y="483117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38" name="Oval 537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TextBox 539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41" name="Oval 540"/>
          <p:cNvSpPr/>
          <p:nvPr/>
        </p:nvSpPr>
        <p:spPr>
          <a:xfrm>
            <a:off x="6547875" y="495824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6569640" y="498001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6623063" y="489888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44" name="Oval 543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47" name="Oval 546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50" name="Oval 549"/>
          <p:cNvSpPr/>
          <p:nvPr/>
        </p:nvSpPr>
        <p:spPr>
          <a:xfrm>
            <a:off x="3322476" y="455050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3344241" y="457227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3397664" y="449114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3" name="Oval 552"/>
          <p:cNvSpPr/>
          <p:nvPr/>
        </p:nvSpPr>
        <p:spPr>
          <a:xfrm>
            <a:off x="3345003" y="5240433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3366768" y="5262198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3420191" y="518107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6" name="Oval 555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7" name="Connector 556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560" name="Oval 559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563" name="Oval 562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TextBox 564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66" name="Oval 565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7" name="Connector 566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0" name="Oval 569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574" name="Oval 573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578" name="Oval 577"/>
          <p:cNvSpPr/>
          <p:nvPr/>
        </p:nvSpPr>
        <p:spPr>
          <a:xfrm>
            <a:off x="2818523" y="341393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 flipV="1">
            <a:off x="2832769" y="337445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2886495" y="337445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H="1">
            <a:off x="2792474" y="3428179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 flipV="1">
            <a:off x="2779043" y="3455042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2894409" y="33111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584" name="Oval 583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5" name="Connector 584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591" name="Oval 590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TextBox 593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595" name="Oval 594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6" name="Connector 595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1" name="TextBox 600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02" name="Oval 601"/>
          <p:cNvSpPr/>
          <p:nvPr/>
        </p:nvSpPr>
        <p:spPr>
          <a:xfrm>
            <a:off x="3575010" y="493526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3" name="Connector 602"/>
          <p:cNvCxnSpPr/>
          <p:nvPr/>
        </p:nvCxnSpPr>
        <p:spPr>
          <a:xfrm flipV="1">
            <a:off x="3589256" y="4895787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3642982" y="4895787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3633311" y="4905457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H="1">
            <a:off x="3548962" y="4949512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H="1" flipV="1">
            <a:off x="3535530" y="4976375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TextBox 607"/>
          <p:cNvSpPr txBox="1"/>
          <p:nvPr/>
        </p:nvSpPr>
        <p:spPr>
          <a:xfrm>
            <a:off x="3650896" y="483247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09" name="Oval 608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0" name="Connector 609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15" name="Oval 614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9" name="Oval 618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3" name="Oval 622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4" name="Connector 623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9" name="TextBox 628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0" name="Oval 629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1" name="Connector 630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36" name="Oval 635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TextBox 638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0" name="Oval 639"/>
          <p:cNvSpPr/>
          <p:nvPr/>
        </p:nvSpPr>
        <p:spPr>
          <a:xfrm>
            <a:off x="6162112" y="445880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1" name="Connector 640"/>
          <p:cNvCxnSpPr/>
          <p:nvPr/>
        </p:nvCxnSpPr>
        <p:spPr>
          <a:xfrm flipV="1">
            <a:off x="6176358" y="441932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6230084" y="4419325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6237999" y="435600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645" name="Rectangle 644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TextBox 645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647" name="Rectangle 646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649" name="Rectangle 648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TextBox 651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G-A 2026-10-03）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4898489" y="4904547"/>
            <a:ext cx="0" cy="100782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4898489" y="5912370"/>
            <a:ext cx="3290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3288263" y="3902631"/>
            <a:ext cx="848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4136894" y="3218842"/>
            <a:ext cx="0" cy="683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4136894" y="3218842"/>
            <a:ext cx="11172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5254157" y="2773157"/>
            <a:ext cx="0" cy="4456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136894" y="3218842"/>
            <a:ext cx="0" cy="14225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4136894" y="4641368"/>
            <a:ext cx="8913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5028263" y="4641368"/>
            <a:ext cx="0" cy="799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5028263" y="5441157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H="1">
            <a:off x="5241947" y="6418000"/>
            <a:ext cx="226539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5241947" y="5441157"/>
            <a:ext cx="0" cy="976843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TextBox 453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455" name="Connector 454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4136894" y="2312106"/>
            <a:ext cx="0" cy="9067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4136894" y="2312106"/>
            <a:ext cx="2716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5028263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H="1">
            <a:off x="4748661" y="4072747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3001315" y="6436315"/>
            <a:ext cx="19300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4931395" y="5912370"/>
            <a:ext cx="0" cy="5239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>
            <a:off x="3713986" y="5441157"/>
            <a:ext cx="152796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3713986" y="5441157"/>
            <a:ext cx="0" cy="36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5241947" y="5441157"/>
            <a:ext cx="0" cy="47121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H="1">
            <a:off x="4931395" y="5912370"/>
            <a:ext cx="31055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4060280" y="591684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4082880" y="5906812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4105480" y="5896774"/>
            <a:ext cx="32302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4128079" y="5886737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4150679" y="587669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Oval 481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TextBox 483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485" name="Oval 484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Connector 485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8" name="TextBox 487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489" name="Oval 488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0" name="Connector 489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TextBox 491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493" name="Oval 492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496" name="Oval 495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99" name="Oval 498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4976207" y="47420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02" name="Oval 501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5009113" y="574986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05" name="Oval 504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509" name="Oval 508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512" name="Oval 511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15" name="Oval 514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6" name="Connector 515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8" name="TextBox 517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519" name="Oval 518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0" name="Connector 519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2" name="TextBox 521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523" name="Oval 522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4" name="Connector 523"/>
          <p:cNvCxnSpPr/>
          <p:nvPr/>
        </p:nvCxnSpPr>
        <p:spPr>
          <a:xfrm flipV="1">
            <a:off x="4136894" y="3122920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4232815" y="3122920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H="1">
            <a:off x="4064953" y="3218842"/>
            <a:ext cx="71941" cy="7194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H="1" flipV="1">
            <a:off x="4040973" y="32668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8" name="TextBox 527"/>
          <p:cNvSpPr txBox="1"/>
          <p:nvPr/>
        </p:nvSpPr>
        <p:spPr>
          <a:xfrm>
            <a:off x="4246946" y="30098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529" name="Oval 528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0" name="Connector 529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5" name="TextBox 534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536" name="Oval 535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7" name="Connector 536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540" name="Oval 539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1" name="Connector 540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TextBox 545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47" name="Oval 546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8" name="Connector 547"/>
          <p:cNvCxnSpPr/>
          <p:nvPr/>
        </p:nvCxnSpPr>
        <p:spPr>
          <a:xfrm flipV="1">
            <a:off x="5241947" y="5345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5337868" y="5345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5320602" y="5362502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H="1">
            <a:off x="5170006" y="5441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H="1" flipV="1">
            <a:off x="5146026" y="5489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5351999" y="5232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主卧门旁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门旁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床头侧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69" name="Rectangle 568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书房 · 后卫）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书房 · 后卫）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G-A 2026-10-03）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387210" y="5325157"/>
            <a:ext cx="1245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5632684" y="4745157"/>
            <a:ext cx="0" cy="580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2531210" y="1857368"/>
            <a:ext cx="0" cy="1611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2531210" y="1857368"/>
            <a:ext cx="7204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4118924" y="5465578"/>
            <a:ext cx="0" cy="95242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H="1">
            <a:off x="3764473" y="5465578"/>
            <a:ext cx="35445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/>
          <p:cNvSpPr txBox="1"/>
          <p:nvPr/>
        </p:nvSpPr>
        <p:spPr>
          <a:xfrm>
            <a:off x="2355336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453" name="Connector 452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4387210" y="5325157"/>
            <a:ext cx="84048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5227699" y="5325157"/>
            <a:ext cx="0" cy="760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5632684" y="4745157"/>
            <a:ext cx="5889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6221628" y="4745157"/>
            <a:ext cx="0" cy="7550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Oval 470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TextBox 472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474" name="Oval 473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478" name="Oval 477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TextBox 480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82" name="Oval 481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TextBox 484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486" name="Oval 485"/>
          <p:cNvSpPr/>
          <p:nvPr/>
        </p:nvSpPr>
        <p:spPr>
          <a:xfrm>
            <a:off x="5142915" y="531646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TextBox 488"/>
          <p:cNvSpPr txBox="1"/>
          <p:nvPr/>
        </p:nvSpPr>
        <p:spPr>
          <a:xfrm>
            <a:off x="5305416" y="523874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490" name="Oval 489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493" name="Oval 492"/>
          <p:cNvSpPr/>
          <p:nvPr/>
        </p:nvSpPr>
        <p:spPr>
          <a:xfrm>
            <a:off x="6165106" y="5443639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6203965" y="5482498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6299346" y="5337660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496" name="Oval 495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00" name="Oval 499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1" name="Connector 500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5" name="TextBox 504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506" name="Oval 505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7" name="Connector 506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TextBox 508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510" name="Oval 509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1" name="Connector 510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514" name="Oval 513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TextBox 519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21" name="Oval 520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2" name="Connector 521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6" name="TextBox 525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27" name="Oval 526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8" name="Connector 527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TextBox 529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531" name="Oval 530"/>
          <p:cNvSpPr/>
          <p:nvPr/>
        </p:nvSpPr>
        <p:spPr>
          <a:xfrm>
            <a:off x="5607249" y="471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2" name="Connector 531"/>
          <p:cNvCxnSpPr/>
          <p:nvPr/>
        </p:nvCxnSpPr>
        <p:spPr>
          <a:xfrm flipV="1">
            <a:off x="5632684" y="464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5728605" y="464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4" name="TextBox 533"/>
          <p:cNvSpPr txBox="1"/>
          <p:nvPr/>
        </p:nvSpPr>
        <p:spPr>
          <a:xfrm>
            <a:off x="5742735" y="453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书房门旁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后卫生间门外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550" name="Rectangle 549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G-A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2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一层后区照明（客厅 / 卫生间 / 厨房 / 吧台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盏（一层，字母 见一层图）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16 盏（二层，字母 a b c d e f g h i j k l m）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000000" y="44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G-A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书房主灯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