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2 个回路：WL1 一层照明（B10）、WL3 户外照明（B6），均为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H：新增后花园壁灯 G26_4（卫生间后墙、小窗东侧，IP65，与 G26_2 同款），回路 v、键 28；S7、S11、S12 改三联，v 与 p、q 一样三处控制（S11、S12 两路，S7 中途），接户外 WL3。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2026-10-07：键 28 的灯为后花园投光灯（SOLLA 三头 LED 150 W、6000 K、IP66），装在两扇后花园法式门中间的后墙上、离地约 3.5 m，照向院子；仍为回路 v、户外 WL3，S11 / S12 两路 + S7 中途三控。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14. Rev J：S7 挪到法式门框东侧（后花园门旁），按键不变。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15. Rev K（2026-10-08）：一层卫生间有窗，不装排气扇；洗衣房有窗，也不装。厨房天花装一个温感 + 一氧化碳报警器（市电，接本层照明回路）。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16.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0" cy="2898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016666" y="4951024"/>
            <a:ext cx="12120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137868" y="4951024"/>
            <a:ext cx="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3016666" y="3382205"/>
            <a:ext cx="0" cy="1278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3016666" y="3382205"/>
            <a:ext cx="16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137868" y="4951024"/>
            <a:ext cx="158402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4721897" y="4732179"/>
            <a:ext cx="0" cy="2188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4124012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4124012" y="4732179"/>
            <a:ext cx="59788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506420" y="4172215"/>
            <a:ext cx="96360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470025" y="4172215"/>
            <a:ext cx="0" cy="2214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V="1">
            <a:off x="4506420" y="2312256"/>
            <a:ext cx="0" cy="18599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H="1">
            <a:off x="4458589" y="2312256"/>
            <a:ext cx="478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4145128" y="4172215"/>
            <a:ext cx="0" cy="123704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4145128" y="4172215"/>
            <a:ext cx="36129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137868" y="4951024"/>
            <a:ext cx="412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3179154" y="4864428"/>
            <a:ext cx="0" cy="865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2226858" y="4951024"/>
            <a:ext cx="9110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2226858" y="4252643"/>
            <a:ext cx="0" cy="6983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3137868" y="3837501"/>
            <a:ext cx="0" cy="111352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2708269" y="3837501"/>
            <a:ext cx="429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2740" y="4951024"/>
            <a:ext cx="43512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2702740" y="4665274"/>
            <a:ext cx="0" cy="2857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3137868" y="4203184"/>
            <a:ext cx="0" cy="74784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3137868" y="4203184"/>
            <a:ext cx="6600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3137868" y="4184989"/>
            <a:ext cx="0" cy="7660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137868" y="4184989"/>
            <a:ext cx="173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137868" y="4951024"/>
            <a:ext cx="16326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3301129" y="4561200"/>
            <a:ext cx="0" cy="38982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4506420" y="4172215"/>
            <a:ext cx="137610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882529" y="4172215"/>
            <a:ext cx="0" cy="85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4506420" y="4172215"/>
            <a:ext cx="50471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5011131" y="2116500"/>
            <a:ext cx="0" cy="2055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4506420" y="4172215"/>
            <a:ext cx="1027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4609193" y="3482976"/>
            <a:ext cx="0" cy="6892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4458589" y="2312256"/>
            <a:ext cx="1506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4609193" y="2312256"/>
            <a:ext cx="0" cy="11707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 flipV="1">
            <a:off x="5470025" y="3482976"/>
            <a:ext cx="0" cy="9106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H="1">
            <a:off x="4609193" y="3482976"/>
            <a:ext cx="86083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1507871" y="4924435"/>
            <a:ext cx="1629997" cy="2658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 flipV="1">
            <a:off x="2282144" y="4921751"/>
            <a:ext cx="32187" cy="311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2294460" y="4921952"/>
            <a:ext cx="32187" cy="311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2306776" y="4922153"/>
            <a:ext cx="32187" cy="311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2319092" y="4922354"/>
            <a:ext cx="32187" cy="311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2331408" y="4922555"/>
            <a:ext cx="32187" cy="311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9" name="TextBox 698"/>
          <p:cNvSpPr txBox="1"/>
          <p:nvPr/>
        </p:nvSpPr>
        <p:spPr>
          <a:xfrm>
            <a:off x="2343986" y="488142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0" name="Connector 699"/>
          <p:cNvCxnSpPr/>
          <p:nvPr/>
        </p:nvCxnSpPr>
        <p:spPr>
          <a:xfrm flipH="1" flipV="1">
            <a:off x="3016666" y="4661128"/>
            <a:ext cx="121202" cy="28989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H="1" flipV="1">
            <a:off x="3066049" y="4820302"/>
            <a:ext cx="41441" cy="1700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 flipV="1">
            <a:off x="3061298" y="4808938"/>
            <a:ext cx="41441" cy="1700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 flipV="1">
            <a:off x="3056547" y="4797573"/>
            <a:ext cx="41440" cy="1700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 flipV="1">
            <a:off x="3051796" y="4786209"/>
            <a:ext cx="41440" cy="1700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 flipV="1">
            <a:off x="3047044" y="4774845"/>
            <a:ext cx="41441" cy="1700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TextBox 705"/>
          <p:cNvSpPr txBox="1"/>
          <p:nvPr/>
        </p:nvSpPr>
        <p:spPr>
          <a:xfrm>
            <a:off x="3098383" y="4749767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7" name="Connector 706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3" name="TextBox 712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14" name="Connector 713"/>
          <p:cNvCxnSpPr/>
          <p:nvPr/>
        </p:nvCxnSpPr>
        <p:spPr>
          <a:xfrm flipH="1" flipV="1">
            <a:off x="4458589" y="2312256"/>
            <a:ext cx="47831" cy="185995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H="1" flipV="1">
            <a:off x="4466899" y="3251438"/>
            <a:ext cx="32478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466582" y="3239125"/>
            <a:ext cx="32478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466266" y="3226811"/>
            <a:ext cx="32477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465949" y="3214497"/>
            <a:ext cx="32478" cy="30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465632" y="3202184"/>
            <a:ext cx="32478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0" name="TextBox 719"/>
          <p:cNvSpPr txBox="1"/>
          <p:nvPr/>
        </p:nvSpPr>
        <p:spPr>
          <a:xfrm>
            <a:off x="4503620" y="3185926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21" name="Connector 720"/>
          <p:cNvCxnSpPr/>
          <p:nvPr/>
        </p:nvCxnSpPr>
        <p:spPr>
          <a:xfrm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4985423" y="3296639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728" name="Rectangle 727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TextBox 728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30" name="Connector 729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2" name="Rectangle 731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TextBox 732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34" name="Oval 733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TextBox 734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36" name="Oval 735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7" name="Connector 736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9" name="TextBox 738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40" name="Oval 739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1" name="Connector 740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3" name="TextBox 742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44" name="Oval 743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5" name="Connector 744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8" name="Oval 747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1" name="TextBox 750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52" name="Oval 751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3" name="Connector 752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56" name="Oval 755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8" name="Oval 757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TextBox 758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60" name="Oval 759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2" name="Oval 761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TextBox 762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4" name="Oval 763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TextBox 765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7" name="Oval 766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TextBox 768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0" name="Oval 769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TextBox 771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3" name="Oval 772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TextBox 774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6" name="Oval 775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TextBox 777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9" name="Oval 778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TextBox 780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2" name="Oval 781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TextBox 783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85" name="Oval 784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TextBox 786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8" name="Oval 787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TextBox 789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1" name="Oval 790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TextBox 792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4" name="Oval 793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TextBox 795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7" name="Oval 796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TextBox 798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0" name="Oval 799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TextBox 801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3" name="Oval 802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TextBox 804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6" name="Oval 805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TextBox 807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9" name="Oval 808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2" name="Oval 811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3" name="Connector 812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5" name="TextBox 814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16" name="Oval 815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7" name="Connector 816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Connector 817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9" name="TextBox 818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20" name="Oval 819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TextBox 821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23" name="Oval 822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TextBox 824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6" name="Oval 825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TextBox 827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9" name="Oval 828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TextBox 830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2" name="Oval 831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TextBox 833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5" name="Oval 834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Oval 835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TextBox 836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8" name="Oval 837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Oval 838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TextBox 839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41" name="Oval 840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TextBox 842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4" name="Oval 843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TextBox 845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7" name="Oval 846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TextBox 848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50" name="Oval 849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Oval 850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TextBox 851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53" name="Oval 852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TextBox 853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5" name="Oval 854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TextBox 855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7" name="Oval 856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TextBox 857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9" name="Oval 858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TextBox 859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1" name="Oval 860"/>
          <p:cNvSpPr/>
          <p:nvPr/>
        </p:nvSpPr>
        <p:spPr>
          <a:xfrm>
            <a:off x="4570480" y="3444263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4570480" y="3482976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2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TextBox 861"/>
          <p:cNvSpPr txBox="1"/>
          <p:nvPr/>
        </p:nvSpPr>
        <p:spPr>
          <a:xfrm>
            <a:off x="4647905" y="34020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863" name="Oval 862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4" name="Connector 863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1" name="TextBox 870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72" name="Oval 871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3" name="Connector 872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6" name="TextBox 875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77" name="Oval 876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8" name="Connector 877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4" name="TextBox 883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85" name="Oval 884"/>
          <p:cNvSpPr/>
          <p:nvPr/>
        </p:nvSpPr>
        <p:spPr>
          <a:xfrm>
            <a:off x="3125198" y="493835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6" name="Connector 885"/>
          <p:cNvCxnSpPr/>
          <p:nvPr/>
        </p:nvCxnSpPr>
        <p:spPr>
          <a:xfrm flipV="1">
            <a:off x="3137868" y="490324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3185648" y="490324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177047" y="491184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3168447" y="492044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3159847" y="492904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 flipH="1">
            <a:off x="3102033" y="4951024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H="1" flipV="1">
            <a:off x="3090088" y="497491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3" name="TextBox 892"/>
          <p:cNvSpPr txBox="1"/>
          <p:nvPr/>
        </p:nvSpPr>
        <p:spPr>
          <a:xfrm>
            <a:off x="3192687" y="484693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94" name="Oval 893"/>
          <p:cNvSpPr/>
          <p:nvPr/>
        </p:nvSpPr>
        <p:spPr>
          <a:xfrm>
            <a:off x="3125198" y="493835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5" name="Connector 894"/>
          <p:cNvCxnSpPr/>
          <p:nvPr/>
        </p:nvCxnSpPr>
        <p:spPr>
          <a:xfrm flipV="1">
            <a:off x="3137868" y="490324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>
            <a:off x="3185648" y="490324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3177047" y="491184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3168447" y="492044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 flipH="1">
            <a:off x="3102033" y="4951024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 flipV="1">
            <a:off x="3090088" y="497491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" name="TextBox 900"/>
          <p:cNvSpPr txBox="1"/>
          <p:nvPr/>
        </p:nvSpPr>
        <p:spPr>
          <a:xfrm>
            <a:off x="3192687" y="484693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902" name="Oval 901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3" name="Connector 902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5" name="TextBox 904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906" name="Oval 905"/>
          <p:cNvSpPr/>
          <p:nvPr/>
        </p:nvSpPr>
        <p:spPr>
          <a:xfrm>
            <a:off x="4493750" y="415954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7" name="Connector 906"/>
          <p:cNvCxnSpPr/>
          <p:nvPr/>
        </p:nvCxnSpPr>
        <p:spPr>
          <a:xfrm flipV="1">
            <a:off x="4506420" y="41244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>
            <a:off x="4554200" y="412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4545599" y="413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4536999" y="414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 flipH="1">
            <a:off x="4470585" y="41722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 flipH="1" flipV="1">
            <a:off x="4458640" y="41961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3" name="TextBox 912"/>
          <p:cNvSpPr txBox="1"/>
          <p:nvPr/>
        </p:nvSpPr>
        <p:spPr>
          <a:xfrm>
            <a:off x="4561238" y="40681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14" name="Oval 913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5" name="Connector 914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TextBox 921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23" name="Oval 922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4" name="Connector 923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Connector 924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1" name="TextBox 930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32" name="Oval 931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3" name="Connector 932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5" name="TextBox 934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36" name="Oval 935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7" name="Connector 936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4489168" y="228167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TextBox 942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44" name="Oval 943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5" name="Connector 944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5500604" y="43630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1" name="TextBox 950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52" name="Oval 951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3" name="Connector 952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6" name="TextBox 955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57" name="Oval 956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8" name="Connector 957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0" name="TextBox 959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61" name="Oval 960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2" name="Connector 961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4" name="TextBox 963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65" name="Rectangle 964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TextBox 965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7" name="Rectangle 966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TextBox 967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9" name="Rectangle 968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TextBox 969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1" name="Rectangle 970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TextBox 971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3" name="Rectangle 972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75" name="Connector 974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6" name="Oval 975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7" name="Connector 976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9" name="TextBox 978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80" name="TextBox 979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81" name="Rectangle 980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TextBox 981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83" name="Rectangle 982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TextBox 983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85" name="Rectangle 984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TextBox 985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87" name="Rectangle 986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Rectangle 987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TextBox 989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0" cy="5435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158653" y="4532570"/>
            <a:ext cx="22725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385907" y="4532570"/>
            <a:ext cx="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07" y="5391754"/>
            <a:ext cx="184022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5385907" y="4532570"/>
            <a:ext cx="0" cy="85918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7" name="TextBox 586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8" name="Connector 587"/>
          <p:cNvCxnSpPr/>
          <p:nvPr/>
        </p:nvCxnSpPr>
        <p:spPr>
          <a:xfrm flipV="1">
            <a:off x="7274519" y="3072303"/>
            <a:ext cx="0" cy="231945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7274519" y="3072303"/>
            <a:ext cx="67742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5453542" y="5089312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1" name="Connector 590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385907" y="4532570"/>
            <a:ext cx="7741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V="1">
            <a:off x="5463318" y="4370202"/>
            <a:ext cx="0" cy="16236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H="1">
            <a:off x="3677764" y="4532570"/>
            <a:ext cx="170814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3677764" y="3223106"/>
            <a:ext cx="0" cy="13094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5385907" y="2444714"/>
            <a:ext cx="0" cy="20878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H="1">
            <a:off x="4580409" y="2444714"/>
            <a:ext cx="8054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70043" y="4532570"/>
            <a:ext cx="8158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4570043" y="3996789"/>
            <a:ext cx="0" cy="5357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5385907" y="3130369"/>
            <a:ext cx="0" cy="1402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5385907" y="3130369"/>
            <a:ext cx="123768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5385907" y="3096255"/>
            <a:ext cx="0" cy="14363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5385907" y="3096255"/>
            <a:ext cx="3244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385907" y="4532570"/>
            <a:ext cx="3061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V="1">
            <a:off x="5692021" y="3801649"/>
            <a:ext cx="0" cy="7309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4" name="TextBox 623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000332" y="3136824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000332" y="3136824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000332" y="3136824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接线见另图</a:t>
            </a:r>
          </a:p>
        </p:txBody>
      </p:sp>
      <p:cxnSp>
        <p:nvCxnSpPr>
          <p:cNvPr id="628" name="Connector 627"/>
          <p:cNvCxnSpPr/>
          <p:nvPr/>
        </p:nvCxnSpPr>
        <p:spPr>
          <a:xfrm>
            <a:off x="2329663" y="4482716"/>
            <a:ext cx="3056244" cy="4985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764456" y="4471026"/>
            <a:ext cx="73761" cy="713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92680" y="4471486"/>
            <a:ext cx="73761" cy="713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820905" y="4471946"/>
            <a:ext cx="73760" cy="713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49129" y="4472407"/>
            <a:ext cx="73760" cy="713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77353" y="4472867"/>
            <a:ext cx="73760" cy="713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TextBox 633"/>
          <p:cNvSpPr txBox="1"/>
          <p:nvPr/>
        </p:nvSpPr>
        <p:spPr>
          <a:xfrm>
            <a:off x="3906176" y="437860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5" name="Connector 634"/>
          <p:cNvCxnSpPr/>
          <p:nvPr/>
        </p:nvCxnSpPr>
        <p:spPr>
          <a:xfrm flipH="1" flipV="1">
            <a:off x="5158653" y="3989014"/>
            <a:ext cx="227254" cy="54355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 flipV="1">
            <a:off x="5246573" y="4293394"/>
            <a:ext cx="94968" cy="3897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 flipV="1">
            <a:off x="5235685" y="4267350"/>
            <a:ext cx="94967" cy="3897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 flipV="1">
            <a:off x="5224796" y="4241307"/>
            <a:ext cx="94968" cy="3897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 flipV="1">
            <a:off x="5213908" y="4215263"/>
            <a:ext cx="94967" cy="3897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 flipV="1">
            <a:off x="5203019" y="4189220"/>
            <a:ext cx="94968" cy="3897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5320671" y="4131750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2" name="Rectangle 641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TextBox 642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4" name="Connector 643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49" name="Oval 648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1" name="Oval 65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2" name="Connector 65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5" name="Oval 65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59" name="Oval 65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TextBox 661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3" name="Oval 662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TextBox 663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5" name="Oval 66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TextBox 666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8" name="Oval 66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1" name="Oval 67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TextBox 672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4" name="Oval 67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7" name="Oval 67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0" name="Oval 67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3" name="Oval 68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TextBox 684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6" name="Oval 68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9" name="Oval 68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TextBox 690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2" name="Oval 69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TextBox 693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5" name="Oval 69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TextBox 696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8" name="Oval 69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TextBox 699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1" name="Oval 70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4" name="Oval 70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7" name="Oval 70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TextBox 708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0" name="Oval 70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3" name="Oval 71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6" name="Oval 715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7" name="Connector 716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TextBox 723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5" name="Oval 724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6" name="Connector 725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TextBox 728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0" name="Oval 729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1" name="Connector 730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7" name="TextBox 736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8" name="Oval 737"/>
          <p:cNvSpPr/>
          <p:nvPr/>
        </p:nvSpPr>
        <p:spPr>
          <a:xfrm>
            <a:off x="5356872" y="4503535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9" name="Connector 738"/>
          <p:cNvCxnSpPr/>
          <p:nvPr/>
        </p:nvCxnSpPr>
        <p:spPr>
          <a:xfrm flipV="1">
            <a:off x="5385907" y="442307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5495402" y="442307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75693" y="444278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55984" y="446249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36275" y="44822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 flipH="1">
            <a:off x="5303785" y="453257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 flipV="1">
            <a:off x="5276411" y="45873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5511533" y="429403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7" name="Oval 746"/>
          <p:cNvSpPr/>
          <p:nvPr/>
        </p:nvSpPr>
        <p:spPr>
          <a:xfrm>
            <a:off x="5356872" y="4503535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 flipV="1">
            <a:off x="5385907" y="442307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5495402" y="442307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475693" y="444278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455984" y="446249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H="1">
            <a:off x="5303785" y="453257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 flipV="1">
            <a:off x="5276411" y="45873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5511533" y="429403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5" name="Oval 754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6" name="Connector 755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TextBox 757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59" name="Oval 758"/>
          <p:cNvSpPr/>
          <p:nvPr/>
        </p:nvSpPr>
        <p:spPr>
          <a:xfrm>
            <a:off x="7922906" y="304326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0" name="Connector 759"/>
          <p:cNvCxnSpPr/>
          <p:nvPr/>
        </p:nvCxnSpPr>
        <p:spPr>
          <a:xfrm flipV="1">
            <a:off x="7951941" y="2962808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8061437" y="296280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8041728" y="2982517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8022018" y="300222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H="1">
            <a:off x="7869819" y="3072303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H="1" flipV="1">
            <a:off x="7842445" y="3127051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8077567" y="28337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7" name="Connector 766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8" name="Oval 767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9" name="Connector 768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1" name="TextBox 770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拱门旁（与 S5 上下叠放，S4 在下）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拱门旁（叠在 S4 正上方）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法式门框东侧（后花园门旁）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8" name="Rectangle 787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Rectangle 788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TextBox 789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WL1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015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01510" y="5123684"/>
            <a:ext cx="8802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97136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39210" y="6112736"/>
            <a:ext cx="19353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3677151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1597105" y="1588736"/>
            <a:ext cx="0" cy="17101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597105" y="3298887"/>
            <a:ext cx="2199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>
            <a:off x="1817102" y="4629157"/>
            <a:ext cx="12574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1817102" y="3298887"/>
            <a:ext cx="0" cy="13302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2373542" y="3008413"/>
            <a:ext cx="188500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07" name="Rectangle 606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9" name="Oval 608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11" name="Oval 610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3" name="Oval 612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5" name="Oval 614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9" name="Oval 618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23" name="Oval 622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6" name="Oval 625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8" name="Oval 627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0" name="Oval 629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2" name="Oval 631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4" name="Oval 633"/>
          <p:cNvSpPr/>
          <p:nvPr/>
        </p:nvSpPr>
        <p:spPr>
          <a:xfrm>
            <a:off x="1747985" y="322977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747985" y="3298887"/>
            <a:ext cx="138233" cy="69117"/>
          </a:xfrm>
          <a:custGeom>
            <a:avLst/>
            <a:gdLst/>
            <a:ahLst/>
            <a:cxnLst/>
            <a:rect l="l" t="t" r="r" b="b"/>
            <a:pathLst>
              <a:path w="138233" h="69117">
                <a:moveTo>
                  <a:pt x="138233" y="0"/>
                </a:moveTo>
                <a:lnTo>
                  <a:pt x="136905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9"/>
                </a:lnTo>
                <a:lnTo>
                  <a:pt x="95566" y="63856"/>
                </a:lnTo>
                <a:lnTo>
                  <a:pt x="82601" y="67789"/>
                </a:lnTo>
                <a:lnTo>
                  <a:pt x="69117" y="69117"/>
                </a:lnTo>
                <a:lnTo>
                  <a:pt x="55633" y="67789"/>
                </a:lnTo>
                <a:lnTo>
                  <a:pt x="42667" y="63856"/>
                </a:lnTo>
                <a:lnTo>
                  <a:pt x="30717" y="57469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1886218" y="315437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636" name="Oval 635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1651700" y="153414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44" name="Oval 643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5" name="Connector 644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3129174" y="457456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52" name="Oval 651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6" name="TextBox 655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57" name="Oval 65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TextBox 659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61" name="Oval 660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2" name="Connector 661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65" name="Rectangle 664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TextBox 665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9" name="Rectangle 668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1" name="Rectangle 670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TextBox 671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3" name="Rectangle 67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86" name="Rectangle 685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a b c d e f g h i j k l m n o r s t）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p q u v）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15 盏（二层，字母 见二层图）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拱门旁（与 S5 上下叠放，S4 在下）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拱门旁（叠在 S4 正上方）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法式门框东侧（后花园门旁）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71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S7-3，S11-3，S12-3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