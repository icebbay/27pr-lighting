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72" r:id="rId15"/>
    <p:sldId id="273" r:id="rId16"/>
    <p:sldId id="274" r:id="rId17"/>
    <p:sldId id="275" r:id="rId18"/>
    <p:sldId id="276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32E6"/>
    <a:srgbClr val="A9A9A9"/>
    <a:srgbClr val="000075"/>
    <a:srgbClr val="FABED4"/>
    <a:srgbClr val="469990"/>
    <a:srgbClr val="AB54C6"/>
    <a:srgbClr val="800000"/>
    <a:srgbClr val="9A6324"/>
    <a:srgbClr val="E6194B"/>
    <a:srgbClr val="8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778" autoAdjust="0"/>
  </p:normalViewPr>
  <p:slideViewPr>
    <p:cSldViewPr snapToGrid="0" snapToObjects="1">
      <p:cViewPr varScale="1">
        <p:scale>
          <a:sx n="105" d="100"/>
          <a:sy n="105" d="100"/>
        </p:scale>
        <p:origin x="93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7743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2475432" y="173629"/>
            <a:ext cx="3624520" cy="7406973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885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885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TextBox 538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— KEY PLAN</a:t>
            </a:r>
          </a:p>
        </p:txBody>
      </p:sp>
      <p:sp>
        <p:nvSpPr>
          <p:cNvPr id="541" name="Rectangle 540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TextBox 541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3" name="TextBox 542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4" name="Connector 543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5" name="TextBox 544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一层照明总平面（索引图）</a:t>
            </a:r>
          </a:p>
        </p:txBody>
      </p:sp>
      <p:cxnSp>
        <p:nvCxnSpPr>
          <p:cNvPr id="547" name="Connector 546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TextBox 547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E-GF-00</a:t>
            </a:r>
          </a:p>
        </p:txBody>
      </p:sp>
      <p:cxnSp>
        <p:nvCxnSpPr>
          <p:cNvPr id="550" name="Connector 549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1" name="TextBox 550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2" name="TextBox 551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I-B · 方案 B · 精简 17 路（照明 3 路）</a:t>
            </a:r>
          </a:p>
        </p:txBody>
      </p:sp>
      <p:cxnSp>
        <p:nvCxnSpPr>
          <p:cNvPr id="553" name="Connector 552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4" name="TextBox 553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56" name="Connector 555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7" name="Rectangle 556"/>
          <p:cNvSpPr/>
          <p:nvPr/>
        </p:nvSpPr>
        <p:spPr>
          <a:xfrm>
            <a:off x="424615" y="3380384"/>
            <a:ext cx="4320000" cy="234692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8" name="TextBox 557"/>
          <p:cNvSpPr txBox="1"/>
          <p:nvPr/>
        </p:nvSpPr>
        <p:spPr>
          <a:xfrm>
            <a:off x="464615" y="3410384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E-GF-01 放大图：起居室 · G07 区 · 门厅 · 楼梯</a:t>
            </a:r>
          </a:p>
        </p:txBody>
      </p:sp>
      <p:sp>
        <p:nvSpPr>
          <p:cNvPr id="559" name="Rectangle 558"/>
          <p:cNvSpPr/>
          <p:nvPr/>
        </p:nvSpPr>
        <p:spPr>
          <a:xfrm>
            <a:off x="756923" y="1801923"/>
            <a:ext cx="3987692" cy="1827692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TextBox 559"/>
          <p:cNvSpPr txBox="1"/>
          <p:nvPr/>
        </p:nvSpPr>
        <p:spPr>
          <a:xfrm>
            <a:off x="796923" y="1831923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E-GF-02 放大图：G15 区 · 卫生间 · 储物间</a:t>
            </a:r>
          </a:p>
        </p:txBody>
      </p:sp>
      <p:sp>
        <p:nvSpPr>
          <p:cNvPr id="561" name="Rectangle 560"/>
          <p:cNvSpPr/>
          <p:nvPr/>
        </p:nvSpPr>
        <p:spPr>
          <a:xfrm>
            <a:off x="4246153" y="1843461"/>
            <a:ext cx="4153846" cy="3946153"/>
          </a:xfrm>
          <a:prstGeom prst="rect">
            <a:avLst/>
          </a:prstGeom>
          <a:noFill/>
          <a:ln w="15875">
            <a:solidFill>
              <a:srgbClr val="C00000"/>
            </a:solidFill>
            <a:prstDash val="lg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TextBox 561"/>
          <p:cNvSpPr txBox="1"/>
          <p:nvPr/>
        </p:nvSpPr>
        <p:spPr>
          <a:xfrm>
            <a:off x="4286153" y="1873461"/>
            <a:ext cx="24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E-GF-03 放大图：厨房 · 洗衣房 · 后花园</a:t>
            </a:r>
          </a:p>
        </p:txBody>
      </p:sp>
      <p:sp>
        <p:nvSpPr>
          <p:cNvPr id="2" name="Freeform 1"/>
          <p:cNvSpPr/>
          <p:nvPr/>
        </p:nvSpPr>
        <p:spPr>
          <a:xfrm>
            <a:off x="3131490" y="4852591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3" name="Connector 562"/>
          <p:cNvCxnSpPr/>
          <p:nvPr/>
        </p:nvCxnSpPr>
        <p:spPr>
          <a:xfrm>
            <a:off x="3122490" y="4882591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4" name="Oval 563"/>
          <p:cNvSpPr/>
          <p:nvPr/>
        </p:nvSpPr>
        <p:spPr>
          <a:xfrm>
            <a:off x="3740505" y="4189404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3751053" y="4199952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Oval 566"/>
          <p:cNvSpPr/>
          <p:nvPr/>
        </p:nvSpPr>
        <p:spPr>
          <a:xfrm>
            <a:off x="2179037" y="423856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9" name="Connector 568"/>
          <p:cNvCxnSpPr/>
          <p:nvPr/>
        </p:nvCxnSpPr>
        <p:spPr>
          <a:xfrm flipV="1">
            <a:off x="2189585" y="4249108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0" name="Oval 569"/>
          <p:cNvSpPr/>
          <p:nvPr/>
        </p:nvSpPr>
        <p:spPr>
          <a:xfrm>
            <a:off x="1819536" y="5268733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1830084" y="5279281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Oval 572"/>
          <p:cNvSpPr/>
          <p:nvPr/>
        </p:nvSpPr>
        <p:spPr>
          <a:xfrm>
            <a:off x="2752437" y="2813686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4" name="Connector 573"/>
          <p:cNvCxnSpPr/>
          <p:nvPr/>
        </p:nvCxnSpPr>
        <p:spPr>
          <a:xfrm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5" name="Connector 574"/>
          <p:cNvCxnSpPr/>
          <p:nvPr/>
        </p:nvCxnSpPr>
        <p:spPr>
          <a:xfrm flipV="1">
            <a:off x="2762985" y="2824234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6" name="Oval 575"/>
          <p:cNvSpPr/>
          <p:nvPr/>
        </p:nvSpPr>
        <p:spPr>
          <a:xfrm>
            <a:off x="3970087" y="2563428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980635" y="2573976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Freeform 2"/>
          <p:cNvSpPr/>
          <p:nvPr/>
        </p:nvSpPr>
        <p:spPr>
          <a:xfrm>
            <a:off x="1424735" y="5265209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7" y="18519"/>
                </a:lnTo>
                <a:lnTo>
                  <a:pt x="54944" y="13333"/>
                </a:lnTo>
                <a:lnTo>
                  <a:pt x="51214" y="8787"/>
                </a:lnTo>
                <a:lnTo>
                  <a:pt x="46668" y="5056"/>
                </a:lnTo>
                <a:lnTo>
                  <a:pt x="41481" y="2283"/>
                </a:lnTo>
                <a:lnTo>
                  <a:pt x="35853" y="576"/>
                </a:lnTo>
                <a:lnTo>
                  <a:pt x="30000" y="0"/>
                </a:lnTo>
                <a:lnTo>
                  <a:pt x="24148" y="576"/>
                </a:lnTo>
                <a:lnTo>
                  <a:pt x="18520" y="2283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7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9" name="Connector 578"/>
          <p:cNvCxnSpPr/>
          <p:nvPr/>
        </p:nvCxnSpPr>
        <p:spPr>
          <a:xfrm>
            <a:off x="1415735" y="5295209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Freeform 4"/>
          <p:cNvSpPr/>
          <p:nvPr/>
        </p:nvSpPr>
        <p:spPr>
          <a:xfrm>
            <a:off x="7872986" y="4884152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4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1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20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0" name="Connector 579"/>
          <p:cNvCxnSpPr/>
          <p:nvPr/>
        </p:nvCxnSpPr>
        <p:spPr>
          <a:xfrm>
            <a:off x="7863986" y="4914152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Freeform 109"/>
          <p:cNvSpPr/>
          <p:nvPr/>
        </p:nvSpPr>
        <p:spPr>
          <a:xfrm>
            <a:off x="5818281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2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6" y="8787"/>
                </a:lnTo>
                <a:lnTo>
                  <a:pt x="5056" y="13333"/>
                </a:lnTo>
                <a:lnTo>
                  <a:pt x="2283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1" name="Connector 580"/>
          <p:cNvCxnSpPr/>
          <p:nvPr/>
        </p:nvCxnSpPr>
        <p:spPr>
          <a:xfrm>
            <a:off x="5809281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Freeform 110"/>
          <p:cNvSpPr/>
          <p:nvPr/>
        </p:nvSpPr>
        <p:spPr>
          <a:xfrm>
            <a:off x="6902578" y="4173138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2" name="Connector 581"/>
          <p:cNvCxnSpPr/>
          <p:nvPr/>
        </p:nvCxnSpPr>
        <p:spPr>
          <a:xfrm>
            <a:off x="6893578" y="4203138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Oval 582"/>
          <p:cNvSpPr/>
          <p:nvPr/>
        </p:nvSpPr>
        <p:spPr>
          <a:xfrm>
            <a:off x="266400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Oval 583"/>
          <p:cNvSpPr/>
          <p:nvPr/>
        </p:nvSpPr>
        <p:spPr>
          <a:xfrm>
            <a:off x="268050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2185977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Oval 585"/>
          <p:cNvSpPr/>
          <p:nvPr/>
        </p:nvSpPr>
        <p:spPr>
          <a:xfrm>
            <a:off x="2202477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1705620" y="46606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1722120" y="46771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Oval 588"/>
          <p:cNvSpPr/>
          <p:nvPr/>
        </p:nvSpPr>
        <p:spPr>
          <a:xfrm>
            <a:off x="1711115" y="426333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1727615" y="427983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2191471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Oval 591"/>
          <p:cNvSpPr/>
          <p:nvPr/>
        </p:nvSpPr>
        <p:spPr>
          <a:xfrm>
            <a:off x="2207971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669494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2685994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Oval 594"/>
          <p:cNvSpPr/>
          <p:nvPr/>
        </p:nvSpPr>
        <p:spPr>
          <a:xfrm>
            <a:off x="2669494" y="425556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685994" y="427206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1711115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Oval 597"/>
          <p:cNvSpPr/>
          <p:nvPr/>
        </p:nvSpPr>
        <p:spPr>
          <a:xfrm>
            <a:off x="1727615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3739072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Oval 599"/>
          <p:cNvSpPr/>
          <p:nvPr/>
        </p:nvSpPr>
        <p:spPr>
          <a:xfrm>
            <a:off x="3755572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1" name="Oval 600"/>
          <p:cNvSpPr/>
          <p:nvPr/>
        </p:nvSpPr>
        <p:spPr>
          <a:xfrm>
            <a:off x="325871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327521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Oval 602"/>
          <p:cNvSpPr/>
          <p:nvPr/>
        </p:nvSpPr>
        <p:spPr>
          <a:xfrm>
            <a:off x="3268415" y="41833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Oval 603"/>
          <p:cNvSpPr/>
          <p:nvPr/>
        </p:nvSpPr>
        <p:spPr>
          <a:xfrm>
            <a:off x="3284915" y="41998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325871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Oval 605"/>
          <p:cNvSpPr/>
          <p:nvPr/>
        </p:nvSpPr>
        <p:spPr>
          <a:xfrm>
            <a:off x="327521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7" name="Oval 606"/>
          <p:cNvSpPr/>
          <p:nvPr/>
        </p:nvSpPr>
        <p:spPr>
          <a:xfrm>
            <a:off x="3739072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3755572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Oval 608"/>
          <p:cNvSpPr/>
          <p:nvPr/>
        </p:nvSpPr>
        <p:spPr>
          <a:xfrm>
            <a:off x="4217097" y="383796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Oval 609"/>
          <p:cNvSpPr/>
          <p:nvPr/>
        </p:nvSpPr>
        <p:spPr>
          <a:xfrm>
            <a:off x="4233597" y="385446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4226795" y="4209290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Oval 611"/>
          <p:cNvSpPr/>
          <p:nvPr/>
        </p:nvSpPr>
        <p:spPr>
          <a:xfrm>
            <a:off x="4243295" y="4225790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Oval 612"/>
          <p:cNvSpPr/>
          <p:nvPr/>
        </p:nvSpPr>
        <p:spPr>
          <a:xfrm>
            <a:off x="4217097" y="455722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4233597" y="457372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Oval 614"/>
          <p:cNvSpPr/>
          <p:nvPr/>
        </p:nvSpPr>
        <p:spPr>
          <a:xfrm>
            <a:off x="6619311" y="4808001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 flipV="1">
            <a:off x="6629859" y="4818549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Oval 617"/>
          <p:cNvSpPr/>
          <p:nvPr/>
        </p:nvSpPr>
        <p:spPr>
          <a:xfrm>
            <a:off x="5433865" y="4830107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9" name="Connector 618"/>
          <p:cNvCxnSpPr/>
          <p:nvPr/>
        </p:nvCxnSpPr>
        <p:spPr>
          <a:xfrm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0" name="Connector 619"/>
          <p:cNvCxnSpPr/>
          <p:nvPr/>
        </p:nvCxnSpPr>
        <p:spPr>
          <a:xfrm flipV="1">
            <a:off x="5444413" y="4840655"/>
            <a:ext cx="50904" cy="50904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1" name="Oval 620"/>
          <p:cNvSpPr/>
          <p:nvPr/>
        </p:nvSpPr>
        <p:spPr>
          <a:xfrm>
            <a:off x="2298853" y="526702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Oval 621"/>
          <p:cNvSpPr/>
          <p:nvPr/>
        </p:nvSpPr>
        <p:spPr>
          <a:xfrm>
            <a:off x="2315353" y="528352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2766177" y="3267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Oval 623"/>
          <p:cNvSpPr/>
          <p:nvPr/>
        </p:nvSpPr>
        <p:spPr>
          <a:xfrm>
            <a:off x="2782677" y="3284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Oval 624"/>
          <p:cNvSpPr/>
          <p:nvPr/>
        </p:nvSpPr>
        <p:spPr>
          <a:xfrm>
            <a:off x="2340398" y="3261563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2356898" y="3278063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Oval 626"/>
          <p:cNvSpPr/>
          <p:nvPr/>
        </p:nvSpPr>
        <p:spPr>
          <a:xfrm>
            <a:off x="2347767" y="282705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Oval 627"/>
          <p:cNvSpPr/>
          <p:nvPr/>
        </p:nvSpPr>
        <p:spPr>
          <a:xfrm>
            <a:off x="2364267" y="284355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2345560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Oval 629"/>
          <p:cNvSpPr/>
          <p:nvPr/>
        </p:nvSpPr>
        <p:spPr>
          <a:xfrm>
            <a:off x="2362060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Oval 630"/>
          <p:cNvSpPr/>
          <p:nvPr/>
        </p:nvSpPr>
        <p:spPr>
          <a:xfrm>
            <a:off x="2757413" y="2414265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2773913" y="2430765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Oval 632"/>
          <p:cNvSpPr/>
          <p:nvPr/>
        </p:nvSpPr>
        <p:spPr>
          <a:xfrm>
            <a:off x="3232030" y="242108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Oval 633"/>
          <p:cNvSpPr/>
          <p:nvPr/>
        </p:nvSpPr>
        <p:spPr>
          <a:xfrm>
            <a:off x="3248530" y="243758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3245679" y="2811294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Oval 635"/>
          <p:cNvSpPr/>
          <p:nvPr/>
        </p:nvSpPr>
        <p:spPr>
          <a:xfrm>
            <a:off x="3262179" y="2827794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7" name="Oval 636"/>
          <p:cNvSpPr/>
          <p:nvPr/>
        </p:nvSpPr>
        <p:spPr>
          <a:xfrm>
            <a:off x="3245679" y="3275557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8" name="Oval 637"/>
          <p:cNvSpPr/>
          <p:nvPr/>
        </p:nvSpPr>
        <p:spPr>
          <a:xfrm>
            <a:off x="3262179" y="3292057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9" name="Oval 638"/>
          <p:cNvSpPr/>
          <p:nvPr/>
        </p:nvSpPr>
        <p:spPr>
          <a:xfrm>
            <a:off x="7351456" y="5071449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0" name="Oval 639"/>
          <p:cNvSpPr/>
          <p:nvPr/>
        </p:nvSpPr>
        <p:spPr>
          <a:xfrm>
            <a:off x="7367956" y="5087949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1" name="Oval 640"/>
          <p:cNvSpPr/>
          <p:nvPr/>
        </p:nvSpPr>
        <p:spPr>
          <a:xfrm>
            <a:off x="4116828" y="3333851"/>
            <a:ext cx="48000" cy="4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Oval 641"/>
          <p:cNvSpPr/>
          <p:nvPr/>
        </p:nvSpPr>
        <p:spPr>
          <a:xfrm>
            <a:off x="4133328" y="3350351"/>
            <a:ext cx="15000" cy="15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3" name="Oval 642"/>
          <p:cNvSpPr/>
          <p:nvPr/>
        </p:nvSpPr>
        <p:spPr>
          <a:xfrm>
            <a:off x="496122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497022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4" name="Oval 643"/>
          <p:cNvSpPr/>
          <p:nvPr/>
        </p:nvSpPr>
        <p:spPr>
          <a:xfrm>
            <a:off x="5742388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5751388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5" name="Oval 644"/>
          <p:cNvSpPr/>
          <p:nvPr/>
        </p:nvSpPr>
        <p:spPr>
          <a:xfrm>
            <a:off x="6461367" y="2130521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6470367" y="2138021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6" name="Oval 645"/>
          <p:cNvSpPr/>
          <p:nvPr/>
        </p:nvSpPr>
        <p:spPr>
          <a:xfrm>
            <a:off x="6869437" y="2132488"/>
            <a:ext cx="42000" cy="4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6878437" y="2139988"/>
            <a:ext cx="24000" cy="22500"/>
          </a:xfrm>
          <a:custGeom>
            <a:avLst/>
            <a:gdLst/>
            <a:ahLst/>
            <a:cxnLst/>
            <a:rect l="l" t="t" r="r" b="b"/>
            <a:pathLst>
              <a:path w="24000" h="22500">
                <a:moveTo>
                  <a:pt x="12000" y="0"/>
                </a:moveTo>
                <a:lnTo>
                  <a:pt x="0" y="22500"/>
                </a:lnTo>
                <a:lnTo>
                  <a:pt x="24000" y="22500"/>
                </a:lnTo>
                <a:lnTo>
                  <a:pt x="12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552756" y="3479614"/>
            <a:ext cx="60000" cy="30000"/>
          </a:xfrm>
          <a:custGeom>
            <a:avLst/>
            <a:gdLst/>
            <a:ahLst/>
            <a:cxnLst/>
            <a:rect l="l" t="t" r="r" b="b"/>
            <a:pathLst>
              <a:path w="60000" h="30000">
                <a:moveTo>
                  <a:pt x="60000" y="30000"/>
                </a:moveTo>
                <a:lnTo>
                  <a:pt x="59423" y="24147"/>
                </a:lnTo>
                <a:lnTo>
                  <a:pt x="57716" y="18519"/>
                </a:lnTo>
                <a:lnTo>
                  <a:pt x="54944" y="13333"/>
                </a:lnTo>
                <a:lnTo>
                  <a:pt x="51213" y="8787"/>
                </a:lnTo>
                <a:lnTo>
                  <a:pt x="46667" y="5056"/>
                </a:lnTo>
                <a:lnTo>
                  <a:pt x="41480" y="2284"/>
                </a:lnTo>
                <a:lnTo>
                  <a:pt x="35853" y="576"/>
                </a:lnTo>
                <a:lnTo>
                  <a:pt x="30000" y="0"/>
                </a:lnTo>
                <a:lnTo>
                  <a:pt x="24147" y="576"/>
                </a:lnTo>
                <a:lnTo>
                  <a:pt x="18519" y="2284"/>
                </a:lnTo>
                <a:lnTo>
                  <a:pt x="13333" y="5056"/>
                </a:lnTo>
                <a:lnTo>
                  <a:pt x="8787" y="8787"/>
                </a:lnTo>
                <a:lnTo>
                  <a:pt x="5056" y="13333"/>
                </a:lnTo>
                <a:lnTo>
                  <a:pt x="2284" y="18519"/>
                </a:lnTo>
                <a:lnTo>
                  <a:pt x="576" y="24147"/>
                </a:lnTo>
                <a:lnTo>
                  <a:pt x="0" y="30000"/>
                </a:lnTo>
                <a:lnTo>
                  <a:pt x="60000" y="3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7" name="Connector 646"/>
          <p:cNvCxnSpPr/>
          <p:nvPr/>
        </p:nvCxnSpPr>
        <p:spPr>
          <a:xfrm>
            <a:off x="4543756" y="3509614"/>
            <a:ext cx="78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8" name="Oval 647"/>
          <p:cNvSpPr/>
          <p:nvPr/>
        </p:nvSpPr>
        <p:spPr>
          <a:xfrm>
            <a:off x="1486961" y="4928730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9" name="Connector 648"/>
          <p:cNvCxnSpPr/>
          <p:nvPr/>
        </p:nvCxnSpPr>
        <p:spPr>
          <a:xfrm flipV="1">
            <a:off x="1500461" y="4882479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0" name="Connector 649"/>
          <p:cNvCxnSpPr/>
          <p:nvPr/>
        </p:nvCxnSpPr>
        <p:spPr>
          <a:xfrm>
            <a:off x="1550598" y="4882479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1" name="Connector 650"/>
          <p:cNvCxnSpPr/>
          <p:nvPr/>
        </p:nvCxnSpPr>
        <p:spPr>
          <a:xfrm>
            <a:off x="1542075" y="4892637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1533552" y="490279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1525028" y="491295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TextBox 653"/>
          <p:cNvSpPr txBox="1"/>
          <p:nvPr/>
        </p:nvSpPr>
        <p:spPr>
          <a:xfrm>
            <a:off x="1250461" y="4972230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55" name="Oval 654"/>
          <p:cNvSpPr/>
          <p:nvPr/>
        </p:nvSpPr>
        <p:spPr>
          <a:xfrm>
            <a:off x="1997884" y="5153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6" name="Connector 655"/>
          <p:cNvCxnSpPr/>
          <p:nvPr/>
        </p:nvCxnSpPr>
        <p:spPr>
          <a:xfrm flipV="1">
            <a:off x="2011384" y="5106786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7" name="Connector 656"/>
          <p:cNvCxnSpPr/>
          <p:nvPr/>
        </p:nvCxnSpPr>
        <p:spPr>
          <a:xfrm>
            <a:off x="2061522" y="5106786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2052998" y="5116944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9" name="TextBox 658"/>
          <p:cNvSpPr txBox="1"/>
          <p:nvPr/>
        </p:nvSpPr>
        <p:spPr>
          <a:xfrm>
            <a:off x="1761384" y="5196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60" name="Oval 659"/>
          <p:cNvSpPr/>
          <p:nvPr/>
        </p:nvSpPr>
        <p:spPr>
          <a:xfrm>
            <a:off x="2986500" y="4667038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1" name="Connector 660"/>
          <p:cNvCxnSpPr/>
          <p:nvPr/>
        </p:nvCxnSpPr>
        <p:spPr>
          <a:xfrm flipV="1">
            <a:off x="3000000" y="4620786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2" name="Connector 661"/>
          <p:cNvCxnSpPr/>
          <p:nvPr/>
        </p:nvCxnSpPr>
        <p:spPr>
          <a:xfrm>
            <a:off x="3050137" y="4620786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3" name="Connector 662"/>
          <p:cNvCxnSpPr/>
          <p:nvPr/>
        </p:nvCxnSpPr>
        <p:spPr>
          <a:xfrm>
            <a:off x="3041614" y="4630944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4" name="Connector 663"/>
          <p:cNvCxnSpPr/>
          <p:nvPr/>
        </p:nvCxnSpPr>
        <p:spPr>
          <a:xfrm>
            <a:off x="3033090" y="46411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5" name="TextBox 664"/>
          <p:cNvSpPr txBox="1"/>
          <p:nvPr/>
        </p:nvSpPr>
        <p:spPr>
          <a:xfrm>
            <a:off x="2750000" y="4710538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6" name="Oval 665"/>
          <p:cNvSpPr/>
          <p:nvPr/>
        </p:nvSpPr>
        <p:spPr>
          <a:xfrm>
            <a:off x="3106961" y="500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7" name="Connector 666"/>
          <p:cNvCxnSpPr/>
          <p:nvPr/>
        </p:nvCxnSpPr>
        <p:spPr>
          <a:xfrm flipV="1">
            <a:off x="3120461" y="496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3170598" y="496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9" name="Connector 668"/>
          <p:cNvCxnSpPr/>
          <p:nvPr/>
        </p:nvCxnSpPr>
        <p:spPr>
          <a:xfrm>
            <a:off x="3162075" y="497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0" name="Connector 669"/>
          <p:cNvCxnSpPr/>
          <p:nvPr/>
        </p:nvCxnSpPr>
        <p:spPr>
          <a:xfrm>
            <a:off x="3153552" y="49817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1" name="Connector 670"/>
          <p:cNvCxnSpPr/>
          <p:nvPr/>
        </p:nvCxnSpPr>
        <p:spPr>
          <a:xfrm>
            <a:off x="3145028" y="49918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2" name="TextBox 671"/>
          <p:cNvSpPr txBox="1"/>
          <p:nvPr/>
        </p:nvSpPr>
        <p:spPr>
          <a:xfrm>
            <a:off x="2870461" y="505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3" name="Oval 672"/>
          <p:cNvSpPr/>
          <p:nvPr/>
        </p:nvSpPr>
        <p:spPr>
          <a:xfrm>
            <a:off x="3173423" y="4808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4" name="Connector 673"/>
          <p:cNvCxnSpPr/>
          <p:nvPr/>
        </p:nvCxnSpPr>
        <p:spPr>
          <a:xfrm flipV="1">
            <a:off x="3186923" y="4762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3237060" y="4762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6" name="Connector 675"/>
          <p:cNvCxnSpPr/>
          <p:nvPr/>
        </p:nvCxnSpPr>
        <p:spPr>
          <a:xfrm>
            <a:off x="3228537" y="477217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7" name="Connector 676"/>
          <p:cNvCxnSpPr/>
          <p:nvPr/>
        </p:nvCxnSpPr>
        <p:spPr>
          <a:xfrm>
            <a:off x="3220013" y="47823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8" name="TextBox 677"/>
          <p:cNvSpPr txBox="1"/>
          <p:nvPr/>
        </p:nvSpPr>
        <p:spPr>
          <a:xfrm>
            <a:off x="2936923" y="4851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9" name="Oval 678"/>
          <p:cNvSpPr/>
          <p:nvPr/>
        </p:nvSpPr>
        <p:spPr>
          <a:xfrm>
            <a:off x="3173423" y="5439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0" name="Connector 679"/>
          <p:cNvCxnSpPr/>
          <p:nvPr/>
        </p:nvCxnSpPr>
        <p:spPr>
          <a:xfrm flipV="1">
            <a:off x="3186923" y="5393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1" name="Connector 680"/>
          <p:cNvCxnSpPr/>
          <p:nvPr/>
        </p:nvCxnSpPr>
        <p:spPr>
          <a:xfrm>
            <a:off x="3237060" y="5393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2" name="TextBox 681"/>
          <p:cNvSpPr txBox="1"/>
          <p:nvPr/>
        </p:nvSpPr>
        <p:spPr>
          <a:xfrm>
            <a:off x="2936923" y="5483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3" name="Oval 682"/>
          <p:cNvSpPr/>
          <p:nvPr/>
        </p:nvSpPr>
        <p:spPr>
          <a:xfrm>
            <a:off x="4419622" y="408960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4" name="Connector 683"/>
          <p:cNvCxnSpPr/>
          <p:nvPr/>
        </p:nvCxnSpPr>
        <p:spPr>
          <a:xfrm flipV="1">
            <a:off x="4433122" y="4043358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4483260" y="4043358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4474736" y="4053515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4466213" y="406367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8" name="TextBox 687"/>
          <p:cNvSpPr txBox="1"/>
          <p:nvPr/>
        </p:nvSpPr>
        <p:spPr>
          <a:xfrm>
            <a:off x="4183122" y="413310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89" name="Oval 688"/>
          <p:cNvSpPr/>
          <p:nvPr/>
        </p:nvSpPr>
        <p:spPr>
          <a:xfrm>
            <a:off x="3003115" y="339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0" name="Connector 689"/>
          <p:cNvCxnSpPr/>
          <p:nvPr/>
        </p:nvCxnSpPr>
        <p:spPr>
          <a:xfrm flipV="1">
            <a:off x="3016615" y="334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1" name="Connector 690"/>
          <p:cNvCxnSpPr/>
          <p:nvPr/>
        </p:nvCxnSpPr>
        <p:spPr>
          <a:xfrm>
            <a:off x="3066752" y="334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2" name="Connector 691"/>
          <p:cNvCxnSpPr/>
          <p:nvPr/>
        </p:nvCxnSpPr>
        <p:spPr>
          <a:xfrm>
            <a:off x="3058229" y="335986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3" name="Connector 692"/>
          <p:cNvCxnSpPr/>
          <p:nvPr/>
        </p:nvCxnSpPr>
        <p:spPr>
          <a:xfrm>
            <a:off x="3049706" y="3370025"/>
            <a:ext cx="14937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4" name="Connector 693"/>
          <p:cNvCxnSpPr/>
          <p:nvPr/>
        </p:nvCxnSpPr>
        <p:spPr>
          <a:xfrm>
            <a:off x="3041182" y="33801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5" name="TextBox 694"/>
          <p:cNvSpPr txBox="1"/>
          <p:nvPr/>
        </p:nvSpPr>
        <p:spPr>
          <a:xfrm>
            <a:off x="2766615" y="343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96" name="Oval 695"/>
          <p:cNvSpPr/>
          <p:nvPr/>
        </p:nvSpPr>
        <p:spPr>
          <a:xfrm>
            <a:off x="2031115" y="2502884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7" name="Connector 696"/>
          <p:cNvCxnSpPr/>
          <p:nvPr/>
        </p:nvCxnSpPr>
        <p:spPr>
          <a:xfrm flipV="1">
            <a:off x="2044615" y="2456633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8" name="Connector 697"/>
          <p:cNvCxnSpPr/>
          <p:nvPr/>
        </p:nvCxnSpPr>
        <p:spPr>
          <a:xfrm>
            <a:off x="2094752" y="245663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9" name="Connector 698"/>
          <p:cNvCxnSpPr/>
          <p:nvPr/>
        </p:nvCxnSpPr>
        <p:spPr>
          <a:xfrm>
            <a:off x="2086229" y="246679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0" name="Connector 699"/>
          <p:cNvCxnSpPr/>
          <p:nvPr/>
        </p:nvCxnSpPr>
        <p:spPr>
          <a:xfrm>
            <a:off x="2077706" y="2476948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1" name="Connector 700"/>
          <p:cNvCxnSpPr/>
          <p:nvPr/>
        </p:nvCxnSpPr>
        <p:spPr>
          <a:xfrm>
            <a:off x="2069182" y="248710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2" name="TextBox 701"/>
          <p:cNvSpPr txBox="1"/>
          <p:nvPr/>
        </p:nvSpPr>
        <p:spPr>
          <a:xfrm>
            <a:off x="1794615" y="2546384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703" name="Oval 702"/>
          <p:cNvSpPr/>
          <p:nvPr/>
        </p:nvSpPr>
        <p:spPr>
          <a:xfrm>
            <a:off x="4033269" y="3026269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4" name="Connector 703"/>
          <p:cNvCxnSpPr/>
          <p:nvPr/>
        </p:nvCxnSpPr>
        <p:spPr>
          <a:xfrm flipV="1">
            <a:off x="4046769" y="2980017"/>
            <a:ext cx="50137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5" name="Connector 704"/>
          <p:cNvCxnSpPr/>
          <p:nvPr/>
        </p:nvCxnSpPr>
        <p:spPr>
          <a:xfrm>
            <a:off x="4096906" y="2980017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6" name="TextBox 705"/>
          <p:cNvSpPr txBox="1"/>
          <p:nvPr/>
        </p:nvSpPr>
        <p:spPr>
          <a:xfrm>
            <a:off x="3796769" y="3069769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707" name="Oval 706"/>
          <p:cNvSpPr/>
          <p:nvPr/>
        </p:nvSpPr>
        <p:spPr>
          <a:xfrm>
            <a:off x="4419576" y="2332576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8" name="Connector 707"/>
          <p:cNvCxnSpPr/>
          <p:nvPr/>
        </p:nvCxnSpPr>
        <p:spPr>
          <a:xfrm flipV="1">
            <a:off x="4433076" y="2286325"/>
            <a:ext cx="50138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9" name="Connector 708"/>
          <p:cNvCxnSpPr/>
          <p:nvPr/>
        </p:nvCxnSpPr>
        <p:spPr>
          <a:xfrm>
            <a:off x="4483214" y="2286325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0" name="Connector 709"/>
          <p:cNvCxnSpPr/>
          <p:nvPr/>
        </p:nvCxnSpPr>
        <p:spPr>
          <a:xfrm>
            <a:off x="4474690" y="2296483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1" name="Connector 710"/>
          <p:cNvCxnSpPr/>
          <p:nvPr/>
        </p:nvCxnSpPr>
        <p:spPr>
          <a:xfrm>
            <a:off x="4466167" y="2306640"/>
            <a:ext cx="14938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2" name="TextBox 711"/>
          <p:cNvSpPr txBox="1"/>
          <p:nvPr/>
        </p:nvSpPr>
        <p:spPr>
          <a:xfrm>
            <a:off x="4183076" y="2376076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713" name="Oval 712"/>
          <p:cNvSpPr/>
          <p:nvPr/>
        </p:nvSpPr>
        <p:spPr>
          <a:xfrm>
            <a:off x="5424807" y="4401192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14" name="Connector 713"/>
          <p:cNvCxnSpPr/>
          <p:nvPr/>
        </p:nvCxnSpPr>
        <p:spPr>
          <a:xfrm flipV="1">
            <a:off x="5438307" y="4354940"/>
            <a:ext cx="50138" cy="5975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5" name="Connector 714"/>
          <p:cNvCxnSpPr/>
          <p:nvPr/>
        </p:nvCxnSpPr>
        <p:spPr>
          <a:xfrm>
            <a:off x="5488445" y="4354940"/>
            <a:ext cx="14937" cy="1253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6" name="Connector 715"/>
          <p:cNvCxnSpPr/>
          <p:nvPr/>
        </p:nvCxnSpPr>
        <p:spPr>
          <a:xfrm>
            <a:off x="5479921" y="4365098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7" name="Connector 716"/>
          <p:cNvCxnSpPr/>
          <p:nvPr/>
        </p:nvCxnSpPr>
        <p:spPr>
          <a:xfrm>
            <a:off x="5471398" y="4375256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8" name="TextBox 717"/>
          <p:cNvSpPr txBox="1"/>
          <p:nvPr/>
        </p:nvSpPr>
        <p:spPr>
          <a:xfrm>
            <a:off x="5188307" y="4444692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719" name="Oval 718"/>
          <p:cNvSpPr/>
          <p:nvPr/>
        </p:nvSpPr>
        <p:spPr>
          <a:xfrm>
            <a:off x="4681269" y="4737653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0" name="Connector 719"/>
          <p:cNvCxnSpPr/>
          <p:nvPr/>
        </p:nvCxnSpPr>
        <p:spPr>
          <a:xfrm flipV="1">
            <a:off x="4694769" y="4691402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1" name="Connector 720"/>
          <p:cNvCxnSpPr/>
          <p:nvPr/>
        </p:nvCxnSpPr>
        <p:spPr>
          <a:xfrm>
            <a:off x="4744906" y="4691402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2" name="Connector 721"/>
          <p:cNvCxnSpPr/>
          <p:nvPr/>
        </p:nvCxnSpPr>
        <p:spPr>
          <a:xfrm>
            <a:off x="4736383" y="470156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3" name="TextBox 722"/>
          <p:cNvSpPr txBox="1"/>
          <p:nvPr/>
        </p:nvSpPr>
        <p:spPr>
          <a:xfrm>
            <a:off x="4444769" y="4781153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724" name="Oval 723"/>
          <p:cNvSpPr/>
          <p:nvPr/>
        </p:nvSpPr>
        <p:spPr>
          <a:xfrm>
            <a:off x="7198500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5" name="Connector 724"/>
          <p:cNvCxnSpPr/>
          <p:nvPr/>
        </p:nvCxnSpPr>
        <p:spPr>
          <a:xfrm flipV="1">
            <a:off x="7212000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6" name="Connector 725"/>
          <p:cNvCxnSpPr/>
          <p:nvPr/>
        </p:nvCxnSpPr>
        <p:spPr>
          <a:xfrm>
            <a:off x="7262137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7" name="TextBox 726"/>
          <p:cNvSpPr txBox="1"/>
          <p:nvPr/>
        </p:nvSpPr>
        <p:spPr>
          <a:xfrm>
            <a:off x="6962000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728" name="Oval 727"/>
          <p:cNvSpPr/>
          <p:nvPr/>
        </p:nvSpPr>
        <p:spPr>
          <a:xfrm>
            <a:off x="7534961" y="4745961"/>
            <a:ext cx="27000" cy="27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29" name="Connector 728"/>
          <p:cNvCxnSpPr/>
          <p:nvPr/>
        </p:nvCxnSpPr>
        <p:spPr>
          <a:xfrm flipV="1">
            <a:off x="7548461" y="4699710"/>
            <a:ext cx="50137" cy="59751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0" name="Connector 729"/>
          <p:cNvCxnSpPr/>
          <p:nvPr/>
        </p:nvCxnSpPr>
        <p:spPr>
          <a:xfrm>
            <a:off x="7598598" y="4699710"/>
            <a:ext cx="14938" cy="1253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1" name="TextBox 730"/>
          <p:cNvSpPr txBox="1"/>
          <p:nvPr/>
        </p:nvSpPr>
        <p:spPr>
          <a:xfrm>
            <a:off x="7298461" y="4789461"/>
            <a:ext cx="24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65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cxnSp>
        <p:nvCxnSpPr>
          <p:cNvPr id="732" name="Connector 731"/>
          <p:cNvCxnSpPr/>
          <p:nvPr/>
        </p:nvCxnSpPr>
        <p:spPr>
          <a:xfrm flipV="1">
            <a:off x="3186923" y="5283140"/>
            <a:ext cx="788684" cy="17001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3" name="Oval 732"/>
          <p:cNvSpPr/>
          <p:nvPr/>
        </p:nvSpPr>
        <p:spPr>
          <a:xfrm>
            <a:off x="3939607" y="5247140"/>
            <a:ext cx="72000" cy="72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34" name="Connector 733"/>
          <p:cNvCxnSpPr/>
          <p:nvPr/>
        </p:nvCxnSpPr>
        <p:spPr>
          <a:xfrm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5" name="Connector 734"/>
          <p:cNvCxnSpPr/>
          <p:nvPr/>
        </p:nvCxnSpPr>
        <p:spPr>
          <a:xfrm flipV="1">
            <a:off x="3950155" y="5257688"/>
            <a:ext cx="50904" cy="50904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6" name="TextBox 735"/>
          <p:cNvSpPr txBox="1"/>
          <p:nvPr/>
        </p:nvSpPr>
        <p:spPr>
          <a:xfrm>
            <a:off x="4020607" y="5208140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737" name="Rectangle 736"/>
          <p:cNvSpPr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8" name="TextBox 737"/>
          <p:cNvSpPr txBox="1"/>
          <p:nvPr/>
        </p:nvSpPr>
        <p:spPr>
          <a:xfrm>
            <a:off x="5595000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39" name="Rectangle 738"/>
          <p:cNvSpPr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0" name="TextBox 739"/>
          <p:cNvSpPr txBox="1"/>
          <p:nvPr/>
        </p:nvSpPr>
        <p:spPr>
          <a:xfrm>
            <a:off x="6479769" y="5485807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1" name="Rectangle 740"/>
          <p:cNvSpPr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2" name="TextBox 741"/>
          <p:cNvSpPr txBox="1"/>
          <p:nvPr/>
        </p:nvSpPr>
        <p:spPr>
          <a:xfrm>
            <a:off x="6712384" y="5444269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3" name="Rectangle 742"/>
          <p:cNvSpPr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4" name="TextBox 743"/>
          <p:cNvSpPr txBox="1"/>
          <p:nvPr/>
        </p:nvSpPr>
        <p:spPr>
          <a:xfrm>
            <a:off x="7215000" y="5411038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5" name="Rectangle 744"/>
          <p:cNvSpPr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6" name="TextBox 745"/>
          <p:cNvSpPr txBox="1"/>
          <p:nvPr/>
        </p:nvSpPr>
        <p:spPr>
          <a:xfrm>
            <a:off x="7431000" y="5427653"/>
            <a:ext cx="102000" cy="51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47" name="Oval 746"/>
          <p:cNvSpPr/>
          <p:nvPr/>
        </p:nvSpPr>
        <p:spPr>
          <a:xfrm>
            <a:off x="8766000" y="328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48" name="Connector 747"/>
          <p:cNvCxnSpPr/>
          <p:nvPr/>
        </p:nvCxnSpPr>
        <p:spPr>
          <a:xfrm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9" name="Connector 748"/>
          <p:cNvCxnSpPr/>
          <p:nvPr/>
        </p:nvCxnSpPr>
        <p:spPr>
          <a:xfrm flipV="1">
            <a:off x="8787096" y="349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0" name="TextBox 749"/>
          <p:cNvSpPr txBox="1"/>
          <p:nvPr/>
        </p:nvSpPr>
        <p:spPr>
          <a:xfrm>
            <a:off x="8982000" y="33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吊灯 / 吸顶主灯</a:t>
            </a:r>
          </a:p>
        </p:txBody>
      </p:sp>
      <p:sp>
        <p:nvSpPr>
          <p:cNvPr id="751" name="Oval 750"/>
          <p:cNvSpPr/>
          <p:nvPr/>
        </p:nvSpPr>
        <p:spPr>
          <a:xfrm>
            <a:off x="8766000" y="502000"/>
            <a:ext cx="144000" cy="14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2" name="Connector 751"/>
          <p:cNvCxnSpPr/>
          <p:nvPr/>
        </p:nvCxnSpPr>
        <p:spPr>
          <a:xfrm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3" name="Connector 752"/>
          <p:cNvCxnSpPr/>
          <p:nvPr/>
        </p:nvCxnSpPr>
        <p:spPr>
          <a:xfrm flipV="1">
            <a:off x="8787096" y="523096"/>
            <a:ext cx="101808" cy="101808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4" name="TextBox 753"/>
          <p:cNvSpPr txBox="1"/>
          <p:nvPr/>
        </p:nvSpPr>
        <p:spPr>
          <a:xfrm>
            <a:off x="8982000" y="50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主灯位（产品待选）</a:t>
            </a:r>
          </a:p>
        </p:txBody>
      </p:sp>
      <p:sp>
        <p:nvSpPr>
          <p:cNvPr id="755" name="Oval 754"/>
          <p:cNvSpPr/>
          <p:nvPr/>
        </p:nvSpPr>
        <p:spPr>
          <a:xfrm>
            <a:off x="8790000" y="700000"/>
            <a:ext cx="96000" cy="96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6" name="Oval 755"/>
          <p:cNvSpPr/>
          <p:nvPr/>
        </p:nvSpPr>
        <p:spPr>
          <a:xfrm>
            <a:off x="8823000" y="733000"/>
            <a:ext cx="30000" cy="30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7" name="TextBox 756"/>
          <p:cNvSpPr txBox="1"/>
          <p:nvPr/>
        </p:nvSpPr>
        <p:spPr>
          <a:xfrm>
            <a:off x="8982000" y="68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嵌入式筒灯 GU10</a:t>
            </a:r>
          </a:p>
        </p:txBody>
      </p:sp>
      <p:sp>
        <p:nvSpPr>
          <p:cNvPr id="117" name="Freeform 116"/>
          <p:cNvSpPr/>
          <p:nvPr/>
        </p:nvSpPr>
        <p:spPr>
          <a:xfrm>
            <a:off x="8778000" y="862000"/>
            <a:ext cx="120000" cy="60000"/>
          </a:xfrm>
          <a:custGeom>
            <a:avLst/>
            <a:gdLst/>
            <a:ahLst/>
            <a:cxnLst/>
            <a:rect l="l" t="t" r="r" b="b"/>
            <a:pathLst>
              <a:path w="120000" h="60000">
                <a:moveTo>
                  <a:pt x="120000" y="60000"/>
                </a:moveTo>
                <a:lnTo>
                  <a:pt x="118847" y="48294"/>
                </a:lnTo>
                <a:lnTo>
                  <a:pt x="115432" y="37038"/>
                </a:lnTo>
                <a:lnTo>
                  <a:pt x="109888" y="26665"/>
                </a:lnTo>
                <a:lnTo>
                  <a:pt x="102426" y="17573"/>
                </a:lnTo>
                <a:lnTo>
                  <a:pt x="93334" y="10111"/>
                </a:lnTo>
                <a:lnTo>
                  <a:pt x="82961" y="4567"/>
                </a:lnTo>
                <a:lnTo>
                  <a:pt x="71705" y="1152"/>
                </a:lnTo>
                <a:lnTo>
                  <a:pt x="60000" y="0"/>
                </a:lnTo>
                <a:lnTo>
                  <a:pt x="48294" y="1152"/>
                </a:lnTo>
                <a:lnTo>
                  <a:pt x="37038" y="4567"/>
                </a:lnTo>
                <a:lnTo>
                  <a:pt x="26665" y="10111"/>
                </a:lnTo>
                <a:lnTo>
                  <a:pt x="17573" y="17573"/>
                </a:lnTo>
                <a:lnTo>
                  <a:pt x="10111" y="26665"/>
                </a:lnTo>
                <a:lnTo>
                  <a:pt x="4567" y="37038"/>
                </a:lnTo>
                <a:lnTo>
                  <a:pt x="1152" y="48294"/>
                </a:lnTo>
                <a:lnTo>
                  <a:pt x="0" y="60000"/>
                </a:lnTo>
                <a:lnTo>
                  <a:pt x="120000" y="60000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8" name="Connector 757"/>
          <p:cNvCxnSpPr/>
          <p:nvPr/>
        </p:nvCxnSpPr>
        <p:spPr>
          <a:xfrm>
            <a:off x="8760000" y="922000"/>
            <a:ext cx="156000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9" name="TextBox 758"/>
          <p:cNvSpPr txBox="1"/>
          <p:nvPr/>
        </p:nvSpPr>
        <p:spPr>
          <a:xfrm>
            <a:off x="8982000" y="85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壁灯 / 户外墙灯</a:t>
            </a:r>
          </a:p>
        </p:txBody>
      </p:sp>
      <p:sp>
        <p:nvSpPr>
          <p:cNvPr id="760" name="Oval 759"/>
          <p:cNvSpPr/>
          <p:nvPr/>
        </p:nvSpPr>
        <p:spPr>
          <a:xfrm>
            <a:off x="8796000" y="1054000"/>
            <a:ext cx="84000" cy="84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8814000" y="1069000"/>
            <a:ext cx="48000" cy="45000"/>
          </a:xfrm>
          <a:custGeom>
            <a:avLst/>
            <a:gdLst/>
            <a:ahLst/>
            <a:cxnLst/>
            <a:rect l="l" t="t" r="r" b="b"/>
            <a:pathLst>
              <a:path w="48000" h="45000">
                <a:moveTo>
                  <a:pt x="24000" y="0"/>
                </a:moveTo>
                <a:lnTo>
                  <a:pt x="0" y="45000"/>
                </a:lnTo>
                <a:lnTo>
                  <a:pt x="48000" y="45000"/>
                </a:lnTo>
                <a:lnTo>
                  <a:pt x="24000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1" name="TextBox 760"/>
          <p:cNvSpPr txBox="1"/>
          <p:nvPr/>
        </p:nvSpPr>
        <p:spPr>
          <a:xfrm>
            <a:off x="8982000" y="1030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围栏地灯（户外）</a:t>
            </a:r>
          </a:p>
        </p:txBody>
      </p:sp>
      <p:sp>
        <p:nvSpPr>
          <p:cNvPr id="762" name="Oval 761"/>
          <p:cNvSpPr/>
          <p:nvPr/>
        </p:nvSpPr>
        <p:spPr>
          <a:xfrm>
            <a:off x="8763000" y="1291000"/>
            <a:ext cx="54000" cy="540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3" name="Connector 762"/>
          <p:cNvCxnSpPr/>
          <p:nvPr/>
        </p:nvCxnSpPr>
        <p:spPr>
          <a:xfrm flipV="1">
            <a:off x="8790000" y="1198497"/>
            <a:ext cx="100274" cy="1195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4" name="Connector 763"/>
          <p:cNvCxnSpPr/>
          <p:nvPr/>
        </p:nvCxnSpPr>
        <p:spPr>
          <a:xfrm>
            <a:off x="8890274" y="1198497"/>
            <a:ext cx="29876" cy="2506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5" name="Connector 764"/>
          <p:cNvCxnSpPr/>
          <p:nvPr/>
        </p:nvCxnSpPr>
        <p:spPr>
          <a:xfrm>
            <a:off x="8873228" y="1218812"/>
            <a:ext cx="29875" cy="25069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6" name="TextBox 765"/>
          <p:cNvSpPr txBox="1"/>
          <p:nvPr/>
        </p:nvSpPr>
        <p:spPr>
          <a:xfrm>
            <a:off x="8982000" y="1204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开关（短划数 = 联数），S# = 开关编号</a:t>
            </a:r>
          </a:p>
        </p:txBody>
      </p:sp>
      <p:sp>
        <p:nvSpPr>
          <p:cNvPr id="767" name="Rectangle 766"/>
          <p:cNvSpPr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8" name="TextBox 767"/>
          <p:cNvSpPr txBox="1"/>
          <p:nvPr/>
        </p:nvSpPr>
        <p:spPr>
          <a:xfrm>
            <a:off x="8736000" y="1393000"/>
            <a:ext cx="204000" cy="10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769" name="TextBox 768"/>
          <p:cNvSpPr txBox="1"/>
          <p:nvPr/>
        </p:nvSpPr>
        <p:spPr>
          <a:xfrm>
            <a:off x="8982000" y="1378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FCU 带保险丝开关</a:t>
            </a:r>
          </a:p>
        </p:txBody>
      </p:sp>
      <p:sp>
        <p:nvSpPr>
          <p:cNvPr id="119" name="Freeform 118"/>
          <p:cNvSpPr/>
          <p:nvPr/>
        </p:nvSpPr>
        <p:spPr>
          <a:xfrm>
            <a:off x="8742000" y="1648000"/>
            <a:ext cx="192000" cy="33600"/>
          </a:xfrm>
          <a:custGeom>
            <a:avLst/>
            <a:gdLst/>
            <a:ahLst/>
            <a:cxnLst/>
            <a:rect l="l" t="t" r="r" b="b"/>
            <a:pathLst>
              <a:path w="192000" h="33600">
                <a:moveTo>
                  <a:pt x="0" y="0"/>
                </a:moveTo>
                <a:lnTo>
                  <a:pt x="12000" y="7875"/>
                </a:lnTo>
                <a:lnTo>
                  <a:pt x="24000" y="14700"/>
                </a:lnTo>
                <a:lnTo>
                  <a:pt x="36000" y="20475"/>
                </a:lnTo>
                <a:lnTo>
                  <a:pt x="48000" y="25200"/>
                </a:lnTo>
                <a:lnTo>
                  <a:pt x="60000" y="28875"/>
                </a:lnTo>
                <a:lnTo>
                  <a:pt x="72000" y="31500"/>
                </a:lnTo>
                <a:lnTo>
                  <a:pt x="84000" y="33075"/>
                </a:lnTo>
                <a:lnTo>
                  <a:pt x="96000" y="33600"/>
                </a:lnTo>
                <a:lnTo>
                  <a:pt x="108000" y="33075"/>
                </a:lnTo>
                <a:lnTo>
                  <a:pt x="120000" y="31500"/>
                </a:lnTo>
                <a:lnTo>
                  <a:pt x="132000" y="28875"/>
                </a:lnTo>
                <a:lnTo>
                  <a:pt x="144000" y="25200"/>
                </a:lnTo>
                <a:lnTo>
                  <a:pt x="156000" y="20475"/>
                </a:lnTo>
                <a:lnTo>
                  <a:pt x="168000" y="14700"/>
                </a:lnTo>
                <a:lnTo>
                  <a:pt x="180000" y="7875"/>
                </a:lnTo>
                <a:lnTo>
                  <a:pt x="1920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0" name="TextBox 769"/>
          <p:cNvSpPr txBox="1"/>
          <p:nvPr/>
        </p:nvSpPr>
        <p:spPr>
          <a:xfrm>
            <a:off x="8982000" y="1552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开关线（只画到最近一盏灯）</a:t>
            </a:r>
          </a:p>
        </p:txBody>
      </p:sp>
      <p:cxnSp>
        <p:nvCxnSpPr>
          <p:cNvPr id="771" name="Connector 770"/>
          <p:cNvCxnSpPr/>
          <p:nvPr/>
        </p:nvCxnSpPr>
        <p:spPr>
          <a:xfrm>
            <a:off x="8742000" y="1792000"/>
            <a:ext cx="1920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2" name="TextBox 771"/>
          <p:cNvSpPr txBox="1"/>
          <p:nvPr/>
        </p:nvSpPr>
        <p:spPr>
          <a:xfrm>
            <a:off x="8982000" y="1726000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双控 / 三控联络线 3C+E</a:t>
            </a:r>
          </a:p>
        </p:txBody>
      </p:sp>
      <p:sp>
        <p:nvSpPr>
          <p:cNvPr id="773" name="TextBox 772"/>
          <p:cNvSpPr txBox="1"/>
          <p:nvPr/>
        </p:nvSpPr>
        <p:spPr>
          <a:xfrm>
            <a:off x="8808000" y="1893999"/>
            <a:ext cx="12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774" name="TextBox 773"/>
          <p:cNvSpPr txBox="1"/>
          <p:nvPr/>
        </p:nvSpPr>
        <p:spPr>
          <a:xfrm>
            <a:off x="8982000" y="1899999"/>
            <a:ext cx="3200000" cy="13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a–u 回路字母（灯旁字母 = 控制它的键）</a:t>
            </a:r>
          </a:p>
        </p:txBody>
      </p:sp>
      <p:sp>
        <p:nvSpPr>
          <p:cNvPr id="775" name="TextBox 774"/>
          <p:cNvSpPr txBox="1"/>
          <p:nvPr/>
        </p:nvSpPr>
        <p:spPr>
          <a:xfrm>
            <a:off x="8730000" y="3450000"/>
            <a:ext cx="3300000" cy="15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1. 本图只表示位置与编号，接线见 E-GF-01~03 放大图。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2. 开关面板逐键功能见 E-GF-04 开关面板表；回路见 E-GF-05。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3. 开关中心离地 1200 mm，设在门开启侧（锁侧），距门框 150 mm。</a:t>
            </a:r>
          </a:p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4. 按常理补全：p、q 回路 S7 为中途开关三控（S11、S12 两路）；38 控洗衣房筒灯；围栏地灯 4 盏；前储物间加门控开关。</a:t>
            </a:r>
          </a:p>
        </p:txBody>
      </p:sp>
      <p:sp>
        <p:nvSpPr>
          <p:cNvPr id="776" name="Rectangle 775"/>
          <p:cNvSpPr/>
          <p:nvPr/>
        </p:nvSpPr>
        <p:spPr>
          <a:xfrm>
            <a:off x="400000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7" name="Rectangle 776"/>
          <p:cNvSpPr/>
          <p:nvPr/>
        </p:nvSpPr>
        <p:spPr>
          <a:xfrm>
            <a:off x="788637" y="6480000"/>
            <a:ext cx="388637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Rectangle 777"/>
          <p:cNvSpPr/>
          <p:nvPr/>
        </p:nvSpPr>
        <p:spPr>
          <a:xfrm>
            <a:off x="1177275" y="6480000"/>
            <a:ext cx="388637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9" name="TextBox 778"/>
          <p:cNvSpPr txBox="1"/>
          <p:nvPr/>
        </p:nvSpPr>
        <p:spPr>
          <a:xfrm>
            <a:off x="1605912" y="644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3 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4169018" y="-4513604"/>
            <a:ext cx="6837926" cy="13973804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1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1：起居室 · G07 区 · 门厅 · 楼梯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E-GF-01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I-B · 方案 B · 精简 17 路（照明 3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2329663" y="4482716"/>
            <a:ext cx="3056250" cy="148894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3299350" y="446482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3299350" y="446482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cxnSp>
        <p:nvCxnSpPr>
          <p:cNvPr id="564" name="Connector 563"/>
          <p:cNvCxnSpPr/>
          <p:nvPr/>
        </p:nvCxnSpPr>
        <p:spPr>
          <a:xfrm flipH="1" flipV="1">
            <a:off x="5158653" y="3989014"/>
            <a:ext cx="352645" cy="266442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Oval 564"/>
          <p:cNvSpPr/>
          <p:nvPr/>
        </p:nvSpPr>
        <p:spPr>
          <a:xfrm>
            <a:off x="5287872" y="4092201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6" name="TextBox 565"/>
          <p:cNvSpPr txBox="1"/>
          <p:nvPr/>
        </p:nvSpPr>
        <p:spPr>
          <a:xfrm>
            <a:off x="5287872" y="4092201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W2</a:t>
            </a:r>
          </a:p>
        </p:txBody>
      </p:sp>
      <p:sp>
        <p:nvSpPr>
          <p:cNvPr id="2" name="Freeform 1"/>
          <p:cNvSpPr/>
          <p:nvPr/>
        </p:nvSpPr>
        <p:spPr>
          <a:xfrm>
            <a:off x="2999539" y="4905889"/>
            <a:ext cx="294018" cy="260715"/>
          </a:xfrm>
          <a:custGeom>
            <a:avLst/>
            <a:gdLst/>
            <a:ahLst/>
            <a:cxnLst/>
            <a:rect l="l" t="t" r="r" b="b"/>
            <a:pathLst>
              <a:path w="294018" h="260715">
                <a:moveTo>
                  <a:pt x="294018" y="0"/>
                </a:moveTo>
                <a:lnTo>
                  <a:pt x="269532" y="9404"/>
                </a:lnTo>
                <a:lnTo>
                  <a:pt x="245860" y="19726"/>
                </a:lnTo>
                <a:lnTo>
                  <a:pt x="223002" y="30967"/>
                </a:lnTo>
                <a:lnTo>
                  <a:pt x="200960" y="43127"/>
                </a:lnTo>
                <a:lnTo>
                  <a:pt x="179732" y="56206"/>
                </a:lnTo>
                <a:lnTo>
                  <a:pt x="159319" y="70204"/>
                </a:lnTo>
                <a:lnTo>
                  <a:pt x="139721" y="85120"/>
                </a:lnTo>
                <a:lnTo>
                  <a:pt x="120937" y="100955"/>
                </a:lnTo>
                <a:lnTo>
                  <a:pt x="102969" y="117710"/>
                </a:lnTo>
                <a:lnTo>
                  <a:pt x="85815" y="135382"/>
                </a:lnTo>
                <a:lnTo>
                  <a:pt x="69475" y="153974"/>
                </a:lnTo>
                <a:lnTo>
                  <a:pt x="53951" y="173485"/>
                </a:lnTo>
                <a:lnTo>
                  <a:pt x="39241" y="193914"/>
                </a:lnTo>
                <a:lnTo>
                  <a:pt x="25346" y="215262"/>
                </a:lnTo>
                <a:lnTo>
                  <a:pt x="12265" y="237529"/>
                </a:lnTo>
                <a:lnTo>
                  <a:pt x="0" y="26071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293557" y="4905889"/>
            <a:ext cx="587610" cy="234847"/>
          </a:xfrm>
          <a:custGeom>
            <a:avLst/>
            <a:gdLst/>
            <a:ahLst/>
            <a:cxnLst/>
            <a:rect l="l" t="t" r="r" b="b"/>
            <a:pathLst>
              <a:path w="587610" h="234847">
                <a:moveTo>
                  <a:pt x="0" y="0"/>
                </a:moveTo>
                <a:lnTo>
                  <a:pt x="31222" y="28450"/>
                </a:lnTo>
                <a:lnTo>
                  <a:pt x="63177" y="55064"/>
                </a:lnTo>
                <a:lnTo>
                  <a:pt x="95866" y="79841"/>
                </a:lnTo>
                <a:lnTo>
                  <a:pt x="129289" y="102782"/>
                </a:lnTo>
                <a:lnTo>
                  <a:pt x="163446" y="123887"/>
                </a:lnTo>
                <a:lnTo>
                  <a:pt x="198337" y="143156"/>
                </a:lnTo>
                <a:lnTo>
                  <a:pt x="233962" y="160588"/>
                </a:lnTo>
                <a:lnTo>
                  <a:pt x="270320" y="176184"/>
                </a:lnTo>
                <a:lnTo>
                  <a:pt x="307413" y="189944"/>
                </a:lnTo>
                <a:lnTo>
                  <a:pt x="345240" y="201867"/>
                </a:lnTo>
                <a:lnTo>
                  <a:pt x="383800" y="211955"/>
                </a:lnTo>
                <a:lnTo>
                  <a:pt x="423094" y="220206"/>
                </a:lnTo>
                <a:lnTo>
                  <a:pt x="463122" y="226620"/>
                </a:lnTo>
                <a:lnTo>
                  <a:pt x="503884" y="231199"/>
                </a:lnTo>
                <a:lnTo>
                  <a:pt x="545380" y="233941"/>
                </a:lnTo>
                <a:lnTo>
                  <a:pt x="587610" y="23484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2213128" y="4482716"/>
            <a:ext cx="116535" cy="665920"/>
          </a:xfrm>
          <a:custGeom>
            <a:avLst/>
            <a:gdLst/>
            <a:ahLst/>
            <a:cxnLst/>
            <a:rect l="l" t="t" r="r" b="b"/>
            <a:pathLst>
              <a:path w="116535" h="665920">
                <a:moveTo>
                  <a:pt x="116535" y="0"/>
                </a:moveTo>
                <a:lnTo>
                  <a:pt x="95536" y="39598"/>
                </a:lnTo>
                <a:lnTo>
                  <a:pt x="76618" y="79466"/>
                </a:lnTo>
                <a:lnTo>
                  <a:pt x="59781" y="119603"/>
                </a:lnTo>
                <a:lnTo>
                  <a:pt x="45025" y="160010"/>
                </a:lnTo>
                <a:lnTo>
                  <a:pt x="32350" y="200686"/>
                </a:lnTo>
                <a:lnTo>
                  <a:pt x="21756" y="241633"/>
                </a:lnTo>
                <a:lnTo>
                  <a:pt x="13243" y="282848"/>
                </a:lnTo>
                <a:lnTo>
                  <a:pt x="6811" y="324333"/>
                </a:lnTo>
                <a:lnTo>
                  <a:pt x="2460" y="366088"/>
                </a:lnTo>
                <a:lnTo>
                  <a:pt x="189" y="408113"/>
                </a:lnTo>
                <a:lnTo>
                  <a:pt x="0" y="450406"/>
                </a:lnTo>
                <a:lnTo>
                  <a:pt x="1892" y="492970"/>
                </a:lnTo>
                <a:lnTo>
                  <a:pt x="5865" y="535803"/>
                </a:lnTo>
                <a:lnTo>
                  <a:pt x="11919" y="578906"/>
                </a:lnTo>
                <a:lnTo>
                  <a:pt x="20054" y="622278"/>
                </a:lnTo>
                <a:lnTo>
                  <a:pt x="30270" y="66592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329663" y="3223106"/>
            <a:ext cx="1348101" cy="1259610"/>
          </a:xfrm>
          <a:custGeom>
            <a:avLst/>
            <a:gdLst/>
            <a:ahLst/>
            <a:cxnLst/>
            <a:rect l="l" t="t" r="r" b="b"/>
            <a:pathLst>
              <a:path w="1348101" h="1259610">
                <a:moveTo>
                  <a:pt x="0" y="1259610"/>
                </a:moveTo>
                <a:lnTo>
                  <a:pt x="113778" y="1212480"/>
                </a:lnTo>
                <a:lnTo>
                  <a:pt x="223621" y="1161138"/>
                </a:lnTo>
                <a:lnTo>
                  <a:pt x="329526" y="1105583"/>
                </a:lnTo>
                <a:lnTo>
                  <a:pt x="431496" y="1045815"/>
                </a:lnTo>
                <a:lnTo>
                  <a:pt x="529529" y="981834"/>
                </a:lnTo>
                <a:lnTo>
                  <a:pt x="623626" y="913641"/>
                </a:lnTo>
                <a:lnTo>
                  <a:pt x="713787" y="841234"/>
                </a:lnTo>
                <a:lnTo>
                  <a:pt x="800011" y="764615"/>
                </a:lnTo>
                <a:lnTo>
                  <a:pt x="882300" y="683783"/>
                </a:lnTo>
                <a:lnTo>
                  <a:pt x="960651" y="598738"/>
                </a:lnTo>
                <a:lnTo>
                  <a:pt x="1035067" y="509481"/>
                </a:lnTo>
                <a:lnTo>
                  <a:pt x="1105546" y="416010"/>
                </a:lnTo>
                <a:lnTo>
                  <a:pt x="1172089" y="318327"/>
                </a:lnTo>
                <a:lnTo>
                  <a:pt x="1234696" y="216431"/>
                </a:lnTo>
                <a:lnTo>
                  <a:pt x="1293367" y="110322"/>
                </a:lnTo>
                <a:lnTo>
                  <a:pt x="1348101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77764" y="3223106"/>
            <a:ext cx="1708149" cy="1408504"/>
          </a:xfrm>
          <a:custGeom>
            <a:avLst/>
            <a:gdLst/>
            <a:ahLst/>
            <a:cxnLst/>
            <a:rect l="l" t="t" r="r" b="b"/>
            <a:pathLst>
              <a:path w="1708149" h="1408504">
                <a:moveTo>
                  <a:pt x="1708149" y="1408504"/>
                </a:moveTo>
                <a:lnTo>
                  <a:pt x="1634401" y="1280438"/>
                </a:lnTo>
                <a:lnTo>
                  <a:pt x="1556252" y="1157710"/>
                </a:lnTo>
                <a:lnTo>
                  <a:pt x="1473702" y="1040319"/>
                </a:lnTo>
                <a:lnTo>
                  <a:pt x="1386750" y="928267"/>
                </a:lnTo>
                <a:lnTo>
                  <a:pt x="1295396" y="821553"/>
                </a:lnTo>
                <a:lnTo>
                  <a:pt x="1199640" y="720176"/>
                </a:lnTo>
                <a:lnTo>
                  <a:pt x="1099483" y="624138"/>
                </a:lnTo>
                <a:lnTo>
                  <a:pt x="994925" y="533437"/>
                </a:lnTo>
                <a:lnTo>
                  <a:pt x="885965" y="448075"/>
                </a:lnTo>
                <a:lnTo>
                  <a:pt x="772603" y="368050"/>
                </a:lnTo>
                <a:lnTo>
                  <a:pt x="654840" y="293363"/>
                </a:lnTo>
                <a:lnTo>
                  <a:pt x="532675" y="224015"/>
                </a:lnTo>
                <a:lnTo>
                  <a:pt x="406109" y="160004"/>
                </a:lnTo>
                <a:lnTo>
                  <a:pt x="275141" y="101332"/>
                </a:lnTo>
                <a:lnTo>
                  <a:pt x="139771" y="47997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329663" y="3247206"/>
            <a:ext cx="443981" cy="1235510"/>
          </a:xfrm>
          <a:custGeom>
            <a:avLst/>
            <a:gdLst/>
            <a:ahLst/>
            <a:cxnLst/>
            <a:rect l="l" t="t" r="r" b="b"/>
            <a:pathLst>
              <a:path w="443981" h="1235510">
                <a:moveTo>
                  <a:pt x="0" y="1235510"/>
                </a:moveTo>
                <a:lnTo>
                  <a:pt x="56625" y="1168666"/>
                </a:lnTo>
                <a:lnTo>
                  <a:pt x="109390" y="1100439"/>
                </a:lnTo>
                <a:lnTo>
                  <a:pt x="158294" y="1030828"/>
                </a:lnTo>
                <a:lnTo>
                  <a:pt x="203336" y="959834"/>
                </a:lnTo>
                <a:lnTo>
                  <a:pt x="244518" y="887457"/>
                </a:lnTo>
                <a:lnTo>
                  <a:pt x="281838" y="813696"/>
                </a:lnTo>
                <a:lnTo>
                  <a:pt x="315298" y="738552"/>
                </a:lnTo>
                <a:lnTo>
                  <a:pt x="344897" y="662024"/>
                </a:lnTo>
                <a:lnTo>
                  <a:pt x="370635" y="584113"/>
                </a:lnTo>
                <a:lnTo>
                  <a:pt x="392511" y="504819"/>
                </a:lnTo>
                <a:lnTo>
                  <a:pt x="410527" y="424141"/>
                </a:lnTo>
                <a:lnTo>
                  <a:pt x="424682" y="342079"/>
                </a:lnTo>
                <a:lnTo>
                  <a:pt x="434976" y="258635"/>
                </a:lnTo>
                <a:lnTo>
                  <a:pt x="441409" y="173807"/>
                </a:lnTo>
                <a:lnTo>
                  <a:pt x="443981" y="87595"/>
                </a:lnTo>
                <a:lnTo>
                  <a:pt x="44269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4580409" y="2444714"/>
            <a:ext cx="806415" cy="2186896"/>
          </a:xfrm>
          <a:custGeom>
            <a:avLst/>
            <a:gdLst/>
            <a:ahLst/>
            <a:cxnLst/>
            <a:rect l="l" t="t" r="r" b="b"/>
            <a:pathLst>
              <a:path w="806415" h="2186896">
                <a:moveTo>
                  <a:pt x="805504" y="2186896"/>
                </a:moveTo>
                <a:lnTo>
                  <a:pt x="806415" y="2031336"/>
                </a:lnTo>
                <a:lnTo>
                  <a:pt x="800493" y="1878293"/>
                </a:lnTo>
                <a:lnTo>
                  <a:pt x="787736" y="1727768"/>
                </a:lnTo>
                <a:lnTo>
                  <a:pt x="768145" y="1579759"/>
                </a:lnTo>
                <a:lnTo>
                  <a:pt x="741720" y="1434268"/>
                </a:lnTo>
                <a:lnTo>
                  <a:pt x="708461" y="1291294"/>
                </a:lnTo>
                <a:lnTo>
                  <a:pt x="668368" y="1150837"/>
                </a:lnTo>
                <a:lnTo>
                  <a:pt x="621441" y="1012897"/>
                </a:lnTo>
                <a:lnTo>
                  <a:pt x="567680" y="877475"/>
                </a:lnTo>
                <a:lnTo>
                  <a:pt x="507085" y="744570"/>
                </a:lnTo>
                <a:lnTo>
                  <a:pt x="439656" y="614182"/>
                </a:lnTo>
                <a:lnTo>
                  <a:pt x="365393" y="486311"/>
                </a:lnTo>
                <a:lnTo>
                  <a:pt x="284296" y="360957"/>
                </a:lnTo>
                <a:lnTo>
                  <a:pt x="196364" y="238121"/>
                </a:lnTo>
                <a:lnTo>
                  <a:pt x="101599" y="11780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2772355" y="2444714"/>
            <a:ext cx="60187" cy="802492"/>
          </a:xfrm>
          <a:custGeom>
            <a:avLst/>
            <a:gdLst/>
            <a:ahLst/>
            <a:cxnLst/>
            <a:rect l="l" t="t" r="r" b="b"/>
            <a:pathLst>
              <a:path w="60187" h="802492">
                <a:moveTo>
                  <a:pt x="0" y="802492"/>
                </a:moveTo>
                <a:lnTo>
                  <a:pt x="14106" y="752336"/>
                </a:lnTo>
                <a:lnTo>
                  <a:pt x="26331" y="702181"/>
                </a:lnTo>
                <a:lnTo>
                  <a:pt x="36676" y="652025"/>
                </a:lnTo>
                <a:lnTo>
                  <a:pt x="45140" y="601869"/>
                </a:lnTo>
                <a:lnTo>
                  <a:pt x="51723" y="551713"/>
                </a:lnTo>
                <a:lnTo>
                  <a:pt x="56425" y="501557"/>
                </a:lnTo>
                <a:lnTo>
                  <a:pt x="59246" y="451402"/>
                </a:lnTo>
                <a:lnTo>
                  <a:pt x="60187" y="401246"/>
                </a:lnTo>
                <a:lnTo>
                  <a:pt x="59246" y="351090"/>
                </a:lnTo>
                <a:lnTo>
                  <a:pt x="56425" y="300934"/>
                </a:lnTo>
                <a:lnTo>
                  <a:pt x="51723" y="250778"/>
                </a:lnTo>
                <a:lnTo>
                  <a:pt x="45140" y="200623"/>
                </a:lnTo>
                <a:lnTo>
                  <a:pt x="36676" y="150467"/>
                </a:lnTo>
                <a:lnTo>
                  <a:pt x="26331" y="100311"/>
                </a:lnTo>
                <a:lnTo>
                  <a:pt x="14106" y="5015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2772355" y="2444714"/>
            <a:ext cx="906228" cy="67967"/>
          </a:xfrm>
          <a:custGeom>
            <a:avLst/>
            <a:gdLst/>
            <a:ahLst/>
            <a:cxnLst/>
            <a:rect l="l" t="t" r="r" b="b"/>
            <a:pathLst>
              <a:path w="906228" h="67967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5" y="66905"/>
                </a:lnTo>
                <a:lnTo>
                  <a:pt x="453114" y="67967"/>
                </a:lnTo>
                <a:lnTo>
                  <a:pt x="509753" y="66905"/>
                </a:lnTo>
                <a:lnTo>
                  <a:pt x="566392" y="63719"/>
                </a:lnTo>
                <a:lnTo>
                  <a:pt x="623032" y="58409"/>
                </a:lnTo>
                <a:lnTo>
                  <a:pt x="679671" y="50975"/>
                </a:lnTo>
                <a:lnTo>
                  <a:pt x="736310" y="41417"/>
                </a:lnTo>
                <a:lnTo>
                  <a:pt x="792949" y="29735"/>
                </a:lnTo>
                <a:lnTo>
                  <a:pt x="849589" y="15929"/>
                </a:lnTo>
                <a:lnTo>
                  <a:pt x="9062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3678583" y="2444714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5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2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329663" y="3996789"/>
            <a:ext cx="432325" cy="485927"/>
          </a:xfrm>
          <a:custGeom>
            <a:avLst/>
            <a:gdLst/>
            <a:ahLst/>
            <a:cxnLst/>
            <a:rect l="l" t="t" r="r" b="b"/>
            <a:pathLst>
              <a:path w="432325" h="485927">
                <a:moveTo>
                  <a:pt x="0" y="485927"/>
                </a:moveTo>
                <a:lnTo>
                  <a:pt x="38409" y="465689"/>
                </a:lnTo>
                <a:lnTo>
                  <a:pt x="75300" y="444100"/>
                </a:lnTo>
                <a:lnTo>
                  <a:pt x="110672" y="421160"/>
                </a:lnTo>
                <a:lnTo>
                  <a:pt x="144526" y="396869"/>
                </a:lnTo>
                <a:lnTo>
                  <a:pt x="176861" y="371228"/>
                </a:lnTo>
                <a:lnTo>
                  <a:pt x="207678" y="344235"/>
                </a:lnTo>
                <a:lnTo>
                  <a:pt x="236976" y="315891"/>
                </a:lnTo>
                <a:lnTo>
                  <a:pt x="264755" y="286196"/>
                </a:lnTo>
                <a:lnTo>
                  <a:pt x="291017" y="255150"/>
                </a:lnTo>
                <a:lnTo>
                  <a:pt x="315759" y="222753"/>
                </a:lnTo>
                <a:lnTo>
                  <a:pt x="338983" y="189005"/>
                </a:lnTo>
                <a:lnTo>
                  <a:pt x="360689" y="153906"/>
                </a:lnTo>
                <a:lnTo>
                  <a:pt x="380876" y="117456"/>
                </a:lnTo>
                <a:lnTo>
                  <a:pt x="399544" y="79655"/>
                </a:lnTo>
                <a:lnTo>
                  <a:pt x="416694" y="40503"/>
                </a:lnTo>
                <a:lnTo>
                  <a:pt x="43232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4570043" y="3996789"/>
            <a:ext cx="815870" cy="634821"/>
          </a:xfrm>
          <a:custGeom>
            <a:avLst/>
            <a:gdLst/>
            <a:ahLst/>
            <a:cxnLst/>
            <a:rect l="l" t="t" r="r" b="b"/>
            <a:pathLst>
              <a:path w="815870" h="634821">
                <a:moveTo>
                  <a:pt x="815870" y="634821"/>
                </a:moveTo>
                <a:lnTo>
                  <a:pt x="779757" y="576023"/>
                </a:lnTo>
                <a:lnTo>
                  <a:pt x="741660" y="519774"/>
                </a:lnTo>
                <a:lnTo>
                  <a:pt x="701579" y="466075"/>
                </a:lnTo>
                <a:lnTo>
                  <a:pt x="659514" y="414925"/>
                </a:lnTo>
                <a:lnTo>
                  <a:pt x="615465" y="366325"/>
                </a:lnTo>
                <a:lnTo>
                  <a:pt x="569433" y="320275"/>
                </a:lnTo>
                <a:lnTo>
                  <a:pt x="521417" y="276774"/>
                </a:lnTo>
                <a:lnTo>
                  <a:pt x="471417" y="235823"/>
                </a:lnTo>
                <a:lnTo>
                  <a:pt x="419433" y="197422"/>
                </a:lnTo>
                <a:lnTo>
                  <a:pt x="365465" y="161570"/>
                </a:lnTo>
                <a:lnTo>
                  <a:pt x="309514" y="128267"/>
                </a:lnTo>
                <a:lnTo>
                  <a:pt x="251579" y="97515"/>
                </a:lnTo>
                <a:lnTo>
                  <a:pt x="191660" y="69311"/>
                </a:lnTo>
                <a:lnTo>
                  <a:pt x="129757" y="43658"/>
                </a:lnTo>
                <a:lnTo>
                  <a:pt x="65870" y="2055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761988" y="3996789"/>
            <a:ext cx="906229" cy="67967"/>
          </a:xfrm>
          <a:custGeom>
            <a:avLst/>
            <a:gdLst/>
            <a:ahLst/>
            <a:cxnLst/>
            <a:rect l="l" t="t" r="r" b="b"/>
            <a:pathLst>
              <a:path w="906229" h="67967">
                <a:moveTo>
                  <a:pt x="0" y="0"/>
                </a:moveTo>
                <a:lnTo>
                  <a:pt x="56640" y="15929"/>
                </a:lnTo>
                <a:lnTo>
                  <a:pt x="113279" y="29735"/>
                </a:lnTo>
                <a:lnTo>
                  <a:pt x="169918" y="41417"/>
                </a:lnTo>
                <a:lnTo>
                  <a:pt x="226558" y="50975"/>
                </a:lnTo>
                <a:lnTo>
                  <a:pt x="283197" y="58409"/>
                </a:lnTo>
                <a:lnTo>
                  <a:pt x="339836" y="63719"/>
                </a:lnTo>
                <a:lnTo>
                  <a:pt x="396475" y="66905"/>
                </a:lnTo>
                <a:lnTo>
                  <a:pt x="453115" y="67967"/>
                </a:lnTo>
                <a:lnTo>
                  <a:pt x="509754" y="66905"/>
                </a:lnTo>
                <a:lnTo>
                  <a:pt x="566393" y="63719"/>
                </a:lnTo>
                <a:lnTo>
                  <a:pt x="623032" y="58409"/>
                </a:lnTo>
                <a:lnTo>
                  <a:pt x="679672" y="50975"/>
                </a:lnTo>
                <a:lnTo>
                  <a:pt x="736311" y="41417"/>
                </a:lnTo>
                <a:lnTo>
                  <a:pt x="792950" y="29735"/>
                </a:lnTo>
                <a:lnTo>
                  <a:pt x="849589" y="15929"/>
                </a:lnTo>
                <a:lnTo>
                  <a:pt x="90622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3668217" y="3996789"/>
            <a:ext cx="901826" cy="67636"/>
          </a:xfrm>
          <a:custGeom>
            <a:avLst/>
            <a:gdLst/>
            <a:ahLst/>
            <a:cxnLst/>
            <a:rect l="l" t="t" r="r" b="b"/>
            <a:pathLst>
              <a:path w="901826" h="67636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6" y="50727"/>
                </a:lnTo>
                <a:lnTo>
                  <a:pt x="281820" y="58125"/>
                </a:lnTo>
                <a:lnTo>
                  <a:pt x="338184" y="63409"/>
                </a:lnTo>
                <a:lnTo>
                  <a:pt x="394549" y="66580"/>
                </a:lnTo>
                <a:lnTo>
                  <a:pt x="450913" y="67636"/>
                </a:lnTo>
                <a:lnTo>
                  <a:pt x="507277" y="66580"/>
                </a:lnTo>
                <a:lnTo>
                  <a:pt x="563641" y="63409"/>
                </a:lnTo>
                <a:lnTo>
                  <a:pt x="620005" y="58125"/>
                </a:lnTo>
                <a:lnTo>
                  <a:pt x="676369" y="50727"/>
                </a:lnTo>
                <a:lnTo>
                  <a:pt x="732733" y="41216"/>
                </a:lnTo>
                <a:lnTo>
                  <a:pt x="789097" y="29591"/>
                </a:lnTo>
                <a:lnTo>
                  <a:pt x="845461" y="15852"/>
                </a:lnTo>
                <a:lnTo>
                  <a:pt x="9018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4570043" y="3232541"/>
            <a:ext cx="62501" cy="764248"/>
          </a:xfrm>
          <a:custGeom>
            <a:avLst/>
            <a:gdLst/>
            <a:ahLst/>
            <a:cxnLst/>
            <a:rect l="l" t="t" r="r" b="b"/>
            <a:pathLst>
              <a:path w="62501" h="764248">
                <a:moveTo>
                  <a:pt x="0" y="764248"/>
                </a:moveTo>
                <a:lnTo>
                  <a:pt x="14081" y="716664"/>
                </a:lnTo>
                <a:lnTo>
                  <a:pt x="26372" y="669057"/>
                </a:lnTo>
                <a:lnTo>
                  <a:pt x="36872" y="621425"/>
                </a:lnTo>
                <a:lnTo>
                  <a:pt x="45580" y="573769"/>
                </a:lnTo>
                <a:lnTo>
                  <a:pt x="52497" y="526088"/>
                </a:lnTo>
                <a:lnTo>
                  <a:pt x="57623" y="478384"/>
                </a:lnTo>
                <a:lnTo>
                  <a:pt x="60958" y="430654"/>
                </a:lnTo>
                <a:lnTo>
                  <a:pt x="62501" y="382901"/>
                </a:lnTo>
                <a:lnTo>
                  <a:pt x="62253" y="335124"/>
                </a:lnTo>
                <a:lnTo>
                  <a:pt x="60215" y="287322"/>
                </a:lnTo>
                <a:lnTo>
                  <a:pt x="56384" y="239495"/>
                </a:lnTo>
                <a:lnTo>
                  <a:pt x="50763" y="191645"/>
                </a:lnTo>
                <a:lnTo>
                  <a:pt x="43351" y="143770"/>
                </a:lnTo>
                <a:lnTo>
                  <a:pt x="34147" y="95871"/>
                </a:lnTo>
                <a:lnTo>
                  <a:pt x="23152" y="47948"/>
                </a:lnTo>
                <a:lnTo>
                  <a:pt x="1036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5511298" y="3130369"/>
            <a:ext cx="1112290" cy="1125087"/>
          </a:xfrm>
          <a:custGeom>
            <a:avLst/>
            <a:gdLst/>
            <a:ahLst/>
            <a:cxnLst/>
            <a:rect l="l" t="t" r="r" b="b"/>
            <a:pathLst>
              <a:path w="1112290" h="1125087">
                <a:moveTo>
                  <a:pt x="0" y="1125087"/>
                </a:moveTo>
                <a:lnTo>
                  <a:pt x="95887" y="1080839"/>
                </a:lnTo>
                <a:lnTo>
                  <a:pt x="188258" y="1033114"/>
                </a:lnTo>
                <a:lnTo>
                  <a:pt x="277114" y="981914"/>
                </a:lnTo>
                <a:lnTo>
                  <a:pt x="362454" y="927237"/>
                </a:lnTo>
                <a:lnTo>
                  <a:pt x="444278" y="869085"/>
                </a:lnTo>
                <a:lnTo>
                  <a:pt x="522586" y="807457"/>
                </a:lnTo>
                <a:lnTo>
                  <a:pt x="597378" y="742353"/>
                </a:lnTo>
                <a:lnTo>
                  <a:pt x="668654" y="673773"/>
                </a:lnTo>
                <a:lnTo>
                  <a:pt x="736414" y="601717"/>
                </a:lnTo>
                <a:lnTo>
                  <a:pt x="800658" y="526185"/>
                </a:lnTo>
                <a:lnTo>
                  <a:pt x="861387" y="447177"/>
                </a:lnTo>
                <a:lnTo>
                  <a:pt x="918599" y="364694"/>
                </a:lnTo>
                <a:lnTo>
                  <a:pt x="972296" y="278734"/>
                </a:lnTo>
                <a:lnTo>
                  <a:pt x="1022477" y="189299"/>
                </a:lnTo>
                <a:lnTo>
                  <a:pt x="1069141" y="96387"/>
                </a:lnTo>
                <a:lnTo>
                  <a:pt x="111229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5158653" y="3130369"/>
            <a:ext cx="1464935" cy="858645"/>
          </a:xfrm>
          <a:custGeom>
            <a:avLst/>
            <a:gdLst/>
            <a:ahLst/>
            <a:cxnLst/>
            <a:rect l="l" t="t" r="r" b="b"/>
            <a:pathLst>
              <a:path w="1464935" h="858645">
                <a:moveTo>
                  <a:pt x="0" y="858645"/>
                </a:moveTo>
                <a:lnTo>
                  <a:pt x="111683" y="839314"/>
                </a:lnTo>
                <a:lnTo>
                  <a:pt x="220683" y="815405"/>
                </a:lnTo>
                <a:lnTo>
                  <a:pt x="326999" y="786919"/>
                </a:lnTo>
                <a:lnTo>
                  <a:pt x="430632" y="753854"/>
                </a:lnTo>
                <a:lnTo>
                  <a:pt x="531582" y="716211"/>
                </a:lnTo>
                <a:lnTo>
                  <a:pt x="629849" y="673991"/>
                </a:lnTo>
                <a:lnTo>
                  <a:pt x="725432" y="627192"/>
                </a:lnTo>
                <a:lnTo>
                  <a:pt x="818332" y="575816"/>
                </a:lnTo>
                <a:lnTo>
                  <a:pt x="908549" y="519862"/>
                </a:lnTo>
                <a:lnTo>
                  <a:pt x="996083" y="459330"/>
                </a:lnTo>
                <a:lnTo>
                  <a:pt x="1080933" y="394220"/>
                </a:lnTo>
                <a:lnTo>
                  <a:pt x="1163100" y="324531"/>
                </a:lnTo>
                <a:lnTo>
                  <a:pt x="1242584" y="250266"/>
                </a:lnTo>
                <a:lnTo>
                  <a:pt x="1319384" y="171422"/>
                </a:lnTo>
                <a:lnTo>
                  <a:pt x="1393501" y="88000"/>
                </a:lnTo>
                <a:lnTo>
                  <a:pt x="14649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5511298" y="3096255"/>
            <a:ext cx="236444" cy="1159201"/>
          </a:xfrm>
          <a:custGeom>
            <a:avLst/>
            <a:gdLst/>
            <a:ahLst/>
            <a:cxnLst/>
            <a:rect l="l" t="t" r="r" b="b"/>
            <a:pathLst>
              <a:path w="236444" h="1159201">
                <a:moveTo>
                  <a:pt x="0" y="1159201"/>
                </a:moveTo>
                <a:lnTo>
                  <a:pt x="39607" y="1091416"/>
                </a:lnTo>
                <a:lnTo>
                  <a:pt x="75592" y="1023008"/>
                </a:lnTo>
                <a:lnTo>
                  <a:pt x="107955" y="953979"/>
                </a:lnTo>
                <a:lnTo>
                  <a:pt x="136695" y="884327"/>
                </a:lnTo>
                <a:lnTo>
                  <a:pt x="161812" y="814054"/>
                </a:lnTo>
                <a:lnTo>
                  <a:pt x="183307" y="743159"/>
                </a:lnTo>
                <a:lnTo>
                  <a:pt x="201180" y="671642"/>
                </a:lnTo>
                <a:lnTo>
                  <a:pt x="215430" y="599502"/>
                </a:lnTo>
                <a:lnTo>
                  <a:pt x="226057" y="526741"/>
                </a:lnTo>
                <a:lnTo>
                  <a:pt x="233062" y="453358"/>
                </a:lnTo>
                <a:lnTo>
                  <a:pt x="236444" y="379353"/>
                </a:lnTo>
                <a:lnTo>
                  <a:pt x="236204" y="304727"/>
                </a:lnTo>
                <a:lnTo>
                  <a:pt x="232342" y="229478"/>
                </a:lnTo>
                <a:lnTo>
                  <a:pt x="224857" y="153607"/>
                </a:lnTo>
                <a:lnTo>
                  <a:pt x="213749" y="77114"/>
                </a:lnTo>
                <a:lnTo>
                  <a:pt x="199019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5158653" y="3096255"/>
            <a:ext cx="551664" cy="892759"/>
          </a:xfrm>
          <a:custGeom>
            <a:avLst/>
            <a:gdLst/>
            <a:ahLst/>
            <a:cxnLst/>
            <a:rect l="l" t="t" r="r" b="b"/>
            <a:pathLst>
              <a:path w="551664" h="892759">
                <a:moveTo>
                  <a:pt x="0" y="892759"/>
                </a:moveTo>
                <a:lnTo>
                  <a:pt x="55403" y="849891"/>
                </a:lnTo>
                <a:lnTo>
                  <a:pt x="108017" y="805299"/>
                </a:lnTo>
                <a:lnTo>
                  <a:pt x="157840" y="758984"/>
                </a:lnTo>
                <a:lnTo>
                  <a:pt x="204873" y="710944"/>
                </a:lnTo>
                <a:lnTo>
                  <a:pt x="249117" y="661180"/>
                </a:lnTo>
                <a:lnTo>
                  <a:pt x="290570" y="609693"/>
                </a:lnTo>
                <a:lnTo>
                  <a:pt x="329234" y="556481"/>
                </a:lnTo>
                <a:lnTo>
                  <a:pt x="365108" y="501546"/>
                </a:lnTo>
                <a:lnTo>
                  <a:pt x="398192" y="444886"/>
                </a:lnTo>
                <a:lnTo>
                  <a:pt x="428486" y="386503"/>
                </a:lnTo>
                <a:lnTo>
                  <a:pt x="455991" y="326396"/>
                </a:lnTo>
                <a:lnTo>
                  <a:pt x="480705" y="264564"/>
                </a:lnTo>
                <a:lnTo>
                  <a:pt x="502630" y="201009"/>
                </a:lnTo>
                <a:lnTo>
                  <a:pt x="521764" y="135730"/>
                </a:lnTo>
                <a:lnTo>
                  <a:pt x="538109" y="68727"/>
                </a:lnTo>
                <a:lnTo>
                  <a:pt x="551664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5692021" y="2444714"/>
            <a:ext cx="58394" cy="651541"/>
          </a:xfrm>
          <a:custGeom>
            <a:avLst/>
            <a:gdLst/>
            <a:ahLst/>
            <a:cxnLst/>
            <a:rect l="l" t="t" r="r" b="b"/>
            <a:pathLst>
              <a:path w="58394" h="651541">
                <a:moveTo>
                  <a:pt x="18296" y="651541"/>
                </a:moveTo>
                <a:lnTo>
                  <a:pt x="28606" y="610498"/>
                </a:lnTo>
                <a:lnTo>
                  <a:pt x="37388" y="569498"/>
                </a:lnTo>
                <a:lnTo>
                  <a:pt x="44643" y="528541"/>
                </a:lnTo>
                <a:lnTo>
                  <a:pt x="50371" y="487626"/>
                </a:lnTo>
                <a:lnTo>
                  <a:pt x="54573" y="446755"/>
                </a:lnTo>
                <a:lnTo>
                  <a:pt x="57247" y="405926"/>
                </a:lnTo>
                <a:lnTo>
                  <a:pt x="58394" y="365141"/>
                </a:lnTo>
                <a:lnTo>
                  <a:pt x="58014" y="324398"/>
                </a:lnTo>
                <a:lnTo>
                  <a:pt x="56107" y="283698"/>
                </a:lnTo>
                <a:lnTo>
                  <a:pt x="52673" y="243041"/>
                </a:lnTo>
                <a:lnTo>
                  <a:pt x="47712" y="202427"/>
                </a:lnTo>
                <a:lnTo>
                  <a:pt x="41223" y="161856"/>
                </a:lnTo>
                <a:lnTo>
                  <a:pt x="33208" y="121327"/>
                </a:lnTo>
                <a:lnTo>
                  <a:pt x="23666" y="80842"/>
                </a:lnTo>
                <a:lnTo>
                  <a:pt x="12597" y="40399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692021" y="2444714"/>
            <a:ext cx="906226" cy="67966"/>
          </a:xfrm>
          <a:custGeom>
            <a:avLst/>
            <a:gdLst/>
            <a:ahLst/>
            <a:cxnLst/>
            <a:rect l="l" t="t" r="r" b="b"/>
            <a:pathLst>
              <a:path w="906226" h="67966">
                <a:moveTo>
                  <a:pt x="0" y="0"/>
                </a:moveTo>
                <a:lnTo>
                  <a:pt x="56639" y="15929"/>
                </a:lnTo>
                <a:lnTo>
                  <a:pt x="113278" y="29735"/>
                </a:lnTo>
                <a:lnTo>
                  <a:pt x="169917" y="41417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8"/>
                </a:lnTo>
                <a:lnTo>
                  <a:pt x="396474" y="66904"/>
                </a:lnTo>
                <a:lnTo>
                  <a:pt x="453113" y="67966"/>
                </a:lnTo>
                <a:lnTo>
                  <a:pt x="509752" y="66904"/>
                </a:lnTo>
                <a:lnTo>
                  <a:pt x="566391" y="63718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7"/>
                </a:lnTo>
                <a:lnTo>
                  <a:pt x="792947" y="29735"/>
                </a:lnTo>
                <a:lnTo>
                  <a:pt x="849586" y="15929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6598247" y="2444714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2"/>
                </a:lnTo>
                <a:lnTo>
                  <a:pt x="112728" y="29591"/>
                </a:lnTo>
                <a:lnTo>
                  <a:pt x="169092" y="41216"/>
                </a:lnTo>
                <a:lnTo>
                  <a:pt x="225457" y="50727"/>
                </a:lnTo>
                <a:lnTo>
                  <a:pt x="281821" y="58125"/>
                </a:lnTo>
                <a:lnTo>
                  <a:pt x="338185" y="63409"/>
                </a:lnTo>
                <a:lnTo>
                  <a:pt x="394550" y="66580"/>
                </a:lnTo>
                <a:lnTo>
                  <a:pt x="450914" y="67637"/>
                </a:lnTo>
                <a:lnTo>
                  <a:pt x="507278" y="66580"/>
                </a:lnTo>
                <a:lnTo>
                  <a:pt x="563643" y="63409"/>
                </a:lnTo>
                <a:lnTo>
                  <a:pt x="620007" y="58125"/>
                </a:lnTo>
                <a:lnTo>
                  <a:pt x="676371" y="50727"/>
                </a:lnTo>
                <a:lnTo>
                  <a:pt x="732735" y="41216"/>
                </a:lnTo>
                <a:lnTo>
                  <a:pt x="789100" y="29591"/>
                </a:lnTo>
                <a:lnTo>
                  <a:pt x="845464" y="15852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Freeform 128"/>
          <p:cNvSpPr/>
          <p:nvPr/>
        </p:nvSpPr>
        <p:spPr>
          <a:xfrm>
            <a:off x="5511298" y="3801649"/>
            <a:ext cx="180723" cy="453807"/>
          </a:xfrm>
          <a:custGeom>
            <a:avLst/>
            <a:gdLst/>
            <a:ahLst/>
            <a:cxnLst/>
            <a:rect l="l" t="t" r="r" b="b"/>
            <a:pathLst>
              <a:path w="180723" h="453807">
                <a:moveTo>
                  <a:pt x="0" y="453807"/>
                </a:moveTo>
                <a:lnTo>
                  <a:pt x="21931" y="429680"/>
                </a:lnTo>
                <a:lnTo>
                  <a:pt x="42444" y="404988"/>
                </a:lnTo>
                <a:lnTo>
                  <a:pt x="61539" y="379731"/>
                </a:lnTo>
                <a:lnTo>
                  <a:pt x="79216" y="353910"/>
                </a:lnTo>
                <a:lnTo>
                  <a:pt x="95475" y="327524"/>
                </a:lnTo>
                <a:lnTo>
                  <a:pt x="110315" y="300572"/>
                </a:lnTo>
                <a:lnTo>
                  <a:pt x="123738" y="273057"/>
                </a:lnTo>
                <a:lnTo>
                  <a:pt x="135742" y="244976"/>
                </a:lnTo>
                <a:lnTo>
                  <a:pt x="146328" y="216331"/>
                </a:lnTo>
                <a:lnTo>
                  <a:pt x="155496" y="187121"/>
                </a:lnTo>
                <a:lnTo>
                  <a:pt x="163246" y="157346"/>
                </a:lnTo>
                <a:lnTo>
                  <a:pt x="169578" y="127006"/>
                </a:lnTo>
                <a:lnTo>
                  <a:pt x="174491" y="96102"/>
                </a:lnTo>
                <a:lnTo>
                  <a:pt x="177987" y="64633"/>
                </a:lnTo>
                <a:lnTo>
                  <a:pt x="180064" y="32599"/>
                </a:lnTo>
                <a:lnTo>
                  <a:pt x="18072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5158653" y="3801649"/>
            <a:ext cx="533368" cy="188155"/>
          </a:xfrm>
          <a:custGeom>
            <a:avLst/>
            <a:gdLst/>
            <a:ahLst/>
            <a:cxnLst/>
            <a:rect l="l" t="t" r="r" b="b"/>
            <a:pathLst>
              <a:path w="533368" h="188155">
                <a:moveTo>
                  <a:pt x="0" y="187365"/>
                </a:moveTo>
                <a:lnTo>
                  <a:pt x="37727" y="188155"/>
                </a:lnTo>
                <a:lnTo>
                  <a:pt x="74869" y="187279"/>
                </a:lnTo>
                <a:lnTo>
                  <a:pt x="111424" y="184736"/>
                </a:lnTo>
                <a:lnTo>
                  <a:pt x="147395" y="180526"/>
                </a:lnTo>
                <a:lnTo>
                  <a:pt x="182779" y="174650"/>
                </a:lnTo>
                <a:lnTo>
                  <a:pt x="217579" y="167106"/>
                </a:lnTo>
                <a:lnTo>
                  <a:pt x="251792" y="157896"/>
                </a:lnTo>
                <a:lnTo>
                  <a:pt x="285421" y="147019"/>
                </a:lnTo>
                <a:lnTo>
                  <a:pt x="318463" y="134476"/>
                </a:lnTo>
                <a:lnTo>
                  <a:pt x="350921" y="120265"/>
                </a:lnTo>
                <a:lnTo>
                  <a:pt x="382792" y="104388"/>
                </a:lnTo>
                <a:lnTo>
                  <a:pt x="414079" y="86844"/>
                </a:lnTo>
                <a:lnTo>
                  <a:pt x="444779" y="67633"/>
                </a:lnTo>
                <a:lnTo>
                  <a:pt x="474894" y="46756"/>
                </a:lnTo>
                <a:lnTo>
                  <a:pt x="504424" y="24211"/>
                </a:lnTo>
                <a:lnTo>
                  <a:pt x="53336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5692021" y="3801649"/>
            <a:ext cx="906226" cy="67967"/>
          </a:xfrm>
          <a:custGeom>
            <a:avLst/>
            <a:gdLst/>
            <a:ahLst/>
            <a:cxnLst/>
            <a:rect l="l" t="t" r="r" b="b"/>
            <a:pathLst>
              <a:path w="906226" h="67967">
                <a:moveTo>
                  <a:pt x="0" y="0"/>
                </a:moveTo>
                <a:lnTo>
                  <a:pt x="56639" y="15930"/>
                </a:lnTo>
                <a:lnTo>
                  <a:pt x="113278" y="29736"/>
                </a:lnTo>
                <a:lnTo>
                  <a:pt x="169917" y="41418"/>
                </a:lnTo>
                <a:lnTo>
                  <a:pt x="226557" y="50975"/>
                </a:lnTo>
                <a:lnTo>
                  <a:pt x="283196" y="58409"/>
                </a:lnTo>
                <a:lnTo>
                  <a:pt x="339835" y="63719"/>
                </a:lnTo>
                <a:lnTo>
                  <a:pt x="396474" y="66905"/>
                </a:lnTo>
                <a:lnTo>
                  <a:pt x="453113" y="67967"/>
                </a:lnTo>
                <a:lnTo>
                  <a:pt x="509752" y="66905"/>
                </a:lnTo>
                <a:lnTo>
                  <a:pt x="566391" y="63719"/>
                </a:lnTo>
                <a:lnTo>
                  <a:pt x="623030" y="58409"/>
                </a:lnTo>
                <a:lnTo>
                  <a:pt x="679669" y="50975"/>
                </a:lnTo>
                <a:lnTo>
                  <a:pt x="736308" y="41418"/>
                </a:lnTo>
                <a:lnTo>
                  <a:pt x="792947" y="29736"/>
                </a:lnTo>
                <a:lnTo>
                  <a:pt x="849586" y="15930"/>
                </a:lnTo>
                <a:lnTo>
                  <a:pt x="90622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Freeform 131"/>
          <p:cNvSpPr/>
          <p:nvPr/>
        </p:nvSpPr>
        <p:spPr>
          <a:xfrm>
            <a:off x="6598247" y="3801649"/>
            <a:ext cx="901828" cy="67637"/>
          </a:xfrm>
          <a:custGeom>
            <a:avLst/>
            <a:gdLst/>
            <a:ahLst/>
            <a:cxnLst/>
            <a:rect l="l" t="t" r="r" b="b"/>
            <a:pathLst>
              <a:path w="901828" h="67637">
                <a:moveTo>
                  <a:pt x="0" y="0"/>
                </a:moveTo>
                <a:lnTo>
                  <a:pt x="56364" y="15853"/>
                </a:lnTo>
                <a:lnTo>
                  <a:pt x="112728" y="29592"/>
                </a:lnTo>
                <a:lnTo>
                  <a:pt x="169092" y="41217"/>
                </a:lnTo>
                <a:lnTo>
                  <a:pt x="225457" y="50728"/>
                </a:lnTo>
                <a:lnTo>
                  <a:pt x="281821" y="58126"/>
                </a:lnTo>
                <a:lnTo>
                  <a:pt x="338185" y="63410"/>
                </a:lnTo>
                <a:lnTo>
                  <a:pt x="394550" y="66581"/>
                </a:lnTo>
                <a:lnTo>
                  <a:pt x="450914" y="67637"/>
                </a:lnTo>
                <a:lnTo>
                  <a:pt x="507278" y="66581"/>
                </a:lnTo>
                <a:lnTo>
                  <a:pt x="563643" y="63410"/>
                </a:lnTo>
                <a:lnTo>
                  <a:pt x="620007" y="58126"/>
                </a:lnTo>
                <a:lnTo>
                  <a:pt x="676371" y="50728"/>
                </a:lnTo>
                <a:lnTo>
                  <a:pt x="732735" y="41217"/>
                </a:lnTo>
                <a:lnTo>
                  <a:pt x="789100" y="29592"/>
                </a:lnTo>
                <a:lnTo>
                  <a:pt x="845464" y="15853"/>
                </a:lnTo>
                <a:lnTo>
                  <a:pt x="90182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Freeform 132"/>
          <p:cNvSpPr/>
          <p:nvPr/>
        </p:nvSpPr>
        <p:spPr>
          <a:xfrm>
            <a:off x="7500075" y="3145247"/>
            <a:ext cx="58753" cy="656402"/>
          </a:xfrm>
          <a:custGeom>
            <a:avLst/>
            <a:gdLst/>
            <a:ahLst/>
            <a:cxnLst/>
            <a:rect l="l" t="t" r="r" b="b"/>
            <a:pathLst>
              <a:path w="58753" h="656402">
                <a:moveTo>
                  <a:pt x="0" y="656402"/>
                </a:moveTo>
                <a:lnTo>
                  <a:pt x="12682" y="615699"/>
                </a:lnTo>
                <a:lnTo>
                  <a:pt x="23825" y="574952"/>
                </a:lnTo>
                <a:lnTo>
                  <a:pt x="33430" y="534163"/>
                </a:lnTo>
                <a:lnTo>
                  <a:pt x="41497" y="493331"/>
                </a:lnTo>
                <a:lnTo>
                  <a:pt x="48025" y="452456"/>
                </a:lnTo>
                <a:lnTo>
                  <a:pt x="53015" y="411538"/>
                </a:lnTo>
                <a:lnTo>
                  <a:pt x="56466" y="370577"/>
                </a:lnTo>
                <a:lnTo>
                  <a:pt x="58378" y="329573"/>
                </a:lnTo>
                <a:lnTo>
                  <a:pt x="58753" y="288527"/>
                </a:lnTo>
                <a:lnTo>
                  <a:pt x="57589" y="247437"/>
                </a:lnTo>
                <a:lnTo>
                  <a:pt x="54886" y="206305"/>
                </a:lnTo>
                <a:lnTo>
                  <a:pt x="50645" y="165130"/>
                </a:lnTo>
                <a:lnTo>
                  <a:pt x="44865" y="123912"/>
                </a:lnTo>
                <a:lnTo>
                  <a:pt x="37548" y="82651"/>
                </a:lnTo>
                <a:lnTo>
                  <a:pt x="28691" y="41347"/>
                </a:lnTo>
                <a:lnTo>
                  <a:pt x="18296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5385913" y="4370202"/>
            <a:ext cx="79166" cy="261408"/>
          </a:xfrm>
          <a:custGeom>
            <a:avLst/>
            <a:gdLst/>
            <a:ahLst/>
            <a:cxnLst/>
            <a:rect l="l" t="t" r="r" b="b"/>
            <a:pathLst>
              <a:path w="79166" h="261408">
                <a:moveTo>
                  <a:pt x="0" y="261408"/>
                </a:moveTo>
                <a:lnTo>
                  <a:pt x="10965" y="246884"/>
                </a:lnTo>
                <a:lnTo>
                  <a:pt x="21112" y="232119"/>
                </a:lnTo>
                <a:lnTo>
                  <a:pt x="30443" y="217111"/>
                </a:lnTo>
                <a:lnTo>
                  <a:pt x="38957" y="201861"/>
                </a:lnTo>
                <a:lnTo>
                  <a:pt x="46654" y="186370"/>
                </a:lnTo>
                <a:lnTo>
                  <a:pt x="53534" y="170637"/>
                </a:lnTo>
                <a:lnTo>
                  <a:pt x="59597" y="154662"/>
                </a:lnTo>
                <a:lnTo>
                  <a:pt x="64843" y="138444"/>
                </a:lnTo>
                <a:lnTo>
                  <a:pt x="69272" y="121985"/>
                </a:lnTo>
                <a:lnTo>
                  <a:pt x="72885" y="105285"/>
                </a:lnTo>
                <a:lnTo>
                  <a:pt x="75680" y="88342"/>
                </a:lnTo>
                <a:lnTo>
                  <a:pt x="77659" y="71157"/>
                </a:lnTo>
                <a:lnTo>
                  <a:pt x="78821" y="53731"/>
                </a:lnTo>
                <a:lnTo>
                  <a:pt x="79166" y="36062"/>
                </a:lnTo>
                <a:lnTo>
                  <a:pt x="78694" y="18152"/>
                </a:lnTo>
                <a:lnTo>
                  <a:pt x="7740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TextBox 566"/>
          <p:cNvSpPr txBox="1"/>
          <p:nvPr/>
        </p:nvSpPr>
        <p:spPr>
          <a:xfrm>
            <a:off x="7902671" y="2956107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p → 见另图</a:t>
            </a:r>
          </a:p>
        </p:txBody>
      </p:sp>
      <p:sp>
        <p:nvSpPr>
          <p:cNvPr id="568" name="TextBox 567"/>
          <p:cNvSpPr txBox="1"/>
          <p:nvPr/>
        </p:nvSpPr>
        <p:spPr>
          <a:xfrm>
            <a:off x="7902671" y="2956107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q → 见另图</a:t>
            </a:r>
          </a:p>
        </p:txBody>
      </p:sp>
      <p:sp>
        <p:nvSpPr>
          <p:cNvPr id="569" name="TextBox 568"/>
          <p:cNvSpPr txBox="1"/>
          <p:nvPr/>
        </p:nvSpPr>
        <p:spPr>
          <a:xfrm>
            <a:off x="7902671" y="2956107"/>
            <a:ext cx="1400000" cy="13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F4E79"/>
                </a:solidFill>
                <a:latin typeface="Microsoft YaHei"/>
              </a:rPr>
              <a:t>v → 见另图</a:t>
            </a:r>
          </a:p>
        </p:txBody>
      </p:sp>
      <p:sp>
        <p:nvSpPr>
          <p:cNvPr id="135" name="Freeform 134"/>
          <p:cNvSpPr/>
          <p:nvPr/>
        </p:nvSpPr>
        <p:spPr>
          <a:xfrm>
            <a:off x="5382666" y="4289551"/>
            <a:ext cx="161303" cy="80651"/>
          </a:xfrm>
          <a:custGeom>
            <a:avLst/>
            <a:gdLst/>
            <a:ahLst/>
            <a:cxnLst/>
            <a:rect l="l" t="t" r="r" b="b"/>
            <a:pathLst>
              <a:path w="161303" h="80651">
                <a:moveTo>
                  <a:pt x="161303" y="80651"/>
                </a:moveTo>
                <a:lnTo>
                  <a:pt x="159753" y="64917"/>
                </a:lnTo>
                <a:lnTo>
                  <a:pt x="155164" y="49787"/>
                </a:lnTo>
                <a:lnTo>
                  <a:pt x="147711" y="35843"/>
                </a:lnTo>
                <a:lnTo>
                  <a:pt x="137681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6" y="1549"/>
                </a:lnTo>
                <a:lnTo>
                  <a:pt x="80652" y="0"/>
                </a:lnTo>
                <a:lnTo>
                  <a:pt x="64917" y="1549"/>
                </a:lnTo>
                <a:lnTo>
                  <a:pt x="49788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3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0" name="Connector 569"/>
          <p:cNvCxnSpPr/>
          <p:nvPr/>
        </p:nvCxnSpPr>
        <p:spPr>
          <a:xfrm>
            <a:off x="5358471" y="4370202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1" name="TextBox 570"/>
          <p:cNvSpPr txBox="1"/>
          <p:nvPr/>
        </p:nvSpPr>
        <p:spPr>
          <a:xfrm>
            <a:off x="5560099" y="4176639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n</a:t>
            </a:r>
          </a:p>
        </p:txBody>
      </p:sp>
      <p:sp>
        <p:nvSpPr>
          <p:cNvPr id="572" name="Oval 571"/>
          <p:cNvSpPr/>
          <p:nvPr/>
        </p:nvSpPr>
        <p:spPr>
          <a:xfrm>
            <a:off x="6526807" y="3033588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3" name="Connector 572"/>
          <p:cNvCxnSpPr/>
          <p:nvPr/>
        </p:nvCxnSpPr>
        <p:spPr>
          <a:xfrm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4" name="Connector 573"/>
          <p:cNvCxnSpPr/>
          <p:nvPr/>
        </p:nvCxnSpPr>
        <p:spPr>
          <a:xfrm flipV="1">
            <a:off x="6555164" y="3061945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5" name="TextBox 574"/>
          <p:cNvSpPr txBox="1"/>
          <p:nvPr/>
        </p:nvSpPr>
        <p:spPr>
          <a:xfrm>
            <a:off x="6720370" y="293680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g</a:t>
            </a:r>
          </a:p>
        </p:txBody>
      </p:sp>
      <p:sp>
        <p:nvSpPr>
          <p:cNvPr id="576" name="Oval 575"/>
          <p:cNvSpPr/>
          <p:nvPr/>
        </p:nvSpPr>
        <p:spPr>
          <a:xfrm>
            <a:off x="3580982" y="3126325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7" name="Connector 576"/>
          <p:cNvCxnSpPr/>
          <p:nvPr/>
        </p:nvCxnSpPr>
        <p:spPr>
          <a:xfrm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8" name="Connector 577"/>
          <p:cNvCxnSpPr/>
          <p:nvPr/>
        </p:nvCxnSpPr>
        <p:spPr>
          <a:xfrm flipV="1">
            <a:off x="3609339" y="3154681"/>
            <a:ext cx="136849" cy="13685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9" name="TextBox 578"/>
          <p:cNvSpPr txBox="1"/>
          <p:nvPr/>
        </p:nvSpPr>
        <p:spPr>
          <a:xfrm>
            <a:off x="3774545" y="30295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d</a:t>
            </a:r>
          </a:p>
        </p:txBody>
      </p:sp>
      <p:sp>
        <p:nvSpPr>
          <p:cNvPr id="580" name="Oval 579"/>
          <p:cNvSpPr/>
          <p:nvPr/>
        </p:nvSpPr>
        <p:spPr>
          <a:xfrm>
            <a:off x="2902757" y="5069822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1" name="Connector 580"/>
          <p:cNvCxnSpPr/>
          <p:nvPr/>
        </p:nvCxnSpPr>
        <p:spPr>
          <a:xfrm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2" name="Connector 581"/>
          <p:cNvCxnSpPr/>
          <p:nvPr/>
        </p:nvCxnSpPr>
        <p:spPr>
          <a:xfrm flipV="1">
            <a:off x="2931114" y="5098179"/>
            <a:ext cx="136849" cy="136849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3" name="TextBox 582"/>
          <p:cNvSpPr txBox="1"/>
          <p:nvPr/>
        </p:nvSpPr>
        <p:spPr>
          <a:xfrm>
            <a:off x="3096320" y="4973041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a</a:t>
            </a:r>
          </a:p>
        </p:txBody>
      </p:sp>
      <p:sp>
        <p:nvSpPr>
          <p:cNvPr id="136" name="Freeform 135"/>
          <p:cNvSpPr/>
          <p:nvPr/>
        </p:nvSpPr>
        <p:spPr>
          <a:xfrm>
            <a:off x="2162747" y="5067985"/>
            <a:ext cx="161302" cy="80651"/>
          </a:xfrm>
          <a:custGeom>
            <a:avLst/>
            <a:gdLst/>
            <a:ahLst/>
            <a:cxnLst/>
            <a:rect l="l" t="t" r="r" b="b"/>
            <a:pathLst>
              <a:path w="161302" h="80651">
                <a:moveTo>
                  <a:pt x="161302" y="80651"/>
                </a:moveTo>
                <a:lnTo>
                  <a:pt x="159753" y="64917"/>
                </a:lnTo>
                <a:lnTo>
                  <a:pt x="155163" y="49787"/>
                </a:lnTo>
                <a:lnTo>
                  <a:pt x="147710" y="35843"/>
                </a:lnTo>
                <a:lnTo>
                  <a:pt x="137680" y="23622"/>
                </a:lnTo>
                <a:lnTo>
                  <a:pt x="125459" y="13592"/>
                </a:lnTo>
                <a:lnTo>
                  <a:pt x="111515" y="6139"/>
                </a:lnTo>
                <a:lnTo>
                  <a:pt x="96385" y="1549"/>
                </a:lnTo>
                <a:lnTo>
                  <a:pt x="80651" y="0"/>
                </a:lnTo>
                <a:lnTo>
                  <a:pt x="64917" y="1549"/>
                </a:lnTo>
                <a:lnTo>
                  <a:pt x="49787" y="6139"/>
                </a:lnTo>
                <a:lnTo>
                  <a:pt x="35844" y="13592"/>
                </a:lnTo>
                <a:lnTo>
                  <a:pt x="23622" y="23622"/>
                </a:lnTo>
                <a:lnTo>
                  <a:pt x="13592" y="35843"/>
                </a:lnTo>
                <a:lnTo>
                  <a:pt x="6139" y="49787"/>
                </a:lnTo>
                <a:lnTo>
                  <a:pt x="1550" y="64917"/>
                </a:lnTo>
                <a:lnTo>
                  <a:pt x="0" y="80651"/>
                </a:lnTo>
                <a:lnTo>
                  <a:pt x="161302" y="80651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4" name="Connector 583"/>
          <p:cNvCxnSpPr/>
          <p:nvPr/>
        </p:nvCxnSpPr>
        <p:spPr>
          <a:xfrm>
            <a:off x="2138552" y="5148636"/>
            <a:ext cx="209693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5" name="TextBox 584"/>
          <p:cNvSpPr txBox="1"/>
          <p:nvPr/>
        </p:nvSpPr>
        <p:spPr>
          <a:xfrm>
            <a:off x="2340180" y="495507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c</a:t>
            </a:r>
          </a:p>
        </p:txBody>
      </p:sp>
      <p:sp>
        <p:nvSpPr>
          <p:cNvPr id="586" name="Oval 585"/>
          <p:cNvSpPr/>
          <p:nvPr/>
        </p:nvSpPr>
        <p:spPr>
          <a:xfrm>
            <a:off x="4505522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7" name="Oval 586"/>
          <p:cNvSpPr/>
          <p:nvPr/>
        </p:nvSpPr>
        <p:spPr>
          <a:xfrm>
            <a:off x="4549880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TextBox 587"/>
          <p:cNvSpPr txBox="1"/>
          <p:nvPr/>
        </p:nvSpPr>
        <p:spPr>
          <a:xfrm>
            <a:off x="4666824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89" name="Oval 588"/>
          <p:cNvSpPr/>
          <p:nvPr/>
        </p:nvSpPr>
        <p:spPr>
          <a:xfrm>
            <a:off x="3603696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Oval 589"/>
          <p:cNvSpPr/>
          <p:nvPr/>
        </p:nvSpPr>
        <p:spPr>
          <a:xfrm>
            <a:off x="3648054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TextBox 590"/>
          <p:cNvSpPr txBox="1"/>
          <p:nvPr/>
        </p:nvSpPr>
        <p:spPr>
          <a:xfrm>
            <a:off x="3764998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2" name="Oval 591"/>
          <p:cNvSpPr/>
          <p:nvPr/>
        </p:nvSpPr>
        <p:spPr>
          <a:xfrm>
            <a:off x="2697467" y="3932267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Oval 592"/>
          <p:cNvSpPr/>
          <p:nvPr/>
        </p:nvSpPr>
        <p:spPr>
          <a:xfrm>
            <a:off x="2741826" y="397662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TextBox 593"/>
          <p:cNvSpPr txBox="1"/>
          <p:nvPr/>
        </p:nvSpPr>
        <p:spPr>
          <a:xfrm>
            <a:off x="2858770" y="3803225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595" name="Oval 594"/>
          <p:cNvSpPr/>
          <p:nvPr/>
        </p:nvSpPr>
        <p:spPr>
          <a:xfrm>
            <a:off x="2707834" y="3182685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6" name="Oval 595"/>
          <p:cNvSpPr/>
          <p:nvPr/>
        </p:nvSpPr>
        <p:spPr>
          <a:xfrm>
            <a:off x="2752192" y="322704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TextBox 596"/>
          <p:cNvSpPr txBox="1"/>
          <p:nvPr/>
        </p:nvSpPr>
        <p:spPr>
          <a:xfrm>
            <a:off x="2869136" y="3053643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598" name="Oval 597"/>
          <p:cNvSpPr/>
          <p:nvPr/>
        </p:nvSpPr>
        <p:spPr>
          <a:xfrm>
            <a:off x="3614062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Oval 598"/>
          <p:cNvSpPr/>
          <p:nvPr/>
        </p:nvSpPr>
        <p:spPr>
          <a:xfrm>
            <a:off x="3658420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TextBox 599"/>
          <p:cNvSpPr txBox="1"/>
          <p:nvPr/>
        </p:nvSpPr>
        <p:spPr>
          <a:xfrm>
            <a:off x="3775364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1" name="Oval 600"/>
          <p:cNvSpPr/>
          <p:nvPr/>
        </p:nvSpPr>
        <p:spPr>
          <a:xfrm>
            <a:off x="4515888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2" name="Oval 601"/>
          <p:cNvSpPr/>
          <p:nvPr/>
        </p:nvSpPr>
        <p:spPr>
          <a:xfrm>
            <a:off x="4560246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3" name="TextBox 602"/>
          <p:cNvSpPr txBox="1"/>
          <p:nvPr/>
        </p:nvSpPr>
        <p:spPr>
          <a:xfrm>
            <a:off x="4677190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04" name="Oval 603"/>
          <p:cNvSpPr/>
          <p:nvPr/>
        </p:nvSpPr>
        <p:spPr>
          <a:xfrm>
            <a:off x="4515888" y="3168020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5" name="Oval 604"/>
          <p:cNvSpPr/>
          <p:nvPr/>
        </p:nvSpPr>
        <p:spPr>
          <a:xfrm>
            <a:off x="4560246" y="3212378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4677190" y="3038978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f</a:t>
            </a:r>
          </a:p>
        </p:txBody>
      </p:sp>
      <p:sp>
        <p:nvSpPr>
          <p:cNvPr id="607" name="Oval 606"/>
          <p:cNvSpPr/>
          <p:nvPr/>
        </p:nvSpPr>
        <p:spPr>
          <a:xfrm>
            <a:off x="270783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8" name="Oval 607"/>
          <p:cNvSpPr/>
          <p:nvPr/>
        </p:nvSpPr>
        <p:spPr>
          <a:xfrm>
            <a:off x="275219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9" name="TextBox 608"/>
          <p:cNvSpPr txBox="1"/>
          <p:nvPr/>
        </p:nvSpPr>
        <p:spPr>
          <a:xfrm>
            <a:off x="2869136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e</a:t>
            </a:r>
          </a:p>
        </p:txBody>
      </p:sp>
      <p:sp>
        <p:nvSpPr>
          <p:cNvPr id="610" name="Oval 609"/>
          <p:cNvSpPr/>
          <p:nvPr/>
        </p:nvSpPr>
        <p:spPr>
          <a:xfrm>
            <a:off x="6533726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1" name="Oval 610"/>
          <p:cNvSpPr/>
          <p:nvPr/>
        </p:nvSpPr>
        <p:spPr>
          <a:xfrm>
            <a:off x="6578084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TextBox 611"/>
          <p:cNvSpPr txBox="1"/>
          <p:nvPr/>
        </p:nvSpPr>
        <p:spPr>
          <a:xfrm>
            <a:off x="6695028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3" name="Oval 612"/>
          <p:cNvSpPr/>
          <p:nvPr/>
        </p:nvSpPr>
        <p:spPr>
          <a:xfrm>
            <a:off x="5627500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Oval 613"/>
          <p:cNvSpPr/>
          <p:nvPr/>
        </p:nvSpPr>
        <p:spPr>
          <a:xfrm>
            <a:off x="5671858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TextBox 614"/>
          <p:cNvSpPr txBox="1"/>
          <p:nvPr/>
        </p:nvSpPr>
        <p:spPr>
          <a:xfrm>
            <a:off x="5788803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16" name="Oval 615"/>
          <p:cNvSpPr/>
          <p:nvPr/>
        </p:nvSpPr>
        <p:spPr>
          <a:xfrm>
            <a:off x="5645796" y="303173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7" name="Oval 616"/>
          <p:cNvSpPr/>
          <p:nvPr/>
        </p:nvSpPr>
        <p:spPr>
          <a:xfrm>
            <a:off x="5690154" y="3076092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8" name="TextBox 617"/>
          <p:cNvSpPr txBox="1"/>
          <p:nvPr/>
        </p:nvSpPr>
        <p:spPr>
          <a:xfrm>
            <a:off x="5807099" y="290269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19" name="Oval 618"/>
          <p:cNvSpPr/>
          <p:nvPr/>
        </p:nvSpPr>
        <p:spPr>
          <a:xfrm>
            <a:off x="5627500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Oval 619"/>
          <p:cNvSpPr/>
          <p:nvPr/>
        </p:nvSpPr>
        <p:spPr>
          <a:xfrm>
            <a:off x="5671858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1" name="TextBox 620"/>
          <p:cNvSpPr txBox="1"/>
          <p:nvPr/>
        </p:nvSpPr>
        <p:spPr>
          <a:xfrm>
            <a:off x="5788803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2" name="Oval 621"/>
          <p:cNvSpPr/>
          <p:nvPr/>
        </p:nvSpPr>
        <p:spPr>
          <a:xfrm>
            <a:off x="6533726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3" name="Oval 622"/>
          <p:cNvSpPr/>
          <p:nvPr/>
        </p:nvSpPr>
        <p:spPr>
          <a:xfrm>
            <a:off x="6578084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4" name="TextBox 623"/>
          <p:cNvSpPr txBox="1"/>
          <p:nvPr/>
        </p:nvSpPr>
        <p:spPr>
          <a:xfrm>
            <a:off x="6695028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5" name="Oval 624"/>
          <p:cNvSpPr/>
          <p:nvPr/>
        </p:nvSpPr>
        <p:spPr>
          <a:xfrm>
            <a:off x="7435554" y="2380193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6" name="Oval 625"/>
          <p:cNvSpPr/>
          <p:nvPr/>
        </p:nvSpPr>
        <p:spPr>
          <a:xfrm>
            <a:off x="7479912" y="2424551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7" name="TextBox 626"/>
          <p:cNvSpPr txBox="1"/>
          <p:nvPr/>
        </p:nvSpPr>
        <p:spPr>
          <a:xfrm>
            <a:off x="7596857" y="2251150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h</a:t>
            </a:r>
          </a:p>
        </p:txBody>
      </p:sp>
      <p:sp>
        <p:nvSpPr>
          <p:cNvPr id="628" name="Oval 627"/>
          <p:cNvSpPr/>
          <p:nvPr/>
        </p:nvSpPr>
        <p:spPr>
          <a:xfrm>
            <a:off x="7453850" y="3080726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9" name="Oval 628"/>
          <p:cNvSpPr/>
          <p:nvPr/>
        </p:nvSpPr>
        <p:spPr>
          <a:xfrm>
            <a:off x="7498209" y="3125084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0" name="TextBox 629"/>
          <p:cNvSpPr txBox="1"/>
          <p:nvPr/>
        </p:nvSpPr>
        <p:spPr>
          <a:xfrm>
            <a:off x="7615153" y="2951684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1" name="Oval 630"/>
          <p:cNvSpPr/>
          <p:nvPr/>
        </p:nvSpPr>
        <p:spPr>
          <a:xfrm>
            <a:off x="7435554" y="3737128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Oval 631"/>
          <p:cNvSpPr/>
          <p:nvPr/>
        </p:nvSpPr>
        <p:spPr>
          <a:xfrm>
            <a:off x="7479912" y="3781486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3" name="TextBox 632"/>
          <p:cNvSpPr txBox="1"/>
          <p:nvPr/>
        </p:nvSpPr>
        <p:spPr>
          <a:xfrm>
            <a:off x="7596857" y="3608086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i</a:t>
            </a:r>
          </a:p>
        </p:txBody>
      </p:sp>
      <p:sp>
        <p:nvSpPr>
          <p:cNvPr id="634" name="Oval 633"/>
          <p:cNvSpPr/>
          <p:nvPr/>
        </p:nvSpPr>
        <p:spPr>
          <a:xfrm>
            <a:off x="3816646" y="5076214"/>
            <a:ext cx="129042" cy="1290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5" name="Oval 634"/>
          <p:cNvSpPr/>
          <p:nvPr/>
        </p:nvSpPr>
        <p:spPr>
          <a:xfrm>
            <a:off x="3861004" y="5120573"/>
            <a:ext cx="40325" cy="40325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6" name="TextBox 635"/>
          <p:cNvSpPr txBox="1"/>
          <p:nvPr/>
        </p:nvSpPr>
        <p:spPr>
          <a:xfrm>
            <a:off x="3977949" y="4947172"/>
            <a:ext cx="161302" cy="12904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b</a:t>
            </a:r>
          </a:p>
        </p:txBody>
      </p:sp>
      <p:cxnSp>
        <p:nvCxnSpPr>
          <p:cNvPr id="637" name="Connector 636"/>
          <p:cNvCxnSpPr/>
          <p:nvPr/>
        </p:nvCxnSpPr>
        <p:spPr>
          <a:xfrm flipV="1">
            <a:off x="5511298" y="5125867"/>
            <a:ext cx="1487911" cy="320743"/>
          </a:xfrm>
          <a:prstGeom prst="line">
            <a:avLst/>
          </a:prstGeom>
          <a:ln w="9525">
            <a:solidFill>
              <a:srgbClr val="C0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8" name="Oval 637"/>
          <p:cNvSpPr/>
          <p:nvPr/>
        </p:nvSpPr>
        <p:spPr>
          <a:xfrm>
            <a:off x="6902427" y="5029086"/>
            <a:ext cx="193563" cy="193563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9" name="Connector 638"/>
          <p:cNvCxnSpPr/>
          <p:nvPr/>
        </p:nvCxnSpPr>
        <p:spPr>
          <a:xfrm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0" name="Connector 639"/>
          <p:cNvCxnSpPr/>
          <p:nvPr/>
        </p:nvCxnSpPr>
        <p:spPr>
          <a:xfrm flipV="1">
            <a:off x="6930784" y="5057443"/>
            <a:ext cx="136849" cy="136849"/>
          </a:xfrm>
          <a:prstGeom prst="line">
            <a:avLst/>
          </a:prstGeom>
          <a:ln w="952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1" name="TextBox 640"/>
          <p:cNvSpPr txBox="1"/>
          <p:nvPr/>
        </p:nvSpPr>
        <p:spPr>
          <a:xfrm>
            <a:off x="7120186" y="5050867"/>
            <a:ext cx="22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C00000"/>
                </a:solidFill>
                <a:latin typeface="Microsoft YaHei"/>
              </a:rPr>
              <a:t>二层楼梯吊灯 F06（在楼上，S6 控）</a:t>
            </a:r>
          </a:p>
        </p:txBody>
      </p:sp>
      <p:sp>
        <p:nvSpPr>
          <p:cNvPr id="642" name="Oval 641"/>
          <p:cNvSpPr/>
          <p:nvPr/>
        </p:nvSpPr>
        <p:spPr>
          <a:xfrm>
            <a:off x="2300629" y="4453681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43" name="Connector 642"/>
          <p:cNvCxnSpPr/>
          <p:nvPr/>
        </p:nvCxnSpPr>
        <p:spPr>
          <a:xfrm flipV="1">
            <a:off x="2329663" y="4354208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4" name="Connector 643"/>
          <p:cNvCxnSpPr/>
          <p:nvPr/>
        </p:nvCxnSpPr>
        <p:spPr>
          <a:xfrm>
            <a:off x="2437494" y="4354208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5" name="Connector 644"/>
          <p:cNvCxnSpPr/>
          <p:nvPr/>
        </p:nvCxnSpPr>
        <p:spPr>
          <a:xfrm>
            <a:off x="2419162" y="4376055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6" name="Connector 645"/>
          <p:cNvCxnSpPr/>
          <p:nvPr/>
        </p:nvCxnSpPr>
        <p:spPr>
          <a:xfrm>
            <a:off x="2400831" y="439790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7" name="Connector 646"/>
          <p:cNvCxnSpPr/>
          <p:nvPr/>
        </p:nvCxnSpPr>
        <p:spPr>
          <a:xfrm>
            <a:off x="2382500" y="4419747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8" name="Rounded Rectangle 647"/>
          <p:cNvSpPr/>
          <p:nvPr/>
        </p:nvSpPr>
        <p:spPr>
          <a:xfrm>
            <a:off x="2453624" y="421672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9" name="TextBox 648"/>
          <p:cNvSpPr txBox="1"/>
          <p:nvPr/>
        </p:nvSpPr>
        <p:spPr>
          <a:xfrm>
            <a:off x="2453624" y="421672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</a:t>
            </a:r>
          </a:p>
        </p:txBody>
      </p:sp>
      <p:sp>
        <p:nvSpPr>
          <p:cNvPr id="650" name="Oval 649"/>
          <p:cNvSpPr/>
          <p:nvPr/>
        </p:nvSpPr>
        <p:spPr>
          <a:xfrm>
            <a:off x="3264523" y="4876854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1" name="Connector 650"/>
          <p:cNvCxnSpPr/>
          <p:nvPr/>
        </p:nvCxnSpPr>
        <p:spPr>
          <a:xfrm flipV="1">
            <a:off x="3293557" y="4777381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2" name="Connector 651"/>
          <p:cNvCxnSpPr/>
          <p:nvPr/>
        </p:nvCxnSpPr>
        <p:spPr>
          <a:xfrm>
            <a:off x="3401388" y="477738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3" name="Connector 652"/>
          <p:cNvCxnSpPr/>
          <p:nvPr/>
        </p:nvCxnSpPr>
        <p:spPr>
          <a:xfrm>
            <a:off x="3383057" y="4799228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4" name="Rounded Rectangle 653"/>
          <p:cNvSpPr/>
          <p:nvPr/>
        </p:nvSpPr>
        <p:spPr>
          <a:xfrm>
            <a:off x="3417518" y="4639901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5" name="TextBox 654"/>
          <p:cNvSpPr txBox="1"/>
          <p:nvPr/>
        </p:nvSpPr>
        <p:spPr>
          <a:xfrm>
            <a:off x="3417518" y="4639901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S2</a:t>
            </a:r>
          </a:p>
        </p:txBody>
      </p:sp>
      <p:sp>
        <p:nvSpPr>
          <p:cNvPr id="656" name="Oval 655"/>
          <p:cNvSpPr/>
          <p:nvPr/>
        </p:nvSpPr>
        <p:spPr>
          <a:xfrm>
            <a:off x="5129619" y="3959979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7" name="Connector 656"/>
          <p:cNvCxnSpPr/>
          <p:nvPr/>
        </p:nvCxnSpPr>
        <p:spPr>
          <a:xfrm flipV="1">
            <a:off x="5158653" y="3860506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8" name="Connector 657"/>
          <p:cNvCxnSpPr/>
          <p:nvPr/>
        </p:nvCxnSpPr>
        <p:spPr>
          <a:xfrm>
            <a:off x="5266484" y="3860506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9" name="Connector 658"/>
          <p:cNvCxnSpPr/>
          <p:nvPr/>
        </p:nvCxnSpPr>
        <p:spPr>
          <a:xfrm>
            <a:off x="5248153" y="388235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0" name="Connector 659"/>
          <p:cNvCxnSpPr/>
          <p:nvPr/>
        </p:nvCxnSpPr>
        <p:spPr>
          <a:xfrm>
            <a:off x="5229822" y="3904199"/>
            <a:ext cx="32126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1" name="Rounded Rectangle 660"/>
          <p:cNvSpPr/>
          <p:nvPr/>
        </p:nvSpPr>
        <p:spPr>
          <a:xfrm>
            <a:off x="5282614" y="3723026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2" name="TextBox 661"/>
          <p:cNvSpPr txBox="1"/>
          <p:nvPr/>
        </p:nvSpPr>
        <p:spPr>
          <a:xfrm>
            <a:off x="5282614" y="3723026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S3</a:t>
            </a:r>
          </a:p>
        </p:txBody>
      </p:sp>
      <p:sp>
        <p:nvSpPr>
          <p:cNvPr id="663" name="Oval 662"/>
          <p:cNvSpPr/>
          <p:nvPr/>
        </p:nvSpPr>
        <p:spPr>
          <a:xfrm>
            <a:off x="5356879" y="4602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64" name="Connector 663"/>
          <p:cNvCxnSpPr/>
          <p:nvPr/>
        </p:nvCxnSpPr>
        <p:spPr>
          <a:xfrm flipV="1">
            <a:off x="5385913" y="4503103"/>
            <a:ext cx="107831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5" name="Connector 664"/>
          <p:cNvCxnSpPr/>
          <p:nvPr/>
        </p:nvCxnSpPr>
        <p:spPr>
          <a:xfrm>
            <a:off x="5493744" y="4503103"/>
            <a:ext cx="32126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6" name="Connector 665"/>
          <p:cNvCxnSpPr/>
          <p:nvPr/>
        </p:nvCxnSpPr>
        <p:spPr>
          <a:xfrm>
            <a:off x="5475412" y="4524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7" name="Connector 666"/>
          <p:cNvCxnSpPr/>
          <p:nvPr/>
        </p:nvCxnSpPr>
        <p:spPr>
          <a:xfrm>
            <a:off x="5457081" y="4546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8" name="Connector 667"/>
          <p:cNvCxnSpPr/>
          <p:nvPr/>
        </p:nvCxnSpPr>
        <p:spPr>
          <a:xfrm>
            <a:off x="5438750" y="4568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9" name="Rounded Rectangle 668"/>
          <p:cNvSpPr/>
          <p:nvPr/>
        </p:nvSpPr>
        <p:spPr>
          <a:xfrm>
            <a:off x="5509874" y="4365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0" name="TextBox 669"/>
          <p:cNvSpPr txBox="1"/>
          <p:nvPr/>
        </p:nvSpPr>
        <p:spPr>
          <a:xfrm>
            <a:off x="5509874" y="4365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S4</a:t>
            </a:r>
          </a:p>
        </p:txBody>
      </p:sp>
      <p:sp>
        <p:nvSpPr>
          <p:cNvPr id="671" name="Oval 670"/>
          <p:cNvSpPr/>
          <p:nvPr/>
        </p:nvSpPr>
        <p:spPr>
          <a:xfrm>
            <a:off x="5482263" y="4226422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2" name="Connector 671"/>
          <p:cNvCxnSpPr/>
          <p:nvPr/>
        </p:nvCxnSpPr>
        <p:spPr>
          <a:xfrm flipV="1">
            <a:off x="5511298" y="4126949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3" name="Connector 672"/>
          <p:cNvCxnSpPr/>
          <p:nvPr/>
        </p:nvCxnSpPr>
        <p:spPr>
          <a:xfrm>
            <a:off x="5619128" y="4126949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4" name="Connector 673"/>
          <p:cNvCxnSpPr/>
          <p:nvPr/>
        </p:nvCxnSpPr>
        <p:spPr>
          <a:xfrm>
            <a:off x="5600797" y="4148795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5" name="Connector 674"/>
          <p:cNvCxnSpPr/>
          <p:nvPr/>
        </p:nvCxnSpPr>
        <p:spPr>
          <a:xfrm>
            <a:off x="5582466" y="4170641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6" name="Rounded Rectangle 675"/>
          <p:cNvSpPr/>
          <p:nvPr/>
        </p:nvSpPr>
        <p:spPr>
          <a:xfrm>
            <a:off x="5635258" y="3989468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7" name="TextBox 676"/>
          <p:cNvSpPr txBox="1"/>
          <p:nvPr/>
        </p:nvSpPr>
        <p:spPr>
          <a:xfrm>
            <a:off x="5635258" y="3989468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S5</a:t>
            </a:r>
          </a:p>
        </p:txBody>
      </p:sp>
      <p:sp>
        <p:nvSpPr>
          <p:cNvPr id="678" name="Oval 677"/>
          <p:cNvSpPr/>
          <p:nvPr/>
        </p:nvSpPr>
        <p:spPr>
          <a:xfrm>
            <a:off x="5482263" y="5417576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9" name="Connector 678"/>
          <p:cNvCxnSpPr/>
          <p:nvPr/>
        </p:nvCxnSpPr>
        <p:spPr>
          <a:xfrm flipV="1">
            <a:off x="5511298" y="5318103"/>
            <a:ext cx="107830" cy="12850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0" name="Connector 679"/>
          <p:cNvCxnSpPr/>
          <p:nvPr/>
        </p:nvCxnSpPr>
        <p:spPr>
          <a:xfrm>
            <a:off x="5619128" y="5318103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1" name="Rounded Rectangle 680"/>
          <p:cNvSpPr/>
          <p:nvPr/>
        </p:nvSpPr>
        <p:spPr>
          <a:xfrm>
            <a:off x="5635258" y="518062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2" name="TextBox 681"/>
          <p:cNvSpPr txBox="1"/>
          <p:nvPr/>
        </p:nvSpPr>
        <p:spPr>
          <a:xfrm>
            <a:off x="5635258" y="518062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S6</a:t>
            </a:r>
          </a:p>
        </p:txBody>
      </p:sp>
      <p:sp>
        <p:nvSpPr>
          <p:cNvPr id="683" name="Oval 682"/>
          <p:cNvSpPr/>
          <p:nvPr/>
        </p:nvSpPr>
        <p:spPr>
          <a:xfrm>
            <a:off x="7833311" y="2870617"/>
            <a:ext cx="58068" cy="58068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84" name="Connector 683"/>
          <p:cNvCxnSpPr/>
          <p:nvPr/>
        </p:nvCxnSpPr>
        <p:spPr>
          <a:xfrm flipV="1">
            <a:off x="7862345" y="2771144"/>
            <a:ext cx="107831" cy="12850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5" name="Connector 684"/>
          <p:cNvCxnSpPr/>
          <p:nvPr/>
        </p:nvCxnSpPr>
        <p:spPr>
          <a:xfrm>
            <a:off x="7970176" y="2771144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6" name="Connector 685"/>
          <p:cNvCxnSpPr/>
          <p:nvPr/>
        </p:nvCxnSpPr>
        <p:spPr>
          <a:xfrm>
            <a:off x="7951845" y="2792990"/>
            <a:ext cx="32127" cy="26958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7" name="Connector 686"/>
          <p:cNvCxnSpPr/>
          <p:nvPr/>
        </p:nvCxnSpPr>
        <p:spPr>
          <a:xfrm>
            <a:off x="7933513" y="2814837"/>
            <a:ext cx="32127" cy="2695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8" name="Rounded Rectangle 687"/>
          <p:cNvSpPr/>
          <p:nvPr/>
        </p:nvSpPr>
        <p:spPr>
          <a:xfrm>
            <a:off x="7986306" y="2633663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9" name="TextBox 688"/>
          <p:cNvSpPr txBox="1"/>
          <p:nvPr/>
        </p:nvSpPr>
        <p:spPr>
          <a:xfrm>
            <a:off x="7986306" y="2633663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S7</a:t>
            </a:r>
          </a:p>
        </p:txBody>
      </p:sp>
      <p:sp>
        <p:nvSpPr>
          <p:cNvPr id="690" name="TextBox 689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91" name="TextBox 690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  4 联 · 门厅 · 前门内侧</a:t>
            </a:r>
          </a:p>
        </p:txBody>
      </p:sp>
      <p:sp>
        <p:nvSpPr>
          <p:cNvPr id="692" name="TextBox 691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键1=c  键2=d  键3=e  键4=f</a:t>
            </a:r>
          </a:p>
        </p:txBody>
      </p:sp>
      <p:sp>
        <p:nvSpPr>
          <p:cNvPr id="693" name="TextBox 692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S2  2 联 · 门厅 · 前储物间旁</a:t>
            </a:r>
          </a:p>
        </p:txBody>
      </p:sp>
      <p:sp>
        <p:nvSpPr>
          <p:cNvPr id="694" name="TextBox 693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键1=a  键2=b</a:t>
            </a:r>
          </a:p>
        </p:txBody>
      </p:sp>
      <p:sp>
        <p:nvSpPr>
          <p:cNvPr id="695" name="TextBox 694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S3  3 联 · 起居室侧 · 拱门旁</a:t>
            </a:r>
          </a:p>
        </p:txBody>
      </p:sp>
      <p:sp>
        <p:nvSpPr>
          <p:cNvPr id="696" name="TextBox 695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697" name="TextBox 696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S4  4 联 · 楼梯口 · 拱门旁</a:t>
            </a:r>
          </a:p>
        </p:txBody>
      </p:sp>
      <p:sp>
        <p:nvSpPr>
          <p:cNvPr id="698" name="TextBox 697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键1=n  键2=d  键3=e  键4=f</a:t>
            </a:r>
          </a:p>
        </p:txBody>
      </p:sp>
      <p:sp>
        <p:nvSpPr>
          <p:cNvPr id="699" name="TextBox 698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S5  3 联 · G07 区侧 · 拱门旁</a:t>
            </a:r>
          </a:p>
        </p:txBody>
      </p:sp>
      <p:sp>
        <p:nvSpPr>
          <p:cNvPr id="700" name="TextBox 699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键1=g  键2=h  键3=i</a:t>
            </a:r>
          </a:p>
        </p:txBody>
      </p:sp>
      <p:sp>
        <p:nvSpPr>
          <p:cNvPr id="701" name="TextBox 700"/>
          <p:cNvSpPr txBox="1"/>
          <p:nvPr/>
        </p:nvSpPr>
        <p:spPr>
          <a:xfrm>
            <a:off x="8730000" y="245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S6  1 联 · 楼梯底</a:t>
            </a:r>
          </a:p>
        </p:txBody>
      </p:sp>
      <p:sp>
        <p:nvSpPr>
          <p:cNvPr id="702" name="TextBox 701"/>
          <p:cNvSpPr txBox="1"/>
          <p:nvPr/>
        </p:nvSpPr>
        <p:spPr>
          <a:xfrm>
            <a:off x="8980000" y="262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键1=F06</a:t>
            </a:r>
          </a:p>
        </p:txBody>
      </p:sp>
      <p:sp>
        <p:nvSpPr>
          <p:cNvPr id="703" name="TextBox 702"/>
          <p:cNvSpPr txBox="1"/>
          <p:nvPr/>
        </p:nvSpPr>
        <p:spPr>
          <a:xfrm>
            <a:off x="8730000" y="282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S7  3 联 · G07 区东侧 · 卫生间走道口</a:t>
            </a:r>
          </a:p>
        </p:txBody>
      </p:sp>
      <p:sp>
        <p:nvSpPr>
          <p:cNvPr id="704" name="TextBox 703"/>
          <p:cNvSpPr txBox="1"/>
          <p:nvPr/>
        </p:nvSpPr>
        <p:spPr>
          <a:xfrm>
            <a:off x="8980000" y="298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705" name="TextBox 704"/>
          <p:cNvSpPr txBox="1"/>
          <p:nvPr/>
        </p:nvSpPr>
        <p:spPr>
          <a:xfrm>
            <a:off x="8730000" y="324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706" name="TextBox 705"/>
          <p:cNvSpPr txBox="1"/>
          <p:nvPr/>
        </p:nvSpPr>
        <p:spPr>
          <a:xfrm>
            <a:off x="8730000" y="343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 ↔ S4  3C+E  回路 d e f</a:t>
            </a:r>
          </a:p>
        </p:txBody>
      </p:sp>
      <p:sp>
        <p:nvSpPr>
          <p:cNvPr id="707" name="TextBox 706"/>
          <p:cNvSpPr txBox="1"/>
          <p:nvPr/>
        </p:nvSpPr>
        <p:spPr>
          <a:xfrm>
            <a:off x="8730000" y="36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W2：S5 ↔ S3  3C+E  回路 g h i</a:t>
            </a:r>
          </a:p>
        </p:txBody>
      </p:sp>
      <p:sp>
        <p:nvSpPr>
          <p:cNvPr id="708" name="TextBox 707"/>
          <p:cNvSpPr txBox="1"/>
          <p:nvPr/>
        </p:nvSpPr>
        <p:spPr>
          <a:xfrm>
            <a:off x="8730000" y="37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709" name="TextBox 708"/>
          <p:cNvSpPr txBox="1"/>
          <p:nvPr/>
        </p:nvSpPr>
        <p:spPr>
          <a:xfrm>
            <a:off x="8730000" y="40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710" name="TextBox 709"/>
          <p:cNvSpPr txBox="1"/>
          <p:nvPr/>
        </p:nvSpPr>
        <p:spPr>
          <a:xfrm>
            <a:off x="8730000" y="42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S7 与 S11（E-GF-03）双控：p q v</a:t>
            </a:r>
          </a:p>
        </p:txBody>
      </p:sp>
      <p:sp>
        <p:nvSpPr>
          <p:cNvPr id="711" name="Rectangle 710"/>
          <p:cNvSpPr/>
          <p:nvPr/>
        </p:nvSpPr>
        <p:spPr>
          <a:xfrm>
            <a:off x="399999" y="6540000"/>
            <a:ext cx="73319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2" name="Rectangle 711"/>
          <p:cNvSpPr/>
          <p:nvPr/>
        </p:nvSpPr>
        <p:spPr>
          <a:xfrm>
            <a:off x="1133193" y="6540000"/>
            <a:ext cx="73319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3" name="TextBox 712"/>
          <p:cNvSpPr txBox="1"/>
          <p:nvPr/>
        </p:nvSpPr>
        <p:spPr>
          <a:xfrm>
            <a:off x="1906386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3812269" y="-1445597"/>
            <a:ext cx="7407753" cy="15138287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400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400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2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2：G15 区 · 卫生间 · 储物间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E-GF-02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I-B · 方案 B · 精简 17 路（照明 3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 flipH="1" flipV="1">
            <a:off x="2931770" y="3342500"/>
            <a:ext cx="1986563" cy="182526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4123036" y="4458919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4123036" y="4458919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4451986" y="4023697"/>
            <a:ext cx="466347" cy="1144063"/>
          </a:xfrm>
          <a:custGeom>
            <a:avLst/>
            <a:gdLst/>
            <a:ahLst/>
            <a:cxnLst/>
            <a:rect l="l" t="t" r="r" b="b"/>
            <a:pathLst>
              <a:path w="466347" h="1144063">
                <a:moveTo>
                  <a:pt x="466347" y="1144063"/>
                </a:moveTo>
                <a:lnTo>
                  <a:pt x="464014" y="1061629"/>
                </a:lnTo>
                <a:lnTo>
                  <a:pt x="458106" y="980652"/>
                </a:lnTo>
                <a:lnTo>
                  <a:pt x="448623" y="901133"/>
                </a:lnTo>
                <a:lnTo>
                  <a:pt x="435565" y="823071"/>
                </a:lnTo>
                <a:lnTo>
                  <a:pt x="418931" y="746467"/>
                </a:lnTo>
                <a:lnTo>
                  <a:pt x="398723" y="671319"/>
                </a:lnTo>
                <a:lnTo>
                  <a:pt x="374939" y="597630"/>
                </a:lnTo>
                <a:lnTo>
                  <a:pt x="347580" y="525397"/>
                </a:lnTo>
                <a:lnTo>
                  <a:pt x="316645" y="454622"/>
                </a:lnTo>
                <a:lnTo>
                  <a:pt x="282136" y="385304"/>
                </a:lnTo>
                <a:lnTo>
                  <a:pt x="244051" y="317443"/>
                </a:lnTo>
                <a:lnTo>
                  <a:pt x="202391" y="251040"/>
                </a:lnTo>
                <a:lnTo>
                  <a:pt x="157156" y="186094"/>
                </a:lnTo>
                <a:lnTo>
                  <a:pt x="108346" y="122606"/>
                </a:lnTo>
                <a:lnTo>
                  <a:pt x="55961" y="6057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931770" y="3342500"/>
            <a:ext cx="1520216" cy="681197"/>
          </a:xfrm>
          <a:custGeom>
            <a:avLst/>
            <a:gdLst/>
            <a:ahLst/>
            <a:cxnLst/>
            <a:rect l="l" t="t" r="r" b="b"/>
            <a:pathLst>
              <a:path w="1520216" h="681197">
                <a:moveTo>
                  <a:pt x="0" y="0"/>
                </a:moveTo>
                <a:lnTo>
                  <a:pt x="79048" y="78204"/>
                </a:lnTo>
                <a:lnTo>
                  <a:pt x="160225" y="151659"/>
                </a:lnTo>
                <a:lnTo>
                  <a:pt x="243530" y="220362"/>
                </a:lnTo>
                <a:lnTo>
                  <a:pt x="328964" y="284315"/>
                </a:lnTo>
                <a:lnTo>
                  <a:pt x="416527" y="343517"/>
                </a:lnTo>
                <a:lnTo>
                  <a:pt x="506219" y="397969"/>
                </a:lnTo>
                <a:lnTo>
                  <a:pt x="598039" y="447670"/>
                </a:lnTo>
                <a:lnTo>
                  <a:pt x="691988" y="492620"/>
                </a:lnTo>
                <a:lnTo>
                  <a:pt x="788066" y="532820"/>
                </a:lnTo>
                <a:lnTo>
                  <a:pt x="886273" y="568268"/>
                </a:lnTo>
                <a:lnTo>
                  <a:pt x="986608" y="598967"/>
                </a:lnTo>
                <a:lnTo>
                  <a:pt x="1089072" y="624914"/>
                </a:lnTo>
                <a:lnTo>
                  <a:pt x="1193665" y="646111"/>
                </a:lnTo>
                <a:lnTo>
                  <a:pt x="1300387" y="662557"/>
                </a:lnTo>
                <a:lnTo>
                  <a:pt x="1409237" y="674253"/>
                </a:lnTo>
                <a:lnTo>
                  <a:pt x="1520216" y="68119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918333" y="3512225"/>
            <a:ext cx="2022272" cy="1655535"/>
          </a:xfrm>
          <a:custGeom>
            <a:avLst/>
            <a:gdLst/>
            <a:ahLst/>
            <a:cxnLst/>
            <a:rect l="l" t="t" r="r" b="b"/>
            <a:pathLst>
              <a:path w="2022272" h="1655535">
                <a:moveTo>
                  <a:pt x="0" y="1655535"/>
                </a:moveTo>
                <a:lnTo>
                  <a:pt x="165193" y="1599461"/>
                </a:lnTo>
                <a:lnTo>
                  <a:pt x="325214" y="1537067"/>
                </a:lnTo>
                <a:lnTo>
                  <a:pt x="480060" y="1468354"/>
                </a:lnTo>
                <a:lnTo>
                  <a:pt x="629733" y="1393322"/>
                </a:lnTo>
                <a:lnTo>
                  <a:pt x="774232" y="1311969"/>
                </a:lnTo>
                <a:lnTo>
                  <a:pt x="913558" y="1224297"/>
                </a:lnTo>
                <a:lnTo>
                  <a:pt x="1047711" y="1130306"/>
                </a:lnTo>
                <a:lnTo>
                  <a:pt x="1176689" y="1029995"/>
                </a:lnTo>
                <a:lnTo>
                  <a:pt x="1300495" y="923364"/>
                </a:lnTo>
                <a:lnTo>
                  <a:pt x="1419126" y="810413"/>
                </a:lnTo>
                <a:lnTo>
                  <a:pt x="1532585" y="691143"/>
                </a:lnTo>
                <a:lnTo>
                  <a:pt x="1640869" y="565554"/>
                </a:lnTo>
                <a:lnTo>
                  <a:pt x="1743980" y="433645"/>
                </a:lnTo>
                <a:lnTo>
                  <a:pt x="1841918" y="295416"/>
                </a:lnTo>
                <a:lnTo>
                  <a:pt x="1934682" y="150868"/>
                </a:lnTo>
                <a:lnTo>
                  <a:pt x="2022272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2931770" y="3342500"/>
            <a:ext cx="4008835" cy="490090"/>
          </a:xfrm>
          <a:custGeom>
            <a:avLst/>
            <a:gdLst/>
            <a:ahLst/>
            <a:cxnLst/>
            <a:rect l="l" t="t" r="r" b="b"/>
            <a:pathLst>
              <a:path w="4008835" h="490090">
                <a:moveTo>
                  <a:pt x="0" y="0"/>
                </a:moveTo>
                <a:lnTo>
                  <a:pt x="246575" y="104564"/>
                </a:lnTo>
                <a:lnTo>
                  <a:pt x="493679" y="196602"/>
                </a:lnTo>
                <a:lnTo>
                  <a:pt x="741314" y="276111"/>
                </a:lnTo>
                <a:lnTo>
                  <a:pt x="989480" y="343093"/>
                </a:lnTo>
                <a:lnTo>
                  <a:pt x="1238175" y="397548"/>
                </a:lnTo>
                <a:lnTo>
                  <a:pt x="1487402" y="439475"/>
                </a:lnTo>
                <a:lnTo>
                  <a:pt x="1737158" y="468874"/>
                </a:lnTo>
                <a:lnTo>
                  <a:pt x="1987445" y="485746"/>
                </a:lnTo>
                <a:lnTo>
                  <a:pt x="2238263" y="490090"/>
                </a:lnTo>
                <a:lnTo>
                  <a:pt x="2489610" y="481906"/>
                </a:lnTo>
                <a:lnTo>
                  <a:pt x="2741488" y="461195"/>
                </a:lnTo>
                <a:lnTo>
                  <a:pt x="2993897" y="427956"/>
                </a:lnTo>
                <a:lnTo>
                  <a:pt x="3246836" y="382190"/>
                </a:lnTo>
                <a:lnTo>
                  <a:pt x="3500305" y="323896"/>
                </a:lnTo>
                <a:lnTo>
                  <a:pt x="3754305" y="253074"/>
                </a:lnTo>
                <a:lnTo>
                  <a:pt x="4008835" y="169725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600400" y="4026503"/>
            <a:ext cx="1317933" cy="1141257"/>
          </a:xfrm>
          <a:custGeom>
            <a:avLst/>
            <a:gdLst/>
            <a:ahLst/>
            <a:cxnLst/>
            <a:rect l="l" t="t" r="r" b="b"/>
            <a:pathLst>
              <a:path w="1317933" h="1141257">
                <a:moveTo>
                  <a:pt x="1317933" y="1141257"/>
                </a:moveTo>
                <a:lnTo>
                  <a:pt x="1262310" y="1039039"/>
                </a:lnTo>
                <a:lnTo>
                  <a:pt x="1203121" y="940940"/>
                </a:lnTo>
                <a:lnTo>
                  <a:pt x="1140366" y="846960"/>
                </a:lnTo>
                <a:lnTo>
                  <a:pt x="1074044" y="757098"/>
                </a:lnTo>
                <a:lnTo>
                  <a:pt x="1004155" y="671354"/>
                </a:lnTo>
                <a:lnTo>
                  <a:pt x="930701" y="589729"/>
                </a:lnTo>
                <a:lnTo>
                  <a:pt x="853679" y="512223"/>
                </a:lnTo>
                <a:lnTo>
                  <a:pt x="773092" y="438835"/>
                </a:lnTo>
                <a:lnTo>
                  <a:pt x="688938" y="369566"/>
                </a:lnTo>
                <a:lnTo>
                  <a:pt x="601217" y="304415"/>
                </a:lnTo>
                <a:lnTo>
                  <a:pt x="509930" y="243383"/>
                </a:lnTo>
                <a:lnTo>
                  <a:pt x="415077" y="186469"/>
                </a:lnTo>
                <a:lnTo>
                  <a:pt x="316657" y="133674"/>
                </a:lnTo>
                <a:lnTo>
                  <a:pt x="214671" y="84998"/>
                </a:lnTo>
                <a:lnTo>
                  <a:pt x="109119" y="4044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931770" y="3182841"/>
            <a:ext cx="664120" cy="170192"/>
          </a:xfrm>
          <a:custGeom>
            <a:avLst/>
            <a:gdLst/>
            <a:ahLst/>
            <a:cxnLst/>
            <a:rect l="l" t="t" r="r" b="b"/>
            <a:pathLst>
              <a:path w="664120" h="170192">
                <a:moveTo>
                  <a:pt x="0" y="159659"/>
                </a:moveTo>
                <a:lnTo>
                  <a:pt x="45250" y="165245"/>
                </a:lnTo>
                <a:lnTo>
                  <a:pt x="90000" y="168756"/>
                </a:lnTo>
                <a:lnTo>
                  <a:pt x="134252" y="170192"/>
                </a:lnTo>
                <a:lnTo>
                  <a:pt x="178005" y="169553"/>
                </a:lnTo>
                <a:lnTo>
                  <a:pt x="221258" y="166838"/>
                </a:lnTo>
                <a:lnTo>
                  <a:pt x="264013" y="162048"/>
                </a:lnTo>
                <a:lnTo>
                  <a:pt x="306269" y="155182"/>
                </a:lnTo>
                <a:lnTo>
                  <a:pt x="348026" y="146241"/>
                </a:lnTo>
                <a:lnTo>
                  <a:pt x="389284" y="135225"/>
                </a:lnTo>
                <a:lnTo>
                  <a:pt x="430043" y="122133"/>
                </a:lnTo>
                <a:lnTo>
                  <a:pt x="470303" y="106966"/>
                </a:lnTo>
                <a:lnTo>
                  <a:pt x="510064" y="89724"/>
                </a:lnTo>
                <a:lnTo>
                  <a:pt x="549326" y="70406"/>
                </a:lnTo>
                <a:lnTo>
                  <a:pt x="588090" y="49013"/>
                </a:lnTo>
                <a:lnTo>
                  <a:pt x="626354" y="25544"/>
                </a:lnTo>
                <a:lnTo>
                  <a:pt x="66412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95890" y="3182841"/>
            <a:ext cx="65529" cy="843662"/>
          </a:xfrm>
          <a:custGeom>
            <a:avLst/>
            <a:gdLst/>
            <a:ahLst/>
            <a:cxnLst/>
            <a:rect l="l" t="t" r="r" b="b"/>
            <a:pathLst>
              <a:path w="65529" h="843662">
                <a:moveTo>
                  <a:pt x="4510" y="843662"/>
                </a:moveTo>
                <a:lnTo>
                  <a:pt x="19058" y="790854"/>
                </a:lnTo>
                <a:lnTo>
                  <a:pt x="31628" y="738057"/>
                </a:lnTo>
                <a:lnTo>
                  <a:pt x="42222" y="685270"/>
                </a:lnTo>
                <a:lnTo>
                  <a:pt x="50838" y="632493"/>
                </a:lnTo>
                <a:lnTo>
                  <a:pt x="57477" y="579727"/>
                </a:lnTo>
                <a:lnTo>
                  <a:pt x="62138" y="526972"/>
                </a:lnTo>
                <a:lnTo>
                  <a:pt x="64822" y="474227"/>
                </a:lnTo>
                <a:lnTo>
                  <a:pt x="65529" y="421493"/>
                </a:lnTo>
                <a:lnTo>
                  <a:pt x="64259" y="368769"/>
                </a:lnTo>
                <a:lnTo>
                  <a:pt x="61011" y="316056"/>
                </a:lnTo>
                <a:lnTo>
                  <a:pt x="55786" y="263354"/>
                </a:lnTo>
                <a:lnTo>
                  <a:pt x="48583" y="210662"/>
                </a:lnTo>
                <a:lnTo>
                  <a:pt x="39403" y="157981"/>
                </a:lnTo>
                <a:lnTo>
                  <a:pt x="28246" y="105310"/>
                </a:lnTo>
                <a:lnTo>
                  <a:pt x="15111" y="5265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3595890" y="3182841"/>
            <a:ext cx="841740" cy="63131"/>
          </a:xfrm>
          <a:custGeom>
            <a:avLst/>
            <a:gdLst/>
            <a:ahLst/>
            <a:cxnLst/>
            <a:rect l="l" t="t" r="r" b="b"/>
            <a:pathLst>
              <a:path w="841740" h="63131">
                <a:moveTo>
                  <a:pt x="0" y="0"/>
                </a:moveTo>
                <a:lnTo>
                  <a:pt x="52608" y="14796"/>
                </a:lnTo>
                <a:lnTo>
                  <a:pt x="105217" y="27620"/>
                </a:lnTo>
                <a:lnTo>
                  <a:pt x="157826" y="38470"/>
                </a:lnTo>
                <a:lnTo>
                  <a:pt x="210435" y="47348"/>
                </a:lnTo>
                <a:lnTo>
                  <a:pt x="263043" y="54253"/>
                </a:lnTo>
                <a:lnTo>
                  <a:pt x="315652" y="59185"/>
                </a:lnTo>
                <a:lnTo>
                  <a:pt x="368261" y="62144"/>
                </a:lnTo>
                <a:lnTo>
                  <a:pt x="420870" y="63131"/>
                </a:lnTo>
                <a:lnTo>
                  <a:pt x="473478" y="62144"/>
                </a:lnTo>
                <a:lnTo>
                  <a:pt x="526087" y="59185"/>
                </a:lnTo>
                <a:lnTo>
                  <a:pt x="578696" y="54253"/>
                </a:lnTo>
                <a:lnTo>
                  <a:pt x="631305" y="47348"/>
                </a:lnTo>
                <a:lnTo>
                  <a:pt x="683914" y="38470"/>
                </a:lnTo>
                <a:lnTo>
                  <a:pt x="736522" y="27620"/>
                </a:lnTo>
                <a:lnTo>
                  <a:pt x="789131" y="14796"/>
                </a:lnTo>
                <a:lnTo>
                  <a:pt x="84174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4437630" y="3182841"/>
            <a:ext cx="970017" cy="79720"/>
          </a:xfrm>
          <a:custGeom>
            <a:avLst/>
            <a:gdLst/>
            <a:ahLst/>
            <a:cxnLst/>
            <a:rect l="l" t="t" r="r" b="b"/>
            <a:pathLst>
              <a:path w="970017" h="79720">
                <a:moveTo>
                  <a:pt x="0" y="0"/>
                </a:moveTo>
                <a:lnTo>
                  <a:pt x="60381" y="17922"/>
                </a:lnTo>
                <a:lnTo>
                  <a:pt x="120795" y="33571"/>
                </a:lnTo>
                <a:lnTo>
                  <a:pt x="181241" y="46946"/>
                </a:lnTo>
                <a:lnTo>
                  <a:pt x="241720" y="58048"/>
                </a:lnTo>
                <a:lnTo>
                  <a:pt x="302232" y="66876"/>
                </a:lnTo>
                <a:lnTo>
                  <a:pt x="362776" y="73431"/>
                </a:lnTo>
                <a:lnTo>
                  <a:pt x="423354" y="77712"/>
                </a:lnTo>
                <a:lnTo>
                  <a:pt x="483963" y="79720"/>
                </a:lnTo>
                <a:lnTo>
                  <a:pt x="544606" y="79454"/>
                </a:lnTo>
                <a:lnTo>
                  <a:pt x="605281" y="76915"/>
                </a:lnTo>
                <a:lnTo>
                  <a:pt x="665989" y="72102"/>
                </a:lnTo>
                <a:lnTo>
                  <a:pt x="726729" y="65016"/>
                </a:lnTo>
                <a:lnTo>
                  <a:pt x="787502" y="55657"/>
                </a:lnTo>
                <a:lnTo>
                  <a:pt x="848308" y="44023"/>
                </a:lnTo>
                <a:lnTo>
                  <a:pt x="909146" y="30117"/>
                </a:lnTo>
                <a:lnTo>
                  <a:pt x="970017" y="1393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4455541" y="4926790"/>
            <a:ext cx="462792" cy="240970"/>
          </a:xfrm>
          <a:custGeom>
            <a:avLst/>
            <a:gdLst/>
            <a:ahLst/>
            <a:cxnLst/>
            <a:rect l="l" t="t" r="r" b="b"/>
            <a:pathLst>
              <a:path w="462792" h="240970">
                <a:moveTo>
                  <a:pt x="462792" y="240970"/>
                </a:moveTo>
                <a:lnTo>
                  <a:pt x="439515" y="215063"/>
                </a:lnTo>
                <a:lnTo>
                  <a:pt x="415485" y="190602"/>
                </a:lnTo>
                <a:lnTo>
                  <a:pt x="390703" y="167587"/>
                </a:lnTo>
                <a:lnTo>
                  <a:pt x="365167" y="146018"/>
                </a:lnTo>
                <a:lnTo>
                  <a:pt x="338878" y="125896"/>
                </a:lnTo>
                <a:lnTo>
                  <a:pt x="311836" y="107219"/>
                </a:lnTo>
                <a:lnTo>
                  <a:pt x="284041" y="89989"/>
                </a:lnTo>
                <a:lnTo>
                  <a:pt x="255493" y="74206"/>
                </a:lnTo>
                <a:lnTo>
                  <a:pt x="226192" y="59868"/>
                </a:lnTo>
                <a:lnTo>
                  <a:pt x="196138" y="46977"/>
                </a:lnTo>
                <a:lnTo>
                  <a:pt x="165331" y="35532"/>
                </a:lnTo>
                <a:lnTo>
                  <a:pt x="133771" y="25533"/>
                </a:lnTo>
                <a:lnTo>
                  <a:pt x="101458" y="16980"/>
                </a:lnTo>
                <a:lnTo>
                  <a:pt x="68392" y="9874"/>
                </a:lnTo>
                <a:lnTo>
                  <a:pt x="34573" y="421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931770" y="3342500"/>
            <a:ext cx="653569" cy="1572038"/>
          </a:xfrm>
          <a:custGeom>
            <a:avLst/>
            <a:gdLst/>
            <a:ahLst/>
            <a:cxnLst/>
            <a:rect l="l" t="t" r="r" b="b"/>
            <a:pathLst>
              <a:path w="653569" h="1572038">
                <a:moveTo>
                  <a:pt x="0" y="0"/>
                </a:moveTo>
                <a:lnTo>
                  <a:pt x="4004" y="113570"/>
                </a:lnTo>
                <a:lnTo>
                  <a:pt x="12920" y="225098"/>
                </a:lnTo>
                <a:lnTo>
                  <a:pt x="26748" y="334584"/>
                </a:lnTo>
                <a:lnTo>
                  <a:pt x="45490" y="442027"/>
                </a:lnTo>
                <a:lnTo>
                  <a:pt x="69143" y="547428"/>
                </a:lnTo>
                <a:lnTo>
                  <a:pt x="97710" y="650786"/>
                </a:lnTo>
                <a:lnTo>
                  <a:pt x="131189" y="752102"/>
                </a:lnTo>
                <a:lnTo>
                  <a:pt x="169581" y="851376"/>
                </a:lnTo>
                <a:lnTo>
                  <a:pt x="212885" y="948607"/>
                </a:lnTo>
                <a:lnTo>
                  <a:pt x="261102" y="1043796"/>
                </a:lnTo>
                <a:lnTo>
                  <a:pt x="314231" y="1136942"/>
                </a:lnTo>
                <a:lnTo>
                  <a:pt x="372274" y="1228046"/>
                </a:lnTo>
                <a:lnTo>
                  <a:pt x="435228" y="1317108"/>
                </a:lnTo>
                <a:lnTo>
                  <a:pt x="503096" y="1404127"/>
                </a:lnTo>
                <a:lnTo>
                  <a:pt x="575876" y="1489104"/>
                </a:lnTo>
                <a:lnTo>
                  <a:pt x="653569" y="1572038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3585339" y="4855399"/>
            <a:ext cx="870202" cy="71391"/>
          </a:xfrm>
          <a:custGeom>
            <a:avLst/>
            <a:gdLst/>
            <a:ahLst/>
            <a:cxnLst/>
            <a:rect l="l" t="t" r="r" b="b"/>
            <a:pathLst>
              <a:path w="870202" h="71391">
                <a:moveTo>
                  <a:pt x="870202" y="71391"/>
                </a:moveTo>
                <a:lnTo>
                  <a:pt x="816030" y="55328"/>
                </a:lnTo>
                <a:lnTo>
                  <a:pt x="761829" y="41306"/>
                </a:lnTo>
                <a:lnTo>
                  <a:pt x="707599" y="29323"/>
                </a:lnTo>
                <a:lnTo>
                  <a:pt x="653341" y="19379"/>
                </a:lnTo>
                <a:lnTo>
                  <a:pt x="599054" y="11475"/>
                </a:lnTo>
                <a:lnTo>
                  <a:pt x="544738" y="5610"/>
                </a:lnTo>
                <a:lnTo>
                  <a:pt x="490393" y="1785"/>
                </a:lnTo>
                <a:lnTo>
                  <a:pt x="436020" y="0"/>
                </a:lnTo>
                <a:lnTo>
                  <a:pt x="381618" y="254"/>
                </a:lnTo>
                <a:lnTo>
                  <a:pt x="327187" y="2547"/>
                </a:lnTo>
                <a:lnTo>
                  <a:pt x="272728" y="6880"/>
                </a:lnTo>
                <a:lnTo>
                  <a:pt x="218239" y="13253"/>
                </a:lnTo>
                <a:lnTo>
                  <a:pt x="163723" y="21665"/>
                </a:lnTo>
                <a:lnTo>
                  <a:pt x="109177" y="32117"/>
                </a:lnTo>
                <a:lnTo>
                  <a:pt x="54603" y="44608"/>
                </a:lnTo>
                <a:lnTo>
                  <a:pt x="0" y="59139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3585339" y="4914538"/>
            <a:ext cx="1850204" cy="153065"/>
          </a:xfrm>
          <a:custGeom>
            <a:avLst/>
            <a:gdLst/>
            <a:ahLst/>
            <a:cxnLst/>
            <a:rect l="l" t="t" r="r" b="b"/>
            <a:pathLst>
              <a:path w="1850204" h="153065">
                <a:moveTo>
                  <a:pt x="0" y="0"/>
                </a:moveTo>
                <a:lnTo>
                  <a:pt x="115135" y="34311"/>
                </a:lnTo>
                <a:lnTo>
                  <a:pt x="230337" y="64285"/>
                </a:lnTo>
                <a:lnTo>
                  <a:pt x="345606" y="89923"/>
                </a:lnTo>
                <a:lnTo>
                  <a:pt x="460942" y="111224"/>
                </a:lnTo>
                <a:lnTo>
                  <a:pt x="576345" y="128189"/>
                </a:lnTo>
                <a:lnTo>
                  <a:pt x="691815" y="140818"/>
                </a:lnTo>
                <a:lnTo>
                  <a:pt x="807353" y="149110"/>
                </a:lnTo>
                <a:lnTo>
                  <a:pt x="922957" y="153065"/>
                </a:lnTo>
                <a:lnTo>
                  <a:pt x="1038628" y="152685"/>
                </a:lnTo>
                <a:lnTo>
                  <a:pt x="1154366" y="147968"/>
                </a:lnTo>
                <a:lnTo>
                  <a:pt x="1270172" y="138914"/>
                </a:lnTo>
                <a:lnTo>
                  <a:pt x="1386044" y="125524"/>
                </a:lnTo>
                <a:lnTo>
                  <a:pt x="1501984" y="107798"/>
                </a:lnTo>
                <a:lnTo>
                  <a:pt x="1617990" y="85735"/>
                </a:lnTo>
                <a:lnTo>
                  <a:pt x="1734064" y="59336"/>
                </a:lnTo>
                <a:lnTo>
                  <a:pt x="1850204" y="2860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5435543" y="3994283"/>
            <a:ext cx="71164" cy="948855"/>
          </a:xfrm>
          <a:custGeom>
            <a:avLst/>
            <a:gdLst/>
            <a:ahLst/>
            <a:cxnLst/>
            <a:rect l="l" t="t" r="r" b="b"/>
            <a:pathLst>
              <a:path w="71164" h="948855">
                <a:moveTo>
                  <a:pt x="0" y="948855"/>
                </a:moveTo>
                <a:lnTo>
                  <a:pt x="16679" y="889552"/>
                </a:lnTo>
                <a:lnTo>
                  <a:pt x="31134" y="830248"/>
                </a:lnTo>
                <a:lnTo>
                  <a:pt x="43366" y="770945"/>
                </a:lnTo>
                <a:lnTo>
                  <a:pt x="53373" y="711642"/>
                </a:lnTo>
                <a:lnTo>
                  <a:pt x="61157" y="652338"/>
                </a:lnTo>
                <a:lnTo>
                  <a:pt x="66717" y="593035"/>
                </a:lnTo>
                <a:lnTo>
                  <a:pt x="70052" y="533731"/>
                </a:lnTo>
                <a:lnTo>
                  <a:pt x="71164" y="474428"/>
                </a:lnTo>
                <a:lnTo>
                  <a:pt x="70052" y="415124"/>
                </a:lnTo>
                <a:lnTo>
                  <a:pt x="66717" y="355821"/>
                </a:lnTo>
                <a:lnTo>
                  <a:pt x="61157" y="296518"/>
                </a:lnTo>
                <a:lnTo>
                  <a:pt x="53373" y="237214"/>
                </a:lnTo>
                <a:lnTo>
                  <a:pt x="43366" y="177911"/>
                </a:lnTo>
                <a:lnTo>
                  <a:pt x="31134" y="118607"/>
                </a:lnTo>
                <a:lnTo>
                  <a:pt x="16679" y="59304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7019338" y="4412187"/>
            <a:ext cx="196650" cy="650093"/>
          </a:xfrm>
          <a:custGeom>
            <a:avLst/>
            <a:gdLst/>
            <a:ahLst/>
            <a:cxnLst/>
            <a:rect l="l" t="t" r="r" b="b"/>
            <a:pathLst>
              <a:path w="196650" h="650093">
                <a:moveTo>
                  <a:pt x="4412" y="0"/>
                </a:moveTo>
                <a:lnTo>
                  <a:pt x="1190" y="45136"/>
                </a:lnTo>
                <a:lnTo>
                  <a:pt x="0" y="89672"/>
                </a:lnTo>
                <a:lnTo>
                  <a:pt x="841" y="133607"/>
                </a:lnTo>
                <a:lnTo>
                  <a:pt x="3714" y="176941"/>
                </a:lnTo>
                <a:lnTo>
                  <a:pt x="8618" y="219675"/>
                </a:lnTo>
                <a:lnTo>
                  <a:pt x="15555" y="261807"/>
                </a:lnTo>
                <a:lnTo>
                  <a:pt x="24522" y="303339"/>
                </a:lnTo>
                <a:lnTo>
                  <a:pt x="35521" y="344271"/>
                </a:lnTo>
                <a:lnTo>
                  <a:pt x="48552" y="384601"/>
                </a:lnTo>
                <a:lnTo>
                  <a:pt x="63614" y="424331"/>
                </a:lnTo>
                <a:lnTo>
                  <a:pt x="80708" y="463460"/>
                </a:lnTo>
                <a:lnTo>
                  <a:pt x="99833" y="501988"/>
                </a:lnTo>
                <a:lnTo>
                  <a:pt x="120990" y="539915"/>
                </a:lnTo>
                <a:lnTo>
                  <a:pt x="144178" y="577242"/>
                </a:lnTo>
                <a:lnTo>
                  <a:pt x="169398" y="613968"/>
                </a:lnTo>
                <a:lnTo>
                  <a:pt x="196650" y="65009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Oval 563"/>
          <p:cNvSpPr/>
          <p:nvPr/>
        </p:nvSpPr>
        <p:spPr>
          <a:xfrm>
            <a:off x="4347139" y="3918851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5" name="Connector 564"/>
          <p:cNvCxnSpPr/>
          <p:nvPr/>
        </p:nvCxnSpPr>
        <p:spPr>
          <a:xfrm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4377859" y="3949571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4556833" y="3814004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j</a:t>
            </a:r>
          </a:p>
        </p:txBody>
      </p:sp>
      <p:sp>
        <p:nvSpPr>
          <p:cNvPr id="568" name="Oval 567"/>
          <p:cNvSpPr/>
          <p:nvPr/>
        </p:nvSpPr>
        <p:spPr>
          <a:xfrm>
            <a:off x="6835758" y="3407378"/>
            <a:ext cx="209693" cy="20969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9" name="Connector 568"/>
          <p:cNvCxnSpPr/>
          <p:nvPr/>
        </p:nvCxnSpPr>
        <p:spPr>
          <a:xfrm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0" name="Connector 569"/>
          <p:cNvCxnSpPr/>
          <p:nvPr/>
        </p:nvCxnSpPr>
        <p:spPr>
          <a:xfrm flipV="1">
            <a:off x="6866478" y="3438098"/>
            <a:ext cx="148254" cy="148253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1" name="TextBox 570"/>
          <p:cNvSpPr txBox="1"/>
          <p:nvPr/>
        </p:nvSpPr>
        <p:spPr>
          <a:xfrm>
            <a:off x="7045452" y="3302531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k</a:t>
            </a:r>
          </a:p>
        </p:txBody>
      </p:sp>
      <p:sp>
        <p:nvSpPr>
          <p:cNvPr id="572" name="Oval 571"/>
          <p:cNvSpPr/>
          <p:nvPr/>
        </p:nvSpPr>
        <p:spPr>
          <a:xfrm>
            <a:off x="4385644" y="4856892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4433698" y="490494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TextBox 573"/>
          <p:cNvSpPr txBox="1"/>
          <p:nvPr/>
        </p:nvSpPr>
        <p:spPr>
          <a:xfrm>
            <a:off x="4560388" y="4717096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5" name="Oval 574"/>
          <p:cNvSpPr/>
          <p:nvPr/>
        </p:nvSpPr>
        <p:spPr>
          <a:xfrm>
            <a:off x="3515441" y="484464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3563496" y="48926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TextBox 576"/>
          <p:cNvSpPr txBox="1"/>
          <p:nvPr/>
        </p:nvSpPr>
        <p:spPr>
          <a:xfrm>
            <a:off x="3690185" y="47048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78" name="Oval 577"/>
          <p:cNvSpPr/>
          <p:nvPr/>
        </p:nvSpPr>
        <p:spPr>
          <a:xfrm>
            <a:off x="3530502" y="395660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3578556" y="400466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3705246" y="381681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1" name="Oval 580"/>
          <p:cNvSpPr/>
          <p:nvPr/>
        </p:nvSpPr>
        <p:spPr>
          <a:xfrm>
            <a:off x="352599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Oval 581"/>
          <p:cNvSpPr/>
          <p:nvPr/>
        </p:nvSpPr>
        <p:spPr>
          <a:xfrm>
            <a:off x="357404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3" name="TextBox 582"/>
          <p:cNvSpPr txBox="1"/>
          <p:nvPr/>
        </p:nvSpPr>
        <p:spPr>
          <a:xfrm>
            <a:off x="370073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4" name="Oval 583"/>
          <p:cNvSpPr/>
          <p:nvPr/>
        </p:nvSpPr>
        <p:spPr>
          <a:xfrm>
            <a:off x="4367732" y="311294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5" name="Oval 584"/>
          <p:cNvSpPr/>
          <p:nvPr/>
        </p:nvSpPr>
        <p:spPr>
          <a:xfrm>
            <a:off x="4415787" y="3160998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542476" y="2973148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87" name="Oval 586"/>
          <p:cNvSpPr/>
          <p:nvPr/>
        </p:nvSpPr>
        <p:spPr>
          <a:xfrm>
            <a:off x="5337750" y="3126880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Oval 587"/>
          <p:cNvSpPr/>
          <p:nvPr/>
        </p:nvSpPr>
        <p:spPr>
          <a:xfrm>
            <a:off x="5385804" y="317493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TextBox 588"/>
          <p:cNvSpPr txBox="1"/>
          <p:nvPr/>
        </p:nvSpPr>
        <p:spPr>
          <a:xfrm>
            <a:off x="5512494" y="298708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l</a:t>
            </a:r>
          </a:p>
        </p:txBody>
      </p:sp>
      <p:sp>
        <p:nvSpPr>
          <p:cNvPr id="590" name="Oval 589"/>
          <p:cNvSpPr/>
          <p:nvPr/>
        </p:nvSpPr>
        <p:spPr>
          <a:xfrm>
            <a:off x="5365645" y="3924386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5413700" y="3972440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TextBox 591"/>
          <p:cNvSpPr txBox="1"/>
          <p:nvPr/>
        </p:nvSpPr>
        <p:spPr>
          <a:xfrm>
            <a:off x="5540390" y="3784590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3" name="Oval 592"/>
          <p:cNvSpPr/>
          <p:nvPr/>
        </p:nvSpPr>
        <p:spPr>
          <a:xfrm>
            <a:off x="5365645" y="4873241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4" name="Oval 593"/>
          <p:cNvSpPr/>
          <p:nvPr/>
        </p:nvSpPr>
        <p:spPr>
          <a:xfrm>
            <a:off x="5413700" y="4921295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5" name="TextBox 594"/>
          <p:cNvSpPr txBox="1"/>
          <p:nvPr/>
        </p:nvSpPr>
        <p:spPr>
          <a:xfrm>
            <a:off x="5540390" y="4733445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m</a:t>
            </a:r>
          </a:p>
        </p:txBody>
      </p:sp>
      <p:sp>
        <p:nvSpPr>
          <p:cNvPr id="596" name="Oval 595"/>
          <p:cNvSpPr/>
          <p:nvPr/>
        </p:nvSpPr>
        <p:spPr>
          <a:xfrm>
            <a:off x="7146090" y="4992383"/>
            <a:ext cx="139795" cy="139795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Oval 596"/>
          <p:cNvSpPr/>
          <p:nvPr/>
        </p:nvSpPr>
        <p:spPr>
          <a:xfrm>
            <a:off x="7194145" y="5040437"/>
            <a:ext cx="43686" cy="4368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TextBox 597"/>
          <p:cNvSpPr txBox="1"/>
          <p:nvPr/>
        </p:nvSpPr>
        <p:spPr>
          <a:xfrm>
            <a:off x="7320834" y="4852587"/>
            <a:ext cx="174744" cy="1397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o</a:t>
            </a:r>
          </a:p>
        </p:txBody>
      </p:sp>
      <p:sp>
        <p:nvSpPr>
          <p:cNvPr id="599" name="Oval 598"/>
          <p:cNvSpPr/>
          <p:nvPr/>
        </p:nvSpPr>
        <p:spPr>
          <a:xfrm>
            <a:off x="4886879" y="513630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0" name="Connector 599"/>
          <p:cNvCxnSpPr/>
          <p:nvPr/>
        </p:nvCxnSpPr>
        <p:spPr>
          <a:xfrm flipV="1">
            <a:off x="4918333" y="5028543"/>
            <a:ext cx="116816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5035149" y="5028543"/>
            <a:ext cx="34804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5015291" y="505221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3" name="Connector 602"/>
          <p:cNvCxnSpPr/>
          <p:nvPr/>
        </p:nvCxnSpPr>
        <p:spPr>
          <a:xfrm>
            <a:off x="4995432" y="507587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4" name="Connector 603"/>
          <p:cNvCxnSpPr/>
          <p:nvPr/>
        </p:nvCxnSpPr>
        <p:spPr>
          <a:xfrm>
            <a:off x="4975573" y="5099544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5" name="Rounded Rectangle 604"/>
          <p:cNvSpPr/>
          <p:nvPr/>
        </p:nvSpPr>
        <p:spPr>
          <a:xfrm>
            <a:off x="5052624" y="488770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6" name="TextBox 605"/>
          <p:cNvSpPr txBox="1"/>
          <p:nvPr/>
        </p:nvSpPr>
        <p:spPr>
          <a:xfrm>
            <a:off x="5052624" y="488770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S8</a:t>
            </a:r>
          </a:p>
        </p:txBody>
      </p:sp>
      <p:sp>
        <p:nvSpPr>
          <p:cNvPr id="607" name="Oval 606"/>
          <p:cNvSpPr/>
          <p:nvPr/>
        </p:nvSpPr>
        <p:spPr>
          <a:xfrm>
            <a:off x="2900316" y="3311046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8" name="Connector 607"/>
          <p:cNvCxnSpPr/>
          <p:nvPr/>
        </p:nvCxnSpPr>
        <p:spPr>
          <a:xfrm flipV="1">
            <a:off x="2931770" y="3203283"/>
            <a:ext cx="116817" cy="1392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9" name="Connector 608"/>
          <p:cNvCxnSpPr/>
          <p:nvPr/>
        </p:nvCxnSpPr>
        <p:spPr>
          <a:xfrm>
            <a:off x="3048587" y="3203283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0" name="Connector 609"/>
          <p:cNvCxnSpPr/>
          <p:nvPr/>
        </p:nvCxnSpPr>
        <p:spPr>
          <a:xfrm>
            <a:off x="3028728" y="3226950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1" name="Connector 610"/>
          <p:cNvCxnSpPr/>
          <p:nvPr/>
        </p:nvCxnSpPr>
        <p:spPr>
          <a:xfrm>
            <a:off x="3008869" y="3250617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2" name="Connector 611"/>
          <p:cNvCxnSpPr/>
          <p:nvPr/>
        </p:nvCxnSpPr>
        <p:spPr>
          <a:xfrm>
            <a:off x="2989010" y="3274283"/>
            <a:ext cx="34805" cy="29205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3" name="Rounded Rectangle 612"/>
          <p:cNvSpPr/>
          <p:nvPr/>
        </p:nvSpPr>
        <p:spPr>
          <a:xfrm>
            <a:off x="3066061" y="3062442"/>
            <a:ext cx="233172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4" name="TextBox 613"/>
          <p:cNvSpPr txBox="1"/>
          <p:nvPr/>
        </p:nvSpPr>
        <p:spPr>
          <a:xfrm>
            <a:off x="3066061" y="3062442"/>
            <a:ext cx="233172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S9</a:t>
            </a:r>
          </a:p>
        </p:txBody>
      </p:sp>
      <p:sp>
        <p:nvSpPr>
          <p:cNvPr id="615" name="Oval 614"/>
          <p:cNvSpPr/>
          <p:nvPr/>
        </p:nvSpPr>
        <p:spPr>
          <a:xfrm>
            <a:off x="6992296" y="4380733"/>
            <a:ext cx="62907" cy="62907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6" name="Connector 615"/>
          <p:cNvCxnSpPr/>
          <p:nvPr/>
        </p:nvCxnSpPr>
        <p:spPr>
          <a:xfrm flipV="1">
            <a:off x="7023750" y="4272971"/>
            <a:ext cx="116816" cy="139216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7" name="Connector 616"/>
          <p:cNvCxnSpPr/>
          <p:nvPr/>
        </p:nvCxnSpPr>
        <p:spPr>
          <a:xfrm>
            <a:off x="7140566" y="4272971"/>
            <a:ext cx="34804" cy="29204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8" name="Rounded Rectangle 617"/>
          <p:cNvSpPr/>
          <p:nvPr/>
        </p:nvSpPr>
        <p:spPr>
          <a:xfrm>
            <a:off x="7158040" y="4132129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9" name="TextBox 618"/>
          <p:cNvSpPr txBox="1"/>
          <p:nvPr/>
        </p:nvSpPr>
        <p:spPr>
          <a:xfrm>
            <a:off x="7158040" y="4132129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S10</a:t>
            </a:r>
          </a:p>
        </p:txBody>
      </p:sp>
      <p:sp>
        <p:nvSpPr>
          <p:cNvPr id="620" name="TextBox 619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21" name="TextBox 620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S8  4 联 · G15 区南门旁</a:t>
            </a:r>
          </a:p>
        </p:txBody>
      </p:sp>
      <p:sp>
        <p:nvSpPr>
          <p:cNvPr id="622" name="TextBox 621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S9  4 联 · G15 区 · 储物间门旁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键1=j  键2=k  键3=l  键4=m</a:t>
            </a:r>
          </a:p>
        </p:txBody>
      </p:sp>
      <p:sp>
        <p:nvSpPr>
          <p:cNvPr id="625" name="TextBox 624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S10  1 联 · 卫生间门外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键1=o</a:t>
            </a:r>
          </a:p>
        </p:txBody>
      </p:sp>
      <p:sp>
        <p:nvSpPr>
          <p:cNvPr id="627" name="TextBox 626"/>
          <p:cNvSpPr txBox="1"/>
          <p:nvPr/>
        </p:nvSpPr>
        <p:spPr>
          <a:xfrm>
            <a:off x="8730000" y="178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28" name="TextBox 627"/>
          <p:cNvSpPr txBox="1"/>
          <p:nvPr/>
        </p:nvSpPr>
        <p:spPr>
          <a:xfrm>
            <a:off x="8730000" y="197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W1：S8 ↔ S9  3C+E  回路 j k l m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8730000" y="214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30" name="Rectangle 629"/>
          <p:cNvSpPr/>
          <p:nvPr/>
        </p:nvSpPr>
        <p:spPr>
          <a:xfrm>
            <a:off x="400000" y="6540000"/>
            <a:ext cx="794292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Rectangle 630"/>
          <p:cNvSpPr/>
          <p:nvPr/>
        </p:nvSpPr>
        <p:spPr>
          <a:xfrm>
            <a:off x="1194292" y="6540000"/>
            <a:ext cx="794292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2" name="TextBox 631"/>
          <p:cNvSpPr txBox="1"/>
          <p:nvPr/>
        </p:nvSpPr>
        <p:spPr>
          <a:xfrm>
            <a:off x="2028585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537" name="Group 536">
            <a:extLst>
              <a:ext uri="{FF2B5EF4-FFF2-40B4-BE49-F238E27FC236}">
                <a16:creationId xmlns:a16="http://schemas.microsoft.com/office/drawing/2014/main" id="{C0720C8A-57E7-2187-373E-7A1E2B212779}"/>
              </a:ext>
            </a:extLst>
          </p:cNvPr>
          <p:cNvGrpSpPr/>
          <p:nvPr/>
        </p:nvGrpSpPr>
        <p:grpSpPr>
          <a:xfrm rot="5400000">
            <a:off x="-1280212" y="-1604295"/>
            <a:ext cx="5327267" cy="10886662"/>
            <a:chOff x="358703" y="843064"/>
            <a:chExt cx="2312689" cy="4726150"/>
          </a:xfrm>
        </p:grpSpPr>
        <p:grpSp>
          <p:nvGrpSpPr>
            <p:cNvPr id="6" name="墙体（Blender 1.2 m 剖切，已锁定）">
              <a:extLst>
                <a:ext uri="{FF2B5EF4-FFF2-40B4-BE49-F238E27FC236}">
                  <a16:creationId xmlns:a16="http://schemas.microsoft.com/office/drawing/2014/main" id="{5E1F18B8-B18C-FAFE-C9CA-5201F7783D28}"/>
                </a:ext>
              </a:extLst>
            </p:cNvPr>
            <p:cNvGrpSpPr>
              <a:grpSpLocks noGrp="1" noRot="1" noMove="1" noResize="1"/>
            </p:cNvGrpSpPr>
            <p:nvPr/>
          </p:nvGrpSpPr>
          <p:grpSpPr>
            <a:xfrm>
              <a:off x="358703" y="1008790"/>
              <a:ext cx="2244687" cy="4199488"/>
              <a:chOff x="358703" y="1008790"/>
              <a:chExt cx="2244687" cy="4199488"/>
            </a:xfrm>
          </p:grpSpPr>
          <p:sp>
            <p:nvSpPr>
              <p:cNvPr id="4" name="墙_GF_Wall_Shell">
                <a:extLst>
                  <a:ext uri="{FF2B5EF4-FFF2-40B4-BE49-F238E27FC236}">
                    <a16:creationId xmlns:a16="http://schemas.microsoft.com/office/drawing/2014/main" id="{184A8DC7-17CB-F4DE-A1A9-66AAE14C41A4}"/>
                  </a:ext>
                </a:extLst>
              </p:cNvPr>
              <p:cNvSpPr/>
              <p:nvPr/>
            </p:nvSpPr>
            <p:spPr>
              <a:xfrm>
                <a:off x="358703" y="1008790"/>
                <a:ext cx="2244687" cy="4199488"/>
              </a:xfrm>
              <a:custGeom>
                <a:avLst/>
                <a:gdLst/>
                <a:ahLst/>
                <a:cxnLst/>
                <a:rect l="l" t="t" r="r" b="b"/>
                <a:pathLst>
                  <a:path w="2244687" h="4199488">
                    <a:moveTo>
                      <a:pt x="1918764" y="3678985"/>
                    </a:moveTo>
                    <a:lnTo>
                      <a:pt x="1918764" y="3601616"/>
                    </a:lnTo>
                    <a:lnTo>
                      <a:pt x="1918516" y="3601616"/>
                    </a:lnTo>
                    <a:lnTo>
                      <a:pt x="1918516" y="3596607"/>
                    </a:lnTo>
                    <a:lnTo>
                      <a:pt x="1944775" y="3596607"/>
                    </a:lnTo>
                    <a:lnTo>
                      <a:pt x="1944775" y="3560154"/>
                    </a:lnTo>
                    <a:lnTo>
                      <a:pt x="1918516" y="3560154"/>
                    </a:lnTo>
                    <a:lnTo>
                      <a:pt x="1918516" y="3166664"/>
                    </a:lnTo>
                    <a:lnTo>
                      <a:pt x="1918516" y="2968283"/>
                    </a:lnTo>
                    <a:lnTo>
                      <a:pt x="1902895" y="2968283"/>
                    </a:lnTo>
                    <a:lnTo>
                      <a:pt x="1902895" y="2953404"/>
                    </a:lnTo>
                    <a:lnTo>
                      <a:pt x="1732519" y="2953404"/>
                    </a:lnTo>
                    <a:lnTo>
                      <a:pt x="1672685" y="2953404"/>
                    </a:lnTo>
                    <a:lnTo>
                      <a:pt x="1659667" y="2953404"/>
                    </a:lnTo>
                    <a:lnTo>
                      <a:pt x="1659667" y="2983162"/>
                    </a:lnTo>
                    <a:lnTo>
                      <a:pt x="1702590" y="2983162"/>
                    </a:lnTo>
                    <a:lnTo>
                      <a:pt x="1887298" y="2983162"/>
                    </a:lnTo>
                    <a:lnTo>
                      <a:pt x="1887298" y="3166664"/>
                    </a:lnTo>
                    <a:lnTo>
                      <a:pt x="1887298" y="3578306"/>
                    </a:lnTo>
                    <a:lnTo>
                      <a:pt x="1887298" y="3601616"/>
                    </a:lnTo>
                    <a:lnTo>
                      <a:pt x="1887050" y="3601616"/>
                    </a:lnTo>
                    <a:lnTo>
                      <a:pt x="1887050" y="3678985"/>
                    </a:lnTo>
                    <a:close/>
                    <a:moveTo>
                      <a:pt x="2133228" y="3560154"/>
                    </a:moveTo>
                    <a:lnTo>
                      <a:pt x="2133228" y="3596607"/>
                    </a:lnTo>
                    <a:lnTo>
                      <a:pt x="2185176" y="3596607"/>
                    </a:lnTo>
                    <a:lnTo>
                      <a:pt x="2185176" y="3945312"/>
                    </a:lnTo>
                    <a:lnTo>
                      <a:pt x="2194598" y="3945312"/>
                    </a:lnTo>
                    <a:lnTo>
                      <a:pt x="2194598" y="3973829"/>
                    </a:lnTo>
                    <a:lnTo>
                      <a:pt x="2207493" y="3973829"/>
                    </a:lnTo>
                    <a:lnTo>
                      <a:pt x="2207493" y="3945312"/>
                    </a:lnTo>
                    <a:lnTo>
                      <a:pt x="2211212" y="3945312"/>
                    </a:lnTo>
                    <a:lnTo>
                      <a:pt x="2237248" y="3945312"/>
                    </a:lnTo>
                    <a:lnTo>
                      <a:pt x="2237248" y="3578306"/>
                    </a:lnTo>
                    <a:lnTo>
                      <a:pt x="2237248" y="3166664"/>
                    </a:lnTo>
                    <a:lnTo>
                      <a:pt x="2237248" y="2968283"/>
                    </a:lnTo>
                    <a:lnTo>
                      <a:pt x="2237248" y="2799659"/>
                    </a:lnTo>
                    <a:lnTo>
                      <a:pt x="2237248" y="2008613"/>
                    </a:lnTo>
                    <a:lnTo>
                      <a:pt x="2244687" y="2008613"/>
                    </a:lnTo>
                    <a:lnTo>
                      <a:pt x="2244687" y="1730878"/>
                    </a:lnTo>
                    <a:lnTo>
                      <a:pt x="2244687" y="1383711"/>
                    </a:lnTo>
                    <a:lnTo>
                      <a:pt x="2244687" y="1066300"/>
                    </a:lnTo>
                    <a:lnTo>
                      <a:pt x="2244687" y="369486"/>
                    </a:lnTo>
                    <a:lnTo>
                      <a:pt x="2244687" y="28517"/>
                    </a:lnTo>
                    <a:lnTo>
                      <a:pt x="2214931" y="28517"/>
                    </a:lnTo>
                    <a:lnTo>
                      <a:pt x="2214931" y="0"/>
                    </a:lnTo>
                    <a:lnTo>
                      <a:pt x="2087602" y="0"/>
                    </a:lnTo>
                    <a:lnTo>
                      <a:pt x="1931509" y="0"/>
                    </a:lnTo>
                    <a:lnTo>
                      <a:pt x="1739016" y="0"/>
                    </a:lnTo>
                    <a:lnTo>
                      <a:pt x="1739016" y="28517"/>
                    </a:lnTo>
                    <a:lnTo>
                      <a:pt x="1739016" y="57035"/>
                    </a:lnTo>
                    <a:lnTo>
                      <a:pt x="1931509" y="57035"/>
                    </a:lnTo>
                    <a:lnTo>
                      <a:pt x="2087602" y="57035"/>
                    </a:lnTo>
                    <a:lnTo>
                      <a:pt x="2214931" y="57035"/>
                    </a:lnTo>
                    <a:lnTo>
                      <a:pt x="2214931" y="87437"/>
                    </a:lnTo>
                    <a:lnTo>
                      <a:pt x="2185176" y="87437"/>
                    </a:lnTo>
                    <a:lnTo>
                      <a:pt x="2185176" y="354607"/>
                    </a:lnTo>
                    <a:lnTo>
                      <a:pt x="1675289" y="354607"/>
                    </a:lnTo>
                    <a:lnTo>
                      <a:pt x="1675289" y="384364"/>
                    </a:lnTo>
                    <a:lnTo>
                      <a:pt x="2185176" y="384364"/>
                    </a:lnTo>
                    <a:lnTo>
                      <a:pt x="2185176" y="1031584"/>
                    </a:lnTo>
                    <a:lnTo>
                      <a:pt x="2056384" y="1031584"/>
                    </a:lnTo>
                    <a:lnTo>
                      <a:pt x="2056384" y="1101017"/>
                    </a:lnTo>
                    <a:lnTo>
                      <a:pt x="2185176" y="1101017"/>
                    </a:lnTo>
                    <a:lnTo>
                      <a:pt x="2185176" y="1383711"/>
                    </a:lnTo>
                    <a:lnTo>
                      <a:pt x="2185176" y="1730878"/>
                    </a:lnTo>
                    <a:lnTo>
                      <a:pt x="2185176" y="1993734"/>
                    </a:lnTo>
                    <a:lnTo>
                      <a:pt x="1948669" y="1993734"/>
                    </a:lnTo>
                    <a:lnTo>
                      <a:pt x="1948669" y="2023491"/>
                    </a:lnTo>
                    <a:lnTo>
                      <a:pt x="2177737" y="2023491"/>
                    </a:lnTo>
                    <a:lnTo>
                      <a:pt x="2177737" y="2008613"/>
                    </a:lnTo>
                    <a:lnTo>
                      <a:pt x="2185176" y="2008613"/>
                    </a:lnTo>
                    <a:lnTo>
                      <a:pt x="2185176" y="2799659"/>
                    </a:lnTo>
                    <a:lnTo>
                      <a:pt x="2185176" y="2968283"/>
                    </a:lnTo>
                    <a:lnTo>
                      <a:pt x="2185176" y="3166664"/>
                    </a:lnTo>
                    <a:lnTo>
                      <a:pt x="2185176" y="3560154"/>
                    </a:lnTo>
                    <a:close/>
                    <a:moveTo>
                      <a:pt x="1407811" y="0"/>
                    </a:moveTo>
                    <a:lnTo>
                      <a:pt x="1427648" y="0"/>
                    </a:lnTo>
                    <a:lnTo>
                      <a:pt x="1427648" y="28517"/>
                    </a:lnTo>
                    <a:lnTo>
                      <a:pt x="1436327" y="28517"/>
                    </a:lnTo>
                    <a:lnTo>
                      <a:pt x="1436327" y="109135"/>
                    </a:lnTo>
                    <a:lnTo>
                      <a:pt x="1407811" y="109135"/>
                    </a:lnTo>
                    <a:lnTo>
                      <a:pt x="1379295" y="109135"/>
                    </a:lnTo>
                    <a:lnTo>
                      <a:pt x="1379295" y="28517"/>
                    </a:lnTo>
                    <a:lnTo>
                      <a:pt x="1407811" y="28517"/>
                    </a:lnTo>
                    <a:close/>
                    <a:moveTo>
                      <a:pt x="730872" y="2017292"/>
                    </a:moveTo>
                    <a:lnTo>
                      <a:pt x="879650" y="2017292"/>
                    </a:lnTo>
                    <a:lnTo>
                      <a:pt x="944120" y="2017292"/>
                    </a:lnTo>
                    <a:lnTo>
                      <a:pt x="1026444" y="2017292"/>
                    </a:lnTo>
                    <a:lnTo>
                      <a:pt x="1026444" y="2045809"/>
                    </a:lnTo>
                    <a:lnTo>
                      <a:pt x="1026444" y="2074326"/>
                    </a:lnTo>
                    <a:lnTo>
                      <a:pt x="958998" y="2074326"/>
                    </a:lnTo>
                    <a:lnTo>
                      <a:pt x="958998" y="2462410"/>
                    </a:lnTo>
                    <a:lnTo>
                      <a:pt x="958998" y="2693029"/>
                    </a:lnTo>
                    <a:lnTo>
                      <a:pt x="929242" y="2693029"/>
                    </a:lnTo>
                    <a:lnTo>
                      <a:pt x="929242" y="2477289"/>
                    </a:lnTo>
                    <a:lnTo>
                      <a:pt x="651523" y="2477289"/>
                    </a:lnTo>
                    <a:lnTo>
                      <a:pt x="651523" y="2447532"/>
                    </a:lnTo>
                    <a:lnTo>
                      <a:pt x="651523" y="2316104"/>
                    </a:lnTo>
                    <a:lnTo>
                      <a:pt x="681279" y="2316104"/>
                    </a:lnTo>
                    <a:lnTo>
                      <a:pt x="681279" y="2447532"/>
                    </a:lnTo>
                    <a:lnTo>
                      <a:pt x="929242" y="2447532"/>
                    </a:lnTo>
                    <a:lnTo>
                      <a:pt x="929242" y="2074326"/>
                    </a:lnTo>
                    <a:lnTo>
                      <a:pt x="879650" y="2074326"/>
                    </a:lnTo>
                    <a:lnTo>
                      <a:pt x="730872" y="2074326"/>
                    </a:lnTo>
                    <a:lnTo>
                      <a:pt x="681279" y="2074326"/>
                    </a:lnTo>
                    <a:lnTo>
                      <a:pt x="681279" y="2147480"/>
                    </a:lnTo>
                    <a:lnTo>
                      <a:pt x="651523" y="2147480"/>
                    </a:lnTo>
                    <a:lnTo>
                      <a:pt x="651523" y="2086428"/>
                    </a:lnTo>
                    <a:lnTo>
                      <a:pt x="652639" y="2086428"/>
                    </a:lnTo>
                    <a:lnTo>
                      <a:pt x="652639" y="2017292"/>
                    </a:lnTo>
                    <a:close/>
                    <a:moveTo>
                      <a:pt x="130677" y="2074326"/>
                    </a:moveTo>
                    <a:lnTo>
                      <a:pt x="130677" y="2017292"/>
                    </a:lnTo>
                    <a:lnTo>
                      <a:pt x="29136" y="2017292"/>
                    </a:lnTo>
                    <a:lnTo>
                      <a:pt x="0" y="2017292"/>
                    </a:lnTo>
                    <a:lnTo>
                      <a:pt x="0" y="2074326"/>
                    </a:lnTo>
                    <a:lnTo>
                      <a:pt x="620" y="2074326"/>
                    </a:lnTo>
                    <a:lnTo>
                      <a:pt x="620" y="2536803"/>
                    </a:lnTo>
                    <a:lnTo>
                      <a:pt x="620" y="3684936"/>
                    </a:lnTo>
                    <a:lnTo>
                      <a:pt x="620" y="3823803"/>
                    </a:lnTo>
                    <a:lnTo>
                      <a:pt x="29136" y="3823803"/>
                    </a:lnTo>
                    <a:lnTo>
                      <a:pt x="29136" y="3852320"/>
                    </a:lnTo>
                    <a:lnTo>
                      <a:pt x="175434" y="3852320"/>
                    </a:lnTo>
                    <a:lnTo>
                      <a:pt x="175434" y="3823803"/>
                    </a:lnTo>
                    <a:lnTo>
                      <a:pt x="175434" y="3795286"/>
                    </a:lnTo>
                    <a:lnTo>
                      <a:pt x="57651" y="3795286"/>
                    </a:lnTo>
                    <a:lnTo>
                      <a:pt x="57651" y="3713453"/>
                    </a:lnTo>
                    <a:lnTo>
                      <a:pt x="89143" y="3713453"/>
                    </a:lnTo>
                    <a:lnTo>
                      <a:pt x="89143" y="3684936"/>
                    </a:lnTo>
                    <a:lnTo>
                      <a:pt x="89143" y="3656419"/>
                    </a:lnTo>
                    <a:lnTo>
                      <a:pt x="57651" y="3656419"/>
                    </a:lnTo>
                    <a:lnTo>
                      <a:pt x="57651" y="2536803"/>
                    </a:lnTo>
                    <a:lnTo>
                      <a:pt x="57651" y="2074326"/>
                    </a:lnTo>
                    <a:close/>
                    <a:moveTo>
                      <a:pt x="1027188" y="2953404"/>
                    </a:moveTo>
                    <a:lnTo>
                      <a:pt x="1027188" y="2983162"/>
                    </a:lnTo>
                    <a:lnTo>
                      <a:pt x="958998" y="2983162"/>
                    </a:lnTo>
                    <a:lnTo>
                      <a:pt x="958998" y="2968283"/>
                    </a:lnTo>
                    <a:lnTo>
                      <a:pt x="944120" y="2968283"/>
                    </a:lnTo>
                    <a:lnTo>
                      <a:pt x="944120" y="2953404"/>
                    </a:lnTo>
                    <a:close/>
                    <a:moveTo>
                      <a:pt x="672104" y="3656419"/>
                    </a:moveTo>
                    <a:lnTo>
                      <a:pt x="672104" y="3684936"/>
                    </a:lnTo>
                    <a:lnTo>
                      <a:pt x="672104" y="3713453"/>
                    </a:lnTo>
                    <a:lnTo>
                      <a:pt x="680039" y="3713453"/>
                    </a:lnTo>
                    <a:lnTo>
                      <a:pt x="680039" y="3823803"/>
                    </a:lnTo>
                    <a:lnTo>
                      <a:pt x="708555" y="3823803"/>
                    </a:lnTo>
                    <a:close/>
                    <a:moveTo>
                      <a:pt x="708555" y="3656419"/>
                    </a:moveTo>
                    <a:lnTo>
                      <a:pt x="708555" y="3684936"/>
                    </a:lnTo>
                    <a:lnTo>
                      <a:pt x="737071" y="3684936"/>
                    </a:lnTo>
                    <a:lnTo>
                      <a:pt x="737071" y="3795286"/>
                    </a:lnTo>
                    <a:lnTo>
                      <a:pt x="929242" y="3795286"/>
                    </a:lnTo>
                    <a:lnTo>
                      <a:pt x="929242" y="3823803"/>
                    </a:lnTo>
                    <a:lnTo>
                      <a:pt x="944120" y="3823803"/>
                    </a:lnTo>
                    <a:lnTo>
                      <a:pt x="946352" y="3823803"/>
                    </a:lnTo>
                    <a:lnTo>
                      <a:pt x="958998" y="3823803"/>
                    </a:lnTo>
                    <a:lnTo>
                      <a:pt x="972636" y="3823803"/>
                    </a:lnTo>
                    <a:lnTo>
                      <a:pt x="972636" y="3945312"/>
                    </a:lnTo>
                    <a:lnTo>
                      <a:pt x="972636" y="4015985"/>
                    </a:lnTo>
                    <a:lnTo>
                      <a:pt x="1100337" y="4015985"/>
                    </a:lnTo>
                    <a:lnTo>
                      <a:pt x="1100337" y="4040386"/>
                    </a:lnTo>
                    <a:lnTo>
                      <a:pt x="1114223" y="4021565"/>
                    </a:lnTo>
                    <a:lnTo>
                      <a:pt x="1149334" y="4047528"/>
                    </a:lnTo>
                    <a:lnTo>
                      <a:pt x="1132374" y="4070441"/>
                    </a:lnTo>
                    <a:lnTo>
                      <a:pt x="1115438" y="4093379"/>
                    </a:lnTo>
                    <a:lnTo>
                      <a:pt x="1087889" y="4073020"/>
                    </a:lnTo>
                    <a:lnTo>
                      <a:pt x="944120" y="4073020"/>
                    </a:lnTo>
                    <a:lnTo>
                      <a:pt x="944120" y="4044502"/>
                    </a:lnTo>
                    <a:lnTo>
                      <a:pt x="915604" y="4044502"/>
                    </a:lnTo>
                    <a:lnTo>
                      <a:pt x="915604" y="3945312"/>
                    </a:lnTo>
                    <a:lnTo>
                      <a:pt x="915604" y="3852320"/>
                    </a:lnTo>
                    <a:lnTo>
                      <a:pt x="708555" y="3852320"/>
                    </a:lnTo>
                    <a:lnTo>
                      <a:pt x="708555" y="3823803"/>
                    </a:lnTo>
                    <a:close/>
                    <a:moveTo>
                      <a:pt x="1926848" y="3916794"/>
                    </a:moveTo>
                    <a:lnTo>
                      <a:pt x="1913309" y="3916794"/>
                    </a:lnTo>
                    <a:lnTo>
                      <a:pt x="1913309" y="3930433"/>
                    </a:lnTo>
                    <a:lnTo>
                      <a:pt x="1902895" y="3930433"/>
                    </a:lnTo>
                    <a:lnTo>
                      <a:pt x="1902895" y="3941493"/>
                    </a:lnTo>
                    <a:lnTo>
                      <a:pt x="1883405" y="3941468"/>
                    </a:lnTo>
                    <a:lnTo>
                      <a:pt x="1883405" y="4015985"/>
                    </a:lnTo>
                    <a:lnTo>
                      <a:pt x="1691605" y="4015985"/>
                    </a:lnTo>
                    <a:lnTo>
                      <a:pt x="1691605" y="4016828"/>
                    </a:lnTo>
                    <a:lnTo>
                      <a:pt x="1691233" y="4016233"/>
                    </a:lnTo>
                    <a:lnTo>
                      <a:pt x="1651361" y="4046585"/>
                    </a:lnTo>
                    <a:lnTo>
                      <a:pt x="1669834" y="4069003"/>
                    </a:lnTo>
                    <a:lnTo>
                      <a:pt x="1688307" y="4091444"/>
                    </a:lnTo>
                    <a:lnTo>
                      <a:pt x="1721063" y="4066944"/>
                    </a:lnTo>
                    <a:lnTo>
                      <a:pt x="1712930" y="4073020"/>
                    </a:lnTo>
                    <a:lnTo>
                      <a:pt x="1913309" y="4073020"/>
                    </a:lnTo>
                    <a:lnTo>
                      <a:pt x="1913309" y="4044502"/>
                    </a:lnTo>
                    <a:lnTo>
                      <a:pt x="1943238" y="4044502"/>
                    </a:lnTo>
                    <a:lnTo>
                      <a:pt x="1943238" y="3941468"/>
                    </a:lnTo>
                    <a:lnTo>
                      <a:pt x="1926848" y="3941468"/>
                    </a:lnTo>
                    <a:close/>
                    <a:moveTo>
                      <a:pt x="1407811" y="318427"/>
                    </a:moveTo>
                    <a:lnTo>
                      <a:pt x="1379295" y="318427"/>
                    </a:lnTo>
                    <a:lnTo>
                      <a:pt x="1379295" y="369486"/>
                    </a:lnTo>
                    <a:lnTo>
                      <a:pt x="1379295" y="534167"/>
                    </a:lnTo>
                    <a:lnTo>
                      <a:pt x="1407811" y="534167"/>
                    </a:lnTo>
                    <a:lnTo>
                      <a:pt x="1436327" y="534167"/>
                    </a:lnTo>
                    <a:lnTo>
                      <a:pt x="1436327" y="369486"/>
                    </a:lnTo>
                    <a:lnTo>
                      <a:pt x="1436327" y="318427"/>
                    </a:lnTo>
                    <a:close/>
                    <a:moveTo>
                      <a:pt x="1407811" y="901693"/>
                    </a:moveTo>
                    <a:lnTo>
                      <a:pt x="1379295" y="901693"/>
                    </a:lnTo>
                    <a:lnTo>
                      <a:pt x="1379295" y="1066300"/>
                    </a:lnTo>
                    <a:lnTo>
                      <a:pt x="1379295" y="1475462"/>
                    </a:lnTo>
                    <a:lnTo>
                      <a:pt x="1407811" y="1475462"/>
                    </a:lnTo>
                    <a:lnTo>
                      <a:pt x="1436327" y="1475462"/>
                    </a:lnTo>
                    <a:lnTo>
                      <a:pt x="1436327" y="1066300"/>
                    </a:lnTo>
                    <a:lnTo>
                      <a:pt x="1436327" y="901693"/>
                    </a:lnTo>
                    <a:close/>
                    <a:moveTo>
                      <a:pt x="1233270" y="4145032"/>
                    </a:moveTo>
                    <a:lnTo>
                      <a:pt x="1216334" y="4167970"/>
                    </a:lnTo>
                    <a:lnTo>
                      <a:pt x="1254991" y="4196537"/>
                    </a:lnTo>
                    <a:lnTo>
                      <a:pt x="1267414" y="4179352"/>
                    </a:lnTo>
                    <a:lnTo>
                      <a:pt x="1265877" y="4199488"/>
                    </a:lnTo>
                    <a:lnTo>
                      <a:pt x="1275647" y="4199488"/>
                    </a:lnTo>
                    <a:lnTo>
                      <a:pt x="1275647" y="4170971"/>
                    </a:lnTo>
                    <a:lnTo>
                      <a:pt x="1275647" y="4166086"/>
                    </a:lnTo>
                    <a:lnTo>
                      <a:pt x="1285317" y="4148033"/>
                    </a:lnTo>
                    <a:lnTo>
                      <a:pt x="1250231" y="4122094"/>
                    </a:lnTo>
                    <a:close/>
                    <a:moveTo>
                      <a:pt x="1702267" y="2008637"/>
                    </a:moveTo>
                    <a:lnTo>
                      <a:pt x="1705193" y="2008613"/>
                    </a:lnTo>
                    <a:lnTo>
                      <a:pt x="1728328" y="2008613"/>
                    </a:lnTo>
                    <a:lnTo>
                      <a:pt x="1743851" y="2008613"/>
                    </a:lnTo>
                    <a:lnTo>
                      <a:pt x="1759547" y="2008613"/>
                    </a:lnTo>
                    <a:lnTo>
                      <a:pt x="1759497" y="2045809"/>
                    </a:lnTo>
                    <a:lnTo>
                      <a:pt x="1759473" y="2083006"/>
                    </a:lnTo>
                    <a:lnTo>
                      <a:pt x="1705193" y="2083006"/>
                    </a:lnTo>
                    <a:lnTo>
                      <a:pt x="1702243" y="2083006"/>
                    </a:lnTo>
                    <a:lnTo>
                      <a:pt x="1407811" y="2083006"/>
                    </a:lnTo>
                    <a:lnTo>
                      <a:pt x="1407811" y="2074326"/>
                    </a:lnTo>
                    <a:lnTo>
                      <a:pt x="1325487" y="2074326"/>
                    </a:lnTo>
                    <a:lnTo>
                      <a:pt x="1325487" y="2045809"/>
                    </a:lnTo>
                    <a:lnTo>
                      <a:pt x="1325487" y="2017292"/>
                    </a:lnTo>
                    <a:lnTo>
                      <a:pt x="1379295" y="2017292"/>
                    </a:lnTo>
                    <a:lnTo>
                      <a:pt x="1379295" y="1882144"/>
                    </a:lnTo>
                    <a:lnTo>
                      <a:pt x="1407811" y="1882144"/>
                    </a:lnTo>
                    <a:lnTo>
                      <a:pt x="1436327" y="1882144"/>
                    </a:lnTo>
                    <a:lnTo>
                      <a:pt x="1436327" y="2008613"/>
                    </a:lnTo>
                    <a:close/>
                    <a:moveTo>
                      <a:pt x="1542629" y="4199488"/>
                    </a:moveTo>
                    <a:lnTo>
                      <a:pt x="1529090" y="4199488"/>
                    </a:lnTo>
                    <a:lnTo>
                      <a:pt x="1529090" y="4173773"/>
                    </a:lnTo>
                    <a:lnTo>
                      <a:pt x="1515055" y="4148529"/>
                    </a:lnTo>
                    <a:lnTo>
                      <a:pt x="1547811" y="4124029"/>
                    </a:lnTo>
                    <a:lnTo>
                      <a:pt x="1566284" y="4146471"/>
                    </a:lnTo>
                    <a:lnTo>
                      <a:pt x="1584733" y="4168912"/>
                    </a:lnTo>
                    <a:lnTo>
                      <a:pt x="1544885" y="4199240"/>
                    </a:lnTo>
                    <a:lnTo>
                      <a:pt x="1541959" y="419452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" name="墙_Wall_GF_KitchenSmallWindow_Infill">
                <a:extLst>
                  <a:ext uri="{FF2B5EF4-FFF2-40B4-BE49-F238E27FC236}">
                    <a16:creationId xmlns:a16="http://schemas.microsoft.com/office/drawing/2014/main" id="{7F35B348-141E-82D2-814C-2105AE8F9159}"/>
                  </a:ext>
                </a:extLst>
              </p:cNvPr>
              <p:cNvSpPr/>
              <p:nvPr/>
            </p:nvSpPr>
            <p:spPr>
              <a:xfrm>
                <a:off x="1737874" y="1229192"/>
                <a:ext cx="57032" cy="97951"/>
              </a:xfrm>
              <a:custGeom>
                <a:avLst/>
                <a:gdLst/>
                <a:ahLst/>
                <a:cxnLst/>
                <a:rect l="l" t="t" r="r" b="b"/>
                <a:pathLst>
                  <a:path w="57032" h="97951">
                    <a:moveTo>
                      <a:pt x="57032" y="0"/>
                    </a:moveTo>
                    <a:lnTo>
                      <a:pt x="57032" y="97951"/>
                    </a:lnTo>
                    <a:lnTo>
                      <a:pt x="0" y="979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墙_Stair_Tread_06">
                <a:extLst>
                  <a:ext uri="{FF2B5EF4-FFF2-40B4-BE49-F238E27FC236}">
                    <a16:creationId xmlns:a16="http://schemas.microsoft.com/office/drawing/2014/main" id="{1896FE24-C49E-2E98-4BBA-6DE36034CED1}"/>
                  </a:ext>
                </a:extLst>
              </p:cNvPr>
              <p:cNvSpPr/>
              <p:nvPr/>
            </p:nvSpPr>
            <p:spPr>
              <a:xfrm>
                <a:off x="2303231" y="3467704"/>
                <a:ext cx="240648" cy="54927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54927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54927"/>
                    </a:lnTo>
                    <a:lnTo>
                      <a:pt x="0" y="5492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墙_Stair_Riser_06">
                <a:extLst>
                  <a:ext uri="{FF2B5EF4-FFF2-40B4-BE49-F238E27FC236}">
                    <a16:creationId xmlns:a16="http://schemas.microsoft.com/office/drawing/2014/main" id="{7583E6B4-0B00-91CB-C458-3EC6D265A8C4}"/>
                  </a:ext>
                </a:extLst>
              </p:cNvPr>
              <p:cNvSpPr/>
              <p:nvPr/>
            </p:nvSpPr>
            <p:spPr>
              <a:xfrm>
                <a:off x="2303231" y="3515166"/>
                <a:ext cx="240648" cy="7465"/>
              </a:xfrm>
              <a:custGeom>
                <a:avLst/>
                <a:gdLst/>
                <a:ahLst/>
                <a:cxnLst/>
                <a:rect l="l" t="t" r="r" b="b"/>
                <a:pathLst>
                  <a:path w="240648" h="7465">
                    <a:moveTo>
                      <a:pt x="0" y="0"/>
                    </a:moveTo>
                    <a:lnTo>
                      <a:pt x="240648" y="0"/>
                    </a:lnTo>
                    <a:lnTo>
                      <a:pt x="240648" y="7465"/>
                    </a:lnTo>
                    <a:lnTo>
                      <a:pt x="0" y="746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墙_Stair_Baluster">
                <a:extLst>
                  <a:ext uri="{FF2B5EF4-FFF2-40B4-BE49-F238E27FC236}">
                    <a16:creationId xmlns:a16="http://schemas.microsoft.com/office/drawing/2014/main" id="{01BB6607-B57E-0D3A-AA1D-2F847212E4A6}"/>
                  </a:ext>
                </a:extLst>
              </p:cNvPr>
              <p:cNvSpPr/>
              <p:nvPr/>
            </p:nvSpPr>
            <p:spPr>
              <a:xfrm>
                <a:off x="2307074" y="3729443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墙_Stair_Baluster.001">
                <a:extLst>
                  <a:ext uri="{FF2B5EF4-FFF2-40B4-BE49-F238E27FC236}">
                    <a16:creationId xmlns:a16="http://schemas.microsoft.com/office/drawing/2014/main" id="{BECDFC8D-723E-A482-7907-EB16CF938CDD}"/>
                  </a:ext>
                </a:extLst>
              </p:cNvPr>
              <p:cNvSpPr/>
              <p:nvPr/>
            </p:nvSpPr>
            <p:spPr>
              <a:xfrm>
                <a:off x="2307074" y="3712184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3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4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墙_Stair_Baluster.002">
                <a:extLst>
                  <a:ext uri="{FF2B5EF4-FFF2-40B4-BE49-F238E27FC236}">
                    <a16:creationId xmlns:a16="http://schemas.microsoft.com/office/drawing/2014/main" id="{C139AE8C-6413-A531-B496-2EB8FE8F6E88}"/>
                  </a:ext>
                </a:extLst>
              </p:cNvPr>
              <p:cNvSpPr/>
              <p:nvPr/>
            </p:nvSpPr>
            <p:spPr>
              <a:xfrm>
                <a:off x="2303503" y="3694925"/>
                <a:ext cx="1063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83">
                    <a:moveTo>
                      <a:pt x="9596" y="4414"/>
                    </a:moveTo>
                    <a:lnTo>
                      <a:pt x="8456" y="4984"/>
                    </a:lnTo>
                    <a:lnTo>
                      <a:pt x="7092" y="5183"/>
                    </a:lnTo>
                    <a:lnTo>
                      <a:pt x="5753" y="4984"/>
                    </a:lnTo>
                    <a:lnTo>
                      <a:pt x="4612" y="4414"/>
                    </a:lnTo>
                    <a:lnTo>
                      <a:pt x="199" y="4563"/>
                    </a:lnTo>
                    <a:lnTo>
                      <a:pt x="0" y="3546"/>
                    </a:lnTo>
                    <a:lnTo>
                      <a:pt x="199" y="595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墙_Stair_Baluster.003">
                <a:extLst>
                  <a:ext uri="{FF2B5EF4-FFF2-40B4-BE49-F238E27FC236}">
                    <a16:creationId xmlns:a16="http://schemas.microsoft.com/office/drawing/2014/main" id="{DCE1443F-6B8F-EFCD-C543-E9D446DFB392}"/>
                  </a:ext>
                </a:extLst>
              </p:cNvPr>
              <p:cNvSpPr/>
              <p:nvPr/>
            </p:nvSpPr>
            <p:spPr>
              <a:xfrm>
                <a:off x="2303503" y="3677666"/>
                <a:ext cx="10638" cy="515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5158">
                    <a:moveTo>
                      <a:pt x="9596" y="4414"/>
                    </a:moveTo>
                    <a:lnTo>
                      <a:pt x="8456" y="4959"/>
                    </a:lnTo>
                    <a:lnTo>
                      <a:pt x="7092" y="5158"/>
                    </a:lnTo>
                    <a:lnTo>
                      <a:pt x="5753" y="4959"/>
                    </a:lnTo>
                    <a:lnTo>
                      <a:pt x="4612" y="4414"/>
                    </a:lnTo>
                    <a:lnTo>
                      <a:pt x="199" y="4562"/>
                    </a:lnTo>
                    <a:lnTo>
                      <a:pt x="0" y="3546"/>
                    </a:lnTo>
                    <a:lnTo>
                      <a:pt x="3844" y="1587"/>
                    </a:lnTo>
                    <a:lnTo>
                      <a:pt x="4612" y="744"/>
                    </a:lnTo>
                    <a:lnTo>
                      <a:pt x="5753" y="198"/>
                    </a:lnTo>
                    <a:lnTo>
                      <a:pt x="7092" y="0"/>
                    </a:lnTo>
                    <a:lnTo>
                      <a:pt x="8456" y="198"/>
                    </a:lnTo>
                    <a:lnTo>
                      <a:pt x="9596" y="744"/>
                    </a:lnTo>
                    <a:lnTo>
                      <a:pt x="10365" y="1587"/>
                    </a:lnTo>
                    <a:lnTo>
                      <a:pt x="10638" y="2579"/>
                    </a:lnTo>
                    <a:lnTo>
                      <a:pt x="1036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墙_Stair_Baluster.004">
                <a:extLst>
                  <a:ext uri="{FF2B5EF4-FFF2-40B4-BE49-F238E27FC236}">
                    <a16:creationId xmlns:a16="http://schemas.microsoft.com/office/drawing/2014/main" id="{1FE4FF15-5CD2-FC48-9A3D-DAF52B149F0D}"/>
                  </a:ext>
                </a:extLst>
              </p:cNvPr>
              <p:cNvSpPr/>
              <p:nvPr/>
            </p:nvSpPr>
            <p:spPr>
              <a:xfrm>
                <a:off x="2303528" y="3660382"/>
                <a:ext cx="10613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2">
                    <a:moveTo>
                      <a:pt x="9571" y="4438"/>
                    </a:moveTo>
                    <a:lnTo>
                      <a:pt x="8431" y="4984"/>
                    </a:lnTo>
                    <a:lnTo>
                      <a:pt x="7067" y="5182"/>
                    </a:lnTo>
                    <a:lnTo>
                      <a:pt x="5728" y="4984"/>
                    </a:lnTo>
                    <a:lnTo>
                      <a:pt x="4587" y="4438"/>
                    </a:lnTo>
                    <a:lnTo>
                      <a:pt x="3819" y="3595"/>
                    </a:lnTo>
                    <a:lnTo>
                      <a:pt x="0" y="1636"/>
                    </a:lnTo>
                    <a:lnTo>
                      <a:pt x="174" y="620"/>
                    </a:lnTo>
                    <a:lnTo>
                      <a:pt x="4587" y="768"/>
                    </a:lnTo>
                    <a:lnTo>
                      <a:pt x="5728" y="198"/>
                    </a:lnTo>
                    <a:lnTo>
                      <a:pt x="7067" y="0"/>
                    </a:lnTo>
                    <a:lnTo>
                      <a:pt x="8431" y="198"/>
                    </a:lnTo>
                    <a:lnTo>
                      <a:pt x="9571" y="768"/>
                    </a:lnTo>
                    <a:lnTo>
                      <a:pt x="10340" y="1612"/>
                    </a:lnTo>
                    <a:lnTo>
                      <a:pt x="10613" y="2603"/>
                    </a:lnTo>
                    <a:lnTo>
                      <a:pt x="10340" y="359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墙_Stair_Baluster.005">
                <a:extLst>
                  <a:ext uri="{FF2B5EF4-FFF2-40B4-BE49-F238E27FC236}">
                    <a16:creationId xmlns:a16="http://schemas.microsoft.com/office/drawing/2014/main" id="{AFF075DC-7603-8ECD-CB64-D0DFFF379214}"/>
                  </a:ext>
                </a:extLst>
              </p:cNvPr>
              <p:cNvSpPr/>
              <p:nvPr/>
            </p:nvSpPr>
            <p:spPr>
              <a:xfrm>
                <a:off x="2303528" y="3643122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71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墙_Stair_Baluster.006">
                <a:extLst>
                  <a:ext uri="{FF2B5EF4-FFF2-40B4-BE49-F238E27FC236}">
                    <a16:creationId xmlns:a16="http://schemas.microsoft.com/office/drawing/2014/main" id="{01C2E669-D9B3-83C5-69FD-107F171F40E9}"/>
                  </a:ext>
                </a:extLst>
              </p:cNvPr>
              <p:cNvSpPr/>
              <p:nvPr/>
            </p:nvSpPr>
            <p:spPr>
              <a:xfrm>
                <a:off x="2303528" y="3625863"/>
                <a:ext cx="10613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613" h="5183">
                    <a:moveTo>
                      <a:pt x="9571" y="4439"/>
                    </a:moveTo>
                    <a:lnTo>
                      <a:pt x="8431" y="4985"/>
                    </a:lnTo>
                    <a:lnTo>
                      <a:pt x="7067" y="5183"/>
                    </a:lnTo>
                    <a:lnTo>
                      <a:pt x="5728" y="4985"/>
                    </a:lnTo>
                    <a:lnTo>
                      <a:pt x="4587" y="4439"/>
                    </a:lnTo>
                    <a:lnTo>
                      <a:pt x="149" y="4588"/>
                    </a:lnTo>
                    <a:lnTo>
                      <a:pt x="0" y="3546"/>
                    </a:lnTo>
                    <a:lnTo>
                      <a:pt x="149" y="620"/>
                    </a:lnTo>
                    <a:lnTo>
                      <a:pt x="4587" y="769"/>
                    </a:lnTo>
                    <a:lnTo>
                      <a:pt x="5728" y="199"/>
                    </a:lnTo>
                    <a:lnTo>
                      <a:pt x="7067" y="0"/>
                    </a:lnTo>
                    <a:lnTo>
                      <a:pt x="8431" y="199"/>
                    </a:lnTo>
                    <a:lnTo>
                      <a:pt x="9571" y="769"/>
                    </a:lnTo>
                    <a:lnTo>
                      <a:pt x="10340" y="1612"/>
                    </a:lnTo>
                    <a:lnTo>
                      <a:pt x="10613" y="2604"/>
                    </a:lnTo>
                    <a:lnTo>
                      <a:pt x="10340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墙_Stair_Baluster.007">
                <a:extLst>
                  <a:ext uri="{FF2B5EF4-FFF2-40B4-BE49-F238E27FC236}">
                    <a16:creationId xmlns:a16="http://schemas.microsoft.com/office/drawing/2014/main" id="{ED7C3B2C-5D9D-BBDF-86AA-9350995F8CE0}"/>
                  </a:ext>
                </a:extLst>
              </p:cNvPr>
              <p:cNvSpPr/>
              <p:nvPr/>
            </p:nvSpPr>
            <p:spPr>
              <a:xfrm>
                <a:off x="2303553" y="3608604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3794" y="3596"/>
                    </a:lnTo>
                    <a:lnTo>
                      <a:pt x="0" y="1637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9"/>
                    </a:lnTo>
                    <a:lnTo>
                      <a:pt x="7042" y="0"/>
                    </a:lnTo>
                    <a:lnTo>
                      <a:pt x="8406" y="199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604"/>
                    </a:lnTo>
                    <a:lnTo>
                      <a:pt x="10315" y="359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墙_Stair_Baluster.008">
                <a:extLst>
                  <a:ext uri="{FF2B5EF4-FFF2-40B4-BE49-F238E27FC236}">
                    <a16:creationId xmlns:a16="http://schemas.microsoft.com/office/drawing/2014/main" id="{22F321B9-B09C-A2E6-BE01-78E939AD49DE}"/>
                  </a:ext>
                </a:extLst>
              </p:cNvPr>
              <p:cNvSpPr/>
              <p:nvPr/>
            </p:nvSpPr>
            <p:spPr>
              <a:xfrm>
                <a:off x="2303553" y="3591345"/>
                <a:ext cx="10588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5183">
                    <a:moveTo>
                      <a:pt x="9546" y="4414"/>
                    </a:moveTo>
                    <a:lnTo>
                      <a:pt x="8406" y="4984"/>
                    </a:lnTo>
                    <a:lnTo>
                      <a:pt x="7042" y="5183"/>
                    </a:lnTo>
                    <a:lnTo>
                      <a:pt x="5703" y="4984"/>
                    </a:lnTo>
                    <a:lnTo>
                      <a:pt x="4562" y="4414"/>
                    </a:lnTo>
                    <a:lnTo>
                      <a:pt x="99" y="4588"/>
                    </a:lnTo>
                    <a:lnTo>
                      <a:pt x="0" y="3546"/>
                    </a:lnTo>
                    <a:lnTo>
                      <a:pt x="99" y="595"/>
                    </a:lnTo>
                    <a:lnTo>
                      <a:pt x="4562" y="769"/>
                    </a:lnTo>
                    <a:lnTo>
                      <a:pt x="5703" y="198"/>
                    </a:lnTo>
                    <a:lnTo>
                      <a:pt x="7042" y="0"/>
                    </a:lnTo>
                    <a:lnTo>
                      <a:pt x="8406" y="198"/>
                    </a:lnTo>
                    <a:lnTo>
                      <a:pt x="9546" y="769"/>
                    </a:lnTo>
                    <a:lnTo>
                      <a:pt x="10315" y="1612"/>
                    </a:lnTo>
                    <a:lnTo>
                      <a:pt x="10588" y="2579"/>
                    </a:lnTo>
                    <a:lnTo>
                      <a:pt x="10315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墙_Stair_Baluster.009">
                <a:extLst>
                  <a:ext uri="{FF2B5EF4-FFF2-40B4-BE49-F238E27FC236}">
                    <a16:creationId xmlns:a16="http://schemas.microsoft.com/office/drawing/2014/main" id="{DB187B17-6B9D-6CB4-EE37-DE568097B63D}"/>
                  </a:ext>
                </a:extLst>
              </p:cNvPr>
              <p:cNvSpPr/>
              <p:nvPr/>
            </p:nvSpPr>
            <p:spPr>
              <a:xfrm>
                <a:off x="2303553" y="3573218"/>
                <a:ext cx="10588" cy="6050"/>
              </a:xfrm>
              <a:custGeom>
                <a:avLst/>
                <a:gdLst/>
                <a:ahLst/>
                <a:cxnLst/>
                <a:rect l="l" t="t" r="r" b="b"/>
                <a:pathLst>
                  <a:path w="10588" h="6050">
                    <a:moveTo>
                      <a:pt x="9546" y="5282"/>
                    </a:moveTo>
                    <a:lnTo>
                      <a:pt x="8406" y="5852"/>
                    </a:lnTo>
                    <a:lnTo>
                      <a:pt x="7042" y="6050"/>
                    </a:lnTo>
                    <a:lnTo>
                      <a:pt x="5703" y="5852"/>
                    </a:lnTo>
                    <a:lnTo>
                      <a:pt x="4562" y="5282"/>
                    </a:lnTo>
                    <a:lnTo>
                      <a:pt x="99" y="5455"/>
                    </a:lnTo>
                    <a:lnTo>
                      <a:pt x="0" y="4414"/>
                    </a:lnTo>
                    <a:lnTo>
                      <a:pt x="99" y="1463"/>
                    </a:lnTo>
                    <a:lnTo>
                      <a:pt x="3868" y="223"/>
                    </a:lnTo>
                    <a:lnTo>
                      <a:pt x="5182" y="0"/>
                    </a:lnTo>
                    <a:lnTo>
                      <a:pt x="6943" y="49"/>
                    </a:lnTo>
                    <a:lnTo>
                      <a:pt x="8555" y="124"/>
                    </a:lnTo>
                    <a:lnTo>
                      <a:pt x="10241" y="223"/>
                    </a:lnTo>
                    <a:lnTo>
                      <a:pt x="10315" y="2455"/>
                    </a:lnTo>
                    <a:lnTo>
                      <a:pt x="10588" y="3447"/>
                    </a:lnTo>
                    <a:lnTo>
                      <a:pt x="10315" y="4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墙_Stair_Baluster.010">
                <a:extLst>
                  <a:ext uri="{FF2B5EF4-FFF2-40B4-BE49-F238E27FC236}">
                    <a16:creationId xmlns:a16="http://schemas.microsoft.com/office/drawing/2014/main" id="{E56438DC-F250-DE1A-11D5-A1D30113C14D}"/>
                  </a:ext>
                </a:extLst>
              </p:cNvPr>
              <p:cNvSpPr/>
              <p:nvPr/>
            </p:nvSpPr>
            <p:spPr>
              <a:xfrm>
                <a:off x="2307074" y="3556827"/>
                <a:ext cx="7067" cy="5182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2">
                    <a:moveTo>
                      <a:pt x="6025" y="4414"/>
                    </a:moveTo>
                    <a:lnTo>
                      <a:pt x="4885" y="4984"/>
                    </a:lnTo>
                    <a:lnTo>
                      <a:pt x="3521" y="5182"/>
                    </a:lnTo>
                    <a:lnTo>
                      <a:pt x="2182" y="4984"/>
                    </a:lnTo>
                    <a:lnTo>
                      <a:pt x="1041" y="4414"/>
                    </a:lnTo>
                    <a:lnTo>
                      <a:pt x="273" y="3570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41" y="743"/>
                    </a:lnTo>
                    <a:lnTo>
                      <a:pt x="2182" y="198"/>
                    </a:lnTo>
                    <a:lnTo>
                      <a:pt x="3521" y="0"/>
                    </a:lnTo>
                    <a:lnTo>
                      <a:pt x="4885" y="198"/>
                    </a:lnTo>
                    <a:lnTo>
                      <a:pt x="6025" y="743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墙_Stair_Baluster.011">
                <a:extLst>
                  <a:ext uri="{FF2B5EF4-FFF2-40B4-BE49-F238E27FC236}">
                    <a16:creationId xmlns:a16="http://schemas.microsoft.com/office/drawing/2014/main" id="{2FDFABCD-2AEC-CCF2-FF5B-46E4DDCB9D71}"/>
                  </a:ext>
                </a:extLst>
              </p:cNvPr>
              <p:cNvSpPr/>
              <p:nvPr/>
            </p:nvSpPr>
            <p:spPr>
              <a:xfrm>
                <a:off x="2307074" y="3539567"/>
                <a:ext cx="7067" cy="5183"/>
              </a:xfrm>
              <a:custGeom>
                <a:avLst/>
                <a:gdLst/>
                <a:ahLst/>
                <a:cxnLst/>
                <a:rect l="l" t="t" r="r" b="b"/>
                <a:pathLst>
                  <a:path w="7067" h="5183">
                    <a:moveTo>
                      <a:pt x="6025" y="4414"/>
                    </a:moveTo>
                    <a:lnTo>
                      <a:pt x="4885" y="4985"/>
                    </a:lnTo>
                    <a:lnTo>
                      <a:pt x="3521" y="5183"/>
                    </a:lnTo>
                    <a:lnTo>
                      <a:pt x="2182" y="4985"/>
                    </a:lnTo>
                    <a:lnTo>
                      <a:pt x="1041" y="4414"/>
                    </a:lnTo>
                    <a:lnTo>
                      <a:pt x="273" y="3571"/>
                    </a:lnTo>
                    <a:lnTo>
                      <a:pt x="0" y="2579"/>
                    </a:lnTo>
                    <a:lnTo>
                      <a:pt x="273" y="1587"/>
                    </a:lnTo>
                    <a:lnTo>
                      <a:pt x="1017" y="744"/>
                    </a:lnTo>
                    <a:lnTo>
                      <a:pt x="2182" y="199"/>
                    </a:lnTo>
                    <a:lnTo>
                      <a:pt x="3521" y="0"/>
                    </a:lnTo>
                    <a:lnTo>
                      <a:pt x="4885" y="199"/>
                    </a:lnTo>
                    <a:lnTo>
                      <a:pt x="6025" y="744"/>
                    </a:lnTo>
                    <a:lnTo>
                      <a:pt x="6794" y="1587"/>
                    </a:lnTo>
                    <a:lnTo>
                      <a:pt x="7067" y="2579"/>
                    </a:lnTo>
                    <a:lnTo>
                      <a:pt x="6794" y="357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墙_Stair_Baluster.012">
                <a:extLst>
                  <a:ext uri="{FF2B5EF4-FFF2-40B4-BE49-F238E27FC236}">
                    <a16:creationId xmlns:a16="http://schemas.microsoft.com/office/drawing/2014/main" id="{C1761588-7738-DB15-5AF7-AB8290784407}"/>
                  </a:ext>
                </a:extLst>
              </p:cNvPr>
              <p:cNvSpPr/>
              <p:nvPr/>
            </p:nvSpPr>
            <p:spPr>
              <a:xfrm>
                <a:off x="2303602" y="3520448"/>
                <a:ext cx="10638" cy="7018"/>
              </a:xfrm>
              <a:custGeom>
                <a:avLst/>
                <a:gdLst/>
                <a:ahLst/>
                <a:cxnLst/>
                <a:rect l="l" t="t" r="r" b="b"/>
                <a:pathLst>
                  <a:path w="10638" h="7018">
                    <a:moveTo>
                      <a:pt x="9497" y="6274"/>
                    </a:moveTo>
                    <a:lnTo>
                      <a:pt x="8357" y="6845"/>
                    </a:lnTo>
                    <a:lnTo>
                      <a:pt x="6993" y="7018"/>
                    </a:lnTo>
                    <a:lnTo>
                      <a:pt x="5654" y="6845"/>
                    </a:lnTo>
                    <a:lnTo>
                      <a:pt x="4513" y="6274"/>
                    </a:lnTo>
                    <a:lnTo>
                      <a:pt x="25" y="6448"/>
                    </a:lnTo>
                    <a:lnTo>
                      <a:pt x="0" y="5381"/>
                    </a:lnTo>
                    <a:lnTo>
                      <a:pt x="25" y="2431"/>
                    </a:lnTo>
                    <a:lnTo>
                      <a:pt x="3249" y="25"/>
                    </a:lnTo>
                    <a:lnTo>
                      <a:pt x="4637" y="0"/>
                    </a:lnTo>
                    <a:lnTo>
                      <a:pt x="6745" y="0"/>
                    </a:lnTo>
                    <a:lnTo>
                      <a:pt x="8654" y="100"/>
                    </a:lnTo>
                    <a:lnTo>
                      <a:pt x="10638" y="298"/>
                    </a:lnTo>
                    <a:lnTo>
                      <a:pt x="10266" y="3447"/>
                    </a:lnTo>
                    <a:lnTo>
                      <a:pt x="10539" y="4439"/>
                    </a:lnTo>
                    <a:lnTo>
                      <a:pt x="10266" y="543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墙_DuoClassic_CurvedShell">
                <a:extLst>
                  <a:ext uri="{FF2B5EF4-FFF2-40B4-BE49-F238E27FC236}">
                    <a16:creationId xmlns:a16="http://schemas.microsoft.com/office/drawing/2014/main" id="{E4F604B3-E67F-9703-357C-F8924AC3C771}"/>
                  </a:ext>
                </a:extLst>
              </p:cNvPr>
              <p:cNvSpPr/>
              <p:nvPr/>
            </p:nvSpPr>
            <p:spPr>
              <a:xfrm>
                <a:off x="1049281" y="3484541"/>
                <a:ext cx="229118" cy="221196"/>
              </a:xfrm>
              <a:custGeom>
                <a:avLst/>
                <a:gdLst/>
                <a:ahLst/>
                <a:cxnLst/>
                <a:rect l="l" t="t" r="r" b="b"/>
                <a:pathLst>
                  <a:path w="229118" h="221196">
                    <a:moveTo>
                      <a:pt x="16365" y="110598"/>
                    </a:moveTo>
                    <a:lnTo>
                      <a:pt x="16836" y="103233"/>
                    </a:lnTo>
                    <a:lnTo>
                      <a:pt x="18250" y="95943"/>
                    </a:lnTo>
                    <a:lnTo>
                      <a:pt x="20605" y="88776"/>
                    </a:lnTo>
                    <a:lnTo>
                      <a:pt x="23829" y="81833"/>
                    </a:lnTo>
                    <a:lnTo>
                      <a:pt x="27970" y="75187"/>
                    </a:lnTo>
                    <a:lnTo>
                      <a:pt x="32904" y="68863"/>
                    </a:lnTo>
                    <a:lnTo>
                      <a:pt x="38657" y="62937"/>
                    </a:lnTo>
                    <a:lnTo>
                      <a:pt x="45129" y="57457"/>
                    </a:lnTo>
                    <a:lnTo>
                      <a:pt x="52270" y="52522"/>
                    </a:lnTo>
                    <a:lnTo>
                      <a:pt x="60007" y="48133"/>
                    </a:lnTo>
                    <a:lnTo>
                      <a:pt x="68264" y="44339"/>
                    </a:lnTo>
                    <a:lnTo>
                      <a:pt x="76992" y="41189"/>
                    </a:lnTo>
                    <a:lnTo>
                      <a:pt x="86043" y="38685"/>
                    </a:lnTo>
                    <a:lnTo>
                      <a:pt x="95391" y="36899"/>
                    </a:lnTo>
                    <a:lnTo>
                      <a:pt x="104938" y="35833"/>
                    </a:lnTo>
                    <a:lnTo>
                      <a:pt x="114559" y="35461"/>
                    </a:lnTo>
                    <a:lnTo>
                      <a:pt x="124180" y="35833"/>
                    </a:lnTo>
                    <a:lnTo>
                      <a:pt x="133726" y="36899"/>
                    </a:lnTo>
                    <a:lnTo>
                      <a:pt x="143074" y="38685"/>
                    </a:lnTo>
                    <a:lnTo>
                      <a:pt x="152125" y="41189"/>
                    </a:lnTo>
                    <a:lnTo>
                      <a:pt x="160853" y="44339"/>
                    </a:lnTo>
                    <a:lnTo>
                      <a:pt x="169110" y="48133"/>
                    </a:lnTo>
                    <a:lnTo>
                      <a:pt x="176847" y="52522"/>
                    </a:lnTo>
                    <a:lnTo>
                      <a:pt x="183988" y="57457"/>
                    </a:lnTo>
                    <a:lnTo>
                      <a:pt x="190460" y="62937"/>
                    </a:lnTo>
                    <a:lnTo>
                      <a:pt x="196213" y="68863"/>
                    </a:lnTo>
                    <a:lnTo>
                      <a:pt x="201147" y="75187"/>
                    </a:lnTo>
                    <a:lnTo>
                      <a:pt x="205288" y="81833"/>
                    </a:lnTo>
                    <a:lnTo>
                      <a:pt x="208512" y="88776"/>
                    </a:lnTo>
                    <a:lnTo>
                      <a:pt x="210867" y="95943"/>
                    </a:lnTo>
                    <a:lnTo>
                      <a:pt x="212281" y="103233"/>
                    </a:lnTo>
                    <a:lnTo>
                      <a:pt x="212752" y="110598"/>
                    </a:lnTo>
                    <a:lnTo>
                      <a:pt x="212752" y="189951"/>
                    </a:lnTo>
                    <a:lnTo>
                      <a:pt x="187460" y="189951"/>
                    </a:lnTo>
                    <a:lnTo>
                      <a:pt x="187460" y="221196"/>
                    </a:lnTo>
                    <a:lnTo>
                      <a:pt x="229118" y="221196"/>
                    </a:lnTo>
                    <a:lnTo>
                      <a:pt x="229118" y="110598"/>
                    </a:lnTo>
                    <a:lnTo>
                      <a:pt x="228572" y="99761"/>
                    </a:lnTo>
                    <a:lnTo>
                      <a:pt x="226911" y="89024"/>
                    </a:lnTo>
                    <a:lnTo>
                      <a:pt x="224183" y="78485"/>
                    </a:lnTo>
                    <a:lnTo>
                      <a:pt x="220389" y="68268"/>
                    </a:lnTo>
                    <a:lnTo>
                      <a:pt x="215579" y="58473"/>
                    </a:lnTo>
                    <a:lnTo>
                      <a:pt x="209801" y="49149"/>
                    </a:lnTo>
                    <a:lnTo>
                      <a:pt x="203106" y="40445"/>
                    </a:lnTo>
                    <a:lnTo>
                      <a:pt x="195568" y="32386"/>
                    </a:lnTo>
                    <a:lnTo>
                      <a:pt x="187237" y="25096"/>
                    </a:lnTo>
                    <a:lnTo>
                      <a:pt x="178211" y="18648"/>
                    </a:lnTo>
                    <a:lnTo>
                      <a:pt x="168565" y="13069"/>
                    </a:lnTo>
                    <a:lnTo>
                      <a:pt x="158398" y="8407"/>
                    </a:lnTo>
                    <a:lnTo>
                      <a:pt x="147810" y="4761"/>
                    </a:lnTo>
                    <a:lnTo>
                      <a:pt x="136900" y="2133"/>
                    </a:lnTo>
                    <a:lnTo>
                      <a:pt x="125791" y="521"/>
                    </a:lnTo>
                    <a:lnTo>
                      <a:pt x="114559" y="0"/>
                    </a:lnTo>
                    <a:lnTo>
                      <a:pt x="103326" y="521"/>
                    </a:lnTo>
                    <a:lnTo>
                      <a:pt x="92217" y="2133"/>
                    </a:lnTo>
                    <a:lnTo>
                      <a:pt x="81307" y="4761"/>
                    </a:lnTo>
                    <a:lnTo>
                      <a:pt x="70719" y="8407"/>
                    </a:lnTo>
                    <a:lnTo>
                      <a:pt x="60552" y="13069"/>
                    </a:lnTo>
                    <a:lnTo>
                      <a:pt x="50906" y="18648"/>
                    </a:lnTo>
                    <a:lnTo>
                      <a:pt x="41881" y="25096"/>
                    </a:lnTo>
                    <a:lnTo>
                      <a:pt x="33549" y="32386"/>
                    </a:lnTo>
                    <a:lnTo>
                      <a:pt x="26011" y="40445"/>
                    </a:lnTo>
                    <a:lnTo>
                      <a:pt x="19316" y="49149"/>
                    </a:lnTo>
                    <a:lnTo>
                      <a:pt x="13538" y="58473"/>
                    </a:lnTo>
                    <a:lnTo>
                      <a:pt x="8728" y="68268"/>
                    </a:lnTo>
                    <a:lnTo>
                      <a:pt x="4934" y="78485"/>
                    </a:lnTo>
                    <a:lnTo>
                      <a:pt x="2206" y="89024"/>
                    </a:lnTo>
                    <a:lnTo>
                      <a:pt x="545" y="99761"/>
                    </a:lnTo>
                    <a:lnTo>
                      <a:pt x="0" y="110598"/>
                    </a:lnTo>
                    <a:lnTo>
                      <a:pt x="0" y="221196"/>
                    </a:lnTo>
                    <a:lnTo>
                      <a:pt x="41657" y="221196"/>
                    </a:lnTo>
                    <a:lnTo>
                      <a:pt x="41657" y="189951"/>
                    </a:lnTo>
                    <a:lnTo>
                      <a:pt x="16365" y="189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墙_Lift_Guide_Duo_-1">
                <a:extLst>
                  <a:ext uri="{FF2B5EF4-FFF2-40B4-BE49-F238E27FC236}">
                    <a16:creationId xmlns:a16="http://schemas.microsoft.com/office/drawing/2014/main" id="{FD042812-4121-BD28-5B18-38DA2C933E7D}"/>
                  </a:ext>
                </a:extLst>
              </p:cNvPr>
              <p:cNvSpPr/>
              <p:nvPr/>
            </p:nvSpPr>
            <p:spPr>
              <a:xfrm>
                <a:off x="1030435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墙_Lift_Guide_Duo_1">
                <a:extLst>
                  <a:ext uri="{FF2B5EF4-FFF2-40B4-BE49-F238E27FC236}">
                    <a16:creationId xmlns:a16="http://schemas.microsoft.com/office/drawing/2014/main" id="{CA09D8FB-9E4D-716F-DE03-CAD3725F48E8}"/>
                  </a:ext>
                </a:extLst>
              </p:cNvPr>
              <p:cNvSpPr/>
              <p:nvPr/>
            </p:nvSpPr>
            <p:spPr>
              <a:xfrm>
                <a:off x="1274803" y="3586757"/>
                <a:ext cx="15250" cy="34717"/>
              </a:xfrm>
              <a:custGeom>
                <a:avLst/>
                <a:gdLst/>
                <a:ahLst/>
                <a:cxnLst/>
                <a:rect l="l" t="t" r="r" b="b"/>
                <a:pathLst>
                  <a:path w="15250" h="34717">
                    <a:moveTo>
                      <a:pt x="0" y="0"/>
                    </a:moveTo>
                    <a:lnTo>
                      <a:pt x="15250" y="0"/>
                    </a:lnTo>
                    <a:lnTo>
                      <a:pt x="15250" y="34717"/>
                    </a:lnTo>
                    <a:lnTo>
                      <a:pt x="0" y="3471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墙_FrameJamb.006">
                <a:extLst>
                  <a:ext uri="{FF2B5EF4-FFF2-40B4-BE49-F238E27FC236}">
                    <a16:creationId xmlns:a16="http://schemas.microsoft.com/office/drawing/2014/main" id="{A75B7AA9-FEFA-DC2B-3465-261E9A3A87DC}"/>
                  </a:ext>
                </a:extLst>
              </p:cNvPr>
              <p:cNvSpPr/>
              <p:nvPr/>
            </p:nvSpPr>
            <p:spPr>
              <a:xfrm>
                <a:off x="2242752" y="4942943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墙_FrameJamb.007">
                <a:extLst>
                  <a:ext uri="{FF2B5EF4-FFF2-40B4-BE49-F238E27FC236}">
                    <a16:creationId xmlns:a16="http://schemas.microsoft.com/office/drawing/2014/main" id="{4AE2796B-22C2-59F9-3F94-109B002AA54D}"/>
                  </a:ext>
                </a:extLst>
              </p:cNvPr>
              <p:cNvSpPr/>
              <p:nvPr/>
            </p:nvSpPr>
            <p:spPr>
              <a:xfrm>
                <a:off x="2242752" y="4687527"/>
                <a:ext cx="37716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7716" h="7439">
                    <a:moveTo>
                      <a:pt x="0" y="7439"/>
                    </a:moveTo>
                    <a:lnTo>
                      <a:pt x="0" y="0"/>
                    </a:lnTo>
                    <a:lnTo>
                      <a:pt x="37716" y="0"/>
                    </a:lnTo>
                    <a:lnTo>
                      <a:pt x="37716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墙_FrameJamb.010">
                <a:extLst>
                  <a:ext uri="{FF2B5EF4-FFF2-40B4-BE49-F238E27FC236}">
                    <a16:creationId xmlns:a16="http://schemas.microsoft.com/office/drawing/2014/main" id="{6BE9F1C2-D85D-C05E-9944-8044B8DE9B7C}"/>
                  </a:ext>
                </a:extLst>
              </p:cNvPr>
              <p:cNvSpPr/>
              <p:nvPr/>
            </p:nvSpPr>
            <p:spPr>
              <a:xfrm>
                <a:off x="1777672" y="1360297"/>
                <a:ext cx="7439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439" h="35957">
                    <a:moveTo>
                      <a:pt x="0" y="0"/>
                    </a:moveTo>
                    <a:lnTo>
                      <a:pt x="7439" y="0"/>
                    </a:lnTo>
                    <a:lnTo>
                      <a:pt x="7439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墙_FrameJamb.011">
                <a:extLst>
                  <a:ext uri="{FF2B5EF4-FFF2-40B4-BE49-F238E27FC236}">
                    <a16:creationId xmlns:a16="http://schemas.microsoft.com/office/drawing/2014/main" id="{59F74163-E344-674A-9FD8-BFBE93DB4CBB}"/>
                  </a:ext>
                </a:extLst>
              </p:cNvPr>
              <p:cNvSpPr/>
              <p:nvPr/>
            </p:nvSpPr>
            <p:spPr>
              <a:xfrm>
                <a:off x="2026181" y="1360297"/>
                <a:ext cx="7811" cy="35957"/>
              </a:xfrm>
              <a:custGeom>
                <a:avLst/>
                <a:gdLst/>
                <a:ahLst/>
                <a:cxnLst/>
                <a:rect l="l" t="t" r="r" b="b"/>
                <a:pathLst>
                  <a:path w="7811" h="35957">
                    <a:moveTo>
                      <a:pt x="0" y="0"/>
                    </a:moveTo>
                    <a:lnTo>
                      <a:pt x="7811" y="0"/>
                    </a:lnTo>
                    <a:lnTo>
                      <a:pt x="7811" y="35957"/>
                    </a:lnTo>
                    <a:lnTo>
                      <a:pt x="0" y="3595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墙_DoorLeaf.003">
                <a:extLst>
                  <a:ext uri="{FF2B5EF4-FFF2-40B4-BE49-F238E27FC236}">
                    <a16:creationId xmlns:a16="http://schemas.microsoft.com/office/drawing/2014/main" id="{380EE58B-2B8E-6408-0864-6EF980404B22}"/>
                  </a:ext>
                </a:extLst>
              </p:cNvPr>
              <p:cNvSpPr/>
              <p:nvPr/>
            </p:nvSpPr>
            <p:spPr>
              <a:xfrm>
                <a:off x="1780946" y="1160477"/>
                <a:ext cx="40988" cy="218270"/>
              </a:xfrm>
              <a:custGeom>
                <a:avLst/>
                <a:gdLst/>
                <a:ahLst/>
                <a:cxnLst/>
                <a:rect l="l" t="t" r="r" b="b"/>
                <a:pathLst>
                  <a:path w="40988" h="218270">
                    <a:moveTo>
                      <a:pt x="24" y="216608"/>
                    </a:moveTo>
                    <a:lnTo>
                      <a:pt x="0" y="216211"/>
                    </a:lnTo>
                    <a:lnTo>
                      <a:pt x="31962" y="844"/>
                    </a:lnTo>
                    <a:lnTo>
                      <a:pt x="32086" y="496"/>
                    </a:lnTo>
                    <a:lnTo>
                      <a:pt x="32359" y="199"/>
                    </a:lnTo>
                    <a:lnTo>
                      <a:pt x="32706" y="25"/>
                    </a:lnTo>
                    <a:lnTo>
                      <a:pt x="33103" y="0"/>
                    </a:lnTo>
                    <a:lnTo>
                      <a:pt x="40145" y="893"/>
                    </a:lnTo>
                    <a:lnTo>
                      <a:pt x="40517" y="1017"/>
                    </a:lnTo>
                    <a:lnTo>
                      <a:pt x="40790" y="1265"/>
                    </a:lnTo>
                    <a:lnTo>
                      <a:pt x="40963" y="1612"/>
                    </a:lnTo>
                    <a:lnTo>
                      <a:pt x="40988" y="2009"/>
                    </a:lnTo>
                    <a:lnTo>
                      <a:pt x="8604" y="217427"/>
                    </a:lnTo>
                    <a:lnTo>
                      <a:pt x="8480" y="217799"/>
                    </a:lnTo>
                    <a:lnTo>
                      <a:pt x="8207" y="218071"/>
                    </a:lnTo>
                    <a:lnTo>
                      <a:pt x="7860" y="218245"/>
                    </a:lnTo>
                    <a:lnTo>
                      <a:pt x="7463" y="218270"/>
                    </a:lnTo>
                    <a:lnTo>
                      <a:pt x="843" y="217327"/>
                    </a:lnTo>
                    <a:lnTo>
                      <a:pt x="471" y="217203"/>
                    </a:lnTo>
                    <a:lnTo>
                      <a:pt x="198" y="21695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墙_Wall_GF_OldWindow_Infill">
                <a:extLst>
                  <a:ext uri="{FF2B5EF4-FFF2-40B4-BE49-F238E27FC236}">
                    <a16:creationId xmlns:a16="http://schemas.microsoft.com/office/drawing/2014/main" id="{C32309B8-8544-7BB1-9D09-90CFA4DFFC69}"/>
                  </a:ext>
                </a:extLst>
              </p:cNvPr>
              <p:cNvSpPr/>
              <p:nvPr/>
            </p:nvSpPr>
            <p:spPr>
              <a:xfrm>
                <a:off x="447722" y="4665159"/>
                <a:ext cx="235069" cy="57035"/>
              </a:xfrm>
              <a:custGeom>
                <a:avLst/>
                <a:gdLst/>
                <a:ahLst/>
                <a:cxnLst/>
                <a:rect l="l" t="t" r="r" b="b"/>
                <a:pathLst>
                  <a:path w="235069" h="57035">
                    <a:moveTo>
                      <a:pt x="235069" y="0"/>
                    </a:moveTo>
                    <a:lnTo>
                      <a:pt x="235069" y="57035"/>
                    </a:lnTo>
                    <a:lnTo>
                      <a:pt x="0" y="5703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墙_DDA_Frame">
                <a:extLst>
                  <a:ext uri="{FF2B5EF4-FFF2-40B4-BE49-F238E27FC236}">
                    <a16:creationId xmlns:a16="http://schemas.microsoft.com/office/drawing/2014/main" id="{A89F86A9-3CC8-6DFD-417A-1C580DD9FC28}"/>
                  </a:ext>
                </a:extLst>
              </p:cNvPr>
              <p:cNvSpPr/>
              <p:nvPr/>
            </p:nvSpPr>
            <p:spPr>
              <a:xfrm>
                <a:off x="682791" y="4684501"/>
                <a:ext cx="347892" cy="18599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8599">
                    <a:moveTo>
                      <a:pt x="347793" y="99"/>
                    </a:moveTo>
                    <a:lnTo>
                      <a:pt x="347520" y="0"/>
                    </a:lnTo>
                    <a:lnTo>
                      <a:pt x="335370" y="0"/>
                    </a:lnTo>
                    <a:lnTo>
                      <a:pt x="335023" y="75"/>
                    </a:lnTo>
                    <a:lnTo>
                      <a:pt x="334725" y="273"/>
                    </a:lnTo>
                    <a:lnTo>
                      <a:pt x="334527" y="471"/>
                    </a:lnTo>
                    <a:lnTo>
                      <a:pt x="334329" y="769"/>
                    </a:lnTo>
                    <a:lnTo>
                      <a:pt x="334254" y="1116"/>
                    </a:lnTo>
                    <a:lnTo>
                      <a:pt x="334254" y="13267"/>
                    </a:lnTo>
                    <a:lnTo>
                      <a:pt x="334155" y="13540"/>
                    </a:lnTo>
                    <a:lnTo>
                      <a:pt x="333882" y="13639"/>
                    </a:lnTo>
                    <a:lnTo>
                      <a:pt x="332395" y="13639"/>
                    </a:lnTo>
                    <a:lnTo>
                      <a:pt x="332047" y="13713"/>
                    </a:lnTo>
                    <a:lnTo>
                      <a:pt x="331725" y="13887"/>
                    </a:lnTo>
                    <a:lnTo>
                      <a:pt x="331576" y="14011"/>
                    </a:lnTo>
                    <a:lnTo>
                      <a:pt x="331353" y="14284"/>
                    </a:lnTo>
                    <a:lnTo>
                      <a:pt x="331279" y="14631"/>
                    </a:lnTo>
                    <a:lnTo>
                      <a:pt x="331279" y="18227"/>
                    </a:lnTo>
                    <a:lnTo>
                      <a:pt x="331378" y="18499"/>
                    </a:lnTo>
                    <a:lnTo>
                      <a:pt x="331651" y="18599"/>
                    </a:lnTo>
                    <a:lnTo>
                      <a:pt x="347520" y="18599"/>
                    </a:lnTo>
                    <a:lnTo>
                      <a:pt x="347793" y="18499"/>
                    </a:lnTo>
                    <a:lnTo>
                      <a:pt x="347892" y="18227"/>
                    </a:lnTo>
                    <a:lnTo>
                      <a:pt x="347892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522" y="0"/>
                    </a:lnTo>
                    <a:lnTo>
                      <a:pt x="12869" y="75"/>
                    </a:lnTo>
                    <a:lnTo>
                      <a:pt x="13167" y="273"/>
                    </a:lnTo>
                    <a:lnTo>
                      <a:pt x="13365" y="471"/>
                    </a:lnTo>
                    <a:lnTo>
                      <a:pt x="13564" y="769"/>
                    </a:lnTo>
                    <a:lnTo>
                      <a:pt x="13638" y="1116"/>
                    </a:lnTo>
                    <a:lnTo>
                      <a:pt x="13638" y="13267"/>
                    </a:lnTo>
                    <a:lnTo>
                      <a:pt x="13737" y="13540"/>
                    </a:lnTo>
                    <a:lnTo>
                      <a:pt x="14010" y="13639"/>
                    </a:lnTo>
                    <a:lnTo>
                      <a:pt x="15498" y="13639"/>
                    </a:lnTo>
                    <a:lnTo>
                      <a:pt x="15845" y="13713"/>
                    </a:lnTo>
                    <a:lnTo>
                      <a:pt x="16167" y="13887"/>
                    </a:lnTo>
                    <a:lnTo>
                      <a:pt x="16316" y="14011"/>
                    </a:lnTo>
                    <a:lnTo>
                      <a:pt x="16539" y="14284"/>
                    </a:lnTo>
                    <a:lnTo>
                      <a:pt x="16613" y="14631"/>
                    </a:lnTo>
                    <a:lnTo>
                      <a:pt x="16613" y="18227"/>
                    </a:lnTo>
                    <a:lnTo>
                      <a:pt x="16514" y="18499"/>
                    </a:lnTo>
                    <a:lnTo>
                      <a:pt x="16242" y="18599"/>
                    </a:lnTo>
                    <a:lnTo>
                      <a:pt x="372" y="18599"/>
                    </a:lnTo>
                    <a:lnTo>
                      <a:pt x="99" y="18499"/>
                    </a:lnTo>
                    <a:lnTo>
                      <a:pt x="0" y="18227"/>
                    </a:lnTo>
                    <a:lnTo>
                      <a:pt x="0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墙_DDA_Architrave">
                <a:extLst>
                  <a:ext uri="{FF2B5EF4-FFF2-40B4-BE49-F238E27FC236}">
                    <a16:creationId xmlns:a16="http://schemas.microsoft.com/office/drawing/2014/main" id="{087E23B9-76AB-FEF0-8664-B77A05BB8AED}"/>
                  </a:ext>
                </a:extLst>
              </p:cNvPr>
              <p:cNvSpPr/>
              <p:nvPr/>
            </p:nvSpPr>
            <p:spPr>
              <a:xfrm>
                <a:off x="665433" y="4659704"/>
                <a:ext cx="382608" cy="5455"/>
              </a:xfrm>
              <a:custGeom>
                <a:avLst/>
                <a:gdLst/>
                <a:ahLst/>
                <a:cxnLst/>
                <a:rect l="l" t="t" r="r" b="b"/>
                <a:pathLst>
                  <a:path w="382608" h="5455">
                    <a:moveTo>
                      <a:pt x="370706" y="248"/>
                    </a:moveTo>
                    <a:lnTo>
                      <a:pt x="367730" y="0"/>
                    </a:lnTo>
                    <a:lnTo>
                      <a:pt x="365250" y="0"/>
                    </a:lnTo>
                    <a:lnTo>
                      <a:pt x="351116" y="0"/>
                    </a:lnTo>
                    <a:lnTo>
                      <a:pt x="350943" y="74"/>
                    </a:lnTo>
                    <a:lnTo>
                      <a:pt x="350868" y="248"/>
                    </a:lnTo>
                    <a:lnTo>
                      <a:pt x="350868" y="5207"/>
                    </a:lnTo>
                    <a:lnTo>
                      <a:pt x="350943" y="5381"/>
                    </a:lnTo>
                    <a:lnTo>
                      <a:pt x="351116" y="5455"/>
                    </a:lnTo>
                    <a:lnTo>
                      <a:pt x="382360" y="5455"/>
                    </a:lnTo>
                    <a:lnTo>
                      <a:pt x="382533" y="5381"/>
                    </a:lnTo>
                    <a:lnTo>
                      <a:pt x="382608" y="5207"/>
                    </a:lnTo>
                    <a:lnTo>
                      <a:pt x="382608" y="3223"/>
                    </a:lnTo>
                    <a:lnTo>
                      <a:pt x="382558" y="3000"/>
                    </a:lnTo>
                    <a:lnTo>
                      <a:pt x="382459" y="2777"/>
                    </a:lnTo>
                    <a:lnTo>
                      <a:pt x="381765" y="1934"/>
                    </a:lnTo>
                    <a:lnTo>
                      <a:pt x="381591" y="1785"/>
                    </a:lnTo>
                    <a:lnTo>
                      <a:pt x="381368" y="1686"/>
                    </a:lnTo>
                    <a:lnTo>
                      <a:pt x="379632" y="1239"/>
                    </a:lnTo>
                    <a:lnTo>
                      <a:pt x="376409" y="1239"/>
                    </a:lnTo>
                    <a:lnTo>
                      <a:pt x="373929" y="744"/>
                    </a:lnTo>
                    <a:close/>
                    <a:moveTo>
                      <a:pt x="14878" y="0"/>
                    </a:moveTo>
                    <a:lnTo>
                      <a:pt x="17358" y="0"/>
                    </a:lnTo>
                    <a:lnTo>
                      <a:pt x="31492" y="0"/>
                    </a:lnTo>
                    <a:lnTo>
                      <a:pt x="31665" y="74"/>
                    </a:lnTo>
                    <a:lnTo>
                      <a:pt x="31740" y="248"/>
                    </a:lnTo>
                    <a:lnTo>
                      <a:pt x="31740" y="5207"/>
                    </a:lnTo>
                    <a:lnTo>
                      <a:pt x="31665" y="5381"/>
                    </a:lnTo>
                    <a:lnTo>
                      <a:pt x="31492" y="5455"/>
                    </a:lnTo>
                    <a:lnTo>
                      <a:pt x="248" y="5455"/>
                    </a:lnTo>
                    <a:lnTo>
                      <a:pt x="75" y="5381"/>
                    </a:lnTo>
                    <a:lnTo>
                      <a:pt x="0" y="5207"/>
                    </a:lnTo>
                    <a:lnTo>
                      <a:pt x="0" y="3223"/>
                    </a:lnTo>
                    <a:lnTo>
                      <a:pt x="50" y="3000"/>
                    </a:lnTo>
                    <a:lnTo>
                      <a:pt x="149" y="2777"/>
                    </a:lnTo>
                    <a:lnTo>
                      <a:pt x="844" y="1934"/>
                    </a:lnTo>
                    <a:lnTo>
                      <a:pt x="1017" y="1785"/>
                    </a:lnTo>
                    <a:lnTo>
                      <a:pt x="1240" y="1686"/>
                    </a:lnTo>
                    <a:lnTo>
                      <a:pt x="2976" y="1239"/>
                    </a:lnTo>
                    <a:lnTo>
                      <a:pt x="6200" y="1239"/>
                    </a:lnTo>
                    <a:lnTo>
                      <a:pt x="8679" y="744"/>
                    </a:lnTo>
                    <a:lnTo>
                      <a:pt x="11903" y="24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墙_DDA_RevealLining">
                <a:extLst>
                  <a:ext uri="{FF2B5EF4-FFF2-40B4-BE49-F238E27FC236}">
                    <a16:creationId xmlns:a16="http://schemas.microsoft.com/office/drawing/2014/main" id="{46A88D7F-0127-AB01-64B1-4401001B457E}"/>
                  </a:ext>
                </a:extLst>
              </p:cNvPr>
              <p:cNvSpPr/>
              <p:nvPr/>
            </p:nvSpPr>
            <p:spPr>
              <a:xfrm>
                <a:off x="682791" y="4665159"/>
                <a:ext cx="347892" cy="19342"/>
              </a:xfrm>
              <a:custGeom>
                <a:avLst/>
                <a:gdLst/>
                <a:ahLst/>
                <a:cxnLst/>
                <a:rect l="l" t="t" r="r" b="b"/>
                <a:pathLst>
                  <a:path w="347892" h="19342">
                    <a:moveTo>
                      <a:pt x="344917" y="0"/>
                    </a:moveTo>
                    <a:lnTo>
                      <a:pt x="344917" y="19342"/>
                    </a:lnTo>
                    <a:lnTo>
                      <a:pt x="347892" y="19342"/>
                    </a:lnTo>
                    <a:lnTo>
                      <a:pt x="347892" y="0"/>
                    </a:lnTo>
                    <a:close/>
                    <a:moveTo>
                      <a:pt x="2975" y="0"/>
                    </a:moveTo>
                    <a:lnTo>
                      <a:pt x="2975" y="19342"/>
                    </a:lnTo>
                    <a:lnTo>
                      <a:pt x="0" y="193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墙_DDA_Main_LeafFrame">
                <a:extLst>
                  <a:ext uri="{FF2B5EF4-FFF2-40B4-BE49-F238E27FC236}">
                    <a16:creationId xmlns:a16="http://schemas.microsoft.com/office/drawing/2014/main" id="{D5CD302D-5775-5A55-359D-DEF4E6EB90CE}"/>
                  </a:ext>
                </a:extLst>
              </p:cNvPr>
              <p:cNvSpPr/>
              <p:nvPr/>
            </p:nvSpPr>
            <p:spPr>
              <a:xfrm>
                <a:off x="820411" y="4684625"/>
                <a:ext cx="196138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96138" h="13143">
                    <a:moveTo>
                      <a:pt x="195915" y="223"/>
                    </a:moveTo>
                    <a:lnTo>
                      <a:pt x="195395" y="0"/>
                    </a:lnTo>
                    <a:lnTo>
                      <a:pt x="172086" y="0"/>
                    </a:lnTo>
                    <a:lnTo>
                      <a:pt x="171565" y="223"/>
                    </a:lnTo>
                    <a:lnTo>
                      <a:pt x="171342" y="744"/>
                    </a:lnTo>
                    <a:lnTo>
                      <a:pt x="171342" y="12399"/>
                    </a:lnTo>
                    <a:lnTo>
                      <a:pt x="171565" y="12920"/>
                    </a:lnTo>
                    <a:lnTo>
                      <a:pt x="172086" y="13143"/>
                    </a:lnTo>
                    <a:lnTo>
                      <a:pt x="195395" y="13143"/>
                    </a:lnTo>
                    <a:lnTo>
                      <a:pt x="195915" y="12920"/>
                    </a:lnTo>
                    <a:lnTo>
                      <a:pt x="196138" y="12399"/>
                    </a:lnTo>
                    <a:lnTo>
                      <a:pt x="196138" y="744"/>
                    </a:lnTo>
                    <a:close/>
                    <a:moveTo>
                      <a:pt x="24573" y="223"/>
                    </a:moveTo>
                    <a:lnTo>
                      <a:pt x="24052" y="0"/>
                    </a:lnTo>
                    <a:lnTo>
                      <a:pt x="743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3" y="13143"/>
                    </a:lnTo>
                    <a:lnTo>
                      <a:pt x="24052" y="13143"/>
                    </a:lnTo>
                    <a:lnTo>
                      <a:pt x="24573" y="12920"/>
                    </a:lnTo>
                    <a:lnTo>
                      <a:pt x="24796" y="12399"/>
                    </a:lnTo>
                    <a:lnTo>
                      <a:pt x="24796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墙_DDA_Main_Mould_3o">
                <a:extLst>
                  <a:ext uri="{FF2B5EF4-FFF2-40B4-BE49-F238E27FC236}">
                    <a16:creationId xmlns:a16="http://schemas.microsoft.com/office/drawing/2014/main" id="{66F13EE7-0395-7B0B-0BA6-3AAED396348F}"/>
                  </a:ext>
                </a:extLst>
              </p:cNvPr>
              <p:cNvSpPr/>
              <p:nvPr/>
            </p:nvSpPr>
            <p:spPr>
              <a:xfrm>
                <a:off x="845207" y="4697768"/>
                <a:ext cx="146546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1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146546" y="0"/>
                    </a:moveTo>
                    <a:lnTo>
                      <a:pt x="146546" y="496"/>
                    </a:lnTo>
                    <a:lnTo>
                      <a:pt x="145554" y="2232"/>
                    </a:lnTo>
                    <a:lnTo>
                      <a:pt x="144314" y="2976"/>
                    </a:lnTo>
                    <a:lnTo>
                      <a:pt x="142579" y="3224"/>
                    </a:lnTo>
                    <a:lnTo>
                      <a:pt x="142083" y="3224"/>
                    </a:lnTo>
                    <a:lnTo>
                      <a:pt x="14208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墙_DDA_Main_Mould_3i">
                <a:extLst>
                  <a:ext uri="{FF2B5EF4-FFF2-40B4-BE49-F238E27FC236}">
                    <a16:creationId xmlns:a16="http://schemas.microsoft.com/office/drawing/2014/main" id="{05200743-A1AB-651F-C7D3-BEF9EDF1F3D2}"/>
                  </a:ext>
                </a:extLst>
              </p:cNvPr>
              <p:cNvSpPr/>
              <p:nvPr/>
            </p:nvSpPr>
            <p:spPr>
              <a:xfrm>
                <a:off x="845207" y="4681402"/>
                <a:ext cx="146546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146546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1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142083" y="3223"/>
                    </a:moveTo>
                    <a:lnTo>
                      <a:pt x="142083" y="0"/>
                    </a:lnTo>
                    <a:lnTo>
                      <a:pt x="142579" y="0"/>
                    </a:lnTo>
                    <a:lnTo>
                      <a:pt x="144314" y="248"/>
                    </a:lnTo>
                    <a:lnTo>
                      <a:pt x="145554" y="991"/>
                    </a:lnTo>
                    <a:lnTo>
                      <a:pt x="146546" y="2727"/>
                    </a:lnTo>
                    <a:lnTo>
                      <a:pt x="146546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墙_DDA_Main_Panel_3">
                <a:extLst>
                  <a:ext uri="{FF2B5EF4-FFF2-40B4-BE49-F238E27FC236}">
                    <a16:creationId xmlns:a16="http://schemas.microsoft.com/office/drawing/2014/main" id="{68D26BF4-A8D9-C9C3-ABE9-3FFBC0546795}"/>
                  </a:ext>
                </a:extLst>
              </p:cNvPr>
              <p:cNvSpPr/>
              <p:nvPr/>
            </p:nvSpPr>
            <p:spPr>
              <a:xfrm>
                <a:off x="844215" y="4687477"/>
                <a:ext cx="148530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148530" h="7439">
                    <a:moveTo>
                      <a:pt x="141860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141860" y="0"/>
                    </a:lnTo>
                    <a:lnTo>
                      <a:pt x="148530" y="1488"/>
                    </a:lnTo>
                    <a:lnTo>
                      <a:pt x="148530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墙_DDA_Side_LeafFrame">
                <a:extLst>
                  <a:ext uri="{FF2B5EF4-FFF2-40B4-BE49-F238E27FC236}">
                    <a16:creationId xmlns:a16="http://schemas.microsoft.com/office/drawing/2014/main" id="{6B0EEAA3-84E8-C91F-5C68-6F5C4EAA451F}"/>
                  </a:ext>
                </a:extLst>
              </p:cNvPr>
              <p:cNvSpPr/>
              <p:nvPr/>
            </p:nvSpPr>
            <p:spPr>
              <a:xfrm>
                <a:off x="696925" y="4684625"/>
                <a:ext cx="122494" cy="13143"/>
              </a:xfrm>
              <a:custGeom>
                <a:avLst/>
                <a:gdLst/>
                <a:ahLst/>
                <a:cxnLst/>
                <a:rect l="l" t="t" r="r" b="b"/>
                <a:pathLst>
                  <a:path w="122494" h="13143">
                    <a:moveTo>
                      <a:pt x="122270" y="223"/>
                    </a:moveTo>
                    <a:lnTo>
                      <a:pt x="121750" y="0"/>
                    </a:lnTo>
                    <a:lnTo>
                      <a:pt x="103400" y="0"/>
                    </a:lnTo>
                    <a:lnTo>
                      <a:pt x="102880" y="223"/>
                    </a:lnTo>
                    <a:lnTo>
                      <a:pt x="102657" y="744"/>
                    </a:lnTo>
                    <a:lnTo>
                      <a:pt x="102657" y="12399"/>
                    </a:lnTo>
                    <a:lnTo>
                      <a:pt x="102880" y="12920"/>
                    </a:lnTo>
                    <a:lnTo>
                      <a:pt x="103400" y="13143"/>
                    </a:lnTo>
                    <a:lnTo>
                      <a:pt x="121750" y="13143"/>
                    </a:lnTo>
                    <a:lnTo>
                      <a:pt x="122270" y="12920"/>
                    </a:lnTo>
                    <a:lnTo>
                      <a:pt x="122494" y="12399"/>
                    </a:lnTo>
                    <a:lnTo>
                      <a:pt x="122494" y="744"/>
                    </a:lnTo>
                    <a:close/>
                    <a:moveTo>
                      <a:pt x="19614" y="223"/>
                    </a:moveTo>
                    <a:lnTo>
                      <a:pt x="19093" y="0"/>
                    </a:lnTo>
                    <a:lnTo>
                      <a:pt x="744" y="0"/>
                    </a:lnTo>
                    <a:lnTo>
                      <a:pt x="223" y="223"/>
                    </a:lnTo>
                    <a:lnTo>
                      <a:pt x="0" y="744"/>
                    </a:lnTo>
                    <a:lnTo>
                      <a:pt x="0" y="12399"/>
                    </a:lnTo>
                    <a:lnTo>
                      <a:pt x="223" y="12920"/>
                    </a:lnTo>
                    <a:lnTo>
                      <a:pt x="744" y="13143"/>
                    </a:lnTo>
                    <a:lnTo>
                      <a:pt x="19093" y="13143"/>
                    </a:lnTo>
                    <a:lnTo>
                      <a:pt x="19614" y="12920"/>
                    </a:lnTo>
                    <a:lnTo>
                      <a:pt x="19837" y="12399"/>
                    </a:lnTo>
                    <a:lnTo>
                      <a:pt x="19837" y="7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墙_DDA_Side_Mould_3o">
                <a:extLst>
                  <a:ext uri="{FF2B5EF4-FFF2-40B4-BE49-F238E27FC236}">
                    <a16:creationId xmlns:a16="http://schemas.microsoft.com/office/drawing/2014/main" id="{2767ED0A-B858-ADEF-9700-386642C0827D}"/>
                  </a:ext>
                </a:extLst>
              </p:cNvPr>
              <p:cNvSpPr/>
              <p:nvPr/>
            </p:nvSpPr>
            <p:spPr>
              <a:xfrm>
                <a:off x="716762" y="4697768"/>
                <a:ext cx="82820" cy="3224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4">
                    <a:moveTo>
                      <a:pt x="0" y="0"/>
                    </a:moveTo>
                    <a:lnTo>
                      <a:pt x="0" y="496"/>
                    </a:lnTo>
                    <a:lnTo>
                      <a:pt x="992" y="2232"/>
                    </a:lnTo>
                    <a:lnTo>
                      <a:pt x="2232" y="2976"/>
                    </a:lnTo>
                    <a:lnTo>
                      <a:pt x="3967" y="3224"/>
                    </a:lnTo>
                    <a:lnTo>
                      <a:pt x="4463" y="3224"/>
                    </a:lnTo>
                    <a:lnTo>
                      <a:pt x="4463" y="0"/>
                    </a:lnTo>
                    <a:close/>
                    <a:moveTo>
                      <a:pt x="82820" y="0"/>
                    </a:moveTo>
                    <a:lnTo>
                      <a:pt x="82820" y="496"/>
                    </a:lnTo>
                    <a:lnTo>
                      <a:pt x="81828" y="2232"/>
                    </a:lnTo>
                    <a:lnTo>
                      <a:pt x="80588" y="2976"/>
                    </a:lnTo>
                    <a:lnTo>
                      <a:pt x="78852" y="3224"/>
                    </a:lnTo>
                    <a:lnTo>
                      <a:pt x="78356" y="3224"/>
                    </a:lnTo>
                    <a:lnTo>
                      <a:pt x="7835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墙_DDA_Side_Mould_3i">
                <a:extLst>
                  <a:ext uri="{FF2B5EF4-FFF2-40B4-BE49-F238E27FC236}">
                    <a16:creationId xmlns:a16="http://schemas.microsoft.com/office/drawing/2014/main" id="{98091F39-BE51-0121-31F2-91C867D184F4}"/>
                  </a:ext>
                </a:extLst>
              </p:cNvPr>
              <p:cNvSpPr/>
              <p:nvPr/>
            </p:nvSpPr>
            <p:spPr>
              <a:xfrm>
                <a:off x="716762" y="4681402"/>
                <a:ext cx="82820" cy="3223"/>
              </a:xfrm>
              <a:custGeom>
                <a:avLst/>
                <a:gdLst/>
                <a:ahLst/>
                <a:cxnLst/>
                <a:rect l="l" t="t" r="r" b="b"/>
                <a:pathLst>
                  <a:path w="82820" h="3223">
                    <a:moveTo>
                      <a:pt x="4463" y="3223"/>
                    </a:moveTo>
                    <a:lnTo>
                      <a:pt x="4463" y="0"/>
                    </a:lnTo>
                    <a:lnTo>
                      <a:pt x="3967" y="0"/>
                    </a:lnTo>
                    <a:lnTo>
                      <a:pt x="2232" y="248"/>
                    </a:lnTo>
                    <a:lnTo>
                      <a:pt x="992" y="991"/>
                    </a:lnTo>
                    <a:lnTo>
                      <a:pt x="0" y="2727"/>
                    </a:lnTo>
                    <a:lnTo>
                      <a:pt x="0" y="3223"/>
                    </a:lnTo>
                    <a:close/>
                    <a:moveTo>
                      <a:pt x="78356" y="3223"/>
                    </a:moveTo>
                    <a:lnTo>
                      <a:pt x="78356" y="0"/>
                    </a:lnTo>
                    <a:lnTo>
                      <a:pt x="78852" y="0"/>
                    </a:lnTo>
                    <a:lnTo>
                      <a:pt x="80588" y="248"/>
                    </a:lnTo>
                    <a:lnTo>
                      <a:pt x="81828" y="991"/>
                    </a:lnTo>
                    <a:lnTo>
                      <a:pt x="82820" y="2727"/>
                    </a:lnTo>
                    <a:lnTo>
                      <a:pt x="82820" y="3223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墙_DDA_Side_Panel_3">
                <a:extLst>
                  <a:ext uri="{FF2B5EF4-FFF2-40B4-BE49-F238E27FC236}">
                    <a16:creationId xmlns:a16="http://schemas.microsoft.com/office/drawing/2014/main" id="{F14A0A95-9DED-0DB4-D754-80209AEDBDEB}"/>
                  </a:ext>
                </a:extLst>
              </p:cNvPr>
              <p:cNvSpPr/>
              <p:nvPr/>
            </p:nvSpPr>
            <p:spPr>
              <a:xfrm>
                <a:off x="715770" y="4687477"/>
                <a:ext cx="84803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84803" h="7439">
                    <a:moveTo>
                      <a:pt x="78133" y="7439"/>
                    </a:moveTo>
                    <a:lnTo>
                      <a:pt x="6670" y="7439"/>
                    </a:lnTo>
                    <a:lnTo>
                      <a:pt x="0" y="5951"/>
                    </a:lnTo>
                    <a:lnTo>
                      <a:pt x="0" y="1488"/>
                    </a:lnTo>
                    <a:lnTo>
                      <a:pt x="6670" y="0"/>
                    </a:lnTo>
                    <a:lnTo>
                      <a:pt x="78133" y="0"/>
                    </a:lnTo>
                    <a:lnTo>
                      <a:pt x="84803" y="1488"/>
                    </a:lnTo>
                    <a:lnTo>
                      <a:pt x="84803" y="5951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墙_DDA_Main_Astragal">
                <a:extLst>
                  <a:ext uri="{FF2B5EF4-FFF2-40B4-BE49-F238E27FC236}">
                    <a16:creationId xmlns:a16="http://schemas.microsoft.com/office/drawing/2014/main" id="{34661EAD-8B22-752C-BC77-2302B636BCEB}"/>
                  </a:ext>
                </a:extLst>
              </p:cNvPr>
              <p:cNvSpPr/>
              <p:nvPr/>
            </p:nvSpPr>
            <p:spPr>
              <a:xfrm>
                <a:off x="812228" y="4697768"/>
                <a:ext cx="15621" cy="2976"/>
              </a:xfrm>
              <a:custGeom>
                <a:avLst/>
                <a:gdLst/>
                <a:ahLst/>
                <a:cxnLst/>
                <a:rect l="l" t="t" r="r" b="b"/>
                <a:pathLst>
                  <a:path w="15621" h="2976">
                    <a:moveTo>
                      <a:pt x="5207" y="0"/>
                    </a:moveTo>
                    <a:lnTo>
                      <a:pt x="10414" y="992"/>
                    </a:lnTo>
                    <a:lnTo>
                      <a:pt x="10017" y="1761"/>
                    </a:lnTo>
                    <a:lnTo>
                      <a:pt x="8877" y="2405"/>
                    </a:lnTo>
                    <a:lnTo>
                      <a:pt x="7191" y="2827"/>
                    </a:lnTo>
                    <a:lnTo>
                      <a:pt x="5207" y="2976"/>
                    </a:lnTo>
                    <a:lnTo>
                      <a:pt x="3223" y="2827"/>
                    </a:lnTo>
                    <a:lnTo>
                      <a:pt x="1537" y="2405"/>
                    </a:lnTo>
                    <a:lnTo>
                      <a:pt x="396" y="1761"/>
                    </a:lnTo>
                    <a:lnTo>
                      <a:pt x="0" y="992"/>
                    </a:lnTo>
                    <a:lnTo>
                      <a:pt x="15621" y="992"/>
                    </a:lnTo>
                    <a:lnTo>
                      <a:pt x="15621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墙_WD_02_03_Utility Single Door_OuterR">
                <a:extLst>
                  <a:ext uri="{FF2B5EF4-FFF2-40B4-BE49-F238E27FC236}">
                    <a16:creationId xmlns:a16="http://schemas.microsoft.com/office/drawing/2014/main" id="{5F6199FB-8E08-C472-68D9-EB298CFD1241}"/>
                  </a:ext>
                </a:extLst>
              </p:cNvPr>
              <p:cNvSpPr/>
              <p:nvPr/>
            </p:nvSpPr>
            <p:spPr>
              <a:xfrm>
                <a:off x="1794906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墙_WD_02_03_Utility Single Door_OuterL">
                <a:extLst>
                  <a:ext uri="{FF2B5EF4-FFF2-40B4-BE49-F238E27FC236}">
                    <a16:creationId xmlns:a16="http://schemas.microsoft.com/office/drawing/2014/main" id="{2529E3AA-2ACB-8F76-CD7C-B9EB3231FF87}"/>
                  </a:ext>
                </a:extLst>
              </p:cNvPr>
              <p:cNvSpPr/>
              <p:nvPr/>
            </p:nvSpPr>
            <p:spPr>
              <a:xfrm>
                <a:off x="2001955" y="1059080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13638" y="0"/>
                    </a:moveTo>
                    <a:lnTo>
                      <a:pt x="13638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墙_WD_02_03_Utility Single Door_LeafR">
                <a:extLst>
                  <a:ext uri="{FF2B5EF4-FFF2-40B4-BE49-F238E27FC236}">
                    <a16:creationId xmlns:a16="http://schemas.microsoft.com/office/drawing/2014/main" id="{42C43CC6-F8AC-C7AB-54DA-33CAF502E789}"/>
                  </a:ext>
                </a:extLst>
              </p:cNvPr>
              <p:cNvSpPr/>
              <p:nvPr/>
            </p:nvSpPr>
            <p:spPr>
              <a:xfrm>
                <a:off x="1808544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墙_WD_02_03_Utility Single Door_LeafL">
                <a:extLst>
                  <a:ext uri="{FF2B5EF4-FFF2-40B4-BE49-F238E27FC236}">
                    <a16:creationId xmlns:a16="http://schemas.microsoft.com/office/drawing/2014/main" id="{E1ABFDFF-B9FC-9843-EA33-9097706A430C}"/>
                  </a:ext>
                </a:extLst>
              </p:cNvPr>
              <p:cNvSpPr/>
              <p:nvPr/>
            </p:nvSpPr>
            <p:spPr>
              <a:xfrm>
                <a:off x="1994020" y="1059080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7935" y="0"/>
                    </a:moveTo>
                    <a:lnTo>
                      <a:pt x="7935" y="18598"/>
                    </a:lnTo>
                    <a:lnTo>
                      <a:pt x="0" y="1859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墙_WD_03_04_Front Entrance Door_BlueLeafL">
                <a:extLst>
                  <a:ext uri="{FF2B5EF4-FFF2-40B4-BE49-F238E27FC236}">
                    <a16:creationId xmlns:a16="http://schemas.microsoft.com/office/drawing/2014/main" id="{C0DEC79D-081F-237D-85E8-BDD1EF46CF66}"/>
                  </a:ext>
                </a:extLst>
              </p:cNvPr>
              <p:cNvSpPr/>
              <p:nvPr/>
            </p:nvSpPr>
            <p:spPr>
              <a:xfrm>
                <a:off x="2298569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墙_WD_03_04_Front Entrance Door_BlueLeafR">
                <a:extLst>
                  <a:ext uri="{FF2B5EF4-FFF2-40B4-BE49-F238E27FC236}">
                    <a16:creationId xmlns:a16="http://schemas.microsoft.com/office/drawing/2014/main" id="{ABAF0DFF-D86C-8690-FB58-8DEECA656AA7}"/>
                  </a:ext>
                </a:extLst>
              </p:cNvPr>
              <p:cNvSpPr/>
              <p:nvPr/>
            </p:nvSpPr>
            <p:spPr>
              <a:xfrm>
                <a:off x="2506858" y="4946241"/>
                <a:ext cx="19837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9837" h="18598">
                    <a:moveTo>
                      <a:pt x="0" y="0"/>
                    </a:moveTo>
                    <a:lnTo>
                      <a:pt x="19837" y="0"/>
                    </a:lnTo>
                    <a:lnTo>
                      <a:pt x="19837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墙_WD_03_04_Front Entrance Door_DoorHandle">
                <a:extLst>
                  <a:ext uri="{FF2B5EF4-FFF2-40B4-BE49-F238E27FC236}">
                    <a16:creationId xmlns:a16="http://schemas.microsoft.com/office/drawing/2014/main" id="{E0BED2A4-4F94-4027-0420-998B8318CC30}"/>
                  </a:ext>
                </a:extLst>
              </p:cNvPr>
              <p:cNvSpPr/>
              <p:nvPr/>
            </p:nvSpPr>
            <p:spPr>
              <a:xfrm>
                <a:off x="2499667" y="4937562"/>
                <a:ext cx="4463" cy="6199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6199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6199"/>
                    </a:lnTo>
                    <a:lnTo>
                      <a:pt x="0" y="619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墙_WD_03_04_Front Entrance Door_UpperPanel">
                <a:extLst>
                  <a:ext uri="{FF2B5EF4-FFF2-40B4-BE49-F238E27FC236}">
                    <a16:creationId xmlns:a16="http://schemas.microsoft.com/office/drawing/2014/main" id="{CCEBF2AB-4570-7148-0B05-7E120C939050}"/>
                  </a:ext>
                </a:extLst>
              </p:cNvPr>
              <p:cNvSpPr/>
              <p:nvPr/>
            </p:nvSpPr>
            <p:spPr>
              <a:xfrm>
                <a:off x="2318406" y="4949961"/>
                <a:ext cx="188452" cy="11158"/>
              </a:xfrm>
              <a:custGeom>
                <a:avLst/>
                <a:gdLst/>
                <a:ahLst/>
                <a:cxnLst/>
                <a:rect l="l" t="t" r="r" b="b"/>
                <a:pathLst>
                  <a:path w="188452" h="11158">
                    <a:moveTo>
                      <a:pt x="0" y="0"/>
                    </a:moveTo>
                    <a:lnTo>
                      <a:pt x="188452" y="0"/>
                    </a:lnTo>
                    <a:lnTo>
                      <a:pt x="188452" y="11158"/>
                    </a:lnTo>
                    <a:lnTo>
                      <a:pt x="0" y="1115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墙_WD_03_04_Front Entrance Door_OuterL">
                <a:extLst>
                  <a:ext uri="{FF2B5EF4-FFF2-40B4-BE49-F238E27FC236}">
                    <a16:creationId xmlns:a16="http://schemas.microsoft.com/office/drawing/2014/main" id="{1367541D-9E22-90F2-560D-4AE9DC4FB3C4}"/>
                  </a:ext>
                </a:extLst>
              </p:cNvPr>
              <p:cNvSpPr/>
              <p:nvPr/>
            </p:nvSpPr>
            <p:spPr>
              <a:xfrm>
                <a:off x="2284931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墙_WD_03_04_Front Entrance Door_OuterR">
                <a:extLst>
                  <a:ext uri="{FF2B5EF4-FFF2-40B4-BE49-F238E27FC236}">
                    <a16:creationId xmlns:a16="http://schemas.microsoft.com/office/drawing/2014/main" id="{92B99839-4C43-93AB-FCBC-9CA70333BD12}"/>
                  </a:ext>
                </a:extLst>
              </p:cNvPr>
              <p:cNvSpPr/>
              <p:nvPr/>
            </p:nvSpPr>
            <p:spPr>
              <a:xfrm>
                <a:off x="2526695" y="4946241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墙_WD_06_07_Lounge Bay Window_LowerL">
                <a:extLst>
                  <a:ext uri="{FF2B5EF4-FFF2-40B4-BE49-F238E27FC236}">
                    <a16:creationId xmlns:a16="http://schemas.microsoft.com/office/drawing/2014/main" id="{D43898BA-499C-9287-C267-5A0876BFABC8}"/>
                  </a:ext>
                </a:extLst>
              </p:cNvPr>
              <p:cNvSpPr/>
              <p:nvPr/>
            </p:nvSpPr>
            <p:spPr>
              <a:xfrm>
                <a:off x="1571565" y="5133067"/>
                <a:ext cx="17432" cy="19689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89">
                    <a:moveTo>
                      <a:pt x="6373" y="19689"/>
                    </a:moveTo>
                    <a:lnTo>
                      <a:pt x="0" y="14977"/>
                    </a:lnTo>
                    <a:lnTo>
                      <a:pt x="11035" y="0"/>
                    </a:lnTo>
                    <a:lnTo>
                      <a:pt x="17432" y="473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墙_WD_06_07_Lounge Bay Window_LowerR">
                <a:extLst>
                  <a:ext uri="{FF2B5EF4-FFF2-40B4-BE49-F238E27FC236}">
                    <a16:creationId xmlns:a16="http://schemas.microsoft.com/office/drawing/2014/main" id="{00026297-81D4-54A3-C737-167C839AADD5}"/>
                  </a:ext>
                </a:extLst>
              </p:cNvPr>
              <p:cNvSpPr/>
              <p:nvPr/>
            </p:nvSpPr>
            <p:spPr>
              <a:xfrm>
                <a:off x="1500177" y="5080297"/>
                <a:ext cx="17432" cy="19690"/>
              </a:xfrm>
              <a:custGeom>
                <a:avLst/>
                <a:gdLst/>
                <a:ahLst/>
                <a:cxnLst/>
                <a:rect l="l" t="t" r="r" b="b"/>
                <a:pathLst>
                  <a:path w="17432" h="19690">
                    <a:moveTo>
                      <a:pt x="6373" y="19690"/>
                    </a:moveTo>
                    <a:lnTo>
                      <a:pt x="0" y="14978"/>
                    </a:lnTo>
                    <a:lnTo>
                      <a:pt x="11034" y="0"/>
                    </a:lnTo>
                    <a:lnTo>
                      <a:pt x="17432" y="4737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墙_WD_06_07_Lounge Bay Window_OuterL">
                <a:extLst>
                  <a:ext uri="{FF2B5EF4-FFF2-40B4-BE49-F238E27FC236}">
                    <a16:creationId xmlns:a16="http://schemas.microsoft.com/office/drawing/2014/main" id="{0816A902-5B49-BC24-B28A-D63119A7CA70}"/>
                  </a:ext>
                </a:extLst>
              </p:cNvPr>
              <p:cNvSpPr/>
              <p:nvPr/>
            </p:nvSpPr>
            <p:spPr>
              <a:xfrm>
                <a:off x="1577938" y="513780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60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10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墙_WD_06_07_Lounge Bay Window_OuterR">
                <a:extLst>
                  <a:ext uri="{FF2B5EF4-FFF2-40B4-BE49-F238E27FC236}">
                    <a16:creationId xmlns:a16="http://schemas.microsoft.com/office/drawing/2014/main" id="{47AED7CC-2514-41D2-C228-CF59C31F94DA}"/>
                  </a:ext>
                </a:extLst>
              </p:cNvPr>
              <p:cNvSpPr/>
              <p:nvPr/>
            </p:nvSpPr>
            <p:spPr>
              <a:xfrm>
                <a:off x="1489192" y="5072213"/>
                <a:ext cx="22019" cy="23062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23062">
                    <a:moveTo>
                      <a:pt x="10985" y="23062"/>
                    </a:moveTo>
                    <a:lnTo>
                      <a:pt x="0" y="14953"/>
                    </a:lnTo>
                    <a:lnTo>
                      <a:pt x="11059" y="0"/>
                    </a:lnTo>
                    <a:lnTo>
                      <a:pt x="22019" y="808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墙_WD_06_08_Lounge Bay Window_LowerL">
                <a:extLst>
                  <a:ext uri="{FF2B5EF4-FFF2-40B4-BE49-F238E27FC236}">
                    <a16:creationId xmlns:a16="http://schemas.microsoft.com/office/drawing/2014/main" id="{F593EE31-CC10-EB23-C232-C3FA47C48371}"/>
                  </a:ext>
                </a:extLst>
              </p:cNvPr>
              <p:cNvSpPr/>
              <p:nvPr/>
            </p:nvSpPr>
            <p:spPr>
              <a:xfrm>
                <a:off x="1648732" y="5170462"/>
                <a:ext cx="7934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4" h="18598">
                    <a:moveTo>
                      <a:pt x="0" y="0"/>
                    </a:moveTo>
                    <a:lnTo>
                      <a:pt x="7934" y="0"/>
                    </a:lnTo>
                    <a:lnTo>
                      <a:pt x="7934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墙_WD_06_08_Lounge Bay Window_LowerR">
                <a:extLst>
                  <a:ext uri="{FF2B5EF4-FFF2-40B4-BE49-F238E27FC236}">
                    <a16:creationId xmlns:a16="http://schemas.microsoft.com/office/drawing/2014/main" id="{FD4FE8B2-AB8E-7AB4-FFF7-FA185CB40DD4}"/>
                  </a:ext>
                </a:extLst>
              </p:cNvPr>
              <p:cNvSpPr/>
              <p:nvPr/>
            </p:nvSpPr>
            <p:spPr>
              <a:xfrm>
                <a:off x="1861484" y="5170462"/>
                <a:ext cx="7935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7935" h="18598">
                    <a:moveTo>
                      <a:pt x="0" y="0"/>
                    </a:moveTo>
                    <a:lnTo>
                      <a:pt x="7935" y="0"/>
                    </a:lnTo>
                    <a:lnTo>
                      <a:pt x="7935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墙_WD_06_08_Lounge Bay Window_OuterL">
                <a:extLst>
                  <a:ext uri="{FF2B5EF4-FFF2-40B4-BE49-F238E27FC236}">
                    <a16:creationId xmlns:a16="http://schemas.microsoft.com/office/drawing/2014/main" id="{CA221B1F-561C-A7EB-D898-11CABF9686A6}"/>
                  </a:ext>
                </a:extLst>
              </p:cNvPr>
              <p:cNvSpPr/>
              <p:nvPr/>
            </p:nvSpPr>
            <p:spPr>
              <a:xfrm>
                <a:off x="1635094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墙_WD_06_08_Lounge Bay Window_OuterR">
                <a:extLst>
                  <a:ext uri="{FF2B5EF4-FFF2-40B4-BE49-F238E27FC236}">
                    <a16:creationId xmlns:a16="http://schemas.microsoft.com/office/drawing/2014/main" id="{A21C431F-9FC5-2259-6195-FF04DFCB786F}"/>
                  </a:ext>
                </a:extLst>
              </p:cNvPr>
              <p:cNvSpPr/>
              <p:nvPr/>
            </p:nvSpPr>
            <p:spPr>
              <a:xfrm>
                <a:off x="1869419" y="5170462"/>
                <a:ext cx="13638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18598">
                    <a:moveTo>
                      <a:pt x="0" y="0"/>
                    </a:moveTo>
                    <a:lnTo>
                      <a:pt x="13638" y="0"/>
                    </a:lnTo>
                    <a:lnTo>
                      <a:pt x="13638" y="18598"/>
                    </a:lnTo>
                    <a:lnTo>
                      <a:pt x="0" y="1859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墙_WD_06_09_Lounge Bay Window_LowerL">
                <a:extLst>
                  <a:ext uri="{FF2B5EF4-FFF2-40B4-BE49-F238E27FC236}">
                    <a16:creationId xmlns:a16="http://schemas.microsoft.com/office/drawing/2014/main" id="{BCD58066-44E9-63CD-4836-9DA7C04BAFFD}"/>
                  </a:ext>
                </a:extLst>
              </p:cNvPr>
              <p:cNvSpPr/>
              <p:nvPr/>
            </p:nvSpPr>
            <p:spPr>
              <a:xfrm>
                <a:off x="2002377" y="5079355"/>
                <a:ext cx="17704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04" h="19540">
                    <a:moveTo>
                      <a:pt x="17704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墙_WD_06_09_Lounge Bay Window_LowerR">
                <a:extLst>
                  <a:ext uri="{FF2B5EF4-FFF2-40B4-BE49-F238E27FC236}">
                    <a16:creationId xmlns:a16="http://schemas.microsoft.com/office/drawing/2014/main" id="{009C1C98-8ED5-2E78-E911-9ACAAB4ED125}"/>
                  </a:ext>
                </a:extLst>
              </p:cNvPr>
              <p:cNvSpPr/>
              <p:nvPr/>
            </p:nvSpPr>
            <p:spPr>
              <a:xfrm>
                <a:off x="1932526" y="5134158"/>
                <a:ext cx="17729" cy="19540"/>
              </a:xfrm>
              <a:custGeom>
                <a:avLst/>
                <a:gdLst/>
                <a:ahLst/>
                <a:cxnLst/>
                <a:rect l="l" t="t" r="r" b="b"/>
                <a:pathLst>
                  <a:path w="17729" h="19540">
                    <a:moveTo>
                      <a:pt x="17729" y="14630"/>
                    </a:moveTo>
                    <a:lnTo>
                      <a:pt x="11480" y="19540"/>
                    </a:lnTo>
                    <a:lnTo>
                      <a:pt x="0" y="4910"/>
                    </a:lnTo>
                    <a:lnTo>
                      <a:pt x="624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墙_WD_06_09_Lounge Bay Window_OuterL">
                <a:extLst>
                  <a:ext uri="{FF2B5EF4-FFF2-40B4-BE49-F238E27FC236}">
                    <a16:creationId xmlns:a16="http://schemas.microsoft.com/office/drawing/2014/main" id="{70C951E9-8005-DC2A-F0B5-4F86AD243CA8}"/>
                  </a:ext>
                </a:extLst>
              </p:cNvPr>
              <p:cNvSpPr/>
              <p:nvPr/>
            </p:nvSpPr>
            <p:spPr>
              <a:xfrm>
                <a:off x="2008601" y="507094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1"/>
                    </a:moveTo>
                    <a:lnTo>
                      <a:pt x="11480" y="23037"/>
                    </a:lnTo>
                    <a:lnTo>
                      <a:pt x="0" y="8407"/>
                    </a:lnTo>
                    <a:lnTo>
                      <a:pt x="1073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墙_WD_06_09_Lounge Bay Window_OuterR">
                <a:extLst>
                  <a:ext uri="{FF2B5EF4-FFF2-40B4-BE49-F238E27FC236}">
                    <a16:creationId xmlns:a16="http://schemas.microsoft.com/office/drawing/2014/main" id="{F2EE4D63-9456-4756-91D5-ECB2EFE6AD8D}"/>
                  </a:ext>
                </a:extLst>
              </p:cNvPr>
              <p:cNvSpPr/>
              <p:nvPr/>
            </p:nvSpPr>
            <p:spPr>
              <a:xfrm>
                <a:off x="1921789" y="5139068"/>
                <a:ext cx="22217" cy="23037"/>
              </a:xfrm>
              <a:custGeom>
                <a:avLst/>
                <a:gdLst/>
                <a:ahLst/>
                <a:cxnLst/>
                <a:rect l="l" t="t" r="r" b="b"/>
                <a:pathLst>
                  <a:path w="22217" h="23037">
                    <a:moveTo>
                      <a:pt x="22217" y="14630"/>
                    </a:moveTo>
                    <a:lnTo>
                      <a:pt x="11480" y="23037"/>
                    </a:lnTo>
                    <a:lnTo>
                      <a:pt x="0" y="8406"/>
                    </a:lnTo>
                    <a:lnTo>
                      <a:pt x="1073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墙_WD_12_18_Kitchen Large Window_FixedMiddleB">
                <a:extLst>
                  <a:ext uri="{FF2B5EF4-FFF2-40B4-BE49-F238E27FC236}">
                    <a16:creationId xmlns:a16="http://schemas.microsoft.com/office/drawing/2014/main" id="{5D594EBE-CD3F-4CB1-6894-AEE4FA053BAE}"/>
                  </a:ext>
                </a:extLst>
              </p:cNvPr>
              <p:cNvSpPr/>
              <p:nvPr/>
            </p:nvSpPr>
            <p:spPr>
              <a:xfrm>
                <a:off x="1757216" y="1670938"/>
                <a:ext cx="18597" cy="11158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11589">
                    <a:moveTo>
                      <a:pt x="0" y="11158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1158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墙_WD_12_18_Kitchen Large Window_OuterL">
                <a:extLst>
                  <a:ext uri="{FF2B5EF4-FFF2-40B4-BE49-F238E27FC236}">
                    <a16:creationId xmlns:a16="http://schemas.microsoft.com/office/drawing/2014/main" id="{F6647B01-3BAA-5D4A-B1D3-FA23A89538EA}"/>
                  </a:ext>
                </a:extLst>
              </p:cNvPr>
              <p:cNvSpPr/>
              <p:nvPr/>
            </p:nvSpPr>
            <p:spPr>
              <a:xfrm>
                <a:off x="1757216" y="189535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墙_WD_12_18_Kitchen Large Window_OuterR">
                <a:extLst>
                  <a:ext uri="{FF2B5EF4-FFF2-40B4-BE49-F238E27FC236}">
                    <a16:creationId xmlns:a16="http://schemas.microsoft.com/office/drawing/2014/main" id="{D1E11A80-3BCC-2F62-3AAB-A308B90D84AD}"/>
                  </a:ext>
                </a:extLst>
              </p:cNvPr>
              <p:cNvSpPr/>
              <p:nvPr/>
            </p:nvSpPr>
            <p:spPr>
              <a:xfrm>
                <a:off x="1757216" y="1544470"/>
                <a:ext cx="18597" cy="13638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8">
                    <a:moveTo>
                      <a:pt x="0" y="13638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墙_WD_12_18_Kitchen Large Window_Side0L">
                <a:extLst>
                  <a:ext uri="{FF2B5EF4-FFF2-40B4-BE49-F238E27FC236}">
                    <a16:creationId xmlns:a16="http://schemas.microsoft.com/office/drawing/2014/main" id="{96A8D9E1-94C2-8A9B-2638-55AA138AF412}"/>
                  </a:ext>
                </a:extLst>
              </p:cNvPr>
              <p:cNvSpPr/>
              <p:nvPr/>
            </p:nvSpPr>
            <p:spPr>
              <a:xfrm>
                <a:off x="1757216" y="189424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墙_WD_12_18_Kitchen Large Window_Side0R">
                <a:extLst>
                  <a:ext uri="{FF2B5EF4-FFF2-40B4-BE49-F238E27FC236}">
                    <a16:creationId xmlns:a16="http://schemas.microsoft.com/office/drawing/2014/main" id="{A7A51D3D-2C9C-0EE5-3E42-CDA1D1357A2B}"/>
                  </a:ext>
                </a:extLst>
              </p:cNvPr>
              <p:cNvSpPr/>
              <p:nvPr/>
            </p:nvSpPr>
            <p:spPr>
              <a:xfrm>
                <a:off x="1757216" y="1789347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墙_WD_12_18_Kitchen Large Window_Side2L">
                <a:extLst>
                  <a:ext uri="{FF2B5EF4-FFF2-40B4-BE49-F238E27FC236}">
                    <a16:creationId xmlns:a16="http://schemas.microsoft.com/office/drawing/2014/main" id="{14416D6C-377F-63F8-10C9-72E05C940266}"/>
                  </a:ext>
                </a:extLst>
              </p:cNvPr>
              <p:cNvSpPr/>
              <p:nvPr/>
            </p:nvSpPr>
            <p:spPr>
              <a:xfrm>
                <a:off x="1757216" y="1656183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墙_WD_12_18_Kitchen Large Window_Side2R">
                <a:extLst>
                  <a:ext uri="{FF2B5EF4-FFF2-40B4-BE49-F238E27FC236}">
                    <a16:creationId xmlns:a16="http://schemas.microsoft.com/office/drawing/2014/main" id="{186511F7-FCCF-C1DA-3643-364BE2004B7D}"/>
                  </a:ext>
                </a:extLst>
              </p:cNvPr>
              <p:cNvSpPr/>
              <p:nvPr/>
            </p:nvSpPr>
            <p:spPr>
              <a:xfrm>
                <a:off x="1757216" y="1551289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墙_WD_13_19_Kitchen Small Window_OuterL">
                <a:extLst>
                  <a:ext uri="{FF2B5EF4-FFF2-40B4-BE49-F238E27FC236}">
                    <a16:creationId xmlns:a16="http://schemas.microsoft.com/office/drawing/2014/main" id="{7053E45C-E96F-36D9-8844-B2918D07EE4B}"/>
                  </a:ext>
                </a:extLst>
              </p:cNvPr>
              <p:cNvSpPr/>
              <p:nvPr/>
            </p:nvSpPr>
            <p:spPr>
              <a:xfrm>
                <a:off x="1757216" y="1215627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墙_WD_13_19_Kitchen Small Window_OuterR">
                <a:extLst>
                  <a:ext uri="{FF2B5EF4-FFF2-40B4-BE49-F238E27FC236}">
                    <a16:creationId xmlns:a16="http://schemas.microsoft.com/office/drawing/2014/main" id="{8FB0F1F0-BFB5-3EC5-FB36-CAB532CD721C}"/>
                  </a:ext>
                </a:extLst>
              </p:cNvPr>
              <p:cNvSpPr/>
              <p:nvPr/>
            </p:nvSpPr>
            <p:spPr>
              <a:xfrm>
                <a:off x="1757216" y="1110981"/>
                <a:ext cx="18597" cy="13639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13639">
                    <a:moveTo>
                      <a:pt x="0" y="13639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136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墙_WD_13_19_Kitchen Small Window_Side1L">
                <a:extLst>
                  <a:ext uri="{FF2B5EF4-FFF2-40B4-BE49-F238E27FC236}">
                    <a16:creationId xmlns:a16="http://schemas.microsoft.com/office/drawing/2014/main" id="{77BE0F13-578F-4E38-855F-C40DD71BD886}"/>
                  </a:ext>
                </a:extLst>
              </p:cNvPr>
              <p:cNvSpPr/>
              <p:nvPr/>
            </p:nvSpPr>
            <p:spPr>
              <a:xfrm>
                <a:off x="1757216" y="1207816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墙_WD_13_19_Kitchen Small Window_Side1R">
                <a:extLst>
                  <a:ext uri="{FF2B5EF4-FFF2-40B4-BE49-F238E27FC236}">
                    <a16:creationId xmlns:a16="http://schemas.microsoft.com/office/drawing/2014/main" id="{41EEF4A9-0C09-B045-82F9-DB379125CBCB}"/>
                  </a:ext>
                </a:extLst>
              </p:cNvPr>
              <p:cNvSpPr/>
              <p:nvPr/>
            </p:nvSpPr>
            <p:spPr>
              <a:xfrm>
                <a:off x="1757216" y="1117801"/>
                <a:ext cx="18597" cy="7935"/>
              </a:xfrm>
              <a:custGeom>
                <a:avLst/>
                <a:gdLst/>
                <a:ahLst/>
                <a:cxnLst/>
                <a:rect l="l" t="t" r="r" b="b"/>
                <a:pathLst>
                  <a:path w="18597" h="7935">
                    <a:moveTo>
                      <a:pt x="0" y="7935"/>
                    </a:moveTo>
                    <a:lnTo>
                      <a:pt x="0" y="0"/>
                    </a:lnTo>
                    <a:lnTo>
                      <a:pt x="18597" y="0"/>
                    </a:lnTo>
                    <a:lnTo>
                      <a:pt x="18597" y="793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墙_WC200_DoorJamb">
                <a:extLst>
                  <a:ext uri="{FF2B5EF4-FFF2-40B4-BE49-F238E27FC236}">
                    <a16:creationId xmlns:a16="http://schemas.microsoft.com/office/drawing/2014/main" id="{635BB4F2-BD47-9DEF-C9C1-008FC82D93C2}"/>
                  </a:ext>
                </a:extLst>
              </p:cNvPr>
              <p:cNvSpPr/>
              <p:nvPr/>
            </p:nvSpPr>
            <p:spPr>
              <a:xfrm>
                <a:off x="1007747" y="3317454"/>
                <a:ext cx="34715" cy="7440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40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40"/>
                    </a:lnTo>
                    <a:lnTo>
                      <a:pt x="0" y="744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墙_WC200_DoorJamb.001">
                <a:extLst>
                  <a:ext uri="{FF2B5EF4-FFF2-40B4-BE49-F238E27FC236}">
                    <a16:creationId xmlns:a16="http://schemas.microsoft.com/office/drawing/2014/main" id="{664ECBBE-824F-D1AE-1CF8-C306AB21B3E8}"/>
                  </a:ext>
                </a:extLst>
              </p:cNvPr>
              <p:cNvSpPr/>
              <p:nvPr/>
            </p:nvSpPr>
            <p:spPr>
              <a:xfrm>
                <a:off x="1007747" y="3156270"/>
                <a:ext cx="34715" cy="7439"/>
              </a:xfrm>
              <a:custGeom>
                <a:avLst/>
                <a:gdLst/>
                <a:ahLst/>
                <a:cxnLst/>
                <a:rect l="l" t="t" r="r" b="b"/>
                <a:pathLst>
                  <a:path w="34715" h="7439">
                    <a:moveTo>
                      <a:pt x="0" y="0"/>
                    </a:moveTo>
                    <a:lnTo>
                      <a:pt x="34715" y="0"/>
                    </a:lnTo>
                    <a:lnTo>
                      <a:pt x="34715" y="7439"/>
                    </a:lnTo>
                    <a:lnTo>
                      <a:pt x="0" y="743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墙_DoorLeaf_WC200">
                <a:extLst>
                  <a:ext uri="{FF2B5EF4-FFF2-40B4-BE49-F238E27FC236}">
                    <a16:creationId xmlns:a16="http://schemas.microsoft.com/office/drawing/2014/main" id="{7BB084FD-DB28-3FF2-8FB6-7DEA7E3019ED}"/>
                  </a:ext>
                </a:extLst>
              </p:cNvPr>
              <p:cNvSpPr/>
              <p:nvPr/>
            </p:nvSpPr>
            <p:spPr>
              <a:xfrm>
                <a:off x="872235" y="3159295"/>
                <a:ext cx="153489" cy="30228"/>
              </a:xfrm>
              <a:custGeom>
                <a:avLst/>
                <a:gdLst/>
                <a:ahLst/>
                <a:cxnLst/>
                <a:rect l="l" t="t" r="r" b="b"/>
                <a:pathLst>
                  <a:path w="153489" h="30228">
                    <a:moveTo>
                      <a:pt x="153489" y="8828"/>
                    </a:moveTo>
                    <a:lnTo>
                      <a:pt x="1240" y="30228"/>
                    </a:lnTo>
                    <a:lnTo>
                      <a:pt x="0" y="21400"/>
                    </a:lnTo>
                    <a:lnTo>
                      <a:pt x="152249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墙_Utility_FlushAccessDoor">
                <a:extLst>
                  <a:ext uri="{FF2B5EF4-FFF2-40B4-BE49-F238E27FC236}">
                    <a16:creationId xmlns:a16="http://schemas.microsoft.com/office/drawing/2014/main" id="{767695DE-A393-03B0-727C-80FF46C05EFA}"/>
                  </a:ext>
                </a:extLst>
              </p:cNvPr>
              <p:cNvSpPr/>
              <p:nvPr/>
            </p:nvSpPr>
            <p:spPr>
              <a:xfrm>
                <a:off x="2302239" y="3212114"/>
                <a:ext cx="4463" cy="151266"/>
              </a:xfrm>
              <a:custGeom>
                <a:avLst/>
                <a:gdLst/>
                <a:ahLst/>
                <a:cxnLst/>
                <a:rect l="l" t="t" r="r" b="b"/>
                <a:pathLst>
                  <a:path w="4463" h="151266">
                    <a:moveTo>
                      <a:pt x="0" y="0"/>
                    </a:moveTo>
                    <a:lnTo>
                      <a:pt x="4463" y="0"/>
                    </a:lnTo>
                    <a:lnTo>
                      <a:pt x="4463" y="151266"/>
                    </a:lnTo>
                    <a:lnTo>
                      <a:pt x="0" y="15126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墙_Understair_TurnClosure_Stair_Winder_12">
                <a:extLst>
                  <a:ext uri="{FF2B5EF4-FFF2-40B4-BE49-F238E27FC236}">
                    <a16:creationId xmlns:a16="http://schemas.microsoft.com/office/drawing/2014/main" id="{A03E1C75-2B50-2559-1CAA-7FC753AC78F6}"/>
                  </a:ext>
                </a:extLst>
              </p:cNvPr>
              <p:cNvSpPr/>
              <p:nvPr/>
            </p:nvSpPr>
            <p:spPr>
              <a:xfrm>
                <a:off x="2303726" y="3085993"/>
                <a:ext cx="24797" cy="11739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17392">
                    <a:moveTo>
                      <a:pt x="24797" y="0"/>
                    </a:moveTo>
                    <a:lnTo>
                      <a:pt x="24797" y="117392"/>
                    </a:lnTo>
                    <a:lnTo>
                      <a:pt x="0" y="117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墙_Understair_TurnClosure_Stair_Winder_13">
                <a:extLst>
                  <a:ext uri="{FF2B5EF4-FFF2-40B4-BE49-F238E27FC236}">
                    <a16:creationId xmlns:a16="http://schemas.microsoft.com/office/drawing/2014/main" id="{0CE7E101-C0A4-B9DC-BA15-C68124F26846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9342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93422">
                    <a:moveTo>
                      <a:pt x="24797" y="0"/>
                    </a:moveTo>
                    <a:lnTo>
                      <a:pt x="24797" y="193422"/>
                    </a:lnTo>
                    <a:lnTo>
                      <a:pt x="0" y="1934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墙_Understair_TurnClosure_Stair_Winder_14">
                <a:extLst>
                  <a:ext uri="{FF2B5EF4-FFF2-40B4-BE49-F238E27FC236}">
                    <a16:creationId xmlns:a16="http://schemas.microsoft.com/office/drawing/2014/main" id="{C6D2D993-8629-0C5B-92E5-25E00FE05A4A}"/>
                  </a:ext>
                </a:extLst>
              </p:cNvPr>
              <p:cNvSpPr/>
              <p:nvPr/>
            </p:nvSpPr>
            <p:spPr>
              <a:xfrm>
                <a:off x="2303726" y="3000044"/>
                <a:ext cx="24797" cy="186156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186156">
                    <a:moveTo>
                      <a:pt x="24797" y="0"/>
                    </a:moveTo>
                    <a:lnTo>
                      <a:pt x="24797" y="186156"/>
                    </a:lnTo>
                    <a:lnTo>
                      <a:pt x="0" y="1861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墙_V11_Continuous_Stair_Side">
                <a:extLst>
                  <a:ext uri="{FF2B5EF4-FFF2-40B4-BE49-F238E27FC236}">
                    <a16:creationId xmlns:a16="http://schemas.microsoft.com/office/drawing/2014/main" id="{4A53C7A8-B71B-9872-346F-CEB9F0F66AC1}"/>
                  </a:ext>
                </a:extLst>
              </p:cNvPr>
              <p:cNvSpPr/>
              <p:nvPr/>
            </p:nvSpPr>
            <p:spPr>
              <a:xfrm>
                <a:off x="2303726" y="3203385"/>
                <a:ext cx="25293" cy="323263"/>
              </a:xfrm>
              <a:custGeom>
                <a:avLst/>
                <a:gdLst/>
                <a:ahLst/>
                <a:cxnLst/>
                <a:rect l="l" t="t" r="r" b="b"/>
                <a:pathLst>
                  <a:path w="25293" h="323263">
                    <a:moveTo>
                      <a:pt x="25293" y="323263"/>
                    </a:moveTo>
                    <a:lnTo>
                      <a:pt x="25293" y="160739"/>
                    </a:lnTo>
                    <a:lnTo>
                      <a:pt x="0" y="160739"/>
                    </a:lnTo>
                    <a:lnTo>
                      <a:pt x="0" y="323263"/>
                    </a:lnTo>
                    <a:close/>
                    <a:moveTo>
                      <a:pt x="25293" y="0"/>
                    </a:moveTo>
                    <a:lnTo>
                      <a:pt x="25293" y="7985"/>
                    </a:lnTo>
                    <a:lnTo>
                      <a:pt x="0" y="79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墙_V11_Winder_Side_Transition">
                <a:extLst>
                  <a:ext uri="{FF2B5EF4-FFF2-40B4-BE49-F238E27FC236}">
                    <a16:creationId xmlns:a16="http://schemas.microsoft.com/office/drawing/2014/main" id="{88DC4D8D-D847-B9A8-69C0-536927CDC144}"/>
                  </a:ext>
                </a:extLst>
              </p:cNvPr>
              <p:cNvSpPr/>
              <p:nvPr/>
            </p:nvSpPr>
            <p:spPr>
              <a:xfrm>
                <a:off x="2303726" y="3174570"/>
                <a:ext cx="24797" cy="29262"/>
              </a:xfrm>
              <a:custGeom>
                <a:avLst/>
                <a:gdLst/>
                <a:ahLst/>
                <a:cxnLst/>
                <a:rect l="l" t="t" r="r" b="b"/>
                <a:pathLst>
                  <a:path w="24797" h="29262">
                    <a:moveTo>
                      <a:pt x="24797" y="0"/>
                    </a:moveTo>
                    <a:lnTo>
                      <a:pt x="24797" y="29262"/>
                    </a:lnTo>
                    <a:lnTo>
                      <a:pt x="0" y="292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墙_V11_Passage_Right_Jamb_Closure">
                <a:extLst>
                  <a:ext uri="{FF2B5EF4-FFF2-40B4-BE49-F238E27FC236}">
                    <a16:creationId xmlns:a16="http://schemas.microsoft.com/office/drawing/2014/main" id="{A4CE3349-25BF-9623-906E-EDF58CD0D9F7}"/>
                  </a:ext>
                </a:extLst>
              </p:cNvPr>
              <p:cNvSpPr/>
              <p:nvPr/>
            </p:nvSpPr>
            <p:spPr>
              <a:xfrm>
                <a:off x="2303726" y="3002474"/>
                <a:ext cx="10415" cy="45628"/>
              </a:xfrm>
              <a:custGeom>
                <a:avLst/>
                <a:gdLst/>
                <a:ahLst/>
                <a:cxnLst/>
                <a:rect l="l" t="t" r="r" b="b"/>
                <a:pathLst>
                  <a:path w="10415" h="45628">
                    <a:moveTo>
                      <a:pt x="10415" y="0"/>
                    </a:moveTo>
                    <a:lnTo>
                      <a:pt x="10415" y="45628"/>
                    </a:lnTo>
                    <a:lnTo>
                      <a:pt x="0" y="456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7" name="墙_V13_Lounge_FrenchLeaf-1L">
                <a:extLst>
                  <a:ext uri="{FF2B5EF4-FFF2-40B4-BE49-F238E27FC236}">
                    <a16:creationId xmlns:a16="http://schemas.microsoft.com/office/drawing/2014/main" id="{CBEE8835-1110-2C86-4DBF-8008E87F61D0}"/>
                  </a:ext>
                </a:extLst>
              </p:cNvPr>
              <p:cNvSpPr/>
              <p:nvPr/>
            </p:nvSpPr>
            <p:spPr>
              <a:xfrm>
                <a:off x="1657782" y="3013980"/>
                <a:ext cx="20061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4">
                    <a:moveTo>
                      <a:pt x="3968" y="16144"/>
                    </a:moveTo>
                    <a:lnTo>
                      <a:pt x="0" y="9300"/>
                    </a:lnTo>
                    <a:lnTo>
                      <a:pt x="16118" y="0"/>
                    </a:lnTo>
                    <a:lnTo>
                      <a:pt x="20061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8" name="墙_V13_Lounge_FrenchLeaf-1R">
                <a:extLst>
                  <a:ext uri="{FF2B5EF4-FFF2-40B4-BE49-F238E27FC236}">
                    <a16:creationId xmlns:a16="http://schemas.microsoft.com/office/drawing/2014/main" id="{F6C98DD5-D196-E3B9-1036-144F6DAE2FBD}"/>
                  </a:ext>
                </a:extLst>
              </p:cNvPr>
              <p:cNvSpPr/>
              <p:nvPr/>
            </p:nvSpPr>
            <p:spPr>
              <a:xfrm>
                <a:off x="1594428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2" y="16143"/>
                    </a:moveTo>
                    <a:lnTo>
                      <a:pt x="0" y="9299"/>
                    </a:lnTo>
                    <a:lnTo>
                      <a:pt x="16092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9" name="墙_V13_Lounge_FrenchLeaf1L">
                <a:extLst>
                  <a:ext uri="{FF2B5EF4-FFF2-40B4-BE49-F238E27FC236}">
                    <a16:creationId xmlns:a16="http://schemas.microsoft.com/office/drawing/2014/main" id="{88C4E636-14A6-A75C-D3EC-E33CE2AE05E5}"/>
                  </a:ext>
                </a:extLst>
              </p:cNvPr>
              <p:cNvSpPr/>
              <p:nvPr/>
            </p:nvSpPr>
            <p:spPr>
              <a:xfrm>
                <a:off x="1454824" y="2904201"/>
                <a:ext cx="20061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1" h="16143">
                    <a:moveTo>
                      <a:pt x="20061" y="9299"/>
                    </a:moveTo>
                    <a:lnTo>
                      <a:pt x="16118" y="16143"/>
                    </a:lnTo>
                    <a:lnTo>
                      <a:pt x="0" y="6844"/>
                    </a:lnTo>
                    <a:lnTo>
                      <a:pt x="396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0" name="墙_V13_Lounge_FrenchLeaf1R">
                <a:extLst>
                  <a:ext uri="{FF2B5EF4-FFF2-40B4-BE49-F238E27FC236}">
                    <a16:creationId xmlns:a16="http://schemas.microsoft.com/office/drawing/2014/main" id="{E799A0DD-72F0-E36E-9E4D-2A9468251C5D}"/>
                  </a:ext>
                </a:extLst>
              </p:cNvPr>
              <p:cNvSpPr/>
              <p:nvPr/>
            </p:nvSpPr>
            <p:spPr>
              <a:xfrm>
                <a:off x="1391470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2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1" name="墙_V13_Lounge_OuterL">
                <a:extLst>
                  <a:ext uri="{FF2B5EF4-FFF2-40B4-BE49-F238E27FC236}">
                    <a16:creationId xmlns:a16="http://schemas.microsoft.com/office/drawing/2014/main" id="{0507861C-46B0-23CD-F158-845AFB11AB90}"/>
                  </a:ext>
                </a:extLst>
              </p:cNvPr>
              <p:cNvSpPr/>
              <p:nvPr/>
            </p:nvSpPr>
            <p:spPr>
              <a:xfrm>
                <a:off x="1669808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2" name="墙_V13_Lounge_OuterR">
                <a:extLst>
                  <a:ext uri="{FF2B5EF4-FFF2-40B4-BE49-F238E27FC236}">
                    <a16:creationId xmlns:a16="http://schemas.microsoft.com/office/drawing/2014/main" id="{A287E7AA-2A38-D858-4517-75260AED1527}"/>
                  </a:ext>
                </a:extLst>
              </p:cNvPr>
              <p:cNvSpPr/>
              <p:nvPr/>
            </p:nvSpPr>
            <p:spPr>
              <a:xfrm>
                <a:off x="1385023" y="3023850"/>
                <a:ext cx="14506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4506" h="20210">
                    <a:moveTo>
                      <a:pt x="14506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4506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3" name="墙_V13_Utility_FrenchLeaf-1L">
                <a:extLst>
                  <a:ext uri="{FF2B5EF4-FFF2-40B4-BE49-F238E27FC236}">
                    <a16:creationId xmlns:a16="http://schemas.microsoft.com/office/drawing/2014/main" id="{2A51B9EB-386C-9EB8-A25A-B6B17A35B6D5}"/>
                  </a:ext>
                </a:extLst>
              </p:cNvPr>
              <p:cNvSpPr/>
              <p:nvPr/>
            </p:nvSpPr>
            <p:spPr>
              <a:xfrm>
                <a:off x="872979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3967" y="16144"/>
                    </a:moveTo>
                    <a:lnTo>
                      <a:pt x="0" y="9300"/>
                    </a:lnTo>
                    <a:lnTo>
                      <a:pt x="16117" y="0"/>
                    </a:lnTo>
                    <a:lnTo>
                      <a:pt x="20060" y="6845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4" name="墙_V13_Utility_FrenchLeaf-1R">
                <a:extLst>
                  <a:ext uri="{FF2B5EF4-FFF2-40B4-BE49-F238E27FC236}">
                    <a16:creationId xmlns:a16="http://schemas.microsoft.com/office/drawing/2014/main" id="{8ED825F5-6315-BE09-F1DD-E74160CCAE36}"/>
                  </a:ext>
                </a:extLst>
              </p:cNvPr>
              <p:cNvSpPr/>
              <p:nvPr/>
            </p:nvSpPr>
            <p:spPr>
              <a:xfrm>
                <a:off x="809624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3943" y="16143"/>
                    </a:moveTo>
                    <a:lnTo>
                      <a:pt x="0" y="9299"/>
                    </a:lnTo>
                    <a:lnTo>
                      <a:pt x="16093" y="0"/>
                    </a:lnTo>
                    <a:lnTo>
                      <a:pt x="20060" y="684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5" name="墙_V13_Utility_FrenchLeaf1L">
                <a:extLst>
                  <a:ext uri="{FF2B5EF4-FFF2-40B4-BE49-F238E27FC236}">
                    <a16:creationId xmlns:a16="http://schemas.microsoft.com/office/drawing/2014/main" id="{0B664272-1A8A-8D0E-88E2-94A497516B50}"/>
                  </a:ext>
                </a:extLst>
              </p:cNvPr>
              <p:cNvSpPr/>
              <p:nvPr/>
            </p:nvSpPr>
            <p:spPr>
              <a:xfrm>
                <a:off x="670021" y="2904201"/>
                <a:ext cx="20060" cy="16143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3">
                    <a:moveTo>
                      <a:pt x="20060" y="9299"/>
                    </a:moveTo>
                    <a:lnTo>
                      <a:pt x="16117" y="16143"/>
                    </a:lnTo>
                    <a:lnTo>
                      <a:pt x="0" y="6844"/>
                    </a:lnTo>
                    <a:lnTo>
                      <a:pt x="3967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6" name="墙_V13_Utility_FrenchLeaf1R">
                <a:extLst>
                  <a:ext uri="{FF2B5EF4-FFF2-40B4-BE49-F238E27FC236}">
                    <a16:creationId xmlns:a16="http://schemas.microsoft.com/office/drawing/2014/main" id="{FAC57386-327F-B5ED-3587-50EF8F7A07AE}"/>
                  </a:ext>
                </a:extLst>
              </p:cNvPr>
              <p:cNvSpPr/>
              <p:nvPr/>
            </p:nvSpPr>
            <p:spPr>
              <a:xfrm>
                <a:off x="606666" y="3013980"/>
                <a:ext cx="20060" cy="16144"/>
              </a:xfrm>
              <a:custGeom>
                <a:avLst/>
                <a:gdLst/>
                <a:ahLst/>
                <a:cxnLst/>
                <a:rect l="l" t="t" r="r" b="b"/>
                <a:pathLst>
                  <a:path w="20060" h="16144">
                    <a:moveTo>
                      <a:pt x="20060" y="9300"/>
                    </a:moveTo>
                    <a:lnTo>
                      <a:pt x="16093" y="16144"/>
                    </a:lnTo>
                    <a:lnTo>
                      <a:pt x="0" y="6845"/>
                    </a:lnTo>
                    <a:lnTo>
                      <a:pt x="3943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7" name="墙_V13_Utility_OuterL">
                <a:extLst>
                  <a:ext uri="{FF2B5EF4-FFF2-40B4-BE49-F238E27FC236}">
                    <a16:creationId xmlns:a16="http://schemas.microsoft.com/office/drawing/2014/main" id="{0B649432-5537-E3D2-17BB-EF8EA50D5262}"/>
                  </a:ext>
                </a:extLst>
              </p:cNvPr>
              <p:cNvSpPr/>
              <p:nvPr/>
            </p:nvSpPr>
            <p:spPr>
              <a:xfrm>
                <a:off x="885005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8" name="墙_V13_Utility_OuterR">
                <a:extLst>
                  <a:ext uri="{FF2B5EF4-FFF2-40B4-BE49-F238E27FC236}">
                    <a16:creationId xmlns:a16="http://schemas.microsoft.com/office/drawing/2014/main" id="{6A4A3B62-B6CA-C773-03BD-A29B95E38C3A}"/>
                  </a:ext>
                </a:extLst>
              </p:cNvPr>
              <p:cNvSpPr/>
              <p:nvPr/>
            </p:nvSpPr>
            <p:spPr>
              <a:xfrm>
                <a:off x="601087" y="3023850"/>
                <a:ext cx="13638" cy="20210"/>
              </a:xfrm>
              <a:custGeom>
                <a:avLst/>
                <a:gdLst/>
                <a:ahLst/>
                <a:cxnLst/>
                <a:rect l="l" t="t" r="r" b="b"/>
                <a:pathLst>
                  <a:path w="13638" h="20210">
                    <a:moveTo>
                      <a:pt x="13638" y="20210"/>
                    </a:moveTo>
                    <a:lnTo>
                      <a:pt x="0" y="20210"/>
                    </a:lnTo>
                    <a:lnTo>
                      <a:pt x="0" y="0"/>
                    </a:lnTo>
                    <a:lnTo>
                      <a:pt x="13638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9" name="墙_V13_KitchenSide_FrenchLeaf-1L">
                <a:extLst>
                  <a:ext uri="{FF2B5EF4-FFF2-40B4-BE49-F238E27FC236}">
                    <a16:creationId xmlns:a16="http://schemas.microsoft.com/office/drawing/2014/main" id="{51A42284-5489-8A1E-F3D9-C8E7522A44A1}"/>
                  </a:ext>
                </a:extLst>
              </p:cNvPr>
              <p:cNvSpPr/>
              <p:nvPr/>
            </p:nvSpPr>
            <p:spPr>
              <a:xfrm>
                <a:off x="1723393" y="2495510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18622" y="16119"/>
                    </a:moveTo>
                    <a:lnTo>
                      <a:pt x="9299" y="21500"/>
                    </a:lnTo>
                    <a:lnTo>
                      <a:pt x="0" y="5406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0" name="墙_V13_KitchenSide_FrenchLeaf-1R">
                <a:extLst>
                  <a:ext uri="{FF2B5EF4-FFF2-40B4-BE49-F238E27FC236}">
                    <a16:creationId xmlns:a16="http://schemas.microsoft.com/office/drawing/2014/main" id="{03E9288A-5660-635F-A07D-E8D8BC6EA8B8}"/>
                  </a:ext>
                </a:extLst>
              </p:cNvPr>
              <p:cNvSpPr/>
              <p:nvPr/>
            </p:nvSpPr>
            <p:spPr>
              <a:xfrm>
                <a:off x="1573797" y="2581906"/>
                <a:ext cx="18622" cy="21474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74">
                    <a:moveTo>
                      <a:pt x="18622" y="16093"/>
                    </a:moveTo>
                    <a:lnTo>
                      <a:pt x="9299" y="21474"/>
                    </a:lnTo>
                    <a:lnTo>
                      <a:pt x="0" y="5381"/>
                    </a:lnTo>
                    <a:lnTo>
                      <a:pt x="932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1" name="墙_V13_KitchenSide_FrenchLeaf1L">
                <a:extLst>
                  <a:ext uri="{FF2B5EF4-FFF2-40B4-BE49-F238E27FC236}">
                    <a16:creationId xmlns:a16="http://schemas.microsoft.com/office/drawing/2014/main" id="{0D73072E-0227-51DB-8926-AD392C396696}"/>
                  </a:ext>
                </a:extLst>
              </p:cNvPr>
              <p:cNvSpPr/>
              <p:nvPr/>
            </p:nvSpPr>
            <p:spPr>
              <a:xfrm>
                <a:off x="1573797" y="2771806"/>
                <a:ext cx="18622" cy="21500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500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500"/>
                    </a:lnTo>
                    <a:lnTo>
                      <a:pt x="0" y="16094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2" name="墙_V13_KitchenSide_FrenchLeaf1R">
                <a:extLst>
                  <a:ext uri="{FF2B5EF4-FFF2-40B4-BE49-F238E27FC236}">
                    <a16:creationId xmlns:a16="http://schemas.microsoft.com/office/drawing/2014/main" id="{05ABA440-0D2B-BAE1-9C8A-65360A022679}"/>
                  </a:ext>
                </a:extLst>
              </p:cNvPr>
              <p:cNvSpPr/>
              <p:nvPr/>
            </p:nvSpPr>
            <p:spPr>
              <a:xfrm>
                <a:off x="1723393" y="2858177"/>
                <a:ext cx="18622" cy="21499"/>
              </a:xfrm>
              <a:custGeom>
                <a:avLst/>
                <a:gdLst/>
                <a:ahLst/>
                <a:cxnLst/>
                <a:rect l="l" t="t" r="r" b="b"/>
                <a:pathLst>
                  <a:path w="18622" h="21499">
                    <a:moveTo>
                      <a:pt x="9299" y="0"/>
                    </a:moveTo>
                    <a:lnTo>
                      <a:pt x="18622" y="5381"/>
                    </a:lnTo>
                    <a:lnTo>
                      <a:pt x="9324" y="21499"/>
                    </a:lnTo>
                    <a:lnTo>
                      <a:pt x="0" y="16118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3" name="墙_V13_KitchenSide_OuterL">
                <a:extLst>
                  <a:ext uri="{FF2B5EF4-FFF2-40B4-BE49-F238E27FC236}">
                    <a16:creationId xmlns:a16="http://schemas.microsoft.com/office/drawing/2014/main" id="{6E655BA2-A2A6-5CD5-093A-8E82505F6C44}"/>
                  </a:ext>
                </a:extLst>
              </p:cNvPr>
              <p:cNvSpPr/>
              <p:nvPr/>
            </p:nvSpPr>
            <p:spPr>
              <a:xfrm>
                <a:off x="1736039" y="2484128"/>
                <a:ext cx="19937" cy="19442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2">
                    <a:moveTo>
                      <a:pt x="19937" y="0"/>
                    </a:moveTo>
                    <a:lnTo>
                      <a:pt x="19937" y="19442"/>
                    </a:lnTo>
                    <a:lnTo>
                      <a:pt x="0" y="194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4" name="墙_V13_KitchenSide_OuterR">
                <a:extLst>
                  <a:ext uri="{FF2B5EF4-FFF2-40B4-BE49-F238E27FC236}">
                    <a16:creationId xmlns:a16="http://schemas.microsoft.com/office/drawing/2014/main" id="{08ECE110-4EB1-83F0-4A9D-E1005F0830B1}"/>
                  </a:ext>
                </a:extLst>
              </p:cNvPr>
              <p:cNvSpPr/>
              <p:nvPr/>
            </p:nvSpPr>
            <p:spPr>
              <a:xfrm>
                <a:off x="1736039" y="2871617"/>
                <a:ext cx="19937" cy="19441"/>
              </a:xfrm>
              <a:custGeom>
                <a:avLst/>
                <a:gdLst/>
                <a:ahLst/>
                <a:cxnLst/>
                <a:rect l="l" t="t" r="r" b="b"/>
                <a:pathLst>
                  <a:path w="19937" h="19441">
                    <a:moveTo>
                      <a:pt x="19937" y="0"/>
                    </a:moveTo>
                    <a:lnTo>
                      <a:pt x="19937" y="19441"/>
                    </a:lnTo>
                    <a:lnTo>
                      <a:pt x="0" y="194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5" name="墙_SP_OuterFrame">
                <a:extLst>
                  <a:ext uri="{FF2B5EF4-FFF2-40B4-BE49-F238E27FC236}">
                    <a16:creationId xmlns:a16="http://schemas.microsoft.com/office/drawing/2014/main" id="{388245DE-1398-003B-5F84-DF28D231BB85}"/>
                  </a:ext>
                </a:extLst>
              </p:cNvPr>
              <p:cNvSpPr/>
              <p:nvPr/>
            </p:nvSpPr>
            <p:spPr>
              <a:xfrm>
                <a:off x="489380" y="3025536"/>
                <a:ext cx="520722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520722" h="18598">
                    <a:moveTo>
                      <a:pt x="111484" y="99"/>
                    </a:moveTo>
                    <a:lnTo>
                      <a:pt x="111211" y="0"/>
                    </a:lnTo>
                    <a:lnTo>
                      <a:pt x="99309" y="0"/>
                    </a:lnTo>
                    <a:lnTo>
                      <a:pt x="98962" y="75"/>
                    </a:lnTo>
                    <a:lnTo>
                      <a:pt x="98639" y="223"/>
                    </a:lnTo>
                    <a:lnTo>
                      <a:pt x="95267" y="2753"/>
                    </a:lnTo>
                    <a:lnTo>
                      <a:pt x="95069" y="3025"/>
                    </a:lnTo>
                    <a:lnTo>
                      <a:pt x="94970" y="3348"/>
                    </a:lnTo>
                    <a:lnTo>
                      <a:pt x="94970" y="4588"/>
                    </a:lnTo>
                    <a:lnTo>
                      <a:pt x="95069" y="4860"/>
                    </a:lnTo>
                    <a:lnTo>
                      <a:pt x="95341" y="4960"/>
                    </a:lnTo>
                    <a:lnTo>
                      <a:pt x="97573" y="4960"/>
                    </a:lnTo>
                    <a:lnTo>
                      <a:pt x="97846" y="5059"/>
                    </a:lnTo>
                    <a:lnTo>
                      <a:pt x="97945" y="5332"/>
                    </a:lnTo>
                    <a:lnTo>
                      <a:pt x="97945" y="18226"/>
                    </a:lnTo>
                    <a:lnTo>
                      <a:pt x="98044" y="18499"/>
                    </a:lnTo>
                    <a:lnTo>
                      <a:pt x="98317" y="18598"/>
                    </a:lnTo>
                    <a:lnTo>
                      <a:pt x="111211" y="18598"/>
                    </a:lnTo>
                    <a:lnTo>
                      <a:pt x="111484" y="18499"/>
                    </a:lnTo>
                    <a:lnTo>
                      <a:pt x="111583" y="18226"/>
                    </a:lnTo>
                    <a:lnTo>
                      <a:pt x="111583" y="372"/>
                    </a:lnTo>
                    <a:close/>
                    <a:moveTo>
                      <a:pt x="99" y="99"/>
                    </a:moveTo>
                    <a:lnTo>
                      <a:pt x="372" y="0"/>
                    </a:lnTo>
                    <a:lnTo>
                      <a:pt x="12274" y="0"/>
                    </a:lnTo>
                    <a:lnTo>
                      <a:pt x="12621" y="75"/>
                    </a:lnTo>
                    <a:lnTo>
                      <a:pt x="12943" y="223"/>
                    </a:lnTo>
                    <a:lnTo>
                      <a:pt x="16316" y="2753"/>
                    </a:lnTo>
                    <a:lnTo>
                      <a:pt x="16514" y="3025"/>
                    </a:lnTo>
                    <a:lnTo>
                      <a:pt x="16613" y="3348"/>
                    </a:lnTo>
                    <a:lnTo>
                      <a:pt x="16613" y="4588"/>
                    </a:lnTo>
                    <a:lnTo>
                      <a:pt x="16514" y="4860"/>
                    </a:lnTo>
                    <a:lnTo>
                      <a:pt x="16241" y="4960"/>
                    </a:lnTo>
                    <a:lnTo>
                      <a:pt x="14010" y="4960"/>
                    </a:lnTo>
                    <a:lnTo>
                      <a:pt x="13737" y="5059"/>
                    </a:lnTo>
                    <a:lnTo>
                      <a:pt x="13638" y="5332"/>
                    </a:lnTo>
                    <a:lnTo>
                      <a:pt x="13638" y="18226"/>
                    </a:lnTo>
                    <a:lnTo>
                      <a:pt x="13538" y="18499"/>
                    </a:lnTo>
                    <a:lnTo>
                      <a:pt x="13266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close/>
                    <a:moveTo>
                      <a:pt x="520623" y="99"/>
                    </a:moveTo>
                    <a:lnTo>
                      <a:pt x="520350" y="0"/>
                    </a:lnTo>
                    <a:lnTo>
                      <a:pt x="508448" y="0"/>
                    </a:lnTo>
                    <a:lnTo>
                      <a:pt x="508101" y="75"/>
                    </a:lnTo>
                    <a:lnTo>
                      <a:pt x="507779" y="223"/>
                    </a:lnTo>
                    <a:lnTo>
                      <a:pt x="504406" y="2753"/>
                    </a:lnTo>
                    <a:lnTo>
                      <a:pt x="504208" y="3025"/>
                    </a:lnTo>
                    <a:lnTo>
                      <a:pt x="504109" y="3348"/>
                    </a:lnTo>
                    <a:lnTo>
                      <a:pt x="504109" y="4588"/>
                    </a:lnTo>
                    <a:lnTo>
                      <a:pt x="504208" y="4860"/>
                    </a:lnTo>
                    <a:lnTo>
                      <a:pt x="504481" y="4960"/>
                    </a:lnTo>
                    <a:lnTo>
                      <a:pt x="506712" y="4960"/>
                    </a:lnTo>
                    <a:lnTo>
                      <a:pt x="506985" y="5059"/>
                    </a:lnTo>
                    <a:lnTo>
                      <a:pt x="507084" y="5332"/>
                    </a:lnTo>
                    <a:lnTo>
                      <a:pt x="507084" y="18226"/>
                    </a:lnTo>
                    <a:lnTo>
                      <a:pt x="507184" y="18499"/>
                    </a:lnTo>
                    <a:lnTo>
                      <a:pt x="507456" y="18598"/>
                    </a:lnTo>
                    <a:lnTo>
                      <a:pt x="520350" y="18598"/>
                    </a:lnTo>
                    <a:lnTo>
                      <a:pt x="520623" y="18499"/>
                    </a:lnTo>
                    <a:lnTo>
                      <a:pt x="520722" y="18226"/>
                    </a:lnTo>
                    <a:lnTo>
                      <a:pt x="520722" y="372"/>
                    </a:lnTo>
                    <a:close/>
                    <a:moveTo>
                      <a:pt x="409238" y="99"/>
                    </a:moveTo>
                    <a:lnTo>
                      <a:pt x="409511" y="0"/>
                    </a:lnTo>
                    <a:lnTo>
                      <a:pt x="421413" y="0"/>
                    </a:lnTo>
                    <a:lnTo>
                      <a:pt x="421760" y="75"/>
                    </a:lnTo>
                    <a:lnTo>
                      <a:pt x="422083" y="223"/>
                    </a:lnTo>
                    <a:lnTo>
                      <a:pt x="425455" y="2753"/>
                    </a:lnTo>
                    <a:lnTo>
                      <a:pt x="425653" y="3025"/>
                    </a:lnTo>
                    <a:lnTo>
                      <a:pt x="425752" y="3348"/>
                    </a:lnTo>
                    <a:lnTo>
                      <a:pt x="425752" y="4588"/>
                    </a:lnTo>
                    <a:lnTo>
                      <a:pt x="425653" y="4860"/>
                    </a:lnTo>
                    <a:lnTo>
                      <a:pt x="425381" y="4960"/>
                    </a:lnTo>
                    <a:lnTo>
                      <a:pt x="423149" y="4960"/>
                    </a:lnTo>
                    <a:lnTo>
                      <a:pt x="422876" y="5059"/>
                    </a:lnTo>
                    <a:lnTo>
                      <a:pt x="422777" y="5332"/>
                    </a:lnTo>
                    <a:lnTo>
                      <a:pt x="422777" y="18226"/>
                    </a:lnTo>
                    <a:lnTo>
                      <a:pt x="422678" y="18499"/>
                    </a:lnTo>
                    <a:lnTo>
                      <a:pt x="422405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6" name="墙_SP_Transom">
                <a:extLst>
                  <a:ext uri="{FF2B5EF4-FFF2-40B4-BE49-F238E27FC236}">
                    <a16:creationId xmlns:a16="http://schemas.microsoft.com/office/drawing/2014/main" id="{9877F1F9-4FD0-123E-5926-508A91A725D6}"/>
                  </a:ext>
                </a:extLst>
              </p:cNvPr>
              <p:cNvSpPr/>
              <p:nvPr/>
            </p:nvSpPr>
            <p:spPr>
              <a:xfrm>
                <a:off x="503018" y="3025536"/>
                <a:ext cx="493446" cy="18598"/>
              </a:xfrm>
              <a:custGeom>
                <a:avLst/>
                <a:gdLst/>
                <a:ahLst/>
                <a:cxnLst/>
                <a:rect l="l" t="t" r="r" b="b"/>
                <a:pathLst>
                  <a:path w="493446" h="18598">
                    <a:moveTo>
                      <a:pt x="84208" y="124"/>
                    </a:moveTo>
                    <a:lnTo>
                      <a:pt x="84307" y="372"/>
                    </a:lnTo>
                    <a:lnTo>
                      <a:pt x="84307" y="18226"/>
                    </a:lnTo>
                    <a:lnTo>
                      <a:pt x="84208" y="18499"/>
                    </a:lnTo>
                    <a:lnTo>
                      <a:pt x="83935" y="18598"/>
                    </a:lnTo>
                    <a:lnTo>
                      <a:pt x="372" y="18598"/>
                    </a:lnTo>
                    <a:lnTo>
                      <a:pt x="99" y="18499"/>
                    </a:lnTo>
                    <a:lnTo>
                      <a:pt x="0" y="18226"/>
                    </a:lnTo>
                    <a:lnTo>
                      <a:pt x="0" y="372"/>
                    </a:lnTo>
                    <a:lnTo>
                      <a:pt x="99" y="124"/>
                    </a:lnTo>
                    <a:lnTo>
                      <a:pt x="372" y="0"/>
                    </a:lnTo>
                    <a:lnTo>
                      <a:pt x="83935" y="0"/>
                    </a:lnTo>
                    <a:close/>
                    <a:moveTo>
                      <a:pt x="493347" y="124"/>
                    </a:moveTo>
                    <a:lnTo>
                      <a:pt x="493446" y="372"/>
                    </a:lnTo>
                    <a:lnTo>
                      <a:pt x="493446" y="18226"/>
                    </a:lnTo>
                    <a:lnTo>
                      <a:pt x="493347" y="18499"/>
                    </a:lnTo>
                    <a:lnTo>
                      <a:pt x="493074" y="18598"/>
                    </a:lnTo>
                    <a:lnTo>
                      <a:pt x="409511" y="18598"/>
                    </a:lnTo>
                    <a:lnTo>
                      <a:pt x="409238" y="18499"/>
                    </a:lnTo>
                    <a:lnTo>
                      <a:pt x="409139" y="18226"/>
                    </a:lnTo>
                    <a:lnTo>
                      <a:pt x="409139" y="372"/>
                    </a:lnTo>
                    <a:lnTo>
                      <a:pt x="409238" y="124"/>
                    </a:lnTo>
                    <a:lnTo>
                      <a:pt x="409511" y="0"/>
                    </a:lnTo>
                    <a:lnTo>
                      <a:pt x="49307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7" name="墙_V15_Fixed_Acoustic_Wall">
                <a:extLst>
                  <a:ext uri="{FF2B5EF4-FFF2-40B4-BE49-F238E27FC236}">
                    <a16:creationId xmlns:a16="http://schemas.microsoft.com/office/drawing/2014/main" id="{1D0B5870-81FA-F4C0-B868-FCCF678A737E}"/>
                  </a:ext>
                </a:extLst>
              </p:cNvPr>
              <p:cNvSpPr/>
              <p:nvPr/>
            </p:nvSpPr>
            <p:spPr>
              <a:xfrm>
                <a:off x="1317577" y="3083315"/>
                <a:ext cx="11406" cy="628522"/>
              </a:xfrm>
              <a:custGeom>
                <a:avLst/>
                <a:gdLst/>
                <a:ahLst/>
                <a:cxnLst/>
                <a:rect l="l" t="t" r="r" b="b"/>
                <a:pathLst>
                  <a:path w="11406" h="628522">
                    <a:moveTo>
                      <a:pt x="11356" y="49"/>
                    </a:moveTo>
                    <a:lnTo>
                      <a:pt x="11406" y="149"/>
                    </a:lnTo>
                    <a:lnTo>
                      <a:pt x="11406" y="5802"/>
                    </a:lnTo>
                    <a:lnTo>
                      <a:pt x="11356" y="5902"/>
                    </a:lnTo>
                    <a:lnTo>
                      <a:pt x="11257" y="5951"/>
                    </a:lnTo>
                    <a:lnTo>
                      <a:pt x="7091" y="5951"/>
                    </a:lnTo>
                    <a:lnTo>
                      <a:pt x="6992" y="5902"/>
                    </a:lnTo>
                    <a:lnTo>
                      <a:pt x="6943" y="5802"/>
                    </a:lnTo>
                    <a:lnTo>
                      <a:pt x="6943" y="149"/>
                    </a:lnTo>
                    <a:lnTo>
                      <a:pt x="6992" y="49"/>
                    </a:lnTo>
                    <a:lnTo>
                      <a:pt x="7091" y="0"/>
                    </a:lnTo>
                    <a:lnTo>
                      <a:pt x="11257" y="0"/>
                    </a:lnTo>
                    <a:close/>
                    <a:moveTo>
                      <a:pt x="11356" y="8977"/>
                    </a:moveTo>
                    <a:lnTo>
                      <a:pt x="11406" y="9076"/>
                    </a:lnTo>
                    <a:lnTo>
                      <a:pt x="11406" y="15721"/>
                    </a:lnTo>
                    <a:lnTo>
                      <a:pt x="11356" y="15821"/>
                    </a:lnTo>
                    <a:lnTo>
                      <a:pt x="11257" y="15870"/>
                    </a:lnTo>
                    <a:lnTo>
                      <a:pt x="7091" y="15870"/>
                    </a:lnTo>
                    <a:lnTo>
                      <a:pt x="6992" y="15821"/>
                    </a:lnTo>
                    <a:lnTo>
                      <a:pt x="6943" y="15721"/>
                    </a:lnTo>
                    <a:lnTo>
                      <a:pt x="6943" y="9076"/>
                    </a:lnTo>
                    <a:lnTo>
                      <a:pt x="6992" y="8977"/>
                    </a:lnTo>
                    <a:lnTo>
                      <a:pt x="7091" y="8927"/>
                    </a:lnTo>
                    <a:lnTo>
                      <a:pt x="11257" y="8927"/>
                    </a:lnTo>
                    <a:close/>
                    <a:moveTo>
                      <a:pt x="11356" y="18896"/>
                    </a:moveTo>
                    <a:lnTo>
                      <a:pt x="11406" y="18995"/>
                    </a:lnTo>
                    <a:lnTo>
                      <a:pt x="11406" y="25641"/>
                    </a:lnTo>
                    <a:lnTo>
                      <a:pt x="11356" y="25740"/>
                    </a:lnTo>
                    <a:lnTo>
                      <a:pt x="11257" y="25789"/>
                    </a:lnTo>
                    <a:lnTo>
                      <a:pt x="7091" y="25789"/>
                    </a:lnTo>
                    <a:lnTo>
                      <a:pt x="6992" y="25740"/>
                    </a:lnTo>
                    <a:lnTo>
                      <a:pt x="6943" y="25641"/>
                    </a:lnTo>
                    <a:lnTo>
                      <a:pt x="6943" y="18995"/>
                    </a:lnTo>
                    <a:lnTo>
                      <a:pt x="6992" y="18896"/>
                    </a:lnTo>
                    <a:lnTo>
                      <a:pt x="7091" y="18846"/>
                    </a:lnTo>
                    <a:lnTo>
                      <a:pt x="11257" y="18846"/>
                    </a:lnTo>
                    <a:close/>
                    <a:moveTo>
                      <a:pt x="11356" y="28815"/>
                    </a:moveTo>
                    <a:lnTo>
                      <a:pt x="11406" y="28914"/>
                    </a:lnTo>
                    <a:lnTo>
                      <a:pt x="11406" y="35560"/>
                    </a:lnTo>
                    <a:lnTo>
                      <a:pt x="11356" y="35659"/>
                    </a:lnTo>
                    <a:lnTo>
                      <a:pt x="11257" y="35708"/>
                    </a:lnTo>
                    <a:lnTo>
                      <a:pt x="7091" y="35708"/>
                    </a:lnTo>
                    <a:lnTo>
                      <a:pt x="6992" y="35659"/>
                    </a:lnTo>
                    <a:lnTo>
                      <a:pt x="6943" y="35560"/>
                    </a:lnTo>
                    <a:lnTo>
                      <a:pt x="6943" y="28914"/>
                    </a:lnTo>
                    <a:lnTo>
                      <a:pt x="6992" y="28815"/>
                    </a:lnTo>
                    <a:lnTo>
                      <a:pt x="7091" y="28765"/>
                    </a:lnTo>
                    <a:lnTo>
                      <a:pt x="11257" y="28765"/>
                    </a:lnTo>
                    <a:close/>
                    <a:moveTo>
                      <a:pt x="11356" y="38734"/>
                    </a:moveTo>
                    <a:lnTo>
                      <a:pt x="11406" y="38833"/>
                    </a:lnTo>
                    <a:lnTo>
                      <a:pt x="11406" y="45479"/>
                    </a:lnTo>
                    <a:lnTo>
                      <a:pt x="11356" y="45578"/>
                    </a:lnTo>
                    <a:lnTo>
                      <a:pt x="11257" y="45627"/>
                    </a:lnTo>
                    <a:lnTo>
                      <a:pt x="7091" y="45627"/>
                    </a:lnTo>
                    <a:lnTo>
                      <a:pt x="6992" y="45578"/>
                    </a:lnTo>
                    <a:lnTo>
                      <a:pt x="6943" y="45479"/>
                    </a:lnTo>
                    <a:lnTo>
                      <a:pt x="6943" y="38833"/>
                    </a:lnTo>
                    <a:lnTo>
                      <a:pt x="6992" y="38734"/>
                    </a:lnTo>
                    <a:lnTo>
                      <a:pt x="7091" y="38684"/>
                    </a:lnTo>
                    <a:lnTo>
                      <a:pt x="11257" y="38684"/>
                    </a:lnTo>
                    <a:close/>
                    <a:moveTo>
                      <a:pt x="11356" y="48653"/>
                    </a:moveTo>
                    <a:lnTo>
                      <a:pt x="11406" y="48752"/>
                    </a:lnTo>
                    <a:lnTo>
                      <a:pt x="11406" y="55398"/>
                    </a:lnTo>
                    <a:lnTo>
                      <a:pt x="11356" y="55497"/>
                    </a:lnTo>
                    <a:lnTo>
                      <a:pt x="11257" y="55547"/>
                    </a:lnTo>
                    <a:lnTo>
                      <a:pt x="7091" y="55547"/>
                    </a:lnTo>
                    <a:lnTo>
                      <a:pt x="6992" y="55497"/>
                    </a:lnTo>
                    <a:lnTo>
                      <a:pt x="6943" y="55398"/>
                    </a:lnTo>
                    <a:lnTo>
                      <a:pt x="6943" y="48752"/>
                    </a:lnTo>
                    <a:lnTo>
                      <a:pt x="6992" y="48653"/>
                    </a:lnTo>
                    <a:lnTo>
                      <a:pt x="7091" y="48603"/>
                    </a:lnTo>
                    <a:lnTo>
                      <a:pt x="11257" y="48603"/>
                    </a:lnTo>
                    <a:close/>
                    <a:moveTo>
                      <a:pt x="11356" y="58572"/>
                    </a:moveTo>
                    <a:lnTo>
                      <a:pt x="11406" y="58671"/>
                    </a:lnTo>
                    <a:lnTo>
                      <a:pt x="11406" y="65317"/>
                    </a:lnTo>
                    <a:lnTo>
                      <a:pt x="11356" y="65416"/>
                    </a:lnTo>
                    <a:lnTo>
                      <a:pt x="11257" y="65466"/>
                    </a:lnTo>
                    <a:lnTo>
                      <a:pt x="7091" y="65466"/>
                    </a:lnTo>
                    <a:lnTo>
                      <a:pt x="6992" y="65416"/>
                    </a:lnTo>
                    <a:lnTo>
                      <a:pt x="6943" y="65317"/>
                    </a:lnTo>
                    <a:lnTo>
                      <a:pt x="6943" y="58671"/>
                    </a:lnTo>
                    <a:lnTo>
                      <a:pt x="6992" y="58572"/>
                    </a:lnTo>
                    <a:lnTo>
                      <a:pt x="7091" y="58522"/>
                    </a:lnTo>
                    <a:lnTo>
                      <a:pt x="11257" y="58522"/>
                    </a:lnTo>
                    <a:close/>
                    <a:moveTo>
                      <a:pt x="11356" y="68491"/>
                    </a:moveTo>
                    <a:lnTo>
                      <a:pt x="11406" y="68590"/>
                    </a:lnTo>
                    <a:lnTo>
                      <a:pt x="11406" y="75236"/>
                    </a:lnTo>
                    <a:lnTo>
                      <a:pt x="11356" y="75335"/>
                    </a:lnTo>
                    <a:lnTo>
                      <a:pt x="11257" y="75385"/>
                    </a:lnTo>
                    <a:lnTo>
                      <a:pt x="7091" y="75385"/>
                    </a:lnTo>
                    <a:lnTo>
                      <a:pt x="6992" y="75335"/>
                    </a:lnTo>
                    <a:lnTo>
                      <a:pt x="6943" y="75236"/>
                    </a:lnTo>
                    <a:lnTo>
                      <a:pt x="6943" y="68590"/>
                    </a:lnTo>
                    <a:lnTo>
                      <a:pt x="6992" y="68491"/>
                    </a:lnTo>
                    <a:lnTo>
                      <a:pt x="7091" y="68441"/>
                    </a:lnTo>
                    <a:lnTo>
                      <a:pt x="11257" y="68441"/>
                    </a:lnTo>
                    <a:close/>
                    <a:moveTo>
                      <a:pt x="11356" y="78410"/>
                    </a:moveTo>
                    <a:lnTo>
                      <a:pt x="11406" y="78509"/>
                    </a:lnTo>
                    <a:lnTo>
                      <a:pt x="11406" y="85155"/>
                    </a:lnTo>
                    <a:lnTo>
                      <a:pt x="11356" y="85254"/>
                    </a:lnTo>
                    <a:lnTo>
                      <a:pt x="11257" y="85304"/>
                    </a:lnTo>
                    <a:lnTo>
                      <a:pt x="7091" y="85304"/>
                    </a:lnTo>
                    <a:lnTo>
                      <a:pt x="6992" y="85254"/>
                    </a:lnTo>
                    <a:lnTo>
                      <a:pt x="6943" y="85155"/>
                    </a:lnTo>
                    <a:lnTo>
                      <a:pt x="6943" y="78509"/>
                    </a:lnTo>
                    <a:lnTo>
                      <a:pt x="6992" y="78410"/>
                    </a:lnTo>
                    <a:lnTo>
                      <a:pt x="7091" y="78360"/>
                    </a:lnTo>
                    <a:lnTo>
                      <a:pt x="11257" y="78360"/>
                    </a:lnTo>
                    <a:close/>
                    <a:moveTo>
                      <a:pt x="11356" y="88329"/>
                    </a:moveTo>
                    <a:lnTo>
                      <a:pt x="11406" y="88428"/>
                    </a:lnTo>
                    <a:lnTo>
                      <a:pt x="11406" y="95074"/>
                    </a:lnTo>
                    <a:lnTo>
                      <a:pt x="11356" y="95173"/>
                    </a:lnTo>
                    <a:lnTo>
                      <a:pt x="11257" y="95223"/>
                    </a:lnTo>
                    <a:lnTo>
                      <a:pt x="7091" y="95223"/>
                    </a:lnTo>
                    <a:lnTo>
                      <a:pt x="6992" y="95173"/>
                    </a:lnTo>
                    <a:lnTo>
                      <a:pt x="6943" y="95074"/>
                    </a:lnTo>
                    <a:lnTo>
                      <a:pt x="6943" y="88428"/>
                    </a:lnTo>
                    <a:lnTo>
                      <a:pt x="6992" y="88329"/>
                    </a:lnTo>
                    <a:lnTo>
                      <a:pt x="7091" y="88280"/>
                    </a:lnTo>
                    <a:lnTo>
                      <a:pt x="11257" y="88280"/>
                    </a:lnTo>
                    <a:close/>
                    <a:moveTo>
                      <a:pt x="11356" y="98248"/>
                    </a:moveTo>
                    <a:lnTo>
                      <a:pt x="11406" y="98347"/>
                    </a:lnTo>
                    <a:lnTo>
                      <a:pt x="11406" y="104993"/>
                    </a:lnTo>
                    <a:lnTo>
                      <a:pt x="11356" y="105092"/>
                    </a:lnTo>
                    <a:lnTo>
                      <a:pt x="11257" y="105142"/>
                    </a:lnTo>
                    <a:lnTo>
                      <a:pt x="7091" y="105142"/>
                    </a:lnTo>
                    <a:lnTo>
                      <a:pt x="6992" y="105092"/>
                    </a:lnTo>
                    <a:lnTo>
                      <a:pt x="6943" y="104993"/>
                    </a:lnTo>
                    <a:lnTo>
                      <a:pt x="6943" y="98347"/>
                    </a:lnTo>
                    <a:lnTo>
                      <a:pt x="6992" y="98248"/>
                    </a:lnTo>
                    <a:lnTo>
                      <a:pt x="7091" y="98199"/>
                    </a:lnTo>
                    <a:lnTo>
                      <a:pt x="11257" y="98199"/>
                    </a:lnTo>
                    <a:close/>
                    <a:moveTo>
                      <a:pt x="11356" y="108167"/>
                    </a:moveTo>
                    <a:lnTo>
                      <a:pt x="11406" y="108266"/>
                    </a:lnTo>
                    <a:lnTo>
                      <a:pt x="11406" y="114912"/>
                    </a:lnTo>
                    <a:lnTo>
                      <a:pt x="11356" y="115011"/>
                    </a:lnTo>
                    <a:lnTo>
                      <a:pt x="11257" y="115061"/>
                    </a:lnTo>
                    <a:lnTo>
                      <a:pt x="7091" y="115061"/>
                    </a:lnTo>
                    <a:lnTo>
                      <a:pt x="6992" y="115011"/>
                    </a:lnTo>
                    <a:lnTo>
                      <a:pt x="6943" y="114912"/>
                    </a:lnTo>
                    <a:lnTo>
                      <a:pt x="6943" y="108266"/>
                    </a:lnTo>
                    <a:lnTo>
                      <a:pt x="6992" y="108167"/>
                    </a:lnTo>
                    <a:lnTo>
                      <a:pt x="7091" y="108118"/>
                    </a:lnTo>
                    <a:lnTo>
                      <a:pt x="11257" y="108118"/>
                    </a:lnTo>
                    <a:close/>
                    <a:moveTo>
                      <a:pt x="11356" y="118086"/>
                    </a:moveTo>
                    <a:lnTo>
                      <a:pt x="11406" y="118186"/>
                    </a:lnTo>
                    <a:lnTo>
                      <a:pt x="11406" y="124831"/>
                    </a:lnTo>
                    <a:lnTo>
                      <a:pt x="11356" y="124930"/>
                    </a:lnTo>
                    <a:lnTo>
                      <a:pt x="11257" y="124980"/>
                    </a:lnTo>
                    <a:lnTo>
                      <a:pt x="7091" y="124980"/>
                    </a:lnTo>
                    <a:lnTo>
                      <a:pt x="6992" y="124930"/>
                    </a:lnTo>
                    <a:lnTo>
                      <a:pt x="6943" y="124831"/>
                    </a:lnTo>
                    <a:lnTo>
                      <a:pt x="6943" y="118186"/>
                    </a:lnTo>
                    <a:lnTo>
                      <a:pt x="6992" y="118086"/>
                    </a:lnTo>
                    <a:lnTo>
                      <a:pt x="7091" y="118037"/>
                    </a:lnTo>
                    <a:lnTo>
                      <a:pt x="11257" y="118037"/>
                    </a:lnTo>
                    <a:close/>
                    <a:moveTo>
                      <a:pt x="11356" y="128005"/>
                    </a:moveTo>
                    <a:lnTo>
                      <a:pt x="11406" y="128105"/>
                    </a:lnTo>
                    <a:lnTo>
                      <a:pt x="11406" y="134750"/>
                    </a:lnTo>
                    <a:lnTo>
                      <a:pt x="11356" y="134850"/>
                    </a:lnTo>
                    <a:lnTo>
                      <a:pt x="11257" y="134899"/>
                    </a:lnTo>
                    <a:lnTo>
                      <a:pt x="7091" y="134899"/>
                    </a:lnTo>
                    <a:lnTo>
                      <a:pt x="6992" y="134850"/>
                    </a:lnTo>
                    <a:lnTo>
                      <a:pt x="6943" y="134750"/>
                    </a:lnTo>
                    <a:lnTo>
                      <a:pt x="6943" y="128105"/>
                    </a:lnTo>
                    <a:lnTo>
                      <a:pt x="6992" y="128005"/>
                    </a:lnTo>
                    <a:lnTo>
                      <a:pt x="7091" y="127956"/>
                    </a:lnTo>
                    <a:lnTo>
                      <a:pt x="11257" y="127956"/>
                    </a:lnTo>
                    <a:close/>
                    <a:moveTo>
                      <a:pt x="11356" y="137924"/>
                    </a:moveTo>
                    <a:lnTo>
                      <a:pt x="11406" y="138024"/>
                    </a:lnTo>
                    <a:lnTo>
                      <a:pt x="11406" y="144669"/>
                    </a:lnTo>
                    <a:lnTo>
                      <a:pt x="11356" y="144769"/>
                    </a:lnTo>
                    <a:lnTo>
                      <a:pt x="11257" y="144818"/>
                    </a:lnTo>
                    <a:lnTo>
                      <a:pt x="7091" y="144818"/>
                    </a:lnTo>
                    <a:lnTo>
                      <a:pt x="6992" y="144769"/>
                    </a:lnTo>
                    <a:lnTo>
                      <a:pt x="6943" y="144669"/>
                    </a:lnTo>
                    <a:lnTo>
                      <a:pt x="6943" y="138024"/>
                    </a:lnTo>
                    <a:lnTo>
                      <a:pt x="6992" y="137924"/>
                    </a:lnTo>
                    <a:lnTo>
                      <a:pt x="7091" y="137875"/>
                    </a:lnTo>
                    <a:lnTo>
                      <a:pt x="11257" y="137875"/>
                    </a:lnTo>
                    <a:close/>
                    <a:moveTo>
                      <a:pt x="11356" y="147844"/>
                    </a:moveTo>
                    <a:lnTo>
                      <a:pt x="11406" y="147943"/>
                    </a:lnTo>
                    <a:lnTo>
                      <a:pt x="11406" y="154589"/>
                    </a:lnTo>
                    <a:lnTo>
                      <a:pt x="11356" y="154688"/>
                    </a:lnTo>
                    <a:lnTo>
                      <a:pt x="11257" y="154737"/>
                    </a:lnTo>
                    <a:lnTo>
                      <a:pt x="7091" y="154737"/>
                    </a:lnTo>
                    <a:lnTo>
                      <a:pt x="6992" y="154688"/>
                    </a:lnTo>
                    <a:lnTo>
                      <a:pt x="6943" y="154589"/>
                    </a:lnTo>
                    <a:lnTo>
                      <a:pt x="6943" y="147943"/>
                    </a:lnTo>
                    <a:lnTo>
                      <a:pt x="6992" y="147844"/>
                    </a:lnTo>
                    <a:lnTo>
                      <a:pt x="7091" y="147794"/>
                    </a:lnTo>
                    <a:lnTo>
                      <a:pt x="11257" y="147794"/>
                    </a:lnTo>
                    <a:close/>
                    <a:moveTo>
                      <a:pt x="11356" y="157763"/>
                    </a:moveTo>
                    <a:lnTo>
                      <a:pt x="11406" y="157862"/>
                    </a:lnTo>
                    <a:lnTo>
                      <a:pt x="11406" y="164508"/>
                    </a:lnTo>
                    <a:lnTo>
                      <a:pt x="11356" y="164607"/>
                    </a:lnTo>
                    <a:lnTo>
                      <a:pt x="11257" y="164656"/>
                    </a:lnTo>
                    <a:lnTo>
                      <a:pt x="7091" y="164656"/>
                    </a:lnTo>
                    <a:lnTo>
                      <a:pt x="6992" y="164607"/>
                    </a:lnTo>
                    <a:lnTo>
                      <a:pt x="6943" y="164508"/>
                    </a:lnTo>
                    <a:lnTo>
                      <a:pt x="6943" y="157862"/>
                    </a:lnTo>
                    <a:lnTo>
                      <a:pt x="6992" y="157763"/>
                    </a:lnTo>
                    <a:lnTo>
                      <a:pt x="7091" y="157713"/>
                    </a:lnTo>
                    <a:lnTo>
                      <a:pt x="11257" y="157713"/>
                    </a:lnTo>
                    <a:close/>
                    <a:moveTo>
                      <a:pt x="11356" y="168351"/>
                    </a:moveTo>
                    <a:lnTo>
                      <a:pt x="11406" y="168450"/>
                    </a:lnTo>
                    <a:lnTo>
                      <a:pt x="11406" y="174427"/>
                    </a:lnTo>
                    <a:lnTo>
                      <a:pt x="11356" y="174526"/>
                    </a:lnTo>
                    <a:lnTo>
                      <a:pt x="11257" y="174575"/>
                    </a:lnTo>
                    <a:lnTo>
                      <a:pt x="7091" y="174575"/>
                    </a:lnTo>
                    <a:lnTo>
                      <a:pt x="6992" y="174526"/>
                    </a:lnTo>
                    <a:lnTo>
                      <a:pt x="6943" y="174427"/>
                    </a:lnTo>
                    <a:lnTo>
                      <a:pt x="6943" y="168450"/>
                    </a:lnTo>
                    <a:lnTo>
                      <a:pt x="6992" y="168351"/>
                    </a:lnTo>
                    <a:lnTo>
                      <a:pt x="7091" y="168302"/>
                    </a:lnTo>
                    <a:lnTo>
                      <a:pt x="11257" y="168302"/>
                    </a:lnTo>
                    <a:close/>
                    <a:moveTo>
                      <a:pt x="11356" y="167682"/>
                    </a:moveTo>
                    <a:lnTo>
                      <a:pt x="11406" y="167781"/>
                    </a:lnTo>
                    <a:lnTo>
                      <a:pt x="11406" y="168153"/>
                    </a:lnTo>
                    <a:lnTo>
                      <a:pt x="11356" y="168252"/>
                    </a:lnTo>
                    <a:lnTo>
                      <a:pt x="11257" y="168302"/>
                    </a:lnTo>
                    <a:lnTo>
                      <a:pt x="7091" y="168302"/>
                    </a:lnTo>
                    <a:lnTo>
                      <a:pt x="6992" y="168252"/>
                    </a:lnTo>
                    <a:lnTo>
                      <a:pt x="6943" y="168153"/>
                    </a:lnTo>
                    <a:lnTo>
                      <a:pt x="6943" y="167781"/>
                    </a:lnTo>
                    <a:lnTo>
                      <a:pt x="6992" y="167682"/>
                    </a:lnTo>
                    <a:lnTo>
                      <a:pt x="7091" y="167632"/>
                    </a:lnTo>
                    <a:lnTo>
                      <a:pt x="11257" y="167632"/>
                    </a:lnTo>
                    <a:close/>
                    <a:moveTo>
                      <a:pt x="11356" y="177601"/>
                    </a:moveTo>
                    <a:lnTo>
                      <a:pt x="11406" y="177700"/>
                    </a:lnTo>
                    <a:lnTo>
                      <a:pt x="11406" y="184346"/>
                    </a:lnTo>
                    <a:lnTo>
                      <a:pt x="11356" y="184445"/>
                    </a:lnTo>
                    <a:lnTo>
                      <a:pt x="11257" y="184495"/>
                    </a:lnTo>
                    <a:lnTo>
                      <a:pt x="7091" y="184495"/>
                    </a:lnTo>
                    <a:lnTo>
                      <a:pt x="6992" y="184445"/>
                    </a:lnTo>
                    <a:lnTo>
                      <a:pt x="6943" y="184346"/>
                    </a:lnTo>
                    <a:lnTo>
                      <a:pt x="6943" y="177700"/>
                    </a:lnTo>
                    <a:lnTo>
                      <a:pt x="6992" y="177601"/>
                    </a:lnTo>
                    <a:lnTo>
                      <a:pt x="7091" y="177551"/>
                    </a:lnTo>
                    <a:lnTo>
                      <a:pt x="11257" y="177551"/>
                    </a:lnTo>
                    <a:close/>
                    <a:moveTo>
                      <a:pt x="11356" y="187520"/>
                    </a:moveTo>
                    <a:lnTo>
                      <a:pt x="11406" y="187619"/>
                    </a:lnTo>
                    <a:lnTo>
                      <a:pt x="11406" y="194265"/>
                    </a:lnTo>
                    <a:lnTo>
                      <a:pt x="11356" y="194364"/>
                    </a:lnTo>
                    <a:lnTo>
                      <a:pt x="11257" y="194414"/>
                    </a:lnTo>
                    <a:lnTo>
                      <a:pt x="7091" y="194414"/>
                    </a:lnTo>
                    <a:lnTo>
                      <a:pt x="6992" y="194364"/>
                    </a:lnTo>
                    <a:lnTo>
                      <a:pt x="6943" y="194265"/>
                    </a:lnTo>
                    <a:lnTo>
                      <a:pt x="6943" y="187619"/>
                    </a:lnTo>
                    <a:lnTo>
                      <a:pt x="6992" y="187520"/>
                    </a:lnTo>
                    <a:lnTo>
                      <a:pt x="7091" y="187470"/>
                    </a:lnTo>
                    <a:lnTo>
                      <a:pt x="11257" y="187470"/>
                    </a:lnTo>
                    <a:close/>
                    <a:moveTo>
                      <a:pt x="11356" y="197439"/>
                    </a:moveTo>
                    <a:lnTo>
                      <a:pt x="11406" y="197538"/>
                    </a:lnTo>
                    <a:lnTo>
                      <a:pt x="11406" y="204184"/>
                    </a:lnTo>
                    <a:lnTo>
                      <a:pt x="11356" y="204283"/>
                    </a:lnTo>
                    <a:lnTo>
                      <a:pt x="11257" y="204333"/>
                    </a:lnTo>
                    <a:lnTo>
                      <a:pt x="7091" y="204333"/>
                    </a:lnTo>
                    <a:lnTo>
                      <a:pt x="6992" y="204283"/>
                    </a:lnTo>
                    <a:lnTo>
                      <a:pt x="6943" y="204184"/>
                    </a:lnTo>
                    <a:lnTo>
                      <a:pt x="6943" y="197538"/>
                    </a:lnTo>
                    <a:lnTo>
                      <a:pt x="6992" y="197439"/>
                    </a:lnTo>
                    <a:lnTo>
                      <a:pt x="7091" y="197389"/>
                    </a:lnTo>
                    <a:lnTo>
                      <a:pt x="11257" y="197389"/>
                    </a:lnTo>
                    <a:close/>
                    <a:moveTo>
                      <a:pt x="11356" y="207358"/>
                    </a:moveTo>
                    <a:lnTo>
                      <a:pt x="11406" y="207457"/>
                    </a:lnTo>
                    <a:lnTo>
                      <a:pt x="11406" y="214103"/>
                    </a:lnTo>
                    <a:lnTo>
                      <a:pt x="11356" y="214202"/>
                    </a:lnTo>
                    <a:lnTo>
                      <a:pt x="11257" y="214252"/>
                    </a:lnTo>
                    <a:lnTo>
                      <a:pt x="7091" y="214252"/>
                    </a:lnTo>
                    <a:lnTo>
                      <a:pt x="6992" y="214202"/>
                    </a:lnTo>
                    <a:lnTo>
                      <a:pt x="6943" y="214103"/>
                    </a:lnTo>
                    <a:lnTo>
                      <a:pt x="6943" y="207457"/>
                    </a:lnTo>
                    <a:lnTo>
                      <a:pt x="6992" y="207358"/>
                    </a:lnTo>
                    <a:lnTo>
                      <a:pt x="7091" y="207308"/>
                    </a:lnTo>
                    <a:lnTo>
                      <a:pt x="11257" y="207308"/>
                    </a:lnTo>
                    <a:close/>
                    <a:moveTo>
                      <a:pt x="11356" y="217277"/>
                    </a:moveTo>
                    <a:lnTo>
                      <a:pt x="11406" y="217376"/>
                    </a:lnTo>
                    <a:lnTo>
                      <a:pt x="11406" y="224022"/>
                    </a:lnTo>
                    <a:lnTo>
                      <a:pt x="11356" y="224121"/>
                    </a:lnTo>
                    <a:lnTo>
                      <a:pt x="11257" y="224171"/>
                    </a:lnTo>
                    <a:lnTo>
                      <a:pt x="7091" y="224171"/>
                    </a:lnTo>
                    <a:lnTo>
                      <a:pt x="6992" y="224121"/>
                    </a:lnTo>
                    <a:lnTo>
                      <a:pt x="6943" y="224022"/>
                    </a:lnTo>
                    <a:lnTo>
                      <a:pt x="6943" y="217376"/>
                    </a:lnTo>
                    <a:lnTo>
                      <a:pt x="6992" y="217277"/>
                    </a:lnTo>
                    <a:lnTo>
                      <a:pt x="7091" y="217227"/>
                    </a:lnTo>
                    <a:lnTo>
                      <a:pt x="11257" y="217227"/>
                    </a:lnTo>
                    <a:close/>
                    <a:moveTo>
                      <a:pt x="11356" y="227196"/>
                    </a:moveTo>
                    <a:lnTo>
                      <a:pt x="11406" y="227295"/>
                    </a:lnTo>
                    <a:lnTo>
                      <a:pt x="11406" y="233941"/>
                    </a:lnTo>
                    <a:lnTo>
                      <a:pt x="11356" y="234040"/>
                    </a:lnTo>
                    <a:lnTo>
                      <a:pt x="11257" y="234090"/>
                    </a:lnTo>
                    <a:lnTo>
                      <a:pt x="7091" y="234090"/>
                    </a:lnTo>
                    <a:lnTo>
                      <a:pt x="6992" y="234040"/>
                    </a:lnTo>
                    <a:lnTo>
                      <a:pt x="6943" y="233941"/>
                    </a:lnTo>
                    <a:lnTo>
                      <a:pt x="6943" y="227295"/>
                    </a:lnTo>
                    <a:lnTo>
                      <a:pt x="6992" y="227196"/>
                    </a:lnTo>
                    <a:lnTo>
                      <a:pt x="7091" y="227147"/>
                    </a:lnTo>
                    <a:lnTo>
                      <a:pt x="11257" y="227147"/>
                    </a:lnTo>
                    <a:close/>
                    <a:moveTo>
                      <a:pt x="11356" y="237115"/>
                    </a:moveTo>
                    <a:lnTo>
                      <a:pt x="11406" y="237214"/>
                    </a:lnTo>
                    <a:lnTo>
                      <a:pt x="11406" y="243860"/>
                    </a:lnTo>
                    <a:lnTo>
                      <a:pt x="11356" y="243959"/>
                    </a:lnTo>
                    <a:lnTo>
                      <a:pt x="11257" y="244009"/>
                    </a:lnTo>
                    <a:lnTo>
                      <a:pt x="7091" y="244009"/>
                    </a:lnTo>
                    <a:lnTo>
                      <a:pt x="6992" y="243959"/>
                    </a:lnTo>
                    <a:lnTo>
                      <a:pt x="6943" y="243860"/>
                    </a:lnTo>
                    <a:lnTo>
                      <a:pt x="6943" y="237214"/>
                    </a:lnTo>
                    <a:lnTo>
                      <a:pt x="6992" y="237115"/>
                    </a:lnTo>
                    <a:lnTo>
                      <a:pt x="7091" y="237066"/>
                    </a:lnTo>
                    <a:lnTo>
                      <a:pt x="11257" y="237066"/>
                    </a:lnTo>
                    <a:close/>
                    <a:moveTo>
                      <a:pt x="11356" y="247034"/>
                    </a:moveTo>
                    <a:lnTo>
                      <a:pt x="11406" y="247133"/>
                    </a:lnTo>
                    <a:lnTo>
                      <a:pt x="11406" y="253779"/>
                    </a:lnTo>
                    <a:lnTo>
                      <a:pt x="11356" y="253878"/>
                    </a:lnTo>
                    <a:lnTo>
                      <a:pt x="11257" y="253928"/>
                    </a:lnTo>
                    <a:lnTo>
                      <a:pt x="7091" y="253928"/>
                    </a:lnTo>
                    <a:lnTo>
                      <a:pt x="6992" y="253878"/>
                    </a:lnTo>
                    <a:lnTo>
                      <a:pt x="6943" y="253779"/>
                    </a:lnTo>
                    <a:lnTo>
                      <a:pt x="6943" y="247133"/>
                    </a:lnTo>
                    <a:lnTo>
                      <a:pt x="6992" y="247034"/>
                    </a:lnTo>
                    <a:lnTo>
                      <a:pt x="7091" y="246985"/>
                    </a:lnTo>
                    <a:lnTo>
                      <a:pt x="11257" y="246985"/>
                    </a:lnTo>
                    <a:close/>
                    <a:moveTo>
                      <a:pt x="11356" y="256953"/>
                    </a:moveTo>
                    <a:lnTo>
                      <a:pt x="11406" y="257053"/>
                    </a:lnTo>
                    <a:lnTo>
                      <a:pt x="11406" y="263698"/>
                    </a:lnTo>
                    <a:lnTo>
                      <a:pt x="11356" y="263798"/>
                    </a:lnTo>
                    <a:lnTo>
                      <a:pt x="11257" y="263847"/>
                    </a:lnTo>
                    <a:lnTo>
                      <a:pt x="7091" y="263847"/>
                    </a:lnTo>
                    <a:lnTo>
                      <a:pt x="6992" y="263798"/>
                    </a:lnTo>
                    <a:lnTo>
                      <a:pt x="6943" y="263698"/>
                    </a:lnTo>
                    <a:lnTo>
                      <a:pt x="6943" y="257053"/>
                    </a:lnTo>
                    <a:lnTo>
                      <a:pt x="6992" y="256953"/>
                    </a:lnTo>
                    <a:lnTo>
                      <a:pt x="7091" y="256904"/>
                    </a:lnTo>
                    <a:lnTo>
                      <a:pt x="11257" y="256904"/>
                    </a:lnTo>
                    <a:close/>
                    <a:moveTo>
                      <a:pt x="11356" y="266872"/>
                    </a:moveTo>
                    <a:lnTo>
                      <a:pt x="11406" y="266972"/>
                    </a:lnTo>
                    <a:lnTo>
                      <a:pt x="11406" y="273617"/>
                    </a:lnTo>
                    <a:lnTo>
                      <a:pt x="11356" y="273717"/>
                    </a:lnTo>
                    <a:lnTo>
                      <a:pt x="11257" y="273766"/>
                    </a:lnTo>
                    <a:lnTo>
                      <a:pt x="7091" y="273766"/>
                    </a:lnTo>
                    <a:lnTo>
                      <a:pt x="6992" y="273717"/>
                    </a:lnTo>
                    <a:lnTo>
                      <a:pt x="6943" y="273617"/>
                    </a:lnTo>
                    <a:lnTo>
                      <a:pt x="6943" y="266972"/>
                    </a:lnTo>
                    <a:lnTo>
                      <a:pt x="6992" y="266872"/>
                    </a:lnTo>
                    <a:lnTo>
                      <a:pt x="7091" y="266823"/>
                    </a:lnTo>
                    <a:lnTo>
                      <a:pt x="11257" y="266823"/>
                    </a:lnTo>
                    <a:close/>
                    <a:moveTo>
                      <a:pt x="11356" y="276792"/>
                    </a:moveTo>
                    <a:lnTo>
                      <a:pt x="11406" y="276891"/>
                    </a:lnTo>
                    <a:lnTo>
                      <a:pt x="11406" y="283536"/>
                    </a:lnTo>
                    <a:lnTo>
                      <a:pt x="11356" y="283636"/>
                    </a:lnTo>
                    <a:lnTo>
                      <a:pt x="11257" y="283685"/>
                    </a:lnTo>
                    <a:lnTo>
                      <a:pt x="7091" y="283685"/>
                    </a:lnTo>
                    <a:lnTo>
                      <a:pt x="6992" y="283636"/>
                    </a:lnTo>
                    <a:lnTo>
                      <a:pt x="6943" y="283536"/>
                    </a:lnTo>
                    <a:lnTo>
                      <a:pt x="6943" y="276891"/>
                    </a:lnTo>
                    <a:lnTo>
                      <a:pt x="6992" y="276792"/>
                    </a:lnTo>
                    <a:lnTo>
                      <a:pt x="7091" y="276742"/>
                    </a:lnTo>
                    <a:lnTo>
                      <a:pt x="11257" y="276742"/>
                    </a:lnTo>
                    <a:close/>
                    <a:moveTo>
                      <a:pt x="11356" y="286711"/>
                    </a:moveTo>
                    <a:lnTo>
                      <a:pt x="11406" y="286810"/>
                    </a:lnTo>
                    <a:lnTo>
                      <a:pt x="11406" y="293456"/>
                    </a:lnTo>
                    <a:lnTo>
                      <a:pt x="11356" y="293555"/>
                    </a:lnTo>
                    <a:lnTo>
                      <a:pt x="11257" y="293604"/>
                    </a:lnTo>
                    <a:lnTo>
                      <a:pt x="7091" y="293604"/>
                    </a:lnTo>
                    <a:lnTo>
                      <a:pt x="6992" y="293555"/>
                    </a:lnTo>
                    <a:lnTo>
                      <a:pt x="6943" y="293456"/>
                    </a:lnTo>
                    <a:lnTo>
                      <a:pt x="6943" y="286810"/>
                    </a:lnTo>
                    <a:lnTo>
                      <a:pt x="6992" y="286711"/>
                    </a:lnTo>
                    <a:lnTo>
                      <a:pt x="7091" y="286661"/>
                    </a:lnTo>
                    <a:lnTo>
                      <a:pt x="11257" y="286661"/>
                    </a:lnTo>
                    <a:close/>
                    <a:moveTo>
                      <a:pt x="11356" y="296630"/>
                    </a:moveTo>
                    <a:lnTo>
                      <a:pt x="11406" y="296729"/>
                    </a:lnTo>
                    <a:lnTo>
                      <a:pt x="11406" y="303375"/>
                    </a:lnTo>
                    <a:lnTo>
                      <a:pt x="11356" y="303474"/>
                    </a:lnTo>
                    <a:lnTo>
                      <a:pt x="11257" y="303523"/>
                    </a:lnTo>
                    <a:lnTo>
                      <a:pt x="7091" y="303523"/>
                    </a:lnTo>
                    <a:lnTo>
                      <a:pt x="6992" y="303474"/>
                    </a:lnTo>
                    <a:lnTo>
                      <a:pt x="6943" y="303375"/>
                    </a:lnTo>
                    <a:lnTo>
                      <a:pt x="6943" y="296729"/>
                    </a:lnTo>
                    <a:lnTo>
                      <a:pt x="6992" y="296630"/>
                    </a:lnTo>
                    <a:lnTo>
                      <a:pt x="7091" y="296580"/>
                    </a:lnTo>
                    <a:lnTo>
                      <a:pt x="11257" y="296580"/>
                    </a:lnTo>
                    <a:close/>
                    <a:moveTo>
                      <a:pt x="11356" y="306549"/>
                    </a:moveTo>
                    <a:lnTo>
                      <a:pt x="11406" y="306648"/>
                    </a:lnTo>
                    <a:lnTo>
                      <a:pt x="11406" y="313294"/>
                    </a:lnTo>
                    <a:lnTo>
                      <a:pt x="11356" y="313393"/>
                    </a:lnTo>
                    <a:lnTo>
                      <a:pt x="11257" y="313442"/>
                    </a:lnTo>
                    <a:lnTo>
                      <a:pt x="7091" y="313442"/>
                    </a:lnTo>
                    <a:lnTo>
                      <a:pt x="6992" y="313393"/>
                    </a:lnTo>
                    <a:lnTo>
                      <a:pt x="6943" y="313294"/>
                    </a:lnTo>
                    <a:lnTo>
                      <a:pt x="6943" y="306648"/>
                    </a:lnTo>
                    <a:lnTo>
                      <a:pt x="6992" y="306549"/>
                    </a:lnTo>
                    <a:lnTo>
                      <a:pt x="7091" y="306499"/>
                    </a:lnTo>
                    <a:lnTo>
                      <a:pt x="11257" y="306499"/>
                    </a:lnTo>
                    <a:close/>
                    <a:moveTo>
                      <a:pt x="11356" y="316468"/>
                    </a:moveTo>
                    <a:lnTo>
                      <a:pt x="11406" y="316567"/>
                    </a:lnTo>
                    <a:lnTo>
                      <a:pt x="11406" y="323213"/>
                    </a:lnTo>
                    <a:lnTo>
                      <a:pt x="11356" y="323312"/>
                    </a:lnTo>
                    <a:lnTo>
                      <a:pt x="11257" y="323362"/>
                    </a:lnTo>
                    <a:lnTo>
                      <a:pt x="7091" y="323362"/>
                    </a:lnTo>
                    <a:lnTo>
                      <a:pt x="6992" y="323312"/>
                    </a:lnTo>
                    <a:lnTo>
                      <a:pt x="6943" y="323213"/>
                    </a:lnTo>
                    <a:lnTo>
                      <a:pt x="6943" y="316567"/>
                    </a:lnTo>
                    <a:lnTo>
                      <a:pt x="6992" y="316468"/>
                    </a:lnTo>
                    <a:lnTo>
                      <a:pt x="7091" y="316418"/>
                    </a:lnTo>
                    <a:lnTo>
                      <a:pt x="11257" y="316418"/>
                    </a:lnTo>
                    <a:close/>
                    <a:moveTo>
                      <a:pt x="11356" y="326387"/>
                    </a:moveTo>
                    <a:lnTo>
                      <a:pt x="11406" y="326486"/>
                    </a:lnTo>
                    <a:lnTo>
                      <a:pt x="11406" y="333132"/>
                    </a:lnTo>
                    <a:lnTo>
                      <a:pt x="11356" y="333231"/>
                    </a:lnTo>
                    <a:lnTo>
                      <a:pt x="11257" y="333281"/>
                    </a:lnTo>
                    <a:lnTo>
                      <a:pt x="7091" y="333281"/>
                    </a:lnTo>
                    <a:lnTo>
                      <a:pt x="6992" y="333231"/>
                    </a:lnTo>
                    <a:lnTo>
                      <a:pt x="6943" y="333132"/>
                    </a:lnTo>
                    <a:lnTo>
                      <a:pt x="6943" y="326486"/>
                    </a:lnTo>
                    <a:lnTo>
                      <a:pt x="6992" y="326387"/>
                    </a:lnTo>
                    <a:lnTo>
                      <a:pt x="7091" y="326337"/>
                    </a:lnTo>
                    <a:lnTo>
                      <a:pt x="11257" y="326337"/>
                    </a:lnTo>
                    <a:close/>
                    <a:moveTo>
                      <a:pt x="11356" y="336306"/>
                    </a:moveTo>
                    <a:lnTo>
                      <a:pt x="11406" y="336405"/>
                    </a:lnTo>
                    <a:lnTo>
                      <a:pt x="11406" y="343051"/>
                    </a:lnTo>
                    <a:lnTo>
                      <a:pt x="11356" y="343150"/>
                    </a:lnTo>
                    <a:lnTo>
                      <a:pt x="11257" y="343200"/>
                    </a:lnTo>
                    <a:lnTo>
                      <a:pt x="7091" y="343200"/>
                    </a:lnTo>
                    <a:lnTo>
                      <a:pt x="6992" y="343150"/>
                    </a:lnTo>
                    <a:lnTo>
                      <a:pt x="6943" y="343051"/>
                    </a:lnTo>
                    <a:lnTo>
                      <a:pt x="6943" y="336405"/>
                    </a:lnTo>
                    <a:lnTo>
                      <a:pt x="6992" y="336306"/>
                    </a:lnTo>
                    <a:lnTo>
                      <a:pt x="7091" y="336256"/>
                    </a:lnTo>
                    <a:lnTo>
                      <a:pt x="11257" y="336256"/>
                    </a:lnTo>
                    <a:close/>
                    <a:moveTo>
                      <a:pt x="11356" y="346225"/>
                    </a:moveTo>
                    <a:lnTo>
                      <a:pt x="11406" y="346324"/>
                    </a:lnTo>
                    <a:lnTo>
                      <a:pt x="11406" y="352970"/>
                    </a:lnTo>
                    <a:lnTo>
                      <a:pt x="11356" y="353069"/>
                    </a:lnTo>
                    <a:lnTo>
                      <a:pt x="11257" y="353119"/>
                    </a:lnTo>
                    <a:lnTo>
                      <a:pt x="7091" y="353119"/>
                    </a:lnTo>
                    <a:lnTo>
                      <a:pt x="6992" y="353069"/>
                    </a:lnTo>
                    <a:lnTo>
                      <a:pt x="6943" y="352970"/>
                    </a:lnTo>
                    <a:lnTo>
                      <a:pt x="6943" y="346324"/>
                    </a:lnTo>
                    <a:lnTo>
                      <a:pt x="6992" y="346225"/>
                    </a:lnTo>
                    <a:lnTo>
                      <a:pt x="7091" y="346175"/>
                    </a:lnTo>
                    <a:lnTo>
                      <a:pt x="11257" y="346175"/>
                    </a:lnTo>
                    <a:close/>
                    <a:moveTo>
                      <a:pt x="11356" y="356144"/>
                    </a:moveTo>
                    <a:lnTo>
                      <a:pt x="11406" y="356243"/>
                    </a:lnTo>
                    <a:lnTo>
                      <a:pt x="11406" y="362889"/>
                    </a:lnTo>
                    <a:lnTo>
                      <a:pt x="11356" y="362988"/>
                    </a:lnTo>
                    <a:lnTo>
                      <a:pt x="11257" y="363038"/>
                    </a:lnTo>
                    <a:lnTo>
                      <a:pt x="7091" y="363038"/>
                    </a:lnTo>
                    <a:lnTo>
                      <a:pt x="6992" y="362988"/>
                    </a:lnTo>
                    <a:lnTo>
                      <a:pt x="6943" y="362889"/>
                    </a:lnTo>
                    <a:lnTo>
                      <a:pt x="6943" y="356243"/>
                    </a:lnTo>
                    <a:lnTo>
                      <a:pt x="6992" y="356144"/>
                    </a:lnTo>
                    <a:lnTo>
                      <a:pt x="7091" y="356095"/>
                    </a:lnTo>
                    <a:lnTo>
                      <a:pt x="11257" y="356095"/>
                    </a:lnTo>
                    <a:close/>
                    <a:moveTo>
                      <a:pt x="11356" y="366063"/>
                    </a:moveTo>
                    <a:lnTo>
                      <a:pt x="11406" y="366162"/>
                    </a:lnTo>
                    <a:lnTo>
                      <a:pt x="11406" y="372808"/>
                    </a:lnTo>
                    <a:lnTo>
                      <a:pt x="11356" y="372907"/>
                    </a:lnTo>
                    <a:lnTo>
                      <a:pt x="11257" y="372957"/>
                    </a:lnTo>
                    <a:lnTo>
                      <a:pt x="7091" y="372957"/>
                    </a:lnTo>
                    <a:lnTo>
                      <a:pt x="6992" y="372907"/>
                    </a:lnTo>
                    <a:lnTo>
                      <a:pt x="6943" y="372808"/>
                    </a:lnTo>
                    <a:lnTo>
                      <a:pt x="6943" y="366162"/>
                    </a:lnTo>
                    <a:lnTo>
                      <a:pt x="6992" y="366063"/>
                    </a:lnTo>
                    <a:lnTo>
                      <a:pt x="7091" y="366014"/>
                    </a:lnTo>
                    <a:lnTo>
                      <a:pt x="11257" y="366014"/>
                    </a:lnTo>
                    <a:close/>
                    <a:moveTo>
                      <a:pt x="11356" y="375982"/>
                    </a:moveTo>
                    <a:lnTo>
                      <a:pt x="11406" y="376081"/>
                    </a:lnTo>
                    <a:lnTo>
                      <a:pt x="11406" y="382727"/>
                    </a:lnTo>
                    <a:lnTo>
                      <a:pt x="11356" y="382826"/>
                    </a:lnTo>
                    <a:lnTo>
                      <a:pt x="11257" y="382876"/>
                    </a:lnTo>
                    <a:lnTo>
                      <a:pt x="7091" y="382876"/>
                    </a:lnTo>
                    <a:lnTo>
                      <a:pt x="6992" y="382826"/>
                    </a:lnTo>
                    <a:lnTo>
                      <a:pt x="6943" y="382727"/>
                    </a:lnTo>
                    <a:lnTo>
                      <a:pt x="6943" y="376081"/>
                    </a:lnTo>
                    <a:lnTo>
                      <a:pt x="6992" y="375982"/>
                    </a:lnTo>
                    <a:lnTo>
                      <a:pt x="7091" y="375933"/>
                    </a:lnTo>
                    <a:lnTo>
                      <a:pt x="11257" y="375933"/>
                    </a:lnTo>
                    <a:close/>
                    <a:moveTo>
                      <a:pt x="11356" y="385901"/>
                    </a:moveTo>
                    <a:lnTo>
                      <a:pt x="11406" y="386001"/>
                    </a:lnTo>
                    <a:lnTo>
                      <a:pt x="11406" y="392646"/>
                    </a:lnTo>
                    <a:lnTo>
                      <a:pt x="11356" y="392745"/>
                    </a:lnTo>
                    <a:lnTo>
                      <a:pt x="11257" y="392795"/>
                    </a:lnTo>
                    <a:lnTo>
                      <a:pt x="7091" y="392795"/>
                    </a:lnTo>
                    <a:lnTo>
                      <a:pt x="6992" y="392745"/>
                    </a:lnTo>
                    <a:lnTo>
                      <a:pt x="6943" y="392646"/>
                    </a:lnTo>
                    <a:lnTo>
                      <a:pt x="6943" y="386001"/>
                    </a:lnTo>
                    <a:lnTo>
                      <a:pt x="6992" y="385901"/>
                    </a:lnTo>
                    <a:lnTo>
                      <a:pt x="7091" y="385852"/>
                    </a:lnTo>
                    <a:lnTo>
                      <a:pt x="11257" y="385852"/>
                    </a:lnTo>
                    <a:close/>
                    <a:moveTo>
                      <a:pt x="11356" y="395820"/>
                    </a:moveTo>
                    <a:lnTo>
                      <a:pt x="11406" y="395920"/>
                    </a:lnTo>
                    <a:lnTo>
                      <a:pt x="11406" y="402565"/>
                    </a:lnTo>
                    <a:lnTo>
                      <a:pt x="11356" y="402665"/>
                    </a:lnTo>
                    <a:lnTo>
                      <a:pt x="11257" y="402714"/>
                    </a:lnTo>
                    <a:lnTo>
                      <a:pt x="7091" y="402714"/>
                    </a:lnTo>
                    <a:lnTo>
                      <a:pt x="6992" y="402665"/>
                    </a:lnTo>
                    <a:lnTo>
                      <a:pt x="6943" y="402565"/>
                    </a:lnTo>
                    <a:lnTo>
                      <a:pt x="6943" y="395920"/>
                    </a:lnTo>
                    <a:lnTo>
                      <a:pt x="6992" y="395820"/>
                    </a:lnTo>
                    <a:lnTo>
                      <a:pt x="7091" y="395771"/>
                    </a:lnTo>
                    <a:lnTo>
                      <a:pt x="11257" y="395771"/>
                    </a:lnTo>
                    <a:close/>
                    <a:moveTo>
                      <a:pt x="11356" y="405739"/>
                    </a:moveTo>
                    <a:lnTo>
                      <a:pt x="11406" y="405839"/>
                    </a:lnTo>
                    <a:lnTo>
                      <a:pt x="11406" y="412484"/>
                    </a:lnTo>
                    <a:lnTo>
                      <a:pt x="11356" y="412584"/>
                    </a:lnTo>
                    <a:lnTo>
                      <a:pt x="11257" y="412633"/>
                    </a:lnTo>
                    <a:lnTo>
                      <a:pt x="7091" y="412633"/>
                    </a:lnTo>
                    <a:lnTo>
                      <a:pt x="6992" y="412584"/>
                    </a:lnTo>
                    <a:lnTo>
                      <a:pt x="6943" y="412484"/>
                    </a:lnTo>
                    <a:lnTo>
                      <a:pt x="6943" y="405839"/>
                    </a:lnTo>
                    <a:lnTo>
                      <a:pt x="6992" y="405739"/>
                    </a:lnTo>
                    <a:lnTo>
                      <a:pt x="7091" y="405690"/>
                    </a:lnTo>
                    <a:lnTo>
                      <a:pt x="11257" y="405690"/>
                    </a:lnTo>
                    <a:close/>
                    <a:moveTo>
                      <a:pt x="11356" y="415659"/>
                    </a:moveTo>
                    <a:lnTo>
                      <a:pt x="11406" y="415758"/>
                    </a:lnTo>
                    <a:lnTo>
                      <a:pt x="11406" y="422404"/>
                    </a:lnTo>
                    <a:lnTo>
                      <a:pt x="11356" y="422503"/>
                    </a:lnTo>
                    <a:lnTo>
                      <a:pt x="11257" y="422552"/>
                    </a:lnTo>
                    <a:lnTo>
                      <a:pt x="7091" y="422552"/>
                    </a:lnTo>
                    <a:lnTo>
                      <a:pt x="6992" y="422503"/>
                    </a:lnTo>
                    <a:lnTo>
                      <a:pt x="6943" y="422404"/>
                    </a:lnTo>
                    <a:lnTo>
                      <a:pt x="6943" y="415758"/>
                    </a:lnTo>
                    <a:lnTo>
                      <a:pt x="6992" y="415659"/>
                    </a:lnTo>
                    <a:lnTo>
                      <a:pt x="7091" y="415609"/>
                    </a:lnTo>
                    <a:lnTo>
                      <a:pt x="11257" y="415609"/>
                    </a:lnTo>
                    <a:close/>
                    <a:moveTo>
                      <a:pt x="11356" y="425578"/>
                    </a:moveTo>
                    <a:lnTo>
                      <a:pt x="11406" y="425677"/>
                    </a:lnTo>
                    <a:lnTo>
                      <a:pt x="11406" y="432323"/>
                    </a:lnTo>
                    <a:lnTo>
                      <a:pt x="11356" y="432422"/>
                    </a:lnTo>
                    <a:lnTo>
                      <a:pt x="11257" y="432471"/>
                    </a:lnTo>
                    <a:lnTo>
                      <a:pt x="7091" y="432471"/>
                    </a:lnTo>
                    <a:lnTo>
                      <a:pt x="6992" y="432422"/>
                    </a:lnTo>
                    <a:lnTo>
                      <a:pt x="6943" y="432323"/>
                    </a:lnTo>
                    <a:lnTo>
                      <a:pt x="6943" y="425677"/>
                    </a:lnTo>
                    <a:lnTo>
                      <a:pt x="6992" y="425578"/>
                    </a:lnTo>
                    <a:lnTo>
                      <a:pt x="7091" y="425528"/>
                    </a:lnTo>
                    <a:lnTo>
                      <a:pt x="11257" y="425528"/>
                    </a:lnTo>
                    <a:close/>
                    <a:moveTo>
                      <a:pt x="11356" y="435497"/>
                    </a:moveTo>
                    <a:lnTo>
                      <a:pt x="11406" y="435596"/>
                    </a:lnTo>
                    <a:lnTo>
                      <a:pt x="11406" y="442242"/>
                    </a:lnTo>
                    <a:lnTo>
                      <a:pt x="11356" y="442341"/>
                    </a:lnTo>
                    <a:lnTo>
                      <a:pt x="11257" y="442390"/>
                    </a:lnTo>
                    <a:lnTo>
                      <a:pt x="7091" y="442390"/>
                    </a:lnTo>
                    <a:lnTo>
                      <a:pt x="6992" y="442341"/>
                    </a:lnTo>
                    <a:lnTo>
                      <a:pt x="6943" y="442242"/>
                    </a:lnTo>
                    <a:lnTo>
                      <a:pt x="6943" y="435596"/>
                    </a:lnTo>
                    <a:lnTo>
                      <a:pt x="6992" y="435497"/>
                    </a:lnTo>
                    <a:lnTo>
                      <a:pt x="7091" y="435447"/>
                    </a:lnTo>
                    <a:lnTo>
                      <a:pt x="11257" y="435447"/>
                    </a:lnTo>
                    <a:close/>
                    <a:moveTo>
                      <a:pt x="11356" y="445416"/>
                    </a:moveTo>
                    <a:lnTo>
                      <a:pt x="11406" y="445515"/>
                    </a:lnTo>
                    <a:lnTo>
                      <a:pt x="11406" y="452161"/>
                    </a:lnTo>
                    <a:lnTo>
                      <a:pt x="11356" y="452260"/>
                    </a:lnTo>
                    <a:lnTo>
                      <a:pt x="11257" y="452310"/>
                    </a:lnTo>
                    <a:lnTo>
                      <a:pt x="7091" y="452310"/>
                    </a:lnTo>
                    <a:lnTo>
                      <a:pt x="6992" y="452260"/>
                    </a:lnTo>
                    <a:lnTo>
                      <a:pt x="6943" y="452161"/>
                    </a:lnTo>
                    <a:lnTo>
                      <a:pt x="6943" y="445515"/>
                    </a:lnTo>
                    <a:lnTo>
                      <a:pt x="6992" y="445416"/>
                    </a:lnTo>
                    <a:lnTo>
                      <a:pt x="7091" y="445366"/>
                    </a:lnTo>
                    <a:lnTo>
                      <a:pt x="11257" y="445366"/>
                    </a:lnTo>
                    <a:close/>
                    <a:moveTo>
                      <a:pt x="11356" y="455335"/>
                    </a:moveTo>
                    <a:lnTo>
                      <a:pt x="11406" y="455434"/>
                    </a:lnTo>
                    <a:lnTo>
                      <a:pt x="11406" y="462080"/>
                    </a:lnTo>
                    <a:lnTo>
                      <a:pt x="11356" y="462179"/>
                    </a:lnTo>
                    <a:lnTo>
                      <a:pt x="11257" y="462229"/>
                    </a:lnTo>
                    <a:lnTo>
                      <a:pt x="7091" y="462229"/>
                    </a:lnTo>
                    <a:lnTo>
                      <a:pt x="6992" y="462179"/>
                    </a:lnTo>
                    <a:lnTo>
                      <a:pt x="6943" y="462080"/>
                    </a:lnTo>
                    <a:lnTo>
                      <a:pt x="6943" y="455434"/>
                    </a:lnTo>
                    <a:lnTo>
                      <a:pt x="6992" y="455335"/>
                    </a:lnTo>
                    <a:lnTo>
                      <a:pt x="7091" y="455285"/>
                    </a:lnTo>
                    <a:lnTo>
                      <a:pt x="11257" y="455285"/>
                    </a:lnTo>
                    <a:close/>
                    <a:moveTo>
                      <a:pt x="11356" y="465254"/>
                    </a:moveTo>
                    <a:lnTo>
                      <a:pt x="11406" y="465353"/>
                    </a:lnTo>
                    <a:lnTo>
                      <a:pt x="11406" y="471999"/>
                    </a:lnTo>
                    <a:lnTo>
                      <a:pt x="11356" y="472098"/>
                    </a:lnTo>
                    <a:lnTo>
                      <a:pt x="11257" y="472148"/>
                    </a:lnTo>
                    <a:lnTo>
                      <a:pt x="7091" y="472148"/>
                    </a:lnTo>
                    <a:lnTo>
                      <a:pt x="6992" y="472098"/>
                    </a:lnTo>
                    <a:lnTo>
                      <a:pt x="6943" y="471999"/>
                    </a:lnTo>
                    <a:lnTo>
                      <a:pt x="6943" y="465353"/>
                    </a:lnTo>
                    <a:lnTo>
                      <a:pt x="6992" y="465254"/>
                    </a:lnTo>
                    <a:lnTo>
                      <a:pt x="7091" y="465204"/>
                    </a:lnTo>
                    <a:lnTo>
                      <a:pt x="11257" y="465204"/>
                    </a:lnTo>
                    <a:close/>
                    <a:moveTo>
                      <a:pt x="11356" y="475173"/>
                    </a:moveTo>
                    <a:lnTo>
                      <a:pt x="11406" y="475272"/>
                    </a:lnTo>
                    <a:lnTo>
                      <a:pt x="11406" y="481918"/>
                    </a:lnTo>
                    <a:lnTo>
                      <a:pt x="11356" y="482017"/>
                    </a:lnTo>
                    <a:lnTo>
                      <a:pt x="11257" y="482067"/>
                    </a:lnTo>
                    <a:lnTo>
                      <a:pt x="7091" y="482067"/>
                    </a:lnTo>
                    <a:lnTo>
                      <a:pt x="6992" y="482017"/>
                    </a:lnTo>
                    <a:lnTo>
                      <a:pt x="6943" y="481918"/>
                    </a:lnTo>
                    <a:lnTo>
                      <a:pt x="6943" y="475272"/>
                    </a:lnTo>
                    <a:lnTo>
                      <a:pt x="6992" y="475173"/>
                    </a:lnTo>
                    <a:lnTo>
                      <a:pt x="7091" y="475123"/>
                    </a:lnTo>
                    <a:lnTo>
                      <a:pt x="11257" y="475123"/>
                    </a:lnTo>
                    <a:close/>
                    <a:moveTo>
                      <a:pt x="11356" y="485092"/>
                    </a:moveTo>
                    <a:lnTo>
                      <a:pt x="11406" y="485191"/>
                    </a:lnTo>
                    <a:lnTo>
                      <a:pt x="11406" y="491837"/>
                    </a:lnTo>
                    <a:lnTo>
                      <a:pt x="11356" y="491936"/>
                    </a:lnTo>
                    <a:lnTo>
                      <a:pt x="11257" y="491986"/>
                    </a:lnTo>
                    <a:lnTo>
                      <a:pt x="7091" y="491986"/>
                    </a:lnTo>
                    <a:lnTo>
                      <a:pt x="6992" y="491936"/>
                    </a:lnTo>
                    <a:lnTo>
                      <a:pt x="6943" y="491837"/>
                    </a:lnTo>
                    <a:lnTo>
                      <a:pt x="6943" y="485191"/>
                    </a:lnTo>
                    <a:lnTo>
                      <a:pt x="6992" y="485092"/>
                    </a:lnTo>
                    <a:lnTo>
                      <a:pt x="7091" y="485042"/>
                    </a:lnTo>
                    <a:lnTo>
                      <a:pt x="11257" y="485042"/>
                    </a:lnTo>
                    <a:close/>
                    <a:moveTo>
                      <a:pt x="11356" y="495011"/>
                    </a:moveTo>
                    <a:lnTo>
                      <a:pt x="11406" y="495110"/>
                    </a:lnTo>
                    <a:lnTo>
                      <a:pt x="11406" y="501756"/>
                    </a:lnTo>
                    <a:lnTo>
                      <a:pt x="11356" y="501855"/>
                    </a:lnTo>
                    <a:lnTo>
                      <a:pt x="11257" y="501905"/>
                    </a:lnTo>
                    <a:lnTo>
                      <a:pt x="7091" y="501905"/>
                    </a:lnTo>
                    <a:lnTo>
                      <a:pt x="6992" y="501855"/>
                    </a:lnTo>
                    <a:lnTo>
                      <a:pt x="6943" y="501756"/>
                    </a:lnTo>
                    <a:lnTo>
                      <a:pt x="6943" y="495110"/>
                    </a:lnTo>
                    <a:lnTo>
                      <a:pt x="6992" y="495011"/>
                    </a:lnTo>
                    <a:lnTo>
                      <a:pt x="7091" y="494962"/>
                    </a:lnTo>
                    <a:lnTo>
                      <a:pt x="11257" y="494962"/>
                    </a:lnTo>
                    <a:close/>
                    <a:moveTo>
                      <a:pt x="11356" y="504930"/>
                    </a:moveTo>
                    <a:lnTo>
                      <a:pt x="11406" y="505029"/>
                    </a:lnTo>
                    <a:lnTo>
                      <a:pt x="11406" y="511675"/>
                    </a:lnTo>
                    <a:lnTo>
                      <a:pt x="11356" y="511774"/>
                    </a:lnTo>
                    <a:lnTo>
                      <a:pt x="11257" y="511824"/>
                    </a:lnTo>
                    <a:lnTo>
                      <a:pt x="7091" y="511824"/>
                    </a:lnTo>
                    <a:lnTo>
                      <a:pt x="6992" y="511774"/>
                    </a:lnTo>
                    <a:lnTo>
                      <a:pt x="6943" y="511675"/>
                    </a:lnTo>
                    <a:lnTo>
                      <a:pt x="6943" y="505029"/>
                    </a:lnTo>
                    <a:lnTo>
                      <a:pt x="6992" y="504930"/>
                    </a:lnTo>
                    <a:lnTo>
                      <a:pt x="7091" y="504881"/>
                    </a:lnTo>
                    <a:lnTo>
                      <a:pt x="11257" y="504881"/>
                    </a:lnTo>
                    <a:close/>
                    <a:moveTo>
                      <a:pt x="11356" y="514849"/>
                    </a:moveTo>
                    <a:lnTo>
                      <a:pt x="11406" y="514948"/>
                    </a:lnTo>
                    <a:lnTo>
                      <a:pt x="11406" y="521594"/>
                    </a:lnTo>
                    <a:lnTo>
                      <a:pt x="11356" y="521693"/>
                    </a:lnTo>
                    <a:lnTo>
                      <a:pt x="11257" y="521743"/>
                    </a:lnTo>
                    <a:lnTo>
                      <a:pt x="7091" y="521743"/>
                    </a:lnTo>
                    <a:lnTo>
                      <a:pt x="6992" y="521693"/>
                    </a:lnTo>
                    <a:lnTo>
                      <a:pt x="6943" y="521594"/>
                    </a:lnTo>
                    <a:lnTo>
                      <a:pt x="6943" y="514948"/>
                    </a:lnTo>
                    <a:lnTo>
                      <a:pt x="6992" y="514849"/>
                    </a:lnTo>
                    <a:lnTo>
                      <a:pt x="7091" y="514800"/>
                    </a:lnTo>
                    <a:lnTo>
                      <a:pt x="11257" y="514800"/>
                    </a:lnTo>
                    <a:close/>
                    <a:moveTo>
                      <a:pt x="11356" y="524768"/>
                    </a:moveTo>
                    <a:lnTo>
                      <a:pt x="11406" y="524868"/>
                    </a:lnTo>
                    <a:lnTo>
                      <a:pt x="11406" y="531513"/>
                    </a:lnTo>
                    <a:lnTo>
                      <a:pt x="11356" y="531613"/>
                    </a:lnTo>
                    <a:lnTo>
                      <a:pt x="11257" y="531662"/>
                    </a:lnTo>
                    <a:lnTo>
                      <a:pt x="7091" y="531662"/>
                    </a:lnTo>
                    <a:lnTo>
                      <a:pt x="6992" y="531613"/>
                    </a:lnTo>
                    <a:lnTo>
                      <a:pt x="6943" y="531513"/>
                    </a:lnTo>
                    <a:lnTo>
                      <a:pt x="6943" y="524868"/>
                    </a:lnTo>
                    <a:lnTo>
                      <a:pt x="6992" y="524768"/>
                    </a:lnTo>
                    <a:lnTo>
                      <a:pt x="7091" y="524719"/>
                    </a:lnTo>
                    <a:lnTo>
                      <a:pt x="11257" y="524719"/>
                    </a:lnTo>
                    <a:close/>
                    <a:moveTo>
                      <a:pt x="11356" y="534687"/>
                    </a:moveTo>
                    <a:lnTo>
                      <a:pt x="11406" y="534787"/>
                    </a:lnTo>
                    <a:lnTo>
                      <a:pt x="11406" y="541432"/>
                    </a:lnTo>
                    <a:lnTo>
                      <a:pt x="11356" y="541532"/>
                    </a:lnTo>
                    <a:lnTo>
                      <a:pt x="11257" y="541581"/>
                    </a:lnTo>
                    <a:lnTo>
                      <a:pt x="7091" y="541581"/>
                    </a:lnTo>
                    <a:lnTo>
                      <a:pt x="6992" y="541532"/>
                    </a:lnTo>
                    <a:lnTo>
                      <a:pt x="6943" y="541432"/>
                    </a:lnTo>
                    <a:lnTo>
                      <a:pt x="6943" y="534787"/>
                    </a:lnTo>
                    <a:lnTo>
                      <a:pt x="6992" y="534687"/>
                    </a:lnTo>
                    <a:lnTo>
                      <a:pt x="7091" y="534638"/>
                    </a:lnTo>
                    <a:lnTo>
                      <a:pt x="11257" y="534638"/>
                    </a:lnTo>
                    <a:close/>
                    <a:moveTo>
                      <a:pt x="11356" y="544607"/>
                    </a:moveTo>
                    <a:lnTo>
                      <a:pt x="11406" y="544706"/>
                    </a:lnTo>
                    <a:lnTo>
                      <a:pt x="11406" y="551351"/>
                    </a:lnTo>
                    <a:lnTo>
                      <a:pt x="11356" y="551451"/>
                    </a:lnTo>
                    <a:lnTo>
                      <a:pt x="11257" y="551500"/>
                    </a:lnTo>
                    <a:lnTo>
                      <a:pt x="7091" y="551500"/>
                    </a:lnTo>
                    <a:lnTo>
                      <a:pt x="6992" y="551451"/>
                    </a:lnTo>
                    <a:lnTo>
                      <a:pt x="6943" y="551351"/>
                    </a:lnTo>
                    <a:lnTo>
                      <a:pt x="6943" y="544706"/>
                    </a:lnTo>
                    <a:lnTo>
                      <a:pt x="6992" y="544607"/>
                    </a:lnTo>
                    <a:lnTo>
                      <a:pt x="7091" y="544557"/>
                    </a:lnTo>
                    <a:lnTo>
                      <a:pt x="11257" y="544557"/>
                    </a:lnTo>
                    <a:close/>
                    <a:moveTo>
                      <a:pt x="11356" y="554526"/>
                    </a:moveTo>
                    <a:lnTo>
                      <a:pt x="11406" y="554625"/>
                    </a:lnTo>
                    <a:lnTo>
                      <a:pt x="11406" y="561271"/>
                    </a:lnTo>
                    <a:lnTo>
                      <a:pt x="11356" y="561370"/>
                    </a:lnTo>
                    <a:lnTo>
                      <a:pt x="11257" y="561419"/>
                    </a:lnTo>
                    <a:lnTo>
                      <a:pt x="7091" y="561419"/>
                    </a:lnTo>
                    <a:lnTo>
                      <a:pt x="6992" y="561370"/>
                    </a:lnTo>
                    <a:lnTo>
                      <a:pt x="6943" y="561271"/>
                    </a:lnTo>
                    <a:lnTo>
                      <a:pt x="6943" y="554625"/>
                    </a:lnTo>
                    <a:lnTo>
                      <a:pt x="6992" y="554526"/>
                    </a:lnTo>
                    <a:lnTo>
                      <a:pt x="7091" y="554476"/>
                    </a:lnTo>
                    <a:lnTo>
                      <a:pt x="11257" y="554476"/>
                    </a:lnTo>
                    <a:close/>
                    <a:moveTo>
                      <a:pt x="11356" y="564445"/>
                    </a:moveTo>
                    <a:lnTo>
                      <a:pt x="11406" y="564544"/>
                    </a:lnTo>
                    <a:lnTo>
                      <a:pt x="11406" y="571190"/>
                    </a:lnTo>
                    <a:lnTo>
                      <a:pt x="11356" y="571289"/>
                    </a:lnTo>
                    <a:lnTo>
                      <a:pt x="11257" y="571338"/>
                    </a:lnTo>
                    <a:lnTo>
                      <a:pt x="7091" y="571338"/>
                    </a:lnTo>
                    <a:lnTo>
                      <a:pt x="6992" y="571289"/>
                    </a:lnTo>
                    <a:lnTo>
                      <a:pt x="6943" y="571190"/>
                    </a:lnTo>
                    <a:lnTo>
                      <a:pt x="6943" y="564544"/>
                    </a:lnTo>
                    <a:lnTo>
                      <a:pt x="6992" y="564445"/>
                    </a:lnTo>
                    <a:lnTo>
                      <a:pt x="7091" y="564395"/>
                    </a:lnTo>
                    <a:lnTo>
                      <a:pt x="11257" y="564395"/>
                    </a:lnTo>
                    <a:close/>
                    <a:moveTo>
                      <a:pt x="11356" y="574364"/>
                    </a:moveTo>
                    <a:lnTo>
                      <a:pt x="11406" y="574463"/>
                    </a:lnTo>
                    <a:lnTo>
                      <a:pt x="11406" y="581109"/>
                    </a:lnTo>
                    <a:lnTo>
                      <a:pt x="11356" y="581208"/>
                    </a:lnTo>
                    <a:lnTo>
                      <a:pt x="11257" y="581257"/>
                    </a:lnTo>
                    <a:lnTo>
                      <a:pt x="7091" y="581257"/>
                    </a:lnTo>
                    <a:lnTo>
                      <a:pt x="6992" y="581208"/>
                    </a:lnTo>
                    <a:lnTo>
                      <a:pt x="6943" y="581109"/>
                    </a:lnTo>
                    <a:lnTo>
                      <a:pt x="6943" y="574463"/>
                    </a:lnTo>
                    <a:lnTo>
                      <a:pt x="6992" y="574364"/>
                    </a:lnTo>
                    <a:lnTo>
                      <a:pt x="7091" y="574314"/>
                    </a:lnTo>
                    <a:lnTo>
                      <a:pt x="11257" y="574314"/>
                    </a:lnTo>
                    <a:close/>
                    <a:moveTo>
                      <a:pt x="11356" y="584283"/>
                    </a:moveTo>
                    <a:lnTo>
                      <a:pt x="11406" y="584382"/>
                    </a:lnTo>
                    <a:lnTo>
                      <a:pt x="11406" y="591028"/>
                    </a:lnTo>
                    <a:lnTo>
                      <a:pt x="11356" y="591127"/>
                    </a:lnTo>
                    <a:lnTo>
                      <a:pt x="11257" y="591177"/>
                    </a:lnTo>
                    <a:lnTo>
                      <a:pt x="7091" y="591177"/>
                    </a:lnTo>
                    <a:lnTo>
                      <a:pt x="6992" y="591127"/>
                    </a:lnTo>
                    <a:lnTo>
                      <a:pt x="6943" y="591028"/>
                    </a:lnTo>
                    <a:lnTo>
                      <a:pt x="6943" y="584382"/>
                    </a:lnTo>
                    <a:lnTo>
                      <a:pt x="6992" y="584283"/>
                    </a:lnTo>
                    <a:lnTo>
                      <a:pt x="7091" y="584233"/>
                    </a:lnTo>
                    <a:lnTo>
                      <a:pt x="11257" y="584233"/>
                    </a:lnTo>
                    <a:close/>
                    <a:moveTo>
                      <a:pt x="11356" y="594202"/>
                    </a:moveTo>
                    <a:lnTo>
                      <a:pt x="11406" y="594301"/>
                    </a:lnTo>
                    <a:lnTo>
                      <a:pt x="11406" y="600947"/>
                    </a:lnTo>
                    <a:lnTo>
                      <a:pt x="11356" y="601046"/>
                    </a:lnTo>
                    <a:lnTo>
                      <a:pt x="11257" y="601096"/>
                    </a:lnTo>
                    <a:lnTo>
                      <a:pt x="7091" y="601096"/>
                    </a:lnTo>
                    <a:lnTo>
                      <a:pt x="6992" y="601046"/>
                    </a:lnTo>
                    <a:lnTo>
                      <a:pt x="6943" y="600947"/>
                    </a:lnTo>
                    <a:lnTo>
                      <a:pt x="6943" y="594301"/>
                    </a:lnTo>
                    <a:lnTo>
                      <a:pt x="6992" y="594202"/>
                    </a:lnTo>
                    <a:lnTo>
                      <a:pt x="7091" y="594152"/>
                    </a:lnTo>
                    <a:lnTo>
                      <a:pt x="11257" y="594152"/>
                    </a:lnTo>
                    <a:close/>
                    <a:moveTo>
                      <a:pt x="11356" y="604121"/>
                    </a:moveTo>
                    <a:lnTo>
                      <a:pt x="11406" y="604220"/>
                    </a:lnTo>
                    <a:lnTo>
                      <a:pt x="11406" y="610866"/>
                    </a:lnTo>
                    <a:lnTo>
                      <a:pt x="11356" y="610965"/>
                    </a:lnTo>
                    <a:lnTo>
                      <a:pt x="11257" y="611015"/>
                    </a:lnTo>
                    <a:lnTo>
                      <a:pt x="7091" y="611015"/>
                    </a:lnTo>
                    <a:lnTo>
                      <a:pt x="6992" y="610965"/>
                    </a:lnTo>
                    <a:lnTo>
                      <a:pt x="6943" y="610866"/>
                    </a:lnTo>
                    <a:lnTo>
                      <a:pt x="6943" y="604220"/>
                    </a:lnTo>
                    <a:lnTo>
                      <a:pt x="6992" y="604121"/>
                    </a:lnTo>
                    <a:lnTo>
                      <a:pt x="7091" y="604071"/>
                    </a:lnTo>
                    <a:lnTo>
                      <a:pt x="11257" y="604071"/>
                    </a:lnTo>
                    <a:close/>
                    <a:moveTo>
                      <a:pt x="11356" y="614040"/>
                    </a:moveTo>
                    <a:lnTo>
                      <a:pt x="11406" y="614139"/>
                    </a:lnTo>
                    <a:lnTo>
                      <a:pt x="11406" y="620785"/>
                    </a:lnTo>
                    <a:lnTo>
                      <a:pt x="11356" y="620884"/>
                    </a:lnTo>
                    <a:lnTo>
                      <a:pt x="11257" y="620934"/>
                    </a:lnTo>
                    <a:lnTo>
                      <a:pt x="7091" y="620934"/>
                    </a:lnTo>
                    <a:lnTo>
                      <a:pt x="6992" y="620884"/>
                    </a:lnTo>
                    <a:lnTo>
                      <a:pt x="6943" y="620785"/>
                    </a:lnTo>
                    <a:lnTo>
                      <a:pt x="6943" y="614139"/>
                    </a:lnTo>
                    <a:lnTo>
                      <a:pt x="6992" y="614040"/>
                    </a:lnTo>
                    <a:lnTo>
                      <a:pt x="7091" y="613990"/>
                    </a:lnTo>
                    <a:lnTo>
                      <a:pt x="11257" y="613990"/>
                    </a:lnTo>
                    <a:close/>
                    <a:moveTo>
                      <a:pt x="11356" y="623959"/>
                    </a:moveTo>
                    <a:lnTo>
                      <a:pt x="11406" y="624058"/>
                    </a:lnTo>
                    <a:lnTo>
                      <a:pt x="11406" y="628373"/>
                    </a:lnTo>
                    <a:lnTo>
                      <a:pt x="11356" y="628472"/>
                    </a:lnTo>
                    <a:lnTo>
                      <a:pt x="11257" y="628522"/>
                    </a:lnTo>
                    <a:lnTo>
                      <a:pt x="7091" y="628522"/>
                    </a:lnTo>
                    <a:lnTo>
                      <a:pt x="6992" y="628472"/>
                    </a:lnTo>
                    <a:lnTo>
                      <a:pt x="6943" y="628373"/>
                    </a:lnTo>
                    <a:lnTo>
                      <a:pt x="6943" y="624058"/>
                    </a:lnTo>
                    <a:lnTo>
                      <a:pt x="6992" y="623959"/>
                    </a:lnTo>
                    <a:lnTo>
                      <a:pt x="7091" y="623910"/>
                    </a:lnTo>
                    <a:lnTo>
                      <a:pt x="11257" y="623910"/>
                    </a:lnTo>
                    <a:close/>
                    <a:moveTo>
                      <a:pt x="6893" y="168351"/>
                    </a:moveTo>
                    <a:lnTo>
                      <a:pt x="6943" y="168450"/>
                    </a:lnTo>
                    <a:lnTo>
                      <a:pt x="6943" y="206837"/>
                    </a:lnTo>
                    <a:lnTo>
                      <a:pt x="6893" y="206936"/>
                    </a:lnTo>
                    <a:lnTo>
                      <a:pt x="6794" y="206986"/>
                    </a:lnTo>
                    <a:lnTo>
                      <a:pt x="149" y="206986"/>
                    </a:lnTo>
                    <a:lnTo>
                      <a:pt x="25" y="206936"/>
                    </a:lnTo>
                    <a:lnTo>
                      <a:pt x="0" y="206837"/>
                    </a:lnTo>
                    <a:lnTo>
                      <a:pt x="0" y="168450"/>
                    </a:lnTo>
                    <a:lnTo>
                      <a:pt x="25" y="168351"/>
                    </a:lnTo>
                    <a:lnTo>
                      <a:pt x="149" y="168302"/>
                    </a:lnTo>
                    <a:lnTo>
                      <a:pt x="6794" y="168302"/>
                    </a:lnTo>
                    <a:close/>
                    <a:moveTo>
                      <a:pt x="6893" y="49"/>
                    </a:moveTo>
                    <a:lnTo>
                      <a:pt x="6943" y="149"/>
                    </a:lnTo>
                    <a:lnTo>
                      <a:pt x="6943" y="168153"/>
                    </a:lnTo>
                    <a:lnTo>
                      <a:pt x="6893" y="168252"/>
                    </a:lnTo>
                    <a:lnTo>
                      <a:pt x="6794" y="168302"/>
                    </a:lnTo>
                    <a:lnTo>
                      <a:pt x="149" y="168302"/>
                    </a:lnTo>
                    <a:lnTo>
                      <a:pt x="25" y="168252"/>
                    </a:lnTo>
                    <a:lnTo>
                      <a:pt x="0" y="168153"/>
                    </a:lnTo>
                    <a:lnTo>
                      <a:pt x="0" y="149"/>
                    </a:lnTo>
                    <a:lnTo>
                      <a:pt x="25" y="49"/>
                    </a:lnTo>
                    <a:lnTo>
                      <a:pt x="149" y="0"/>
                    </a:lnTo>
                    <a:lnTo>
                      <a:pt x="6794" y="0"/>
                    </a:lnTo>
                    <a:close/>
                    <a:moveTo>
                      <a:pt x="6893" y="207036"/>
                    </a:moveTo>
                    <a:lnTo>
                      <a:pt x="6943" y="207135"/>
                    </a:lnTo>
                    <a:lnTo>
                      <a:pt x="6943" y="628373"/>
                    </a:lnTo>
                    <a:lnTo>
                      <a:pt x="6893" y="628472"/>
                    </a:lnTo>
                    <a:lnTo>
                      <a:pt x="6794" y="628522"/>
                    </a:lnTo>
                    <a:lnTo>
                      <a:pt x="1388" y="628522"/>
                    </a:lnTo>
                    <a:lnTo>
                      <a:pt x="1289" y="628472"/>
                    </a:lnTo>
                    <a:lnTo>
                      <a:pt x="1240" y="628373"/>
                    </a:lnTo>
                    <a:lnTo>
                      <a:pt x="1240" y="207135"/>
                    </a:lnTo>
                    <a:lnTo>
                      <a:pt x="1289" y="207036"/>
                    </a:lnTo>
                    <a:lnTo>
                      <a:pt x="1388" y="206986"/>
                    </a:lnTo>
                    <a:lnTo>
                      <a:pt x="6794" y="206986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8" name="墙_V15_Concealed_Door_Leaf">
                <a:extLst>
                  <a:ext uri="{FF2B5EF4-FFF2-40B4-BE49-F238E27FC236}">
                    <a16:creationId xmlns:a16="http://schemas.microsoft.com/office/drawing/2014/main" id="{8D731464-C3FB-3C24-D5F1-3ED6884EFEF6}"/>
                  </a:ext>
                </a:extLst>
              </p:cNvPr>
              <p:cNvSpPr/>
              <p:nvPr/>
            </p:nvSpPr>
            <p:spPr>
              <a:xfrm>
                <a:off x="1318817" y="3711688"/>
                <a:ext cx="10166" cy="248969"/>
              </a:xfrm>
              <a:custGeom>
                <a:avLst/>
                <a:gdLst/>
                <a:ahLst/>
                <a:cxnLst/>
                <a:rect l="l" t="t" r="r" b="b"/>
                <a:pathLst>
                  <a:path w="10166" h="248969">
                    <a:moveTo>
                      <a:pt x="10116" y="50"/>
                    </a:moveTo>
                    <a:lnTo>
                      <a:pt x="10166" y="149"/>
                    </a:lnTo>
                    <a:lnTo>
                      <a:pt x="10166" y="2331"/>
                    </a:lnTo>
                    <a:lnTo>
                      <a:pt x="10116" y="2430"/>
                    </a:lnTo>
                    <a:lnTo>
                      <a:pt x="10017" y="2480"/>
                    </a:lnTo>
                    <a:lnTo>
                      <a:pt x="5851" y="2480"/>
                    </a:lnTo>
                    <a:lnTo>
                      <a:pt x="5752" y="2430"/>
                    </a:lnTo>
                    <a:lnTo>
                      <a:pt x="5703" y="2331"/>
                    </a:lnTo>
                    <a:lnTo>
                      <a:pt x="5703" y="149"/>
                    </a:lnTo>
                    <a:lnTo>
                      <a:pt x="5752" y="50"/>
                    </a:lnTo>
                    <a:lnTo>
                      <a:pt x="5851" y="0"/>
                    </a:lnTo>
                    <a:lnTo>
                      <a:pt x="10017" y="0"/>
                    </a:lnTo>
                    <a:close/>
                    <a:moveTo>
                      <a:pt x="10116" y="5505"/>
                    </a:moveTo>
                    <a:lnTo>
                      <a:pt x="10166" y="5604"/>
                    </a:lnTo>
                    <a:lnTo>
                      <a:pt x="10166" y="12250"/>
                    </a:lnTo>
                    <a:lnTo>
                      <a:pt x="10116" y="12349"/>
                    </a:lnTo>
                    <a:lnTo>
                      <a:pt x="10017" y="12399"/>
                    </a:lnTo>
                    <a:lnTo>
                      <a:pt x="5851" y="12399"/>
                    </a:lnTo>
                    <a:lnTo>
                      <a:pt x="5752" y="12349"/>
                    </a:lnTo>
                    <a:lnTo>
                      <a:pt x="5703" y="12250"/>
                    </a:lnTo>
                    <a:lnTo>
                      <a:pt x="5703" y="5604"/>
                    </a:lnTo>
                    <a:lnTo>
                      <a:pt x="5752" y="5505"/>
                    </a:lnTo>
                    <a:lnTo>
                      <a:pt x="5851" y="5456"/>
                    </a:lnTo>
                    <a:lnTo>
                      <a:pt x="10017" y="5456"/>
                    </a:lnTo>
                    <a:close/>
                    <a:moveTo>
                      <a:pt x="10116" y="15424"/>
                    </a:moveTo>
                    <a:lnTo>
                      <a:pt x="10166" y="15523"/>
                    </a:lnTo>
                    <a:lnTo>
                      <a:pt x="10166" y="22169"/>
                    </a:lnTo>
                    <a:lnTo>
                      <a:pt x="10116" y="22268"/>
                    </a:lnTo>
                    <a:lnTo>
                      <a:pt x="10017" y="22318"/>
                    </a:lnTo>
                    <a:lnTo>
                      <a:pt x="5851" y="22318"/>
                    </a:lnTo>
                    <a:lnTo>
                      <a:pt x="5752" y="22268"/>
                    </a:lnTo>
                    <a:lnTo>
                      <a:pt x="5703" y="22169"/>
                    </a:lnTo>
                    <a:lnTo>
                      <a:pt x="5703" y="15523"/>
                    </a:lnTo>
                    <a:lnTo>
                      <a:pt x="5752" y="15424"/>
                    </a:lnTo>
                    <a:lnTo>
                      <a:pt x="5851" y="15375"/>
                    </a:lnTo>
                    <a:lnTo>
                      <a:pt x="10017" y="15375"/>
                    </a:lnTo>
                    <a:close/>
                    <a:moveTo>
                      <a:pt x="10116" y="25343"/>
                    </a:moveTo>
                    <a:lnTo>
                      <a:pt x="10166" y="25443"/>
                    </a:lnTo>
                    <a:lnTo>
                      <a:pt x="10166" y="32088"/>
                    </a:lnTo>
                    <a:lnTo>
                      <a:pt x="10116" y="32187"/>
                    </a:lnTo>
                    <a:lnTo>
                      <a:pt x="10017" y="32237"/>
                    </a:lnTo>
                    <a:lnTo>
                      <a:pt x="5851" y="32237"/>
                    </a:lnTo>
                    <a:lnTo>
                      <a:pt x="5752" y="32187"/>
                    </a:lnTo>
                    <a:lnTo>
                      <a:pt x="5703" y="32088"/>
                    </a:lnTo>
                    <a:lnTo>
                      <a:pt x="5703" y="25443"/>
                    </a:lnTo>
                    <a:lnTo>
                      <a:pt x="5752" y="25343"/>
                    </a:lnTo>
                    <a:lnTo>
                      <a:pt x="5851" y="25294"/>
                    </a:lnTo>
                    <a:lnTo>
                      <a:pt x="10017" y="25294"/>
                    </a:lnTo>
                    <a:close/>
                    <a:moveTo>
                      <a:pt x="10116" y="35262"/>
                    </a:moveTo>
                    <a:lnTo>
                      <a:pt x="10166" y="35362"/>
                    </a:lnTo>
                    <a:lnTo>
                      <a:pt x="10166" y="42007"/>
                    </a:lnTo>
                    <a:lnTo>
                      <a:pt x="10116" y="42107"/>
                    </a:lnTo>
                    <a:lnTo>
                      <a:pt x="10017" y="42156"/>
                    </a:lnTo>
                    <a:lnTo>
                      <a:pt x="5851" y="42156"/>
                    </a:lnTo>
                    <a:lnTo>
                      <a:pt x="5752" y="42107"/>
                    </a:lnTo>
                    <a:lnTo>
                      <a:pt x="5703" y="42007"/>
                    </a:lnTo>
                    <a:lnTo>
                      <a:pt x="5703" y="35362"/>
                    </a:lnTo>
                    <a:lnTo>
                      <a:pt x="5752" y="35262"/>
                    </a:lnTo>
                    <a:lnTo>
                      <a:pt x="5851" y="35213"/>
                    </a:lnTo>
                    <a:lnTo>
                      <a:pt x="10017" y="35213"/>
                    </a:lnTo>
                    <a:close/>
                    <a:moveTo>
                      <a:pt x="10116" y="45181"/>
                    </a:moveTo>
                    <a:lnTo>
                      <a:pt x="10166" y="45281"/>
                    </a:lnTo>
                    <a:lnTo>
                      <a:pt x="10166" y="51926"/>
                    </a:lnTo>
                    <a:lnTo>
                      <a:pt x="10116" y="52026"/>
                    </a:lnTo>
                    <a:lnTo>
                      <a:pt x="10017" y="52075"/>
                    </a:lnTo>
                    <a:lnTo>
                      <a:pt x="5851" y="52075"/>
                    </a:lnTo>
                    <a:lnTo>
                      <a:pt x="5752" y="52026"/>
                    </a:lnTo>
                    <a:lnTo>
                      <a:pt x="5703" y="51926"/>
                    </a:lnTo>
                    <a:lnTo>
                      <a:pt x="5703" y="45281"/>
                    </a:lnTo>
                    <a:lnTo>
                      <a:pt x="5752" y="45181"/>
                    </a:lnTo>
                    <a:lnTo>
                      <a:pt x="5851" y="45132"/>
                    </a:lnTo>
                    <a:lnTo>
                      <a:pt x="10017" y="45132"/>
                    </a:lnTo>
                    <a:close/>
                    <a:moveTo>
                      <a:pt x="10116" y="55101"/>
                    </a:moveTo>
                    <a:lnTo>
                      <a:pt x="10166" y="55200"/>
                    </a:lnTo>
                    <a:lnTo>
                      <a:pt x="10166" y="61846"/>
                    </a:lnTo>
                    <a:lnTo>
                      <a:pt x="10116" y="61945"/>
                    </a:lnTo>
                    <a:lnTo>
                      <a:pt x="10017" y="61994"/>
                    </a:lnTo>
                    <a:lnTo>
                      <a:pt x="5851" y="61994"/>
                    </a:lnTo>
                    <a:lnTo>
                      <a:pt x="5752" y="61945"/>
                    </a:lnTo>
                    <a:lnTo>
                      <a:pt x="5703" y="61846"/>
                    </a:lnTo>
                    <a:lnTo>
                      <a:pt x="5703" y="55200"/>
                    </a:lnTo>
                    <a:lnTo>
                      <a:pt x="5752" y="55101"/>
                    </a:lnTo>
                    <a:lnTo>
                      <a:pt x="5851" y="55051"/>
                    </a:lnTo>
                    <a:lnTo>
                      <a:pt x="10017" y="55051"/>
                    </a:lnTo>
                    <a:close/>
                    <a:moveTo>
                      <a:pt x="10116" y="65020"/>
                    </a:moveTo>
                    <a:lnTo>
                      <a:pt x="10166" y="65119"/>
                    </a:lnTo>
                    <a:lnTo>
                      <a:pt x="10166" y="71765"/>
                    </a:lnTo>
                    <a:lnTo>
                      <a:pt x="10116" y="71864"/>
                    </a:lnTo>
                    <a:lnTo>
                      <a:pt x="10017" y="71913"/>
                    </a:lnTo>
                    <a:lnTo>
                      <a:pt x="5851" y="71913"/>
                    </a:lnTo>
                    <a:lnTo>
                      <a:pt x="5752" y="71864"/>
                    </a:lnTo>
                    <a:lnTo>
                      <a:pt x="5703" y="71765"/>
                    </a:lnTo>
                    <a:lnTo>
                      <a:pt x="5703" y="65119"/>
                    </a:lnTo>
                    <a:lnTo>
                      <a:pt x="5752" y="65020"/>
                    </a:lnTo>
                    <a:lnTo>
                      <a:pt x="5851" y="64970"/>
                    </a:lnTo>
                    <a:lnTo>
                      <a:pt x="10017" y="64970"/>
                    </a:lnTo>
                    <a:close/>
                    <a:moveTo>
                      <a:pt x="10116" y="74939"/>
                    </a:moveTo>
                    <a:lnTo>
                      <a:pt x="10166" y="75038"/>
                    </a:lnTo>
                    <a:lnTo>
                      <a:pt x="10166" y="81684"/>
                    </a:lnTo>
                    <a:lnTo>
                      <a:pt x="10116" y="81783"/>
                    </a:lnTo>
                    <a:lnTo>
                      <a:pt x="10017" y="81832"/>
                    </a:lnTo>
                    <a:lnTo>
                      <a:pt x="5851" y="81832"/>
                    </a:lnTo>
                    <a:lnTo>
                      <a:pt x="5752" y="81783"/>
                    </a:lnTo>
                    <a:lnTo>
                      <a:pt x="5703" y="81684"/>
                    </a:lnTo>
                    <a:lnTo>
                      <a:pt x="5703" y="75038"/>
                    </a:lnTo>
                    <a:lnTo>
                      <a:pt x="5752" y="74939"/>
                    </a:lnTo>
                    <a:lnTo>
                      <a:pt x="5851" y="74889"/>
                    </a:lnTo>
                    <a:lnTo>
                      <a:pt x="10017" y="74889"/>
                    </a:lnTo>
                    <a:close/>
                    <a:moveTo>
                      <a:pt x="10116" y="84858"/>
                    </a:moveTo>
                    <a:lnTo>
                      <a:pt x="10166" y="84957"/>
                    </a:lnTo>
                    <a:lnTo>
                      <a:pt x="10166" y="91603"/>
                    </a:lnTo>
                    <a:lnTo>
                      <a:pt x="10116" y="91702"/>
                    </a:lnTo>
                    <a:lnTo>
                      <a:pt x="10017" y="91752"/>
                    </a:lnTo>
                    <a:lnTo>
                      <a:pt x="5851" y="91752"/>
                    </a:lnTo>
                    <a:lnTo>
                      <a:pt x="5752" y="91702"/>
                    </a:lnTo>
                    <a:lnTo>
                      <a:pt x="5703" y="91603"/>
                    </a:lnTo>
                    <a:lnTo>
                      <a:pt x="5703" y="84957"/>
                    </a:lnTo>
                    <a:lnTo>
                      <a:pt x="5752" y="84858"/>
                    </a:lnTo>
                    <a:lnTo>
                      <a:pt x="5851" y="84808"/>
                    </a:lnTo>
                    <a:lnTo>
                      <a:pt x="10017" y="84808"/>
                    </a:lnTo>
                    <a:close/>
                    <a:moveTo>
                      <a:pt x="10116" y="94777"/>
                    </a:moveTo>
                    <a:lnTo>
                      <a:pt x="10166" y="94876"/>
                    </a:lnTo>
                    <a:lnTo>
                      <a:pt x="10166" y="101522"/>
                    </a:lnTo>
                    <a:lnTo>
                      <a:pt x="10116" y="101621"/>
                    </a:lnTo>
                    <a:lnTo>
                      <a:pt x="10017" y="101671"/>
                    </a:lnTo>
                    <a:lnTo>
                      <a:pt x="5851" y="101671"/>
                    </a:lnTo>
                    <a:lnTo>
                      <a:pt x="5752" y="101621"/>
                    </a:lnTo>
                    <a:lnTo>
                      <a:pt x="5703" y="101522"/>
                    </a:lnTo>
                    <a:lnTo>
                      <a:pt x="5703" y="94876"/>
                    </a:lnTo>
                    <a:lnTo>
                      <a:pt x="5752" y="94777"/>
                    </a:lnTo>
                    <a:lnTo>
                      <a:pt x="5851" y="94727"/>
                    </a:lnTo>
                    <a:lnTo>
                      <a:pt x="10017" y="94727"/>
                    </a:lnTo>
                    <a:close/>
                    <a:moveTo>
                      <a:pt x="10116" y="104696"/>
                    </a:moveTo>
                    <a:lnTo>
                      <a:pt x="10166" y="104795"/>
                    </a:lnTo>
                    <a:lnTo>
                      <a:pt x="10166" y="111441"/>
                    </a:lnTo>
                    <a:lnTo>
                      <a:pt x="10116" y="111540"/>
                    </a:lnTo>
                    <a:lnTo>
                      <a:pt x="10017" y="111590"/>
                    </a:lnTo>
                    <a:lnTo>
                      <a:pt x="5851" y="111590"/>
                    </a:lnTo>
                    <a:lnTo>
                      <a:pt x="5752" y="111540"/>
                    </a:lnTo>
                    <a:lnTo>
                      <a:pt x="5703" y="111441"/>
                    </a:lnTo>
                    <a:lnTo>
                      <a:pt x="5703" y="104795"/>
                    </a:lnTo>
                    <a:lnTo>
                      <a:pt x="5752" y="104696"/>
                    </a:lnTo>
                    <a:lnTo>
                      <a:pt x="5851" y="104646"/>
                    </a:lnTo>
                    <a:lnTo>
                      <a:pt x="10017" y="104646"/>
                    </a:lnTo>
                    <a:close/>
                    <a:moveTo>
                      <a:pt x="10116" y="114615"/>
                    </a:moveTo>
                    <a:lnTo>
                      <a:pt x="10166" y="114714"/>
                    </a:lnTo>
                    <a:lnTo>
                      <a:pt x="10166" y="121360"/>
                    </a:lnTo>
                    <a:lnTo>
                      <a:pt x="10116" y="121459"/>
                    </a:lnTo>
                    <a:lnTo>
                      <a:pt x="10017" y="121509"/>
                    </a:lnTo>
                    <a:lnTo>
                      <a:pt x="5851" y="121509"/>
                    </a:lnTo>
                    <a:lnTo>
                      <a:pt x="5752" y="121459"/>
                    </a:lnTo>
                    <a:lnTo>
                      <a:pt x="5703" y="121360"/>
                    </a:lnTo>
                    <a:lnTo>
                      <a:pt x="5703" y="114714"/>
                    </a:lnTo>
                    <a:lnTo>
                      <a:pt x="5752" y="114615"/>
                    </a:lnTo>
                    <a:lnTo>
                      <a:pt x="5851" y="114565"/>
                    </a:lnTo>
                    <a:lnTo>
                      <a:pt x="10017" y="114565"/>
                    </a:lnTo>
                    <a:close/>
                    <a:moveTo>
                      <a:pt x="10116" y="124534"/>
                    </a:moveTo>
                    <a:lnTo>
                      <a:pt x="10166" y="124633"/>
                    </a:lnTo>
                    <a:lnTo>
                      <a:pt x="10166" y="131279"/>
                    </a:lnTo>
                    <a:lnTo>
                      <a:pt x="10116" y="131378"/>
                    </a:lnTo>
                    <a:lnTo>
                      <a:pt x="10017" y="131428"/>
                    </a:lnTo>
                    <a:lnTo>
                      <a:pt x="5851" y="131428"/>
                    </a:lnTo>
                    <a:lnTo>
                      <a:pt x="5752" y="131378"/>
                    </a:lnTo>
                    <a:lnTo>
                      <a:pt x="5703" y="131279"/>
                    </a:lnTo>
                    <a:lnTo>
                      <a:pt x="5703" y="124633"/>
                    </a:lnTo>
                    <a:lnTo>
                      <a:pt x="5752" y="124534"/>
                    </a:lnTo>
                    <a:lnTo>
                      <a:pt x="5851" y="124484"/>
                    </a:lnTo>
                    <a:lnTo>
                      <a:pt x="10017" y="124484"/>
                    </a:lnTo>
                    <a:close/>
                    <a:moveTo>
                      <a:pt x="10116" y="134453"/>
                    </a:moveTo>
                    <a:lnTo>
                      <a:pt x="10166" y="134552"/>
                    </a:lnTo>
                    <a:lnTo>
                      <a:pt x="10166" y="141198"/>
                    </a:lnTo>
                    <a:lnTo>
                      <a:pt x="10116" y="141297"/>
                    </a:lnTo>
                    <a:lnTo>
                      <a:pt x="10017" y="141347"/>
                    </a:lnTo>
                    <a:lnTo>
                      <a:pt x="5851" y="141347"/>
                    </a:lnTo>
                    <a:lnTo>
                      <a:pt x="5752" y="141297"/>
                    </a:lnTo>
                    <a:lnTo>
                      <a:pt x="5703" y="141198"/>
                    </a:lnTo>
                    <a:lnTo>
                      <a:pt x="5703" y="134552"/>
                    </a:lnTo>
                    <a:lnTo>
                      <a:pt x="5752" y="134453"/>
                    </a:lnTo>
                    <a:lnTo>
                      <a:pt x="5851" y="134404"/>
                    </a:lnTo>
                    <a:lnTo>
                      <a:pt x="10017" y="134404"/>
                    </a:lnTo>
                    <a:close/>
                    <a:moveTo>
                      <a:pt x="10116" y="144372"/>
                    </a:moveTo>
                    <a:lnTo>
                      <a:pt x="10166" y="144471"/>
                    </a:lnTo>
                    <a:lnTo>
                      <a:pt x="10166" y="151117"/>
                    </a:lnTo>
                    <a:lnTo>
                      <a:pt x="10116" y="151216"/>
                    </a:lnTo>
                    <a:lnTo>
                      <a:pt x="10017" y="151266"/>
                    </a:lnTo>
                    <a:lnTo>
                      <a:pt x="5851" y="151266"/>
                    </a:lnTo>
                    <a:lnTo>
                      <a:pt x="5752" y="151216"/>
                    </a:lnTo>
                    <a:lnTo>
                      <a:pt x="5703" y="151117"/>
                    </a:lnTo>
                    <a:lnTo>
                      <a:pt x="5703" y="144471"/>
                    </a:lnTo>
                    <a:lnTo>
                      <a:pt x="5752" y="144372"/>
                    </a:lnTo>
                    <a:lnTo>
                      <a:pt x="5851" y="144323"/>
                    </a:lnTo>
                    <a:lnTo>
                      <a:pt x="10017" y="144323"/>
                    </a:lnTo>
                    <a:close/>
                    <a:moveTo>
                      <a:pt x="10116" y="154291"/>
                    </a:moveTo>
                    <a:lnTo>
                      <a:pt x="10166" y="154390"/>
                    </a:lnTo>
                    <a:lnTo>
                      <a:pt x="10166" y="161036"/>
                    </a:lnTo>
                    <a:lnTo>
                      <a:pt x="10116" y="161135"/>
                    </a:lnTo>
                    <a:lnTo>
                      <a:pt x="10017" y="161185"/>
                    </a:lnTo>
                    <a:lnTo>
                      <a:pt x="5851" y="161185"/>
                    </a:lnTo>
                    <a:lnTo>
                      <a:pt x="5752" y="161135"/>
                    </a:lnTo>
                    <a:lnTo>
                      <a:pt x="5703" y="161036"/>
                    </a:lnTo>
                    <a:lnTo>
                      <a:pt x="5703" y="154390"/>
                    </a:lnTo>
                    <a:lnTo>
                      <a:pt x="5752" y="154291"/>
                    </a:lnTo>
                    <a:lnTo>
                      <a:pt x="5851" y="154242"/>
                    </a:lnTo>
                    <a:lnTo>
                      <a:pt x="10017" y="154242"/>
                    </a:lnTo>
                    <a:close/>
                    <a:moveTo>
                      <a:pt x="10116" y="164210"/>
                    </a:moveTo>
                    <a:lnTo>
                      <a:pt x="10166" y="164310"/>
                    </a:lnTo>
                    <a:lnTo>
                      <a:pt x="10166" y="170955"/>
                    </a:lnTo>
                    <a:lnTo>
                      <a:pt x="10116" y="171055"/>
                    </a:lnTo>
                    <a:lnTo>
                      <a:pt x="10017" y="171104"/>
                    </a:lnTo>
                    <a:lnTo>
                      <a:pt x="5851" y="171104"/>
                    </a:lnTo>
                    <a:lnTo>
                      <a:pt x="5752" y="171055"/>
                    </a:lnTo>
                    <a:lnTo>
                      <a:pt x="5703" y="170955"/>
                    </a:lnTo>
                    <a:lnTo>
                      <a:pt x="5703" y="164310"/>
                    </a:lnTo>
                    <a:lnTo>
                      <a:pt x="5752" y="164210"/>
                    </a:lnTo>
                    <a:lnTo>
                      <a:pt x="5851" y="164161"/>
                    </a:lnTo>
                    <a:lnTo>
                      <a:pt x="10017" y="164161"/>
                    </a:lnTo>
                    <a:close/>
                    <a:moveTo>
                      <a:pt x="10116" y="174129"/>
                    </a:moveTo>
                    <a:lnTo>
                      <a:pt x="10166" y="174229"/>
                    </a:lnTo>
                    <a:lnTo>
                      <a:pt x="10166" y="180874"/>
                    </a:lnTo>
                    <a:lnTo>
                      <a:pt x="10116" y="180974"/>
                    </a:lnTo>
                    <a:lnTo>
                      <a:pt x="10017" y="181023"/>
                    </a:lnTo>
                    <a:lnTo>
                      <a:pt x="5851" y="181023"/>
                    </a:lnTo>
                    <a:lnTo>
                      <a:pt x="5752" y="180974"/>
                    </a:lnTo>
                    <a:lnTo>
                      <a:pt x="5703" y="180874"/>
                    </a:lnTo>
                    <a:lnTo>
                      <a:pt x="5703" y="174229"/>
                    </a:lnTo>
                    <a:lnTo>
                      <a:pt x="5752" y="174129"/>
                    </a:lnTo>
                    <a:lnTo>
                      <a:pt x="5851" y="174080"/>
                    </a:lnTo>
                    <a:lnTo>
                      <a:pt x="10017" y="174080"/>
                    </a:lnTo>
                    <a:close/>
                    <a:moveTo>
                      <a:pt x="10116" y="184049"/>
                    </a:moveTo>
                    <a:lnTo>
                      <a:pt x="10166" y="184148"/>
                    </a:lnTo>
                    <a:lnTo>
                      <a:pt x="10166" y="190793"/>
                    </a:lnTo>
                    <a:lnTo>
                      <a:pt x="10116" y="190893"/>
                    </a:lnTo>
                    <a:lnTo>
                      <a:pt x="10017" y="190942"/>
                    </a:lnTo>
                    <a:lnTo>
                      <a:pt x="5851" y="190942"/>
                    </a:lnTo>
                    <a:lnTo>
                      <a:pt x="5752" y="190893"/>
                    </a:lnTo>
                    <a:lnTo>
                      <a:pt x="5703" y="190793"/>
                    </a:lnTo>
                    <a:lnTo>
                      <a:pt x="5703" y="184148"/>
                    </a:lnTo>
                    <a:lnTo>
                      <a:pt x="5752" y="184049"/>
                    </a:lnTo>
                    <a:lnTo>
                      <a:pt x="5851" y="183999"/>
                    </a:lnTo>
                    <a:lnTo>
                      <a:pt x="10017" y="183999"/>
                    </a:lnTo>
                    <a:close/>
                    <a:moveTo>
                      <a:pt x="10116" y="193968"/>
                    </a:moveTo>
                    <a:lnTo>
                      <a:pt x="10166" y="194067"/>
                    </a:lnTo>
                    <a:lnTo>
                      <a:pt x="10166" y="200713"/>
                    </a:lnTo>
                    <a:lnTo>
                      <a:pt x="10116" y="200812"/>
                    </a:lnTo>
                    <a:lnTo>
                      <a:pt x="10017" y="200861"/>
                    </a:lnTo>
                    <a:lnTo>
                      <a:pt x="5851" y="200861"/>
                    </a:lnTo>
                    <a:lnTo>
                      <a:pt x="5752" y="200812"/>
                    </a:lnTo>
                    <a:lnTo>
                      <a:pt x="5703" y="200713"/>
                    </a:lnTo>
                    <a:lnTo>
                      <a:pt x="5703" y="194067"/>
                    </a:lnTo>
                    <a:lnTo>
                      <a:pt x="5752" y="193968"/>
                    </a:lnTo>
                    <a:lnTo>
                      <a:pt x="5851" y="193918"/>
                    </a:lnTo>
                    <a:lnTo>
                      <a:pt x="10017" y="193918"/>
                    </a:lnTo>
                    <a:close/>
                    <a:moveTo>
                      <a:pt x="10116" y="203887"/>
                    </a:moveTo>
                    <a:lnTo>
                      <a:pt x="10166" y="203986"/>
                    </a:lnTo>
                    <a:lnTo>
                      <a:pt x="10166" y="210632"/>
                    </a:lnTo>
                    <a:lnTo>
                      <a:pt x="10116" y="210731"/>
                    </a:lnTo>
                    <a:lnTo>
                      <a:pt x="10017" y="210780"/>
                    </a:lnTo>
                    <a:lnTo>
                      <a:pt x="5851" y="210780"/>
                    </a:lnTo>
                    <a:lnTo>
                      <a:pt x="5752" y="210731"/>
                    </a:lnTo>
                    <a:lnTo>
                      <a:pt x="5703" y="210632"/>
                    </a:lnTo>
                    <a:lnTo>
                      <a:pt x="5703" y="203986"/>
                    </a:lnTo>
                    <a:lnTo>
                      <a:pt x="5752" y="203887"/>
                    </a:lnTo>
                    <a:lnTo>
                      <a:pt x="5851" y="203837"/>
                    </a:lnTo>
                    <a:lnTo>
                      <a:pt x="10017" y="203837"/>
                    </a:lnTo>
                    <a:close/>
                    <a:moveTo>
                      <a:pt x="10116" y="213806"/>
                    </a:moveTo>
                    <a:lnTo>
                      <a:pt x="10166" y="213905"/>
                    </a:lnTo>
                    <a:lnTo>
                      <a:pt x="10166" y="220551"/>
                    </a:lnTo>
                    <a:lnTo>
                      <a:pt x="10116" y="220650"/>
                    </a:lnTo>
                    <a:lnTo>
                      <a:pt x="10017" y="220699"/>
                    </a:lnTo>
                    <a:lnTo>
                      <a:pt x="5851" y="220699"/>
                    </a:lnTo>
                    <a:lnTo>
                      <a:pt x="5752" y="220650"/>
                    </a:lnTo>
                    <a:lnTo>
                      <a:pt x="5703" y="220551"/>
                    </a:lnTo>
                    <a:lnTo>
                      <a:pt x="5703" y="213905"/>
                    </a:lnTo>
                    <a:lnTo>
                      <a:pt x="5752" y="213806"/>
                    </a:lnTo>
                    <a:lnTo>
                      <a:pt x="5851" y="213756"/>
                    </a:lnTo>
                    <a:lnTo>
                      <a:pt x="10017" y="213756"/>
                    </a:lnTo>
                    <a:close/>
                    <a:moveTo>
                      <a:pt x="10116" y="223725"/>
                    </a:moveTo>
                    <a:lnTo>
                      <a:pt x="10166" y="223824"/>
                    </a:lnTo>
                    <a:lnTo>
                      <a:pt x="10166" y="230470"/>
                    </a:lnTo>
                    <a:lnTo>
                      <a:pt x="10116" y="230569"/>
                    </a:lnTo>
                    <a:lnTo>
                      <a:pt x="10017" y="230619"/>
                    </a:lnTo>
                    <a:lnTo>
                      <a:pt x="5851" y="230619"/>
                    </a:lnTo>
                    <a:lnTo>
                      <a:pt x="5752" y="230569"/>
                    </a:lnTo>
                    <a:lnTo>
                      <a:pt x="5703" y="230470"/>
                    </a:lnTo>
                    <a:lnTo>
                      <a:pt x="5703" y="223824"/>
                    </a:lnTo>
                    <a:lnTo>
                      <a:pt x="5752" y="223725"/>
                    </a:lnTo>
                    <a:lnTo>
                      <a:pt x="5851" y="223675"/>
                    </a:lnTo>
                    <a:lnTo>
                      <a:pt x="10017" y="223675"/>
                    </a:lnTo>
                    <a:close/>
                    <a:moveTo>
                      <a:pt x="10116" y="233644"/>
                    </a:moveTo>
                    <a:lnTo>
                      <a:pt x="10166" y="233743"/>
                    </a:lnTo>
                    <a:lnTo>
                      <a:pt x="10166" y="240389"/>
                    </a:lnTo>
                    <a:lnTo>
                      <a:pt x="10116" y="240488"/>
                    </a:lnTo>
                    <a:lnTo>
                      <a:pt x="10017" y="240538"/>
                    </a:lnTo>
                    <a:lnTo>
                      <a:pt x="5851" y="240538"/>
                    </a:lnTo>
                    <a:lnTo>
                      <a:pt x="5752" y="240488"/>
                    </a:lnTo>
                    <a:lnTo>
                      <a:pt x="5703" y="240389"/>
                    </a:lnTo>
                    <a:lnTo>
                      <a:pt x="5703" y="233743"/>
                    </a:lnTo>
                    <a:lnTo>
                      <a:pt x="5752" y="233644"/>
                    </a:lnTo>
                    <a:lnTo>
                      <a:pt x="5851" y="233594"/>
                    </a:lnTo>
                    <a:lnTo>
                      <a:pt x="10017" y="233594"/>
                    </a:lnTo>
                    <a:close/>
                    <a:moveTo>
                      <a:pt x="10116" y="243563"/>
                    </a:moveTo>
                    <a:lnTo>
                      <a:pt x="10166" y="243662"/>
                    </a:lnTo>
                    <a:lnTo>
                      <a:pt x="10166" y="248820"/>
                    </a:lnTo>
                    <a:lnTo>
                      <a:pt x="10116" y="248919"/>
                    </a:lnTo>
                    <a:lnTo>
                      <a:pt x="10017" y="248969"/>
                    </a:lnTo>
                    <a:lnTo>
                      <a:pt x="5851" y="248969"/>
                    </a:lnTo>
                    <a:lnTo>
                      <a:pt x="5752" y="248919"/>
                    </a:lnTo>
                    <a:lnTo>
                      <a:pt x="5703" y="248820"/>
                    </a:lnTo>
                    <a:lnTo>
                      <a:pt x="5703" y="243662"/>
                    </a:lnTo>
                    <a:lnTo>
                      <a:pt x="5752" y="243563"/>
                    </a:lnTo>
                    <a:lnTo>
                      <a:pt x="5851" y="243513"/>
                    </a:lnTo>
                    <a:lnTo>
                      <a:pt x="10017" y="243513"/>
                    </a:lnTo>
                    <a:close/>
                    <a:moveTo>
                      <a:pt x="5653" y="50"/>
                    </a:moveTo>
                    <a:lnTo>
                      <a:pt x="5703" y="149"/>
                    </a:lnTo>
                    <a:lnTo>
                      <a:pt x="5703" y="248820"/>
                    </a:lnTo>
                    <a:lnTo>
                      <a:pt x="5653" y="248919"/>
                    </a:lnTo>
                    <a:lnTo>
                      <a:pt x="5554" y="248969"/>
                    </a:lnTo>
                    <a:lnTo>
                      <a:pt x="148" y="248969"/>
                    </a:lnTo>
                    <a:lnTo>
                      <a:pt x="49" y="248919"/>
                    </a:lnTo>
                    <a:lnTo>
                      <a:pt x="0" y="248820"/>
                    </a:lnTo>
                    <a:lnTo>
                      <a:pt x="0" y="149"/>
                    </a:lnTo>
                    <a:lnTo>
                      <a:pt x="49" y="50"/>
                    </a:lnTo>
                    <a:lnTo>
                      <a:pt x="148" y="0"/>
                    </a:lnTo>
                    <a:lnTo>
                      <a:pt x="5554" y="0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9" name="墙_V17_Storage_North_Casing">
                <a:extLst>
                  <a:ext uri="{FF2B5EF4-FFF2-40B4-BE49-F238E27FC236}">
                    <a16:creationId xmlns:a16="http://schemas.microsoft.com/office/drawing/2014/main" id="{4A43F4A0-8ED9-211A-4AAC-537CF13F280A}"/>
                  </a:ext>
                </a:extLst>
              </p:cNvPr>
              <p:cNvSpPr/>
              <p:nvPr/>
            </p:nvSpPr>
            <p:spPr>
              <a:xfrm>
                <a:off x="2240297" y="4676368"/>
                <a:ext cx="4960" cy="11159"/>
              </a:xfrm>
              <a:custGeom>
                <a:avLst/>
                <a:gdLst/>
                <a:ahLst/>
                <a:cxnLst/>
                <a:rect l="l" t="t" r="r" b="b"/>
                <a:pathLst>
                  <a:path w="4960" h="11159">
                    <a:moveTo>
                      <a:pt x="4960" y="0"/>
                    </a:moveTo>
                    <a:lnTo>
                      <a:pt x="0" y="0"/>
                    </a:lnTo>
                    <a:lnTo>
                      <a:pt x="0" y="11159"/>
                    </a:lnTo>
                    <a:lnTo>
                      <a:pt x="4960" y="11159"/>
                    </a:lnTo>
                    <a:close/>
                  </a:path>
                </a:pathLst>
              </a:custGeom>
              <a:solidFill>
                <a:srgbClr val="9E9E9E"/>
              </a:solidFill>
              <a:ln w="3810">
                <a:solidFill>
                  <a:srgbClr val="59595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grpSp>
          <p:nvGrpSpPr>
            <p:cNvPr id="423" name="房间名（沿用施工图）">
              <a:extLst>
                <a:ext uri="{FF2B5EF4-FFF2-40B4-BE49-F238E27FC236}">
                  <a16:creationId xmlns:a16="http://schemas.microsoft.com/office/drawing/2014/main" id="{999474E9-7318-2C4D-EF6E-2949F8F8533D}"/>
                </a:ext>
              </a:extLst>
            </p:cNvPr>
            <p:cNvGrpSpPr/>
            <p:nvPr/>
          </p:nvGrpSpPr>
          <p:grpSpPr>
            <a:xfrm>
              <a:off x="658780" y="1171576"/>
              <a:ext cx="1914044" cy="4397638"/>
              <a:chOff x="658780" y="1171576"/>
              <a:chExt cx="1914044" cy="4397638"/>
            </a:xfrm>
          </p:grpSpPr>
          <p:sp>
            <p:nvSpPr>
              <p:cNvPr id="424" name="TextBox 423">
                <a:extLst>
                  <a:ext uri="{FF2B5EF4-FFF2-40B4-BE49-F238E27FC236}">
                    <a16:creationId xmlns:a16="http://schemas.microsoft.com/office/drawing/2014/main" id="{43FEC776-CEDF-3216-2E0A-B9CE63EE2390}"/>
                  </a:ext>
                </a:extLst>
              </p:cNvPr>
              <p:cNvSpPr txBox="1"/>
              <p:nvPr/>
            </p:nvSpPr>
            <p:spPr>
              <a:xfrm rot="16200000">
                <a:off x="1704467" y="464322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起居室</a:t>
                </a:r>
              </a:p>
            </p:txBody>
          </p:sp>
          <p:sp>
            <p:nvSpPr>
              <p:cNvPr id="425" name="TextBox 424">
                <a:extLst>
                  <a:ext uri="{FF2B5EF4-FFF2-40B4-BE49-F238E27FC236}">
                    <a16:creationId xmlns:a16="http://schemas.microsoft.com/office/drawing/2014/main" id="{4E1035C1-A79A-E69F-B479-A165BD13CC06}"/>
                  </a:ext>
                </a:extLst>
              </p:cNvPr>
              <p:cNvSpPr txBox="1"/>
              <p:nvPr/>
            </p:nvSpPr>
            <p:spPr>
              <a:xfrm rot="16200000">
                <a:off x="1952573" y="2508311"/>
                <a:ext cx="54125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厨房（吧台区）</a:t>
                </a:r>
              </a:p>
            </p:txBody>
          </p:sp>
          <p:sp>
            <p:nvSpPr>
              <p:cNvPr id="426" name="TextBox 425">
                <a:extLst>
                  <a:ext uri="{FF2B5EF4-FFF2-40B4-BE49-F238E27FC236}">
                    <a16:creationId xmlns:a16="http://schemas.microsoft.com/office/drawing/2014/main" id="{58A143EE-E6E5-2CE6-EA82-045D91BC6A96}"/>
                  </a:ext>
                </a:extLst>
              </p:cNvPr>
              <p:cNvSpPr txBox="1"/>
              <p:nvPr/>
            </p:nvSpPr>
            <p:spPr>
              <a:xfrm rot="16200000">
                <a:off x="1377294" y="547717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前院</a:t>
                </a:r>
              </a:p>
            </p:txBody>
          </p:sp>
          <p:sp>
            <p:nvSpPr>
              <p:cNvPr id="427" name="TextBox 426">
                <a:extLst>
                  <a:ext uri="{FF2B5EF4-FFF2-40B4-BE49-F238E27FC236}">
                    <a16:creationId xmlns:a16="http://schemas.microsoft.com/office/drawing/2014/main" id="{A7A11826-15A1-F21D-B60C-531AAE91EB7C}"/>
                  </a:ext>
                </a:extLst>
              </p:cNvPr>
              <p:cNvSpPr txBox="1"/>
              <p:nvPr/>
            </p:nvSpPr>
            <p:spPr>
              <a:xfrm rot="16200000">
                <a:off x="1792213" y="3624550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餐厅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28" name="TextBox 427">
                <a:extLst>
                  <a:ext uri="{FF2B5EF4-FFF2-40B4-BE49-F238E27FC236}">
                    <a16:creationId xmlns:a16="http://schemas.microsoft.com/office/drawing/2014/main" id="{7343EACE-CE65-E7E9-B861-48D7090D7218}"/>
                  </a:ext>
                </a:extLst>
              </p:cNvPr>
              <p:cNvSpPr txBox="1"/>
              <p:nvPr/>
            </p:nvSpPr>
            <p:spPr>
              <a:xfrm rot="16200000">
                <a:off x="2320821" y="4239600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  <p:sp>
            <p:nvSpPr>
              <p:cNvPr id="429" name="TextBox 428">
                <a:extLst>
                  <a:ext uri="{FF2B5EF4-FFF2-40B4-BE49-F238E27FC236}">
                    <a16:creationId xmlns:a16="http://schemas.microsoft.com/office/drawing/2014/main" id="{A10F7F30-E0C5-2FE9-F6DD-3D4FE703DA0D}"/>
                  </a:ext>
                </a:extLst>
              </p:cNvPr>
              <p:cNvSpPr txBox="1"/>
              <p:nvPr/>
            </p:nvSpPr>
            <p:spPr>
              <a:xfrm rot="16200000">
                <a:off x="964969" y="201019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后花园</a:t>
                </a:r>
              </a:p>
            </p:txBody>
          </p:sp>
          <p:sp>
            <p:nvSpPr>
              <p:cNvPr id="430" name="TextBox 429">
                <a:extLst>
                  <a:ext uri="{FF2B5EF4-FFF2-40B4-BE49-F238E27FC236}">
                    <a16:creationId xmlns:a16="http://schemas.microsoft.com/office/drawing/2014/main" id="{3387C132-2888-B401-4ED1-11F4143ECB2F}"/>
                  </a:ext>
                </a:extLst>
              </p:cNvPr>
              <p:cNvSpPr txBox="1"/>
              <p:nvPr/>
            </p:nvSpPr>
            <p:spPr>
              <a:xfrm rot="16200000">
                <a:off x="2320821" y="472944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 dirty="0" err="1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  <a:endParaRPr sz="1301" b="0" dirty="0">
                  <a:solidFill>
                    <a:srgbClr val="6B6B6B"/>
                  </a:solidFill>
                  <a:latin typeface="Microsoft YaHei"/>
                  <a:ea typeface="Microsoft YaHei"/>
                  <a:cs typeface="Microsoft YaHei"/>
                </a:endParaRPr>
              </a:p>
            </p:txBody>
          </p:sp>
          <p:sp>
            <p:nvSpPr>
              <p:cNvPr id="431" name="TextBox 430">
                <a:extLst>
                  <a:ext uri="{FF2B5EF4-FFF2-40B4-BE49-F238E27FC236}">
                    <a16:creationId xmlns:a16="http://schemas.microsoft.com/office/drawing/2014/main" id="{5AB5D4B4-1267-862F-370E-CB023A94A0EA}"/>
                  </a:ext>
                </a:extLst>
              </p:cNvPr>
              <p:cNvSpPr txBox="1"/>
              <p:nvPr/>
            </p:nvSpPr>
            <p:spPr>
              <a:xfrm rot="16200000">
                <a:off x="1098651" y="3219235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卫生间</a:t>
                </a:r>
              </a:p>
            </p:txBody>
          </p:sp>
          <p:sp>
            <p:nvSpPr>
              <p:cNvPr id="432" name="TextBox 431">
                <a:extLst>
                  <a:ext uri="{FF2B5EF4-FFF2-40B4-BE49-F238E27FC236}">
                    <a16:creationId xmlns:a16="http://schemas.microsoft.com/office/drawing/2014/main" id="{A94F9BBF-6BA1-7A05-33AF-81559C4F895C}"/>
                  </a:ext>
                </a:extLst>
              </p:cNvPr>
              <p:cNvSpPr txBox="1"/>
              <p:nvPr/>
            </p:nvSpPr>
            <p:spPr>
              <a:xfrm rot="16200000">
                <a:off x="2378657" y="3368357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楼梯</a:t>
                </a:r>
              </a:p>
            </p:txBody>
          </p:sp>
          <p:sp>
            <p:nvSpPr>
              <p:cNvPr id="433" name="TextBox 432">
                <a:extLst>
                  <a:ext uri="{FF2B5EF4-FFF2-40B4-BE49-F238E27FC236}">
                    <a16:creationId xmlns:a16="http://schemas.microsoft.com/office/drawing/2014/main" id="{94530346-B00F-94EA-1F07-D67074D2FEC6}"/>
                  </a:ext>
                </a:extLst>
              </p:cNvPr>
              <p:cNvSpPr txBox="1"/>
              <p:nvPr/>
            </p:nvSpPr>
            <p:spPr>
              <a:xfrm rot="16200000">
                <a:off x="2120615" y="1821014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厨房</a:t>
                </a:r>
              </a:p>
            </p:txBody>
          </p:sp>
          <p:sp>
            <p:nvSpPr>
              <p:cNvPr id="434" name="TextBox 433">
                <a:extLst>
                  <a:ext uri="{FF2B5EF4-FFF2-40B4-BE49-F238E27FC236}">
                    <a16:creationId xmlns:a16="http://schemas.microsoft.com/office/drawing/2014/main" id="{D3666B31-7E3E-C075-3FAC-62278ECCD7E6}"/>
                  </a:ext>
                </a:extLst>
              </p:cNvPr>
              <p:cNvSpPr txBox="1"/>
              <p:nvPr/>
            </p:nvSpPr>
            <p:spPr>
              <a:xfrm rot="16200000">
                <a:off x="2087745" y="1171576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洗衣房</a:t>
                </a:r>
              </a:p>
            </p:txBody>
          </p:sp>
          <p:sp>
            <p:nvSpPr>
              <p:cNvPr id="435" name="TextBox 434">
                <a:extLst>
                  <a:ext uri="{FF2B5EF4-FFF2-40B4-BE49-F238E27FC236}">
                    <a16:creationId xmlns:a16="http://schemas.microsoft.com/office/drawing/2014/main" id="{121FAF64-6464-C9C9-726F-FE3A1C91C334}"/>
                  </a:ext>
                </a:extLst>
              </p:cNvPr>
              <p:cNvSpPr txBox="1"/>
              <p:nvPr/>
            </p:nvSpPr>
            <p:spPr>
              <a:xfrm rot="16200000">
                <a:off x="791437" y="4040748"/>
                <a:ext cx="179689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客厅</a:t>
                </a:r>
              </a:p>
            </p:txBody>
          </p:sp>
          <p:sp>
            <p:nvSpPr>
              <p:cNvPr id="436" name="TextBox 435">
                <a:extLst>
                  <a:ext uri="{FF2B5EF4-FFF2-40B4-BE49-F238E27FC236}">
                    <a16:creationId xmlns:a16="http://schemas.microsoft.com/office/drawing/2014/main" id="{CD08588D-5387-80FF-3321-1E90D1A52452}"/>
                  </a:ext>
                </a:extLst>
              </p:cNvPr>
              <p:cNvSpPr txBox="1"/>
              <p:nvPr/>
            </p:nvSpPr>
            <p:spPr>
              <a:xfrm rot="16200000">
                <a:off x="658780" y="4720908"/>
                <a:ext cx="252003" cy="92036"/>
              </a:xfrm>
              <a:prstGeom prst="rect">
                <a:avLst/>
              </a:prstGeom>
              <a:noFill/>
            </p:spPr>
            <p:txBody>
              <a:bodyPr wrap="none" lIns="0" tIns="0" rIns="0" bIns="0" anchor="t">
                <a:spAutoFit/>
              </a:bodyPr>
              <a:lstStyle/>
              <a:p>
                <a:pPr algn="l"/>
                <a:r>
                  <a:rPr sz="1301" b="0">
                    <a:solidFill>
                      <a:srgbClr val="6B6B6B"/>
                    </a:solidFill>
                    <a:latin typeface="Microsoft YaHei"/>
                    <a:ea typeface="Microsoft YaHei"/>
                    <a:cs typeface="Microsoft YaHei"/>
                  </a:rPr>
                  <a:t>储物间</a:t>
                </a:r>
              </a:p>
            </p:txBody>
          </p:sp>
        </p:grpSp>
      </p:grpSp>
      <p:sp>
        <p:nvSpPr>
          <p:cNvPr id="538" name="Rectangle 537"/>
          <p:cNvSpPr/>
          <p:nvPr/>
        </p:nvSpPr>
        <p:spPr>
          <a:xfrm>
            <a:off x="0" y="0"/>
            <a:ext cx="12192000" cy="85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angle 538"/>
          <p:cNvSpPr/>
          <p:nvPr/>
        </p:nvSpPr>
        <p:spPr>
          <a:xfrm>
            <a:off x="0" y="6650000"/>
            <a:ext cx="12192000" cy="20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angle 539"/>
          <p:cNvSpPr/>
          <p:nvPr/>
        </p:nvSpPr>
        <p:spPr>
          <a:xfrm>
            <a:off x="0" y="850000"/>
            <a:ext cx="300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Rectangle 540"/>
          <p:cNvSpPr/>
          <p:nvPr/>
        </p:nvSpPr>
        <p:spPr>
          <a:xfrm>
            <a:off x="8450000" y="850000"/>
            <a:ext cx="3742000" cy="580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2" name="Rectangle 54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sp>
        <p:nvSpPr>
          <p:cNvPr id="544" name="TextBox 54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&amp; SWITCHING — ZONE 3</a:t>
            </a:r>
          </a:p>
        </p:txBody>
      </p:sp>
      <p:sp>
        <p:nvSpPr>
          <p:cNvPr id="545" name="Rectangle 54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TextBox 54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548" name="Connector 54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9" name="TextBox 54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一层照明放大图 3：厨房 · 洗衣房 · 后花园</a:t>
            </a:r>
          </a:p>
        </p:txBody>
      </p:sp>
      <p:cxnSp>
        <p:nvCxnSpPr>
          <p:cNvPr id="551" name="Connector 55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2" name="TextBox 55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553" name="TextBox 55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E-GF-03</a:t>
            </a:r>
          </a:p>
        </p:txBody>
      </p:sp>
      <p:cxnSp>
        <p:nvCxnSpPr>
          <p:cNvPr id="554" name="Connector 55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5" name="TextBox 55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556" name="TextBox 55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I-B · 方案 B · 精简 17 路（照明 3 路）</a:t>
            </a:r>
          </a:p>
        </p:txBody>
      </p:sp>
      <p:cxnSp>
        <p:nvCxnSpPr>
          <p:cNvPr id="557" name="Connector 55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TextBox 55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559" name="TextBox 55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560" name="Connector 55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1" name="Connector 560"/>
          <p:cNvCxnSpPr/>
          <p:nvPr/>
        </p:nvCxnSpPr>
        <p:spPr>
          <a:xfrm>
            <a:off x="1597105" y="1588736"/>
            <a:ext cx="1477473" cy="3040421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2" name="Oval 561"/>
          <p:cNvSpPr/>
          <p:nvPr/>
        </p:nvSpPr>
        <p:spPr>
          <a:xfrm>
            <a:off x="2014221" y="2582884"/>
            <a:ext cx="200000" cy="140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3" name="TextBox 562"/>
          <p:cNvSpPr txBox="1"/>
          <p:nvPr/>
        </p:nvSpPr>
        <p:spPr>
          <a:xfrm>
            <a:off x="2014221" y="2582884"/>
            <a:ext cx="200000" cy="14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" b="1">
                <a:solidFill>
                  <a:srgbClr val="C00000"/>
                </a:solidFill>
                <a:latin typeface="Microsoft YaHei"/>
              </a:rPr>
              <a:t>W1</a:t>
            </a:r>
          </a:p>
        </p:txBody>
      </p:sp>
      <p:sp>
        <p:nvSpPr>
          <p:cNvPr id="2" name="Freeform 1"/>
          <p:cNvSpPr/>
          <p:nvPr/>
        </p:nvSpPr>
        <p:spPr>
          <a:xfrm>
            <a:off x="1597105" y="1588736"/>
            <a:ext cx="2080046" cy="2729483"/>
          </a:xfrm>
          <a:custGeom>
            <a:avLst/>
            <a:gdLst/>
            <a:ahLst/>
            <a:cxnLst/>
            <a:rect l="l" t="t" r="r" b="b"/>
            <a:pathLst>
              <a:path w="2080046" h="2729483">
                <a:moveTo>
                  <a:pt x="0" y="0"/>
                </a:moveTo>
                <a:lnTo>
                  <a:pt x="66030" y="219344"/>
                </a:lnTo>
                <a:lnTo>
                  <a:pt x="140591" y="432188"/>
                </a:lnTo>
                <a:lnTo>
                  <a:pt x="223681" y="638531"/>
                </a:lnTo>
                <a:lnTo>
                  <a:pt x="315300" y="838374"/>
                </a:lnTo>
                <a:lnTo>
                  <a:pt x="415449" y="1031718"/>
                </a:lnTo>
                <a:lnTo>
                  <a:pt x="524128" y="1218561"/>
                </a:lnTo>
                <a:lnTo>
                  <a:pt x="641337" y="1398903"/>
                </a:lnTo>
                <a:lnTo>
                  <a:pt x="767075" y="1572746"/>
                </a:lnTo>
                <a:lnTo>
                  <a:pt x="901343" y="1740089"/>
                </a:lnTo>
                <a:lnTo>
                  <a:pt x="1044140" y="1900931"/>
                </a:lnTo>
                <a:lnTo>
                  <a:pt x="1195467" y="2055273"/>
                </a:lnTo>
                <a:lnTo>
                  <a:pt x="1355324" y="2203115"/>
                </a:lnTo>
                <a:lnTo>
                  <a:pt x="1523710" y="2344457"/>
                </a:lnTo>
                <a:lnTo>
                  <a:pt x="1700626" y="2479299"/>
                </a:lnTo>
                <a:lnTo>
                  <a:pt x="1886071" y="2607641"/>
                </a:lnTo>
                <a:lnTo>
                  <a:pt x="2080046" y="272948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3074578" y="4318219"/>
            <a:ext cx="602573" cy="310938"/>
          </a:xfrm>
          <a:custGeom>
            <a:avLst/>
            <a:gdLst/>
            <a:ahLst/>
            <a:cxnLst/>
            <a:rect l="l" t="t" r="r" b="b"/>
            <a:pathLst>
              <a:path w="602573" h="310938">
                <a:moveTo>
                  <a:pt x="0" y="310938"/>
                </a:moveTo>
                <a:lnTo>
                  <a:pt x="44949" y="305628"/>
                </a:lnTo>
                <a:lnTo>
                  <a:pt x="88926" y="298434"/>
                </a:lnTo>
                <a:lnTo>
                  <a:pt x="131931" y="289357"/>
                </a:lnTo>
                <a:lnTo>
                  <a:pt x="173964" y="278397"/>
                </a:lnTo>
                <a:lnTo>
                  <a:pt x="215026" y="265554"/>
                </a:lnTo>
                <a:lnTo>
                  <a:pt x="255116" y="250828"/>
                </a:lnTo>
                <a:lnTo>
                  <a:pt x="294234" y="234218"/>
                </a:lnTo>
                <a:lnTo>
                  <a:pt x="332381" y="215726"/>
                </a:lnTo>
                <a:lnTo>
                  <a:pt x="369556" y="195351"/>
                </a:lnTo>
                <a:lnTo>
                  <a:pt x="405759" y="173093"/>
                </a:lnTo>
                <a:lnTo>
                  <a:pt x="440991" y="148952"/>
                </a:lnTo>
                <a:lnTo>
                  <a:pt x="475251" y="122927"/>
                </a:lnTo>
                <a:lnTo>
                  <a:pt x="508539" y="95020"/>
                </a:lnTo>
                <a:lnTo>
                  <a:pt x="540855" y="65229"/>
                </a:lnTo>
                <a:lnTo>
                  <a:pt x="572200" y="33556"/>
                </a:lnTo>
                <a:lnTo>
                  <a:pt x="602573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3677151" y="4318219"/>
            <a:ext cx="1593685" cy="119526"/>
          </a:xfrm>
          <a:custGeom>
            <a:avLst/>
            <a:gdLst/>
            <a:ahLst/>
            <a:cxnLst/>
            <a:rect l="l" t="t" r="r" b="b"/>
            <a:pathLst>
              <a:path w="1593685" h="119526">
                <a:moveTo>
                  <a:pt x="0" y="0"/>
                </a:moveTo>
                <a:lnTo>
                  <a:pt x="99606" y="28013"/>
                </a:lnTo>
                <a:lnTo>
                  <a:pt x="199211" y="52292"/>
                </a:lnTo>
                <a:lnTo>
                  <a:pt x="298816" y="72836"/>
                </a:lnTo>
                <a:lnTo>
                  <a:pt x="398422" y="89644"/>
                </a:lnTo>
                <a:lnTo>
                  <a:pt x="498027" y="102717"/>
                </a:lnTo>
                <a:lnTo>
                  <a:pt x="597632" y="112055"/>
                </a:lnTo>
                <a:lnTo>
                  <a:pt x="697237" y="117658"/>
                </a:lnTo>
                <a:lnTo>
                  <a:pt x="796843" y="119526"/>
                </a:lnTo>
                <a:lnTo>
                  <a:pt x="896448" y="117658"/>
                </a:lnTo>
                <a:lnTo>
                  <a:pt x="996053" y="112055"/>
                </a:lnTo>
                <a:lnTo>
                  <a:pt x="1095659" y="102717"/>
                </a:lnTo>
                <a:lnTo>
                  <a:pt x="1195264" y="89644"/>
                </a:lnTo>
                <a:lnTo>
                  <a:pt x="1294869" y="72836"/>
                </a:lnTo>
                <a:lnTo>
                  <a:pt x="1394474" y="52292"/>
                </a:lnTo>
                <a:lnTo>
                  <a:pt x="1494080" y="28013"/>
                </a:lnTo>
                <a:lnTo>
                  <a:pt x="159368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1597105" y="1302782"/>
            <a:ext cx="807135" cy="286999"/>
          </a:xfrm>
          <a:custGeom>
            <a:avLst/>
            <a:gdLst/>
            <a:ahLst/>
            <a:cxnLst/>
            <a:rect l="l" t="t" r="r" b="b"/>
            <a:pathLst>
              <a:path w="807135" h="286999">
                <a:moveTo>
                  <a:pt x="0" y="285954"/>
                </a:moveTo>
                <a:lnTo>
                  <a:pt x="57148" y="286999"/>
                </a:lnTo>
                <a:lnTo>
                  <a:pt x="113402" y="285522"/>
                </a:lnTo>
                <a:lnTo>
                  <a:pt x="168763" y="281523"/>
                </a:lnTo>
                <a:lnTo>
                  <a:pt x="223230" y="275001"/>
                </a:lnTo>
                <a:lnTo>
                  <a:pt x="276804" y="265957"/>
                </a:lnTo>
                <a:lnTo>
                  <a:pt x="329484" y="254390"/>
                </a:lnTo>
                <a:lnTo>
                  <a:pt x="381270" y="240302"/>
                </a:lnTo>
                <a:lnTo>
                  <a:pt x="432163" y="223691"/>
                </a:lnTo>
                <a:lnTo>
                  <a:pt x="482162" y="204558"/>
                </a:lnTo>
                <a:lnTo>
                  <a:pt x="531268" y="182902"/>
                </a:lnTo>
                <a:lnTo>
                  <a:pt x="579480" y="158724"/>
                </a:lnTo>
                <a:lnTo>
                  <a:pt x="626798" y="132024"/>
                </a:lnTo>
                <a:lnTo>
                  <a:pt x="673223" y="102801"/>
                </a:lnTo>
                <a:lnTo>
                  <a:pt x="718754" y="71057"/>
                </a:lnTo>
                <a:lnTo>
                  <a:pt x="763391" y="36790"/>
                </a:lnTo>
                <a:lnTo>
                  <a:pt x="80713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Freeform 110"/>
          <p:cNvSpPr/>
          <p:nvPr/>
        </p:nvSpPr>
        <p:spPr>
          <a:xfrm>
            <a:off x="3074578" y="1302782"/>
            <a:ext cx="614348" cy="3326375"/>
          </a:xfrm>
          <a:custGeom>
            <a:avLst/>
            <a:gdLst/>
            <a:ahLst/>
            <a:cxnLst/>
            <a:rect l="l" t="t" r="r" b="b"/>
            <a:pathLst>
              <a:path w="614348" h="3326375">
                <a:moveTo>
                  <a:pt x="0" y="3326375"/>
                </a:moveTo>
                <a:lnTo>
                  <a:pt x="107825" y="3129675"/>
                </a:lnTo>
                <a:lnTo>
                  <a:pt x="205254" y="2931482"/>
                </a:lnTo>
                <a:lnTo>
                  <a:pt x="292289" y="2731796"/>
                </a:lnTo>
                <a:lnTo>
                  <a:pt x="368928" y="2530617"/>
                </a:lnTo>
                <a:lnTo>
                  <a:pt x="435173" y="2327944"/>
                </a:lnTo>
                <a:lnTo>
                  <a:pt x="491023" y="2123778"/>
                </a:lnTo>
                <a:lnTo>
                  <a:pt x="536478" y="1918120"/>
                </a:lnTo>
                <a:lnTo>
                  <a:pt x="571538" y="1710968"/>
                </a:lnTo>
                <a:lnTo>
                  <a:pt x="596203" y="1502323"/>
                </a:lnTo>
                <a:lnTo>
                  <a:pt x="610473" y="1292185"/>
                </a:lnTo>
                <a:lnTo>
                  <a:pt x="614348" y="1080553"/>
                </a:lnTo>
                <a:lnTo>
                  <a:pt x="607828" y="867429"/>
                </a:lnTo>
                <a:lnTo>
                  <a:pt x="590914" y="652811"/>
                </a:lnTo>
                <a:lnTo>
                  <a:pt x="563604" y="436701"/>
                </a:lnTo>
                <a:lnTo>
                  <a:pt x="525900" y="219097"/>
                </a:lnTo>
                <a:lnTo>
                  <a:pt x="47780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Freeform 111"/>
          <p:cNvSpPr/>
          <p:nvPr/>
        </p:nvSpPr>
        <p:spPr>
          <a:xfrm>
            <a:off x="2404240" y="1302782"/>
            <a:ext cx="1148138" cy="86111"/>
          </a:xfrm>
          <a:custGeom>
            <a:avLst/>
            <a:gdLst/>
            <a:ahLst/>
            <a:cxnLst/>
            <a:rect l="l" t="t" r="r" b="b"/>
            <a:pathLst>
              <a:path w="1148138" h="86111">
                <a:moveTo>
                  <a:pt x="0" y="0"/>
                </a:moveTo>
                <a:lnTo>
                  <a:pt x="71759" y="20182"/>
                </a:lnTo>
                <a:lnTo>
                  <a:pt x="143517" y="37673"/>
                </a:lnTo>
                <a:lnTo>
                  <a:pt x="215276" y="52474"/>
                </a:lnTo>
                <a:lnTo>
                  <a:pt x="287035" y="64583"/>
                </a:lnTo>
                <a:lnTo>
                  <a:pt x="358793" y="74001"/>
                </a:lnTo>
                <a:lnTo>
                  <a:pt x="430552" y="80729"/>
                </a:lnTo>
                <a:lnTo>
                  <a:pt x="502311" y="84765"/>
                </a:lnTo>
                <a:lnTo>
                  <a:pt x="574069" y="86111"/>
                </a:lnTo>
                <a:lnTo>
                  <a:pt x="645828" y="84765"/>
                </a:lnTo>
                <a:lnTo>
                  <a:pt x="717586" y="80729"/>
                </a:lnTo>
                <a:lnTo>
                  <a:pt x="789345" y="74001"/>
                </a:lnTo>
                <a:lnTo>
                  <a:pt x="861104" y="64583"/>
                </a:lnTo>
                <a:lnTo>
                  <a:pt x="932862" y="52474"/>
                </a:lnTo>
                <a:lnTo>
                  <a:pt x="1004621" y="37673"/>
                </a:lnTo>
                <a:lnTo>
                  <a:pt x="1076379" y="20182"/>
                </a:lnTo>
                <a:lnTo>
                  <a:pt x="1148138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Freeform 112"/>
          <p:cNvSpPr/>
          <p:nvPr/>
        </p:nvSpPr>
        <p:spPr>
          <a:xfrm>
            <a:off x="3552378" y="1302782"/>
            <a:ext cx="1056745" cy="79256"/>
          </a:xfrm>
          <a:custGeom>
            <a:avLst/>
            <a:gdLst/>
            <a:ahLst/>
            <a:cxnLst/>
            <a:rect l="l" t="t" r="r" b="b"/>
            <a:pathLst>
              <a:path w="1056745" h="79256">
                <a:moveTo>
                  <a:pt x="0" y="0"/>
                </a:moveTo>
                <a:lnTo>
                  <a:pt x="66047" y="18576"/>
                </a:lnTo>
                <a:lnTo>
                  <a:pt x="132093" y="34675"/>
                </a:lnTo>
                <a:lnTo>
                  <a:pt x="198140" y="48297"/>
                </a:lnTo>
                <a:lnTo>
                  <a:pt x="264186" y="59442"/>
                </a:lnTo>
                <a:lnTo>
                  <a:pt x="330233" y="68111"/>
                </a:lnTo>
                <a:lnTo>
                  <a:pt x="396279" y="74303"/>
                </a:lnTo>
                <a:lnTo>
                  <a:pt x="462326" y="78018"/>
                </a:lnTo>
                <a:lnTo>
                  <a:pt x="528372" y="79256"/>
                </a:lnTo>
                <a:lnTo>
                  <a:pt x="594419" y="78018"/>
                </a:lnTo>
                <a:lnTo>
                  <a:pt x="660465" y="74303"/>
                </a:lnTo>
                <a:lnTo>
                  <a:pt x="726512" y="68111"/>
                </a:lnTo>
                <a:lnTo>
                  <a:pt x="792558" y="59442"/>
                </a:lnTo>
                <a:lnTo>
                  <a:pt x="858605" y="48297"/>
                </a:lnTo>
                <a:lnTo>
                  <a:pt x="924651" y="34675"/>
                </a:lnTo>
                <a:lnTo>
                  <a:pt x="990698" y="18576"/>
                </a:lnTo>
                <a:lnTo>
                  <a:pt x="1056745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Freeform 113"/>
          <p:cNvSpPr/>
          <p:nvPr/>
        </p:nvSpPr>
        <p:spPr>
          <a:xfrm>
            <a:off x="4609123" y="1302782"/>
            <a:ext cx="599774" cy="46429"/>
          </a:xfrm>
          <a:custGeom>
            <a:avLst/>
            <a:gdLst/>
            <a:ahLst/>
            <a:cxnLst/>
            <a:rect l="l" t="t" r="r" b="b"/>
            <a:pathLst>
              <a:path w="599774" h="46429">
                <a:moveTo>
                  <a:pt x="0" y="0"/>
                </a:moveTo>
                <a:lnTo>
                  <a:pt x="37435" y="10724"/>
                </a:lnTo>
                <a:lnTo>
                  <a:pt x="74877" y="20042"/>
                </a:lnTo>
                <a:lnTo>
                  <a:pt x="112325" y="27954"/>
                </a:lnTo>
                <a:lnTo>
                  <a:pt x="149781" y="34460"/>
                </a:lnTo>
                <a:lnTo>
                  <a:pt x="187243" y="39561"/>
                </a:lnTo>
                <a:lnTo>
                  <a:pt x="224712" y="43256"/>
                </a:lnTo>
                <a:lnTo>
                  <a:pt x="262188" y="45545"/>
                </a:lnTo>
                <a:lnTo>
                  <a:pt x="299670" y="46429"/>
                </a:lnTo>
                <a:lnTo>
                  <a:pt x="337159" y="45907"/>
                </a:lnTo>
                <a:lnTo>
                  <a:pt x="374656" y="43979"/>
                </a:lnTo>
                <a:lnTo>
                  <a:pt x="412158" y="40645"/>
                </a:lnTo>
                <a:lnTo>
                  <a:pt x="449668" y="35906"/>
                </a:lnTo>
                <a:lnTo>
                  <a:pt x="487184" y="29761"/>
                </a:lnTo>
                <a:lnTo>
                  <a:pt x="524708" y="22210"/>
                </a:lnTo>
                <a:lnTo>
                  <a:pt x="562238" y="13253"/>
                </a:lnTo>
                <a:lnTo>
                  <a:pt x="599774" y="289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1981736" y="5123684"/>
            <a:ext cx="1139225" cy="214060"/>
          </a:xfrm>
          <a:custGeom>
            <a:avLst/>
            <a:gdLst/>
            <a:ahLst/>
            <a:cxnLst/>
            <a:rect l="l" t="t" r="r" b="b"/>
            <a:pathLst>
              <a:path w="1139225" h="214060">
                <a:moveTo>
                  <a:pt x="0" y="0"/>
                </a:moveTo>
                <a:lnTo>
                  <a:pt x="67242" y="37260"/>
                </a:lnTo>
                <a:lnTo>
                  <a:pt x="135012" y="70960"/>
                </a:lnTo>
                <a:lnTo>
                  <a:pt x="203309" y="101101"/>
                </a:lnTo>
                <a:lnTo>
                  <a:pt x="272135" y="127681"/>
                </a:lnTo>
                <a:lnTo>
                  <a:pt x="341488" y="150701"/>
                </a:lnTo>
                <a:lnTo>
                  <a:pt x="411370" y="170161"/>
                </a:lnTo>
                <a:lnTo>
                  <a:pt x="481779" y="186061"/>
                </a:lnTo>
                <a:lnTo>
                  <a:pt x="552717" y="198401"/>
                </a:lnTo>
                <a:lnTo>
                  <a:pt x="624183" y="207180"/>
                </a:lnTo>
                <a:lnTo>
                  <a:pt x="696176" y="212400"/>
                </a:lnTo>
                <a:lnTo>
                  <a:pt x="768698" y="214060"/>
                </a:lnTo>
                <a:lnTo>
                  <a:pt x="841747" y="212159"/>
                </a:lnTo>
                <a:lnTo>
                  <a:pt x="915325" y="206699"/>
                </a:lnTo>
                <a:lnTo>
                  <a:pt x="989430" y="197678"/>
                </a:lnTo>
                <a:lnTo>
                  <a:pt x="1064064" y="185097"/>
                </a:lnTo>
                <a:lnTo>
                  <a:pt x="1139225" y="168957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1981736" y="5123684"/>
            <a:ext cx="2881577" cy="360417"/>
          </a:xfrm>
          <a:custGeom>
            <a:avLst/>
            <a:gdLst/>
            <a:ahLst/>
            <a:cxnLst/>
            <a:rect l="l" t="t" r="r" b="b"/>
            <a:pathLst>
              <a:path w="2881577" h="360417">
                <a:moveTo>
                  <a:pt x="0" y="0"/>
                </a:moveTo>
                <a:lnTo>
                  <a:pt x="176900" y="76066"/>
                </a:lnTo>
                <a:lnTo>
                  <a:pt x="354227" y="143127"/>
                </a:lnTo>
                <a:lnTo>
                  <a:pt x="531980" y="201183"/>
                </a:lnTo>
                <a:lnTo>
                  <a:pt x="710160" y="250235"/>
                </a:lnTo>
                <a:lnTo>
                  <a:pt x="888766" y="290281"/>
                </a:lnTo>
                <a:lnTo>
                  <a:pt x="1067798" y="321322"/>
                </a:lnTo>
                <a:lnTo>
                  <a:pt x="1247257" y="343359"/>
                </a:lnTo>
                <a:lnTo>
                  <a:pt x="1427142" y="356390"/>
                </a:lnTo>
                <a:lnTo>
                  <a:pt x="1607454" y="360417"/>
                </a:lnTo>
                <a:lnTo>
                  <a:pt x="1788192" y="355439"/>
                </a:lnTo>
                <a:lnTo>
                  <a:pt x="1969357" y="341456"/>
                </a:lnTo>
                <a:lnTo>
                  <a:pt x="2150948" y="318468"/>
                </a:lnTo>
                <a:lnTo>
                  <a:pt x="2332966" y="286475"/>
                </a:lnTo>
                <a:lnTo>
                  <a:pt x="2515410" y="245477"/>
                </a:lnTo>
                <a:lnTo>
                  <a:pt x="2698280" y="195474"/>
                </a:lnTo>
                <a:lnTo>
                  <a:pt x="2881577" y="136466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5681526" y="5135894"/>
            <a:ext cx="240245" cy="493831"/>
          </a:xfrm>
          <a:custGeom>
            <a:avLst/>
            <a:gdLst/>
            <a:ahLst/>
            <a:cxnLst/>
            <a:rect l="l" t="t" r="r" b="b"/>
            <a:pathLst>
              <a:path w="240245" h="493831">
                <a:moveTo>
                  <a:pt x="0" y="0"/>
                </a:moveTo>
                <a:lnTo>
                  <a:pt x="3441" y="36495"/>
                </a:lnTo>
                <a:lnTo>
                  <a:pt x="8425" y="72240"/>
                </a:lnTo>
                <a:lnTo>
                  <a:pt x="14953" y="107233"/>
                </a:lnTo>
                <a:lnTo>
                  <a:pt x="23024" y="141476"/>
                </a:lnTo>
                <a:lnTo>
                  <a:pt x="32638" y="174968"/>
                </a:lnTo>
                <a:lnTo>
                  <a:pt x="43795" y="207710"/>
                </a:lnTo>
                <a:lnTo>
                  <a:pt x="56496" y="239700"/>
                </a:lnTo>
                <a:lnTo>
                  <a:pt x="70740" y="270940"/>
                </a:lnTo>
                <a:lnTo>
                  <a:pt x="86527" y="301429"/>
                </a:lnTo>
                <a:lnTo>
                  <a:pt x="103857" y="331167"/>
                </a:lnTo>
                <a:lnTo>
                  <a:pt x="122730" y="360155"/>
                </a:lnTo>
                <a:lnTo>
                  <a:pt x="143147" y="388392"/>
                </a:lnTo>
                <a:lnTo>
                  <a:pt x="165107" y="415878"/>
                </a:lnTo>
                <a:lnTo>
                  <a:pt x="188610" y="442613"/>
                </a:lnTo>
                <a:lnTo>
                  <a:pt x="213656" y="468597"/>
                </a:lnTo>
                <a:lnTo>
                  <a:pt x="240245" y="49383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6176052" y="5135894"/>
            <a:ext cx="521076" cy="227363"/>
          </a:xfrm>
          <a:custGeom>
            <a:avLst/>
            <a:gdLst/>
            <a:ahLst/>
            <a:cxnLst/>
            <a:rect l="l" t="t" r="r" b="b"/>
            <a:pathLst>
              <a:path w="521076" h="227363">
                <a:moveTo>
                  <a:pt x="0" y="0"/>
                </a:moveTo>
                <a:lnTo>
                  <a:pt x="27239" y="26423"/>
                </a:lnTo>
                <a:lnTo>
                  <a:pt x="55187" y="51218"/>
                </a:lnTo>
                <a:lnTo>
                  <a:pt x="83847" y="74384"/>
                </a:lnTo>
                <a:lnTo>
                  <a:pt x="113217" y="95922"/>
                </a:lnTo>
                <a:lnTo>
                  <a:pt x="143297" y="115831"/>
                </a:lnTo>
                <a:lnTo>
                  <a:pt x="174088" y="134112"/>
                </a:lnTo>
                <a:lnTo>
                  <a:pt x="205590" y="150765"/>
                </a:lnTo>
                <a:lnTo>
                  <a:pt x="237802" y="165789"/>
                </a:lnTo>
                <a:lnTo>
                  <a:pt x="270724" y="179185"/>
                </a:lnTo>
                <a:lnTo>
                  <a:pt x="304357" y="190953"/>
                </a:lnTo>
                <a:lnTo>
                  <a:pt x="338701" y="201092"/>
                </a:lnTo>
                <a:lnTo>
                  <a:pt x="373755" y="209603"/>
                </a:lnTo>
                <a:lnTo>
                  <a:pt x="409519" y="216485"/>
                </a:lnTo>
                <a:lnTo>
                  <a:pt x="445994" y="221739"/>
                </a:lnTo>
                <a:lnTo>
                  <a:pt x="483180" y="225365"/>
                </a:lnTo>
                <a:lnTo>
                  <a:pt x="521076" y="227363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1518888" y="1588736"/>
            <a:ext cx="298214" cy="1710151"/>
          </a:xfrm>
          <a:custGeom>
            <a:avLst/>
            <a:gdLst/>
            <a:ahLst/>
            <a:cxnLst/>
            <a:rect l="l" t="t" r="r" b="b"/>
            <a:pathLst>
              <a:path w="298214" h="1710151">
                <a:moveTo>
                  <a:pt x="78217" y="0"/>
                </a:moveTo>
                <a:lnTo>
                  <a:pt x="51885" y="112041"/>
                </a:lnTo>
                <a:lnTo>
                  <a:pt x="30897" y="223394"/>
                </a:lnTo>
                <a:lnTo>
                  <a:pt x="15254" y="334060"/>
                </a:lnTo>
                <a:lnTo>
                  <a:pt x="4955" y="444038"/>
                </a:lnTo>
                <a:lnTo>
                  <a:pt x="0" y="553328"/>
                </a:lnTo>
                <a:lnTo>
                  <a:pt x="389" y="661932"/>
                </a:lnTo>
                <a:lnTo>
                  <a:pt x="6122" y="769847"/>
                </a:lnTo>
                <a:lnTo>
                  <a:pt x="17200" y="877075"/>
                </a:lnTo>
                <a:lnTo>
                  <a:pt x="33622" y="983616"/>
                </a:lnTo>
                <a:lnTo>
                  <a:pt x="55388" y="1089469"/>
                </a:lnTo>
                <a:lnTo>
                  <a:pt x="82498" y="1194635"/>
                </a:lnTo>
                <a:lnTo>
                  <a:pt x="114953" y="1299113"/>
                </a:lnTo>
                <a:lnTo>
                  <a:pt x="152752" y="1402904"/>
                </a:lnTo>
                <a:lnTo>
                  <a:pt x="195895" y="1506007"/>
                </a:lnTo>
                <a:lnTo>
                  <a:pt x="244382" y="1608423"/>
                </a:lnTo>
                <a:lnTo>
                  <a:pt x="298214" y="1710151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1817102" y="3298887"/>
            <a:ext cx="1257476" cy="1330270"/>
          </a:xfrm>
          <a:custGeom>
            <a:avLst/>
            <a:gdLst/>
            <a:ahLst/>
            <a:cxnLst/>
            <a:rect l="l" t="t" r="r" b="b"/>
            <a:pathLst>
              <a:path w="1257476" h="1330270">
                <a:moveTo>
                  <a:pt x="1257476" y="1330270"/>
                </a:moveTo>
                <a:lnTo>
                  <a:pt x="1210062" y="1217656"/>
                </a:lnTo>
                <a:lnTo>
                  <a:pt x="1158491" y="1108972"/>
                </a:lnTo>
                <a:lnTo>
                  <a:pt x="1102763" y="1004217"/>
                </a:lnTo>
                <a:lnTo>
                  <a:pt x="1042877" y="903392"/>
                </a:lnTo>
                <a:lnTo>
                  <a:pt x="978835" y="806496"/>
                </a:lnTo>
                <a:lnTo>
                  <a:pt x="910635" y="713531"/>
                </a:lnTo>
                <a:lnTo>
                  <a:pt x="838279" y="624494"/>
                </a:lnTo>
                <a:lnTo>
                  <a:pt x="761765" y="539388"/>
                </a:lnTo>
                <a:lnTo>
                  <a:pt x="681094" y="458210"/>
                </a:lnTo>
                <a:lnTo>
                  <a:pt x="596266" y="380963"/>
                </a:lnTo>
                <a:lnTo>
                  <a:pt x="507281" y="307645"/>
                </a:lnTo>
                <a:lnTo>
                  <a:pt x="414139" y="238257"/>
                </a:lnTo>
                <a:lnTo>
                  <a:pt x="316840" y="172798"/>
                </a:lnTo>
                <a:lnTo>
                  <a:pt x="215383" y="111269"/>
                </a:lnTo>
                <a:lnTo>
                  <a:pt x="109770" y="5367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rgbClr val="1F4E7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6634294" y="5300423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4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4" y="18404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4" name="Connector 563"/>
          <p:cNvCxnSpPr/>
          <p:nvPr/>
        </p:nvCxnSpPr>
        <p:spPr>
          <a:xfrm>
            <a:off x="6615444" y="5363257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5" name="TextBox 564"/>
          <p:cNvSpPr txBox="1"/>
          <p:nvPr/>
        </p:nvSpPr>
        <p:spPr>
          <a:xfrm>
            <a:off x="6772528" y="5212456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u</a:t>
            </a:r>
          </a:p>
        </p:txBody>
      </p:sp>
      <p:sp>
        <p:nvSpPr>
          <p:cNvPr id="122" name="Freeform 121"/>
          <p:cNvSpPr/>
          <p:nvPr/>
        </p:nvSpPr>
        <p:spPr>
          <a:xfrm>
            <a:off x="3614318" y="4255385"/>
            <a:ext cx="125667" cy="62834"/>
          </a:xfrm>
          <a:custGeom>
            <a:avLst/>
            <a:gdLst/>
            <a:ahLst/>
            <a:cxnLst/>
            <a:rect l="l" t="t" r="r" b="b"/>
            <a:pathLst>
              <a:path w="125667" h="62834">
                <a:moveTo>
                  <a:pt x="125667" y="62834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3" y="0"/>
                </a:lnTo>
                <a:lnTo>
                  <a:pt x="50575" y="1207"/>
                </a:lnTo>
                <a:lnTo>
                  <a:pt x="38788" y="4783"/>
                </a:lnTo>
                <a:lnTo>
                  <a:pt x="27925" y="10589"/>
                </a:lnTo>
                <a:lnTo>
                  <a:pt x="18403" y="18403"/>
                </a:lnTo>
                <a:lnTo>
                  <a:pt x="10589" y="27925"/>
                </a:lnTo>
                <a:lnTo>
                  <a:pt x="4783" y="38788"/>
                </a:lnTo>
                <a:lnTo>
                  <a:pt x="1207" y="50575"/>
                </a:lnTo>
                <a:lnTo>
                  <a:pt x="0" y="62834"/>
                </a:lnTo>
                <a:lnTo>
                  <a:pt x="125667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6" name="Connector 565"/>
          <p:cNvCxnSpPr/>
          <p:nvPr/>
        </p:nvCxnSpPr>
        <p:spPr>
          <a:xfrm>
            <a:off x="3595468" y="4318219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7" name="TextBox 566"/>
          <p:cNvSpPr txBox="1"/>
          <p:nvPr/>
        </p:nvSpPr>
        <p:spPr>
          <a:xfrm>
            <a:off x="3752552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123" name="Freeform 122"/>
          <p:cNvSpPr/>
          <p:nvPr/>
        </p:nvSpPr>
        <p:spPr>
          <a:xfrm>
            <a:off x="5208002" y="4255385"/>
            <a:ext cx="125668" cy="62834"/>
          </a:xfrm>
          <a:custGeom>
            <a:avLst/>
            <a:gdLst/>
            <a:ahLst/>
            <a:cxnLst/>
            <a:rect l="l" t="t" r="r" b="b"/>
            <a:pathLst>
              <a:path w="125668" h="62834">
                <a:moveTo>
                  <a:pt x="125668" y="62834"/>
                </a:moveTo>
                <a:lnTo>
                  <a:pt x="124460" y="50575"/>
                </a:lnTo>
                <a:lnTo>
                  <a:pt x="120885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3"/>
                </a:lnTo>
                <a:lnTo>
                  <a:pt x="75092" y="1207"/>
                </a:lnTo>
                <a:lnTo>
                  <a:pt x="62834" y="0"/>
                </a:lnTo>
                <a:lnTo>
                  <a:pt x="50576" y="1207"/>
                </a:lnTo>
                <a:lnTo>
                  <a:pt x="38789" y="4783"/>
                </a:lnTo>
                <a:lnTo>
                  <a:pt x="27926" y="10589"/>
                </a:lnTo>
                <a:lnTo>
                  <a:pt x="18404" y="18403"/>
                </a:lnTo>
                <a:lnTo>
                  <a:pt x="10590" y="27925"/>
                </a:lnTo>
                <a:lnTo>
                  <a:pt x="4783" y="38788"/>
                </a:lnTo>
                <a:lnTo>
                  <a:pt x="1208" y="50575"/>
                </a:lnTo>
                <a:lnTo>
                  <a:pt x="0" y="62834"/>
                </a:lnTo>
                <a:lnTo>
                  <a:pt x="125668" y="62834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8" name="Connector 567"/>
          <p:cNvCxnSpPr/>
          <p:nvPr/>
        </p:nvCxnSpPr>
        <p:spPr>
          <a:xfrm>
            <a:off x="5189152" y="4318219"/>
            <a:ext cx="163368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9" name="TextBox 568"/>
          <p:cNvSpPr txBox="1"/>
          <p:nvPr/>
        </p:nvSpPr>
        <p:spPr>
          <a:xfrm>
            <a:off x="5346236" y="4167418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p</a:t>
            </a:r>
          </a:p>
        </p:txBody>
      </p:sp>
      <p:sp>
        <p:nvSpPr>
          <p:cNvPr id="570" name="Oval 569"/>
          <p:cNvSpPr/>
          <p:nvPr/>
        </p:nvSpPr>
        <p:spPr>
          <a:xfrm>
            <a:off x="4787913" y="518475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1" name="Connector 570"/>
          <p:cNvCxnSpPr/>
          <p:nvPr/>
        </p:nvCxnSpPr>
        <p:spPr>
          <a:xfrm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2" name="Connector 571"/>
          <p:cNvCxnSpPr/>
          <p:nvPr/>
        </p:nvCxnSpPr>
        <p:spPr>
          <a:xfrm flipV="1">
            <a:off x="4810005" y="5206842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3" name="TextBox 572"/>
          <p:cNvSpPr txBox="1"/>
          <p:nvPr/>
        </p:nvSpPr>
        <p:spPr>
          <a:xfrm>
            <a:off x="4938713" y="5109349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s</a:t>
            </a:r>
          </a:p>
        </p:txBody>
      </p:sp>
      <p:sp>
        <p:nvSpPr>
          <p:cNvPr id="574" name="Oval 573"/>
          <p:cNvSpPr/>
          <p:nvPr/>
        </p:nvSpPr>
        <p:spPr>
          <a:xfrm>
            <a:off x="3045561" y="5217240"/>
            <a:ext cx="150800" cy="1508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5" name="Connector 574"/>
          <p:cNvCxnSpPr/>
          <p:nvPr/>
        </p:nvCxnSpPr>
        <p:spPr>
          <a:xfrm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6" name="Connector 575"/>
          <p:cNvCxnSpPr/>
          <p:nvPr/>
        </p:nvCxnSpPr>
        <p:spPr>
          <a:xfrm flipV="1">
            <a:off x="3067653" y="5239333"/>
            <a:ext cx="106616" cy="106616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7" name="TextBox 576"/>
          <p:cNvSpPr txBox="1"/>
          <p:nvPr/>
        </p:nvSpPr>
        <p:spPr>
          <a:xfrm>
            <a:off x="3196361" y="5141840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r</a:t>
            </a:r>
          </a:p>
        </p:txBody>
      </p:sp>
      <p:sp>
        <p:nvSpPr>
          <p:cNvPr id="578" name="Oval 577"/>
          <p:cNvSpPr/>
          <p:nvPr/>
        </p:nvSpPr>
        <p:spPr>
          <a:xfrm>
            <a:off x="5871505" y="5579458"/>
            <a:ext cx="100533" cy="100533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9" name="Oval 578"/>
          <p:cNvSpPr/>
          <p:nvPr/>
        </p:nvSpPr>
        <p:spPr>
          <a:xfrm>
            <a:off x="5906063" y="5614017"/>
            <a:ext cx="31416" cy="31416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0" name="TextBox 579"/>
          <p:cNvSpPr txBox="1"/>
          <p:nvPr/>
        </p:nvSpPr>
        <p:spPr>
          <a:xfrm>
            <a:off x="5997172" y="5478925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t</a:t>
            </a:r>
          </a:p>
        </p:txBody>
      </p:sp>
      <p:sp>
        <p:nvSpPr>
          <p:cNvPr id="581" name="Oval 580"/>
          <p:cNvSpPr/>
          <p:nvPr/>
        </p:nvSpPr>
        <p:spPr>
          <a:xfrm>
            <a:off x="2360257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2379107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2" name="TextBox 581"/>
          <p:cNvSpPr txBox="1"/>
          <p:nvPr/>
        </p:nvSpPr>
        <p:spPr>
          <a:xfrm>
            <a:off x="2479640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3" name="Oval 582"/>
          <p:cNvSpPr/>
          <p:nvPr/>
        </p:nvSpPr>
        <p:spPr>
          <a:xfrm>
            <a:off x="3508395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3527245" y="1274507"/>
            <a:ext cx="50266" cy="47125"/>
          </a:xfrm>
          <a:custGeom>
            <a:avLst/>
            <a:gdLst/>
            <a:ahLst/>
            <a:cxnLst/>
            <a:rect l="l" t="t" r="r" b="b"/>
            <a:pathLst>
              <a:path w="50266" h="47125">
                <a:moveTo>
                  <a:pt x="25133" y="0"/>
                </a:moveTo>
                <a:lnTo>
                  <a:pt x="0" y="47125"/>
                </a:lnTo>
                <a:lnTo>
                  <a:pt x="50266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4" name="TextBox 583"/>
          <p:cNvSpPr txBox="1"/>
          <p:nvPr/>
        </p:nvSpPr>
        <p:spPr>
          <a:xfrm>
            <a:off x="3627778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5" name="Oval 584"/>
          <p:cNvSpPr/>
          <p:nvPr/>
        </p:nvSpPr>
        <p:spPr>
          <a:xfrm>
            <a:off x="4565139" y="1258799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Freeform 125"/>
          <p:cNvSpPr/>
          <p:nvPr/>
        </p:nvSpPr>
        <p:spPr>
          <a:xfrm>
            <a:off x="4583989" y="1274507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4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4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6" name="TextBox 585"/>
          <p:cNvSpPr txBox="1"/>
          <p:nvPr/>
        </p:nvSpPr>
        <p:spPr>
          <a:xfrm>
            <a:off x="4684523" y="1151982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587" name="Oval 586"/>
          <p:cNvSpPr/>
          <p:nvPr/>
        </p:nvSpPr>
        <p:spPr>
          <a:xfrm>
            <a:off x="5164914" y="1261690"/>
            <a:ext cx="87966" cy="87966"/>
          </a:xfrm>
          <a:prstGeom prst="ellipse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5183764" y="1277398"/>
            <a:ext cx="50267" cy="47125"/>
          </a:xfrm>
          <a:custGeom>
            <a:avLst/>
            <a:gdLst/>
            <a:ahLst/>
            <a:cxnLst/>
            <a:rect l="l" t="t" r="r" b="b"/>
            <a:pathLst>
              <a:path w="50267" h="47125">
                <a:moveTo>
                  <a:pt x="25133" y="0"/>
                </a:moveTo>
                <a:lnTo>
                  <a:pt x="0" y="47125"/>
                </a:lnTo>
                <a:lnTo>
                  <a:pt x="50267" y="47125"/>
                </a:lnTo>
                <a:lnTo>
                  <a:pt x="25133" y="0"/>
                </a:lnTo>
                <a:close/>
              </a:path>
            </a:pathLst>
          </a:cu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TextBox 587"/>
          <p:cNvSpPr txBox="1"/>
          <p:nvPr/>
        </p:nvSpPr>
        <p:spPr>
          <a:xfrm>
            <a:off x="5284298" y="1154873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q</a:t>
            </a:r>
          </a:p>
        </p:txBody>
      </p:sp>
      <p:sp>
        <p:nvSpPr>
          <p:cNvPr id="128" name="Freeform 127"/>
          <p:cNvSpPr/>
          <p:nvPr/>
        </p:nvSpPr>
        <p:spPr>
          <a:xfrm>
            <a:off x="1754268" y="3236054"/>
            <a:ext cx="125667" cy="62833"/>
          </a:xfrm>
          <a:custGeom>
            <a:avLst/>
            <a:gdLst/>
            <a:ahLst/>
            <a:cxnLst/>
            <a:rect l="l" t="t" r="r" b="b"/>
            <a:pathLst>
              <a:path w="125667" h="62833">
                <a:moveTo>
                  <a:pt x="125667" y="62833"/>
                </a:moveTo>
                <a:lnTo>
                  <a:pt x="124460" y="50575"/>
                </a:lnTo>
                <a:lnTo>
                  <a:pt x="120884" y="38788"/>
                </a:lnTo>
                <a:lnTo>
                  <a:pt x="115078" y="27925"/>
                </a:lnTo>
                <a:lnTo>
                  <a:pt x="107264" y="18403"/>
                </a:lnTo>
                <a:lnTo>
                  <a:pt x="97742" y="10589"/>
                </a:lnTo>
                <a:lnTo>
                  <a:pt x="86879" y="4782"/>
                </a:lnTo>
                <a:lnTo>
                  <a:pt x="75092" y="1207"/>
                </a:lnTo>
                <a:lnTo>
                  <a:pt x="62834" y="0"/>
                </a:lnTo>
                <a:lnTo>
                  <a:pt x="50575" y="1207"/>
                </a:lnTo>
                <a:lnTo>
                  <a:pt x="38788" y="4782"/>
                </a:lnTo>
                <a:lnTo>
                  <a:pt x="27925" y="10589"/>
                </a:lnTo>
                <a:lnTo>
                  <a:pt x="18404" y="18403"/>
                </a:lnTo>
                <a:lnTo>
                  <a:pt x="10589" y="27925"/>
                </a:lnTo>
                <a:lnTo>
                  <a:pt x="4783" y="38788"/>
                </a:lnTo>
                <a:lnTo>
                  <a:pt x="1207" y="50575"/>
                </a:lnTo>
                <a:lnTo>
                  <a:pt x="0" y="62833"/>
                </a:lnTo>
                <a:lnTo>
                  <a:pt x="125667" y="62833"/>
                </a:lnTo>
                <a:close/>
              </a:path>
            </a:pathLst>
          </a:custGeom>
          <a:solidFill>
            <a:srgbClr val="1A1A1A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9" name="Connector 588"/>
          <p:cNvCxnSpPr/>
          <p:nvPr/>
        </p:nvCxnSpPr>
        <p:spPr>
          <a:xfrm>
            <a:off x="1735418" y="3298887"/>
            <a:ext cx="163367" cy="0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0" name="TextBox 589"/>
          <p:cNvSpPr txBox="1"/>
          <p:nvPr/>
        </p:nvSpPr>
        <p:spPr>
          <a:xfrm>
            <a:off x="1892502" y="3148087"/>
            <a:ext cx="125667" cy="10053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>
                <a:solidFill>
                  <a:srgbClr val="1F4E79"/>
                </a:solidFill>
                <a:latin typeface="Microsoft YaHei"/>
              </a:rPr>
              <a:t>v</a:t>
            </a:r>
          </a:p>
        </p:txBody>
      </p:sp>
      <p:sp>
        <p:nvSpPr>
          <p:cNvPr id="591" name="Oval 590"/>
          <p:cNvSpPr/>
          <p:nvPr/>
        </p:nvSpPr>
        <p:spPr>
          <a:xfrm>
            <a:off x="1574485" y="1566116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2" name="Connector 591"/>
          <p:cNvCxnSpPr/>
          <p:nvPr/>
        </p:nvCxnSpPr>
        <p:spPr>
          <a:xfrm flipV="1">
            <a:off x="1597105" y="1488619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>
            <a:off x="1681113" y="148861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>
            <a:off x="1666832" y="1505639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>
            <a:off x="1652550" y="1522659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6" name="Rounded Rectangle 595"/>
          <p:cNvSpPr/>
          <p:nvPr/>
        </p:nvSpPr>
        <p:spPr>
          <a:xfrm>
            <a:off x="1693680" y="1360047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7" name="TextBox 596"/>
          <p:cNvSpPr txBox="1"/>
          <p:nvPr/>
        </p:nvSpPr>
        <p:spPr>
          <a:xfrm>
            <a:off x="1693680" y="1360047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S11</a:t>
            </a:r>
          </a:p>
        </p:txBody>
      </p:sp>
      <p:sp>
        <p:nvSpPr>
          <p:cNvPr id="598" name="Oval 597"/>
          <p:cNvSpPr/>
          <p:nvPr/>
        </p:nvSpPr>
        <p:spPr>
          <a:xfrm>
            <a:off x="3051958" y="4606537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9" name="Connector 598"/>
          <p:cNvCxnSpPr/>
          <p:nvPr/>
        </p:nvCxnSpPr>
        <p:spPr>
          <a:xfrm flipV="1">
            <a:off x="3074578" y="4529040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0" name="Connector 599"/>
          <p:cNvCxnSpPr/>
          <p:nvPr/>
        </p:nvCxnSpPr>
        <p:spPr>
          <a:xfrm>
            <a:off x="3158587" y="4529040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1" name="Connector 600"/>
          <p:cNvCxnSpPr/>
          <p:nvPr/>
        </p:nvCxnSpPr>
        <p:spPr>
          <a:xfrm>
            <a:off x="3144305" y="4546060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2" name="Connector 601"/>
          <p:cNvCxnSpPr/>
          <p:nvPr/>
        </p:nvCxnSpPr>
        <p:spPr>
          <a:xfrm>
            <a:off x="3130024" y="4563080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3" name="Rounded Rectangle 602"/>
          <p:cNvSpPr/>
          <p:nvPr/>
        </p:nvSpPr>
        <p:spPr>
          <a:xfrm>
            <a:off x="3171153" y="4400468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4" name="TextBox 603"/>
          <p:cNvSpPr txBox="1"/>
          <p:nvPr/>
        </p:nvSpPr>
        <p:spPr>
          <a:xfrm>
            <a:off x="3171153" y="4400468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S12</a:t>
            </a:r>
          </a:p>
        </p:txBody>
      </p:sp>
      <p:sp>
        <p:nvSpPr>
          <p:cNvPr id="605" name="Oval 604"/>
          <p:cNvSpPr/>
          <p:nvPr/>
        </p:nvSpPr>
        <p:spPr>
          <a:xfrm>
            <a:off x="1959116" y="510106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6" name="Connector 605"/>
          <p:cNvCxnSpPr/>
          <p:nvPr/>
        </p:nvCxnSpPr>
        <p:spPr>
          <a:xfrm flipV="1">
            <a:off x="1981736" y="5023567"/>
            <a:ext cx="84009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7" name="Connector 606"/>
          <p:cNvCxnSpPr/>
          <p:nvPr/>
        </p:nvCxnSpPr>
        <p:spPr>
          <a:xfrm>
            <a:off x="2065745" y="502356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8" name="Connector 607"/>
          <p:cNvCxnSpPr/>
          <p:nvPr/>
        </p:nvCxnSpPr>
        <p:spPr>
          <a:xfrm>
            <a:off x="2051463" y="5040586"/>
            <a:ext cx="25030" cy="21003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9" name="Rounded Rectangle 608"/>
          <p:cNvSpPr/>
          <p:nvPr/>
        </p:nvSpPr>
        <p:spPr>
          <a:xfrm>
            <a:off x="2078311" y="489499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TextBox 609"/>
          <p:cNvSpPr txBox="1"/>
          <p:nvPr/>
        </p:nvSpPr>
        <p:spPr>
          <a:xfrm>
            <a:off x="2078311" y="489499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S13</a:t>
            </a:r>
          </a:p>
        </p:txBody>
      </p:sp>
      <p:sp>
        <p:nvSpPr>
          <p:cNvPr id="611" name="Oval 610"/>
          <p:cNvSpPr/>
          <p:nvPr/>
        </p:nvSpPr>
        <p:spPr>
          <a:xfrm>
            <a:off x="5658906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2" name="Connector 611"/>
          <p:cNvCxnSpPr/>
          <p:nvPr/>
        </p:nvCxnSpPr>
        <p:spPr>
          <a:xfrm flipV="1">
            <a:off x="5681526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3" name="Connector 612"/>
          <p:cNvCxnSpPr/>
          <p:nvPr/>
        </p:nvCxnSpPr>
        <p:spPr>
          <a:xfrm>
            <a:off x="5765534" y="5035777"/>
            <a:ext cx="25029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4" name="Rounded Rectangle 613"/>
          <p:cNvSpPr/>
          <p:nvPr/>
        </p:nvSpPr>
        <p:spPr>
          <a:xfrm>
            <a:off x="5778101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5" name="TextBox 614"/>
          <p:cNvSpPr txBox="1"/>
          <p:nvPr/>
        </p:nvSpPr>
        <p:spPr>
          <a:xfrm>
            <a:off x="5778101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S14</a:t>
            </a:r>
          </a:p>
        </p:txBody>
      </p:sp>
      <p:sp>
        <p:nvSpPr>
          <p:cNvPr id="616" name="Oval 615"/>
          <p:cNvSpPr/>
          <p:nvPr/>
        </p:nvSpPr>
        <p:spPr>
          <a:xfrm>
            <a:off x="6153432" y="5113274"/>
            <a:ext cx="45240" cy="4524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7" name="Connector 616"/>
          <p:cNvCxnSpPr/>
          <p:nvPr/>
        </p:nvCxnSpPr>
        <p:spPr>
          <a:xfrm flipV="1">
            <a:off x="6176052" y="5035777"/>
            <a:ext cx="84008" cy="100117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8" name="Connector 617"/>
          <p:cNvCxnSpPr/>
          <p:nvPr/>
        </p:nvCxnSpPr>
        <p:spPr>
          <a:xfrm>
            <a:off x="6260060" y="5035777"/>
            <a:ext cx="25030" cy="21002"/>
          </a:xfrm>
          <a:prstGeom prst="line">
            <a:avLst/>
          </a:prstGeom>
          <a:ln w="1587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9" name="Rounded Rectangle 618"/>
          <p:cNvSpPr/>
          <p:nvPr/>
        </p:nvSpPr>
        <p:spPr>
          <a:xfrm>
            <a:off x="6272627" y="4907205"/>
            <a:ext cx="304038" cy="194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0" name="TextBox 619"/>
          <p:cNvSpPr txBox="1"/>
          <p:nvPr/>
        </p:nvSpPr>
        <p:spPr>
          <a:xfrm>
            <a:off x="6272627" y="4907205"/>
            <a:ext cx="304038" cy="1943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1A1A1A"/>
                </a:solidFill>
                <a:latin typeface="Microsoft YaHei"/>
              </a:rPr>
              <a:t>S15</a:t>
            </a:r>
          </a:p>
        </p:txBody>
      </p:sp>
      <p:sp>
        <p:nvSpPr>
          <p:cNvPr id="621" name="Rectangle 620"/>
          <p:cNvSpPr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2" name="TextBox 621"/>
          <p:cNvSpPr txBox="1"/>
          <p:nvPr/>
        </p:nvSpPr>
        <p:spPr>
          <a:xfrm>
            <a:off x="3294388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3" name="TextBox 622"/>
          <p:cNvSpPr txBox="1"/>
          <p:nvPr/>
        </p:nvSpPr>
        <p:spPr>
          <a:xfrm>
            <a:off x="3254175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FCU1</a:t>
            </a:r>
          </a:p>
        </p:txBody>
      </p:sp>
      <p:sp>
        <p:nvSpPr>
          <p:cNvPr id="624" name="Rectangle 623"/>
          <p:cNvSpPr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5" name="TextBox 624"/>
          <p:cNvSpPr txBox="1"/>
          <p:nvPr/>
        </p:nvSpPr>
        <p:spPr>
          <a:xfrm>
            <a:off x="4594809" y="6198220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6" name="TextBox 625"/>
          <p:cNvSpPr txBox="1"/>
          <p:nvPr/>
        </p:nvSpPr>
        <p:spPr>
          <a:xfrm>
            <a:off x="4554596" y="6303780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FCU2</a:t>
            </a:r>
          </a:p>
        </p:txBody>
      </p:sp>
      <p:sp>
        <p:nvSpPr>
          <p:cNvPr id="627" name="Rectangle 626"/>
          <p:cNvSpPr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8" name="TextBox 627"/>
          <p:cNvSpPr txBox="1"/>
          <p:nvPr/>
        </p:nvSpPr>
        <p:spPr>
          <a:xfrm>
            <a:off x="4936704" y="6137167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4896490" y="6242728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FCU3</a:t>
            </a:r>
          </a:p>
        </p:txBody>
      </p:sp>
      <p:sp>
        <p:nvSpPr>
          <p:cNvPr id="630" name="Rectangle 629"/>
          <p:cNvSpPr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1" name="TextBox 630"/>
          <p:cNvSpPr txBox="1"/>
          <p:nvPr/>
        </p:nvSpPr>
        <p:spPr>
          <a:xfrm>
            <a:off x="5675441" y="6088325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32" name="TextBox 631"/>
          <p:cNvSpPr txBox="1"/>
          <p:nvPr/>
        </p:nvSpPr>
        <p:spPr>
          <a:xfrm>
            <a:off x="5635227" y="6193886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FCU4</a:t>
            </a:r>
          </a:p>
        </p:txBody>
      </p:sp>
      <p:sp>
        <p:nvSpPr>
          <p:cNvPr id="633" name="Rectangle 632"/>
          <p:cNvSpPr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solidFill>
            <a:srgbClr val="FFFFFF"/>
          </a:solidFill>
          <a:ln w="9525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4" name="TextBox 633"/>
          <p:cNvSpPr txBox="1"/>
          <p:nvPr/>
        </p:nvSpPr>
        <p:spPr>
          <a:xfrm>
            <a:off x="5992914" y="6112746"/>
            <a:ext cx="170907" cy="854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00" b="1">
                <a:solidFill>
                  <a:srgbClr val="1A1A1A"/>
                </a:solidFill>
                <a:latin typeface="Microsoft YaHei"/>
              </a:rPr>
              <a:t>FCU</a:t>
            </a:r>
          </a:p>
        </p:txBody>
      </p:sp>
      <p:sp>
        <p:nvSpPr>
          <p:cNvPr id="635" name="TextBox 634"/>
          <p:cNvSpPr txBox="1"/>
          <p:nvPr/>
        </p:nvSpPr>
        <p:spPr>
          <a:xfrm>
            <a:off x="5952701" y="6218307"/>
            <a:ext cx="251334" cy="879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1">
                <a:solidFill>
                  <a:srgbClr val="1A1A1A"/>
                </a:solidFill>
                <a:latin typeface="Microsoft YaHei"/>
              </a:rPr>
              <a:t>FCU5</a:t>
            </a:r>
          </a:p>
        </p:txBody>
      </p:sp>
      <p:sp>
        <p:nvSpPr>
          <p:cNvPr id="636" name="TextBox 635"/>
          <p:cNvSpPr txBox="1"/>
          <p:nvPr/>
        </p:nvSpPr>
        <p:spPr>
          <a:xfrm>
            <a:off x="8730000" y="400000"/>
            <a:ext cx="33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A1A1A"/>
                </a:solidFill>
                <a:latin typeface="Microsoft YaHei"/>
              </a:rPr>
              <a:t>本图开关（从左到右逐键）</a:t>
            </a:r>
          </a:p>
        </p:txBody>
      </p:sp>
      <p:sp>
        <p:nvSpPr>
          <p:cNvPr id="637" name="TextBox 636"/>
          <p:cNvSpPr txBox="1"/>
          <p:nvPr/>
        </p:nvSpPr>
        <p:spPr>
          <a:xfrm>
            <a:off x="8730000" y="63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S11  3 联 · G15 区 · 通后花园门旁</a:t>
            </a:r>
          </a:p>
        </p:txBody>
      </p:sp>
      <p:sp>
        <p:nvSpPr>
          <p:cNvPr id="638" name="TextBox 637"/>
          <p:cNvSpPr txBox="1"/>
          <p:nvPr/>
        </p:nvSpPr>
        <p:spPr>
          <a:xfrm>
            <a:off x="8980000" y="79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8730000" y="99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S12  3 联 · 厨房后门旁（吧台区）</a:t>
            </a:r>
          </a:p>
        </p:txBody>
      </p:sp>
      <p:sp>
        <p:nvSpPr>
          <p:cNvPr id="640" name="TextBox 639"/>
          <p:cNvSpPr txBox="1"/>
          <p:nvPr/>
        </p:nvSpPr>
        <p:spPr>
          <a:xfrm>
            <a:off x="8980000" y="116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键1=p  键2=q  键3=v</a:t>
            </a:r>
          </a:p>
        </p:txBody>
      </p:sp>
      <p:sp>
        <p:nvSpPr>
          <p:cNvPr id="641" name="TextBox 640"/>
          <p:cNvSpPr txBox="1"/>
          <p:nvPr/>
        </p:nvSpPr>
        <p:spPr>
          <a:xfrm>
            <a:off x="8730000" y="136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S13  2 联 · 厨房入口</a:t>
            </a:r>
          </a:p>
        </p:txBody>
      </p:sp>
      <p:sp>
        <p:nvSpPr>
          <p:cNvPr id="642" name="TextBox 641"/>
          <p:cNvSpPr txBox="1"/>
          <p:nvPr/>
        </p:nvSpPr>
        <p:spPr>
          <a:xfrm>
            <a:off x="8980000" y="152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键1=r  键2=s</a:t>
            </a:r>
          </a:p>
        </p:txBody>
      </p:sp>
      <p:sp>
        <p:nvSpPr>
          <p:cNvPr id="643" name="TextBox 642"/>
          <p:cNvSpPr txBox="1"/>
          <p:nvPr/>
        </p:nvSpPr>
        <p:spPr>
          <a:xfrm>
            <a:off x="8730000" y="1725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S14  1 联 · 洗衣房门旁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8980000" y="1890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键1=t</a:t>
            </a:r>
          </a:p>
        </p:txBody>
      </p:sp>
      <p:sp>
        <p:nvSpPr>
          <p:cNvPr id="645" name="TextBox 644"/>
          <p:cNvSpPr txBox="1"/>
          <p:nvPr/>
        </p:nvSpPr>
        <p:spPr>
          <a:xfrm>
            <a:off x="8730000" y="2090000"/>
            <a:ext cx="33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S15  1 联 · 洗衣房后门旁</a:t>
            </a:r>
          </a:p>
        </p:txBody>
      </p:sp>
      <p:sp>
        <p:nvSpPr>
          <p:cNvPr id="646" name="TextBox 645"/>
          <p:cNvSpPr txBox="1"/>
          <p:nvPr/>
        </p:nvSpPr>
        <p:spPr>
          <a:xfrm>
            <a:off x="8980000" y="2255000"/>
            <a:ext cx="3100000" cy="15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>
                <a:solidFill>
                  <a:srgbClr val="1F4E79"/>
                </a:solidFill>
                <a:latin typeface="Microsoft YaHei"/>
              </a:rPr>
              <a:t>键1=u</a:t>
            </a:r>
          </a:p>
        </p:txBody>
      </p:sp>
      <p:sp>
        <p:nvSpPr>
          <p:cNvPr id="647" name="TextBox 646"/>
          <p:cNvSpPr txBox="1"/>
          <p:nvPr/>
        </p:nvSpPr>
        <p:spPr>
          <a:xfrm>
            <a:off x="8730000" y="251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C00000"/>
                </a:solidFill>
                <a:latin typeface="Microsoft YaHei"/>
              </a:rPr>
              <a:t>双控联络线（红粗线）</a:t>
            </a:r>
          </a:p>
        </p:txBody>
      </p:sp>
      <p:sp>
        <p:nvSpPr>
          <p:cNvPr id="648" name="TextBox 647"/>
          <p:cNvSpPr txBox="1"/>
          <p:nvPr/>
        </p:nvSpPr>
        <p:spPr>
          <a:xfrm>
            <a:off x="8730000" y="270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· W1：S11 ↔ S12  3C+E  回路 p q v</a:t>
            </a:r>
          </a:p>
        </p:txBody>
      </p:sp>
      <p:sp>
        <p:nvSpPr>
          <p:cNvPr id="649" name="TextBox 648"/>
          <p:cNvSpPr txBox="1"/>
          <p:nvPr/>
        </p:nvSpPr>
        <p:spPr>
          <a:xfrm>
            <a:off x="8730000" y="287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C00000"/>
                </a:solidFill>
                <a:latin typeface="Microsoft YaHei"/>
              </a:rPr>
              <a:t>红线只表示连接关系，实际走线沿墙 / 吊顶内，现场定。</a:t>
            </a:r>
          </a:p>
        </p:txBody>
      </p:sp>
      <p:sp>
        <p:nvSpPr>
          <p:cNvPr id="650" name="TextBox 649"/>
          <p:cNvSpPr txBox="1"/>
          <p:nvPr/>
        </p:nvSpPr>
        <p:spPr>
          <a:xfrm>
            <a:off x="8730000" y="3195000"/>
            <a:ext cx="3300000" cy="1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1A1A1A"/>
                </a:solidFill>
                <a:latin typeface="Microsoft YaHei"/>
              </a:rPr>
              <a:t>跨图双控</a:t>
            </a:r>
          </a:p>
        </p:txBody>
      </p:sp>
      <p:sp>
        <p:nvSpPr>
          <p:cNvPr id="651" name="TextBox 650"/>
          <p:cNvSpPr txBox="1"/>
          <p:nvPr/>
        </p:nvSpPr>
        <p:spPr>
          <a:xfrm>
            <a:off x="8730000" y="3385000"/>
            <a:ext cx="33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>
                <a:solidFill>
                  <a:srgbClr val="1A1A1A"/>
                </a:solidFill>
                <a:latin typeface="Microsoft YaHei"/>
              </a:rPr>
              <a:t>· S11 与 S7（E-GF-01）双控：p q v</a:t>
            </a:r>
          </a:p>
        </p:txBody>
      </p:sp>
      <p:sp>
        <p:nvSpPr>
          <p:cNvPr id="652" name="Rectangle 651"/>
          <p:cNvSpPr/>
          <p:nvPr/>
        </p:nvSpPr>
        <p:spPr>
          <a:xfrm>
            <a:off x="400000" y="6540000"/>
            <a:ext cx="571213" cy="40000"/>
          </a:xfrm>
          <a:prstGeom prst="rect">
            <a:avLst/>
          </a:prstGeom>
          <a:solidFill>
            <a:srgbClr val="1A1A1A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3" name="Rectangle 652"/>
          <p:cNvSpPr/>
          <p:nvPr/>
        </p:nvSpPr>
        <p:spPr>
          <a:xfrm>
            <a:off x="971213" y="6540000"/>
            <a:ext cx="571213" cy="40000"/>
          </a:xfrm>
          <a:prstGeom prst="rect">
            <a:avLst/>
          </a:prstGeom>
          <a:solidFill>
            <a:srgbClr val="FFFFFF"/>
          </a:solidFill>
          <a:ln w="63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4" name="TextBox 653"/>
          <p:cNvSpPr txBox="1"/>
          <p:nvPr/>
        </p:nvSpPr>
        <p:spPr>
          <a:xfrm>
            <a:off x="1582427" y="6500000"/>
            <a:ext cx="300000" cy="1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" b="0">
                <a:solidFill>
                  <a:srgbClr val="1A1A1A"/>
                </a:solidFill>
                <a:latin typeface="Microsoft YaHei"/>
              </a:rPr>
              <a:t>2 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SWITCH PLATE SCHEDULE — GANGS NUMBERED LEFT TO RIGHT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一层开关面板表（逐键）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E-GF-04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I-B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780000"/>
          <a:ext cx="8200000" cy="348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80000"/>
                <a:gridCol w="1150000"/>
                <a:gridCol w="620000"/>
                <a:gridCol w="1250000"/>
                <a:gridCol w="1250000"/>
                <a:gridCol w="1250000"/>
                <a:gridCol w="1250000"/>
                <a:gridCol w="1050000"/>
              </a:tblGrid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位置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面板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1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2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3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键 4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双控 / 三控对端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前门内侧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c 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d↔S4，e↔S4，f↔S4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门厅 · 前储物间旁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a 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b 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g↔S5，h↔S5，i↔S5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楼梯口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n 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 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e 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 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d↔S1，e↔S1，f↔S1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区侧 · 拱门旁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 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h 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i 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g↔S3，h↔S3，i↔S3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楼梯底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二层楼梯吊灯 F06（与二层 S11、S12 三控）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区东侧 · 卫生间走道口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联（含中途开关）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p↔S11，p↔S12，q↔S11，q↔S12，v↔S11，v↔S12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区南门旁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j↔S9，k↔S9，l↔S9，m↔S9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储物间门旁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4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 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k 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l 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m 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j↔S8，k↔S8，l↔S8，m↔S8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卫生间门外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o 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G15 区 · 通后花园门旁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p↔S7，p↔S12，q↔S7，q↔S12，v↔S7，v↔S12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厨房后门旁（吧台区）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3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 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q 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v 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p↔S7，p↔S11，q↔S7，q↔S11，v↔S7，v↔S11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厨房入口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2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r 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s 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t 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S15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洗衣房后门旁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1 联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u 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05000">
                <a:tc>
                  <a:txBody>
                    <a:bodyPr/>
                    <a:lstStyle/>
                    <a:p>
                      <a:r>
                        <a:rPr sz="600" b="1">
                          <a:solidFill>
                            <a:srgbClr val="1A1A1A"/>
                          </a:solidFill>
                          <a:latin typeface="Microsoft YaHei"/>
                        </a:rPr>
                        <a:t>FCU1–5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厨房 / 洗衣房台面后墙（见 E-GF-03）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FCU 13A ×5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600" b="0">
                          <a:solidFill>
                            <a:srgbClr val="1A1A1A"/>
                          </a:solidFill>
                          <a:latin typeface="Microsoft YaHei"/>
                        </a:rPr>
                        <a:t>各供一台电器，用途待填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730000" y="400000"/>
            <a:ext cx="3300000" cy="40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说明：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1. 键 1 → 键 4 为面板上从左到右的顺序（按 PPT 标注顺序）。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2. 字母 = 回路，见 E-GF-05；位置见 E-GF-00~03。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3. 开关中心离地 1200 mm；FCU 在台面上 150 mm。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4. 双控每对开关之间需敷设联络线 3C+E；三控回路需两只两路开关 + 一只中途开关（intermediate）。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5. 前储物间门框锁侧加门控开关 DS1（开门亮灯），与 S2 键 2 并联控制 b。</a:t>
            </a:r>
          </a:p>
          <a:p>
            <a:pPr algn="l"/>
            <a:r>
              <a:rPr sz="750" b="0">
                <a:solidFill>
                  <a:srgbClr val="1A1A1A"/>
                </a:solidFill>
                <a:latin typeface="Microsoft YaHei"/>
              </a:rPr>
              <a:t>6. 面板统一 NAB 古铜系列；联数与本表一致。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0000" y="100000"/>
            <a:ext cx="11992000" cy="6658000"/>
          </a:xfrm>
          <a:prstGeom prst="rect">
            <a:avLst/>
          </a:prstGeom>
          <a:noFill/>
          <a:ln w="1905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0000" y="180000"/>
            <a:ext cx="8000000" cy="3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0000" y="470000"/>
            <a:ext cx="8000000" cy="2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0">
                <a:solidFill>
                  <a:srgbClr val="808080"/>
                </a:solidFill>
                <a:latin typeface="Microsoft YaHei"/>
              </a:rPr>
              <a:t>GROUND FLOOR LIGHTING CIRCUIT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8650000" y="5100000"/>
            <a:ext cx="3442000" cy="1658000"/>
          </a:xfrm>
          <a:prstGeom prst="rect">
            <a:avLst/>
          </a:prstGeom>
          <a:noFill/>
          <a:ln w="12700">
            <a:solidFill>
              <a:srgbClr val="1A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10000" y="51000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项目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50000" y="51000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27PR 住宅改造 · 一层照明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50000" y="54316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710000" y="54316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50000" y="54316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一层照明回路表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50000" y="57632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710000" y="57632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图号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50000" y="57632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E-GF-05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650000" y="60948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10000" y="60948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50000" y="60948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Rev I-B · 方案 B · 精简 17 路（照明 3 路）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50000" y="6426400"/>
            <a:ext cx="3442000" cy="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710000" y="6426400"/>
            <a:ext cx="480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1">
                <a:solidFill>
                  <a:srgbClr val="1A1A1A"/>
                </a:solidFill>
                <a:latin typeface="Microsoft YaHei"/>
              </a:rPr>
              <a:t>依据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0000" y="6426400"/>
            <a:ext cx="2792000" cy="33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700" b="0">
                <a:solidFill>
                  <a:srgbClr val="1A1A1A"/>
                </a:solidFill>
                <a:latin typeface="Microsoft YaHei"/>
              </a:rPr>
              <a:t>PPT v4 第 2 页按键标注；PPT v7 / v9（用户 2026-10-06 标注）；Blender v40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190000" y="5100000"/>
            <a:ext cx="0" cy="1658000"/>
          </a:xfrm>
          <a:prstGeom prst="line">
            <a:avLst/>
          </a:prstGeom>
          <a:ln w="63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250000" y="800000"/>
          <a:ext cx="7870000" cy="5405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20000"/>
                <a:gridCol w="450000"/>
                <a:gridCol w="2900000"/>
                <a:gridCol w="450000"/>
                <a:gridCol w="2500000"/>
                <a:gridCol w="550000"/>
                <a:gridCol w="600000"/>
              </a:tblGrid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字母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回路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控制灯具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灯数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开关（编号-键）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方式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图</a:t>
                      </a:r>
                    </a:p>
                  </a:txBody>
                  <a:tcPr marT="15000" marB="15000" marL="40000" marR="40000" anchor="ctr">
                    <a:solidFill>
                      <a:srgbClr val="E7E6E6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a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门厅吊灯 G08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b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前储物间筒灯（+门控开关）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c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门廊壁灯 G25（户外）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d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起居室主灯 G06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S1-键2，S4-键2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e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上两排（含电梯旁）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S1-键3，S4-键3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f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起居室筒灯 右列+下排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S1-键4，S4-键4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g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区主灯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S5-键1，S3-键1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h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S5-键2，S3-键2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i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G07 区筒灯 右+下排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S5-键3，S3-键3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j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S8-键1，S9-键1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k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G16 吊灯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S8-键2，S9-键2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l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上排+左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S8-键3，S9-键3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m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G15 区筒灯 下排+右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S8-键4，S9-键4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双控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n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楼梯壁灯 F32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o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L15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卫生间筒灯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S10-键1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p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L16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G26_2、G26_3（三控：S11、S12、S7）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S7-键1，S11-键1，S12-键1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q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L17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围栏地灯 ×4（户外，三控：S11、S12、S7）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4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S7-键2，S11-键2，S12-键2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r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L18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吧台区吊灯（待选）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s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L19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厨房主灯（待选）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S13-键2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t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L20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洗衣房筒灯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S14-键1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u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后花园壁灯 G26_1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S15-键1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单控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  <a:tr h="235000">
                <a:tc>
                  <a:txBody>
                    <a:bodyPr/>
                    <a:lstStyle/>
                    <a:p>
                      <a:r>
                        <a:rPr sz="750" b="1">
                          <a:solidFill>
                            <a:srgbClr val="1A1A1A"/>
                          </a:solidFill>
                          <a:latin typeface="Microsoft YaHei"/>
                        </a:rPr>
                        <a:t>v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L22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后花园投光灯 SOLLA 三头 150W（离地约 3.5 m，三控：S11、S12、S7）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S7-键3，S11-键3，S12-键3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三控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750" b="0">
                          <a:solidFill>
                            <a:srgbClr val="1A1A1A"/>
                          </a:solidFill>
                          <a:latin typeface="Microsoft YaHei"/>
                        </a:rPr>
                        <a:t>03</a:t>
                      </a:r>
                    </a:p>
                  </a:txBody>
                  <a:tcPr marT="15000" marB="15000" marL="40000" marR="40000" anchor="ctr">
                    <a:solidFill>
                      <a:srgbClr val="FFFFFF"/>
                    </a:solidFill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657943C-DDA9-4971-B19D-825B96C1EEB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46b9902e-1167-4303-a629-c113ab9720e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1302</Words>
  <Application>Microsoft Office PowerPoint</Application>
  <PresentationFormat>Widescreen</PresentationFormat>
  <Paragraphs>338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Martin Jiang</cp:lastModifiedBy>
  <cp:revision>11</cp:revision>
  <dcterms:created xsi:type="dcterms:W3CDTF">2013-01-27T09:14:16Z</dcterms:created>
  <dcterms:modified xsi:type="dcterms:W3CDTF">2026-10-03T08:02:17Z</dcterms:modified>
  <cp:category/>
</cp:coreProperties>
</file>