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72" r:id="rId15"/>
    <p:sldId id="273" r:id="rId16"/>
    <p:sldId id="274" r:id="rId17"/>
    <p:sldId id="275" r:id="rId18"/>
    <p:sldId id="276" r:id="rId19"/>
    <p:sldId id="277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32E6"/>
    <a:srgbClr val="A9A9A9"/>
    <a:srgbClr val="000075"/>
    <a:srgbClr val="FABED4"/>
    <a:srgbClr val="469990"/>
    <a:srgbClr val="AB54C6"/>
    <a:srgbClr val="800000"/>
    <a:srgbClr val="9A6324"/>
    <a:srgbClr val="E6194B"/>
    <a:srgbClr val="8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778" autoAdjust="0"/>
  </p:normalViewPr>
  <p:slideViewPr>
    <p:cSldViewPr snapToGrid="0" snapToObjects="1">
      <p:cViewPr varScale="1">
        <p:scale>
          <a:sx n="105" d="100"/>
          <a:sy n="105" d="100"/>
        </p:scale>
        <p:origin x="93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7743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2475432" y="173629"/>
            <a:ext cx="3624520" cy="7406973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885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885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TextBox 538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一层照明总平面（索引图）</a:t>
            </a:r>
          </a:p>
        </p:txBody>
      </p:sp>
      <p:sp>
        <p:nvSpPr>
          <p:cNvPr id="540" name="TextBox 539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GROUND FLOOR LIGHTING — KEY PLAN</a:t>
            </a:r>
          </a:p>
        </p:txBody>
      </p:sp>
      <p:sp>
        <p:nvSpPr>
          <p:cNvPr id="541" name="Rectangle 540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TextBox 541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543" name="TextBox 542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一层照明</a:t>
            </a:r>
          </a:p>
        </p:txBody>
      </p:sp>
      <p:cxnSp>
        <p:nvCxnSpPr>
          <p:cNvPr id="544" name="Connector 543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5" name="TextBox 544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46" name="TextBox 545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一层照明总平面（索引图）</a:t>
            </a:r>
          </a:p>
        </p:txBody>
      </p:sp>
      <p:cxnSp>
        <p:nvCxnSpPr>
          <p:cNvPr id="547" name="Connector 546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8" name="TextBox 547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49" name="TextBox 548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E-GF-00</a:t>
            </a:r>
          </a:p>
        </p:txBody>
      </p:sp>
      <p:cxnSp>
        <p:nvCxnSpPr>
          <p:cNvPr id="550" name="Connector 549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1" name="TextBox 550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552" name="TextBox 551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L-B · 方案 B · 精简 17 路（照明 3 路）</a:t>
            </a:r>
          </a:p>
        </p:txBody>
      </p:sp>
      <p:cxnSp>
        <p:nvCxnSpPr>
          <p:cNvPr id="553" name="Connector 552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4" name="TextBox 553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555" name="TextBox 554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v4 第 2 页按键标注；PPT v7 / v9（用户 2026-10-06 标注）；Blender v40</a:t>
            </a:r>
          </a:p>
        </p:txBody>
      </p:sp>
      <p:cxnSp>
        <p:nvCxnSpPr>
          <p:cNvPr id="556" name="Connector 555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7" name="Rectangle 556"/>
          <p:cNvSpPr/>
          <p:nvPr/>
        </p:nvSpPr>
        <p:spPr>
          <a:xfrm>
            <a:off x="424615" y="3380384"/>
            <a:ext cx="4320000" cy="2346923"/>
          </a:xfrm>
          <a:prstGeom prst="rect">
            <a:avLst/>
          </a:prstGeom>
          <a:noFill/>
          <a:ln w="15875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" name="TextBox 557"/>
          <p:cNvSpPr txBox="1"/>
          <p:nvPr/>
        </p:nvSpPr>
        <p:spPr>
          <a:xfrm>
            <a:off x="464615" y="3410384"/>
            <a:ext cx="24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E-GF-01 放大图：起居室 · G07 区 · 门厅 · 楼梯</a:t>
            </a:r>
          </a:p>
        </p:txBody>
      </p:sp>
      <p:sp>
        <p:nvSpPr>
          <p:cNvPr id="559" name="Rectangle 558"/>
          <p:cNvSpPr/>
          <p:nvPr/>
        </p:nvSpPr>
        <p:spPr>
          <a:xfrm>
            <a:off x="756923" y="1801923"/>
            <a:ext cx="3987692" cy="1827692"/>
          </a:xfrm>
          <a:prstGeom prst="rect">
            <a:avLst/>
          </a:prstGeom>
          <a:noFill/>
          <a:ln w="15875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" name="TextBox 559"/>
          <p:cNvSpPr txBox="1"/>
          <p:nvPr/>
        </p:nvSpPr>
        <p:spPr>
          <a:xfrm>
            <a:off x="796923" y="1831923"/>
            <a:ext cx="24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E-GF-02 放大图：G15 区 · 卫生间 · 储物间</a:t>
            </a:r>
          </a:p>
        </p:txBody>
      </p:sp>
      <p:sp>
        <p:nvSpPr>
          <p:cNvPr id="561" name="Rectangle 560"/>
          <p:cNvSpPr/>
          <p:nvPr/>
        </p:nvSpPr>
        <p:spPr>
          <a:xfrm>
            <a:off x="4246153" y="1843461"/>
            <a:ext cx="4153846" cy="3946153"/>
          </a:xfrm>
          <a:prstGeom prst="rect">
            <a:avLst/>
          </a:prstGeom>
          <a:noFill/>
          <a:ln w="15875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" name="TextBox 561"/>
          <p:cNvSpPr txBox="1"/>
          <p:nvPr/>
        </p:nvSpPr>
        <p:spPr>
          <a:xfrm>
            <a:off x="4286153" y="1873461"/>
            <a:ext cx="24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E-GF-03 放大图：厨房 · 洗衣房 · 后花园</a:t>
            </a:r>
          </a:p>
        </p:txBody>
      </p:sp>
      <p:sp>
        <p:nvSpPr>
          <p:cNvPr id="2" name="Freeform 1"/>
          <p:cNvSpPr/>
          <p:nvPr/>
        </p:nvSpPr>
        <p:spPr>
          <a:xfrm>
            <a:off x="3131490" y="4852591"/>
            <a:ext cx="60000" cy="30000"/>
          </a:xfrm>
          <a:custGeom>
            <a:avLst/>
            <a:gdLst/>
            <a:ahLst/>
            <a:cxnLst/>
            <a:rect l="l" t="t" r="r" b="b"/>
            <a:pathLst>
              <a:path w="60000" h="30000">
                <a:moveTo>
                  <a:pt x="60000" y="30000"/>
                </a:moveTo>
                <a:lnTo>
                  <a:pt x="59424" y="24147"/>
                </a:lnTo>
                <a:lnTo>
                  <a:pt x="57717" y="18519"/>
                </a:lnTo>
                <a:lnTo>
                  <a:pt x="54944" y="13333"/>
                </a:lnTo>
                <a:lnTo>
                  <a:pt x="51213" y="8787"/>
                </a:lnTo>
                <a:lnTo>
                  <a:pt x="46667" y="5056"/>
                </a:lnTo>
                <a:lnTo>
                  <a:pt x="41481" y="2284"/>
                </a:lnTo>
                <a:lnTo>
                  <a:pt x="35853" y="576"/>
                </a:lnTo>
                <a:lnTo>
                  <a:pt x="30000" y="0"/>
                </a:lnTo>
                <a:lnTo>
                  <a:pt x="24148" y="576"/>
                </a:lnTo>
                <a:lnTo>
                  <a:pt x="18520" y="2284"/>
                </a:lnTo>
                <a:lnTo>
                  <a:pt x="13333" y="5056"/>
                </a:lnTo>
                <a:lnTo>
                  <a:pt x="8787" y="8787"/>
                </a:lnTo>
                <a:lnTo>
                  <a:pt x="5056" y="13333"/>
                </a:lnTo>
                <a:lnTo>
                  <a:pt x="2284" y="18519"/>
                </a:lnTo>
                <a:lnTo>
                  <a:pt x="577" y="24147"/>
                </a:lnTo>
                <a:lnTo>
                  <a:pt x="0" y="30000"/>
                </a:lnTo>
                <a:lnTo>
                  <a:pt x="60000" y="30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3" name="Connector 562"/>
          <p:cNvCxnSpPr/>
          <p:nvPr/>
        </p:nvCxnSpPr>
        <p:spPr>
          <a:xfrm>
            <a:off x="3122490" y="4882591"/>
            <a:ext cx="78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4" name="Oval 563"/>
          <p:cNvSpPr/>
          <p:nvPr/>
        </p:nvSpPr>
        <p:spPr>
          <a:xfrm>
            <a:off x="3740505" y="4189404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5" name="Connector 564"/>
          <p:cNvCxnSpPr/>
          <p:nvPr/>
        </p:nvCxnSpPr>
        <p:spPr>
          <a:xfrm>
            <a:off x="3751053" y="4199952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Connector 565"/>
          <p:cNvCxnSpPr/>
          <p:nvPr/>
        </p:nvCxnSpPr>
        <p:spPr>
          <a:xfrm flipV="1">
            <a:off x="3751053" y="4199952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7" name="Oval 566"/>
          <p:cNvSpPr/>
          <p:nvPr/>
        </p:nvSpPr>
        <p:spPr>
          <a:xfrm>
            <a:off x="2178878" y="4297024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8" name="Connector 567"/>
          <p:cNvCxnSpPr/>
          <p:nvPr/>
        </p:nvCxnSpPr>
        <p:spPr>
          <a:xfrm>
            <a:off x="2189426" y="4307572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9" name="Connector 568"/>
          <p:cNvCxnSpPr/>
          <p:nvPr/>
        </p:nvCxnSpPr>
        <p:spPr>
          <a:xfrm flipV="1">
            <a:off x="2189426" y="4307572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0" name="Oval 569"/>
          <p:cNvSpPr/>
          <p:nvPr/>
        </p:nvSpPr>
        <p:spPr>
          <a:xfrm>
            <a:off x="1819536" y="5268733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1" name="Connector 570"/>
          <p:cNvCxnSpPr/>
          <p:nvPr/>
        </p:nvCxnSpPr>
        <p:spPr>
          <a:xfrm>
            <a:off x="1830084" y="5279281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2" name="Connector 571"/>
          <p:cNvCxnSpPr/>
          <p:nvPr/>
        </p:nvCxnSpPr>
        <p:spPr>
          <a:xfrm flipV="1">
            <a:off x="1830084" y="5279281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3" name="Oval 572"/>
          <p:cNvSpPr/>
          <p:nvPr/>
        </p:nvSpPr>
        <p:spPr>
          <a:xfrm>
            <a:off x="2752437" y="2813686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4" name="Connector 573"/>
          <p:cNvCxnSpPr/>
          <p:nvPr/>
        </p:nvCxnSpPr>
        <p:spPr>
          <a:xfrm>
            <a:off x="2762985" y="2824234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5" name="Connector 574"/>
          <p:cNvCxnSpPr/>
          <p:nvPr/>
        </p:nvCxnSpPr>
        <p:spPr>
          <a:xfrm flipV="1">
            <a:off x="2762985" y="2824234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6" name="Oval 575"/>
          <p:cNvSpPr/>
          <p:nvPr/>
        </p:nvSpPr>
        <p:spPr>
          <a:xfrm>
            <a:off x="3970087" y="2563428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7" name="Connector 576"/>
          <p:cNvCxnSpPr/>
          <p:nvPr/>
        </p:nvCxnSpPr>
        <p:spPr>
          <a:xfrm>
            <a:off x="3980635" y="2573976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8" name="Connector 577"/>
          <p:cNvCxnSpPr/>
          <p:nvPr/>
        </p:nvCxnSpPr>
        <p:spPr>
          <a:xfrm flipV="1">
            <a:off x="3980635" y="2573976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Freeform 2"/>
          <p:cNvSpPr/>
          <p:nvPr/>
        </p:nvSpPr>
        <p:spPr>
          <a:xfrm>
            <a:off x="1424735" y="5265209"/>
            <a:ext cx="60000" cy="30000"/>
          </a:xfrm>
          <a:custGeom>
            <a:avLst/>
            <a:gdLst/>
            <a:ahLst/>
            <a:cxnLst/>
            <a:rect l="l" t="t" r="r" b="b"/>
            <a:pathLst>
              <a:path w="60000" h="30000">
                <a:moveTo>
                  <a:pt x="60000" y="30000"/>
                </a:moveTo>
                <a:lnTo>
                  <a:pt x="59424" y="24147"/>
                </a:lnTo>
                <a:lnTo>
                  <a:pt x="57717" y="18519"/>
                </a:lnTo>
                <a:lnTo>
                  <a:pt x="54944" y="13333"/>
                </a:lnTo>
                <a:lnTo>
                  <a:pt x="51214" y="8787"/>
                </a:lnTo>
                <a:lnTo>
                  <a:pt x="46668" y="5056"/>
                </a:lnTo>
                <a:lnTo>
                  <a:pt x="41481" y="2283"/>
                </a:lnTo>
                <a:lnTo>
                  <a:pt x="35853" y="576"/>
                </a:lnTo>
                <a:lnTo>
                  <a:pt x="30000" y="0"/>
                </a:lnTo>
                <a:lnTo>
                  <a:pt x="24148" y="576"/>
                </a:lnTo>
                <a:lnTo>
                  <a:pt x="18520" y="2283"/>
                </a:lnTo>
                <a:lnTo>
                  <a:pt x="13333" y="5056"/>
                </a:lnTo>
                <a:lnTo>
                  <a:pt x="8787" y="8787"/>
                </a:lnTo>
                <a:lnTo>
                  <a:pt x="5056" y="13333"/>
                </a:lnTo>
                <a:lnTo>
                  <a:pt x="2284" y="18519"/>
                </a:lnTo>
                <a:lnTo>
                  <a:pt x="577" y="24147"/>
                </a:lnTo>
                <a:lnTo>
                  <a:pt x="0" y="30000"/>
                </a:lnTo>
                <a:lnTo>
                  <a:pt x="60000" y="30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9" name="Connector 578"/>
          <p:cNvCxnSpPr/>
          <p:nvPr/>
        </p:nvCxnSpPr>
        <p:spPr>
          <a:xfrm>
            <a:off x="1415735" y="5295209"/>
            <a:ext cx="78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reeform 4"/>
          <p:cNvSpPr/>
          <p:nvPr/>
        </p:nvSpPr>
        <p:spPr>
          <a:xfrm>
            <a:off x="7872986" y="4884152"/>
            <a:ext cx="60000" cy="30000"/>
          </a:xfrm>
          <a:custGeom>
            <a:avLst/>
            <a:gdLst/>
            <a:ahLst/>
            <a:cxnLst/>
            <a:rect l="l" t="t" r="r" b="b"/>
            <a:pathLst>
              <a:path w="60000" h="30000">
                <a:moveTo>
                  <a:pt x="60000" y="30000"/>
                </a:moveTo>
                <a:lnTo>
                  <a:pt x="59424" y="24147"/>
                </a:lnTo>
                <a:lnTo>
                  <a:pt x="57716" y="18519"/>
                </a:lnTo>
                <a:lnTo>
                  <a:pt x="54944" y="13333"/>
                </a:lnTo>
                <a:lnTo>
                  <a:pt x="51213" y="8787"/>
                </a:lnTo>
                <a:lnTo>
                  <a:pt x="46667" y="5056"/>
                </a:lnTo>
                <a:lnTo>
                  <a:pt x="41481" y="2284"/>
                </a:lnTo>
                <a:lnTo>
                  <a:pt x="35853" y="576"/>
                </a:lnTo>
                <a:lnTo>
                  <a:pt x="30000" y="0"/>
                </a:lnTo>
                <a:lnTo>
                  <a:pt x="24147" y="576"/>
                </a:lnTo>
                <a:lnTo>
                  <a:pt x="18520" y="2284"/>
                </a:lnTo>
                <a:lnTo>
                  <a:pt x="13333" y="5056"/>
                </a:lnTo>
                <a:lnTo>
                  <a:pt x="8787" y="8787"/>
                </a:lnTo>
                <a:lnTo>
                  <a:pt x="5056" y="13333"/>
                </a:lnTo>
                <a:lnTo>
                  <a:pt x="2284" y="18519"/>
                </a:lnTo>
                <a:lnTo>
                  <a:pt x="576" y="24147"/>
                </a:lnTo>
                <a:lnTo>
                  <a:pt x="0" y="30000"/>
                </a:lnTo>
                <a:lnTo>
                  <a:pt x="60000" y="30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0" name="Connector 579"/>
          <p:cNvCxnSpPr/>
          <p:nvPr/>
        </p:nvCxnSpPr>
        <p:spPr>
          <a:xfrm>
            <a:off x="7863986" y="4914152"/>
            <a:ext cx="78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Freeform 109"/>
          <p:cNvSpPr/>
          <p:nvPr/>
        </p:nvSpPr>
        <p:spPr>
          <a:xfrm>
            <a:off x="5818281" y="4173138"/>
            <a:ext cx="60000" cy="30000"/>
          </a:xfrm>
          <a:custGeom>
            <a:avLst/>
            <a:gdLst/>
            <a:ahLst/>
            <a:cxnLst/>
            <a:rect l="l" t="t" r="r" b="b"/>
            <a:pathLst>
              <a:path w="60000" h="30000">
                <a:moveTo>
                  <a:pt x="60000" y="30000"/>
                </a:moveTo>
                <a:lnTo>
                  <a:pt x="59423" y="24147"/>
                </a:lnTo>
                <a:lnTo>
                  <a:pt x="57716" y="18519"/>
                </a:lnTo>
                <a:lnTo>
                  <a:pt x="54944" y="13333"/>
                </a:lnTo>
                <a:lnTo>
                  <a:pt x="51213" y="8787"/>
                </a:lnTo>
                <a:lnTo>
                  <a:pt x="46667" y="5056"/>
                </a:lnTo>
                <a:lnTo>
                  <a:pt x="41480" y="2284"/>
                </a:lnTo>
                <a:lnTo>
                  <a:pt x="35852" y="576"/>
                </a:lnTo>
                <a:lnTo>
                  <a:pt x="30000" y="0"/>
                </a:lnTo>
                <a:lnTo>
                  <a:pt x="24147" y="576"/>
                </a:lnTo>
                <a:lnTo>
                  <a:pt x="18519" y="2284"/>
                </a:lnTo>
                <a:lnTo>
                  <a:pt x="13333" y="5056"/>
                </a:lnTo>
                <a:lnTo>
                  <a:pt x="8786" y="8787"/>
                </a:lnTo>
                <a:lnTo>
                  <a:pt x="5056" y="13333"/>
                </a:lnTo>
                <a:lnTo>
                  <a:pt x="2283" y="18519"/>
                </a:lnTo>
                <a:lnTo>
                  <a:pt x="576" y="24147"/>
                </a:lnTo>
                <a:lnTo>
                  <a:pt x="0" y="30000"/>
                </a:lnTo>
                <a:lnTo>
                  <a:pt x="60000" y="30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1" name="Connector 580"/>
          <p:cNvCxnSpPr/>
          <p:nvPr/>
        </p:nvCxnSpPr>
        <p:spPr>
          <a:xfrm>
            <a:off x="5809281" y="4203138"/>
            <a:ext cx="78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Freeform 110"/>
          <p:cNvSpPr/>
          <p:nvPr/>
        </p:nvSpPr>
        <p:spPr>
          <a:xfrm>
            <a:off x="6902578" y="4173138"/>
            <a:ext cx="60000" cy="30000"/>
          </a:xfrm>
          <a:custGeom>
            <a:avLst/>
            <a:gdLst/>
            <a:ahLst/>
            <a:cxnLst/>
            <a:rect l="l" t="t" r="r" b="b"/>
            <a:pathLst>
              <a:path w="60000" h="30000">
                <a:moveTo>
                  <a:pt x="60000" y="30000"/>
                </a:moveTo>
                <a:lnTo>
                  <a:pt x="59423" y="24147"/>
                </a:lnTo>
                <a:lnTo>
                  <a:pt x="57716" y="18519"/>
                </a:lnTo>
                <a:lnTo>
                  <a:pt x="54944" y="13333"/>
                </a:lnTo>
                <a:lnTo>
                  <a:pt x="51213" y="8787"/>
                </a:lnTo>
                <a:lnTo>
                  <a:pt x="46667" y="5056"/>
                </a:lnTo>
                <a:lnTo>
                  <a:pt x="41480" y="2284"/>
                </a:lnTo>
                <a:lnTo>
                  <a:pt x="35853" y="576"/>
                </a:lnTo>
                <a:lnTo>
                  <a:pt x="30000" y="0"/>
                </a:lnTo>
                <a:lnTo>
                  <a:pt x="24147" y="576"/>
                </a:lnTo>
                <a:lnTo>
                  <a:pt x="18519" y="2284"/>
                </a:lnTo>
                <a:lnTo>
                  <a:pt x="13333" y="5056"/>
                </a:lnTo>
                <a:lnTo>
                  <a:pt x="8787" y="8787"/>
                </a:lnTo>
                <a:lnTo>
                  <a:pt x="5056" y="13333"/>
                </a:lnTo>
                <a:lnTo>
                  <a:pt x="2284" y="18519"/>
                </a:lnTo>
                <a:lnTo>
                  <a:pt x="576" y="24147"/>
                </a:lnTo>
                <a:lnTo>
                  <a:pt x="0" y="30000"/>
                </a:lnTo>
                <a:lnTo>
                  <a:pt x="60000" y="30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2" name="Connector 581"/>
          <p:cNvCxnSpPr/>
          <p:nvPr/>
        </p:nvCxnSpPr>
        <p:spPr>
          <a:xfrm>
            <a:off x="6893578" y="4203138"/>
            <a:ext cx="78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3" name="Oval 582"/>
          <p:cNvSpPr/>
          <p:nvPr/>
        </p:nvSpPr>
        <p:spPr>
          <a:xfrm>
            <a:off x="2664027" y="4718925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" name="Oval 583"/>
          <p:cNvSpPr/>
          <p:nvPr/>
        </p:nvSpPr>
        <p:spPr>
          <a:xfrm>
            <a:off x="2680527" y="4735425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" name="Oval 584"/>
          <p:cNvSpPr/>
          <p:nvPr/>
        </p:nvSpPr>
        <p:spPr>
          <a:xfrm>
            <a:off x="2186021" y="4718941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" name="Oval 585"/>
          <p:cNvSpPr/>
          <p:nvPr/>
        </p:nvSpPr>
        <p:spPr>
          <a:xfrm>
            <a:off x="2202521" y="4735441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" name="Oval 586"/>
          <p:cNvSpPr/>
          <p:nvPr/>
        </p:nvSpPr>
        <p:spPr>
          <a:xfrm>
            <a:off x="1705684" y="4718957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" name="Oval 587"/>
          <p:cNvSpPr/>
          <p:nvPr/>
        </p:nvSpPr>
        <p:spPr>
          <a:xfrm>
            <a:off x="1722184" y="4735457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" name="Oval 588"/>
          <p:cNvSpPr/>
          <p:nvPr/>
        </p:nvSpPr>
        <p:spPr>
          <a:xfrm>
            <a:off x="1710923" y="4321473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" name="Oval 589"/>
          <p:cNvSpPr/>
          <p:nvPr/>
        </p:nvSpPr>
        <p:spPr>
          <a:xfrm>
            <a:off x="1727423" y="4337973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" name="Oval 590"/>
          <p:cNvSpPr/>
          <p:nvPr/>
        </p:nvSpPr>
        <p:spPr>
          <a:xfrm>
            <a:off x="2191462" y="3896388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" name="Oval 591"/>
          <p:cNvSpPr/>
          <p:nvPr/>
        </p:nvSpPr>
        <p:spPr>
          <a:xfrm>
            <a:off x="2207962" y="3912888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" name="Oval 592"/>
          <p:cNvSpPr/>
          <p:nvPr/>
        </p:nvSpPr>
        <p:spPr>
          <a:xfrm>
            <a:off x="2669467" y="3896371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" name="Oval 593"/>
          <p:cNvSpPr/>
          <p:nvPr/>
        </p:nvSpPr>
        <p:spPr>
          <a:xfrm>
            <a:off x="2685967" y="3912871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" name="Oval 594"/>
          <p:cNvSpPr/>
          <p:nvPr/>
        </p:nvSpPr>
        <p:spPr>
          <a:xfrm>
            <a:off x="2669659" y="4313671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" name="Oval 595"/>
          <p:cNvSpPr/>
          <p:nvPr/>
        </p:nvSpPr>
        <p:spPr>
          <a:xfrm>
            <a:off x="2686159" y="4330171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" name="Oval 596"/>
          <p:cNvSpPr/>
          <p:nvPr/>
        </p:nvSpPr>
        <p:spPr>
          <a:xfrm>
            <a:off x="1711123" y="3896403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" name="Oval 597"/>
          <p:cNvSpPr/>
          <p:nvPr/>
        </p:nvSpPr>
        <p:spPr>
          <a:xfrm>
            <a:off x="1727623" y="3912903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" name="Oval 598"/>
          <p:cNvSpPr/>
          <p:nvPr/>
        </p:nvSpPr>
        <p:spPr>
          <a:xfrm>
            <a:off x="3739072" y="4557223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" name="Oval 599"/>
          <p:cNvSpPr/>
          <p:nvPr/>
        </p:nvSpPr>
        <p:spPr>
          <a:xfrm>
            <a:off x="3755572" y="4573723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" name="Oval 600"/>
          <p:cNvSpPr/>
          <p:nvPr/>
        </p:nvSpPr>
        <p:spPr>
          <a:xfrm>
            <a:off x="3258717" y="4557223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" name="Oval 601"/>
          <p:cNvSpPr/>
          <p:nvPr/>
        </p:nvSpPr>
        <p:spPr>
          <a:xfrm>
            <a:off x="3275217" y="4573723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" name="Oval 602"/>
          <p:cNvSpPr/>
          <p:nvPr/>
        </p:nvSpPr>
        <p:spPr>
          <a:xfrm>
            <a:off x="3268415" y="4183321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" name="Oval 603"/>
          <p:cNvSpPr/>
          <p:nvPr/>
        </p:nvSpPr>
        <p:spPr>
          <a:xfrm>
            <a:off x="3284915" y="4199821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" name="Oval 604"/>
          <p:cNvSpPr/>
          <p:nvPr/>
        </p:nvSpPr>
        <p:spPr>
          <a:xfrm>
            <a:off x="3258717" y="383796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" name="Oval 605"/>
          <p:cNvSpPr/>
          <p:nvPr/>
        </p:nvSpPr>
        <p:spPr>
          <a:xfrm>
            <a:off x="3275217" y="385446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" name="Oval 606"/>
          <p:cNvSpPr/>
          <p:nvPr/>
        </p:nvSpPr>
        <p:spPr>
          <a:xfrm>
            <a:off x="3739072" y="383796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" name="Oval 607"/>
          <p:cNvSpPr/>
          <p:nvPr/>
        </p:nvSpPr>
        <p:spPr>
          <a:xfrm>
            <a:off x="3755572" y="385446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" name="Oval 608"/>
          <p:cNvSpPr/>
          <p:nvPr/>
        </p:nvSpPr>
        <p:spPr>
          <a:xfrm>
            <a:off x="4217097" y="383796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" name="Oval 609"/>
          <p:cNvSpPr/>
          <p:nvPr/>
        </p:nvSpPr>
        <p:spPr>
          <a:xfrm>
            <a:off x="4233597" y="385446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" name="Oval 610"/>
          <p:cNvSpPr/>
          <p:nvPr/>
        </p:nvSpPr>
        <p:spPr>
          <a:xfrm>
            <a:off x="4226795" y="4209290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" name="Oval 611"/>
          <p:cNvSpPr/>
          <p:nvPr/>
        </p:nvSpPr>
        <p:spPr>
          <a:xfrm>
            <a:off x="4243295" y="4225790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" name="Oval 612"/>
          <p:cNvSpPr/>
          <p:nvPr/>
        </p:nvSpPr>
        <p:spPr>
          <a:xfrm>
            <a:off x="4217097" y="4557223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" name="Oval 613"/>
          <p:cNvSpPr/>
          <p:nvPr/>
        </p:nvSpPr>
        <p:spPr>
          <a:xfrm>
            <a:off x="4233597" y="4573723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" name="Oval 614"/>
          <p:cNvSpPr/>
          <p:nvPr/>
        </p:nvSpPr>
        <p:spPr>
          <a:xfrm>
            <a:off x="6485742" y="4807818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6" name="Connector 615"/>
          <p:cNvCxnSpPr/>
          <p:nvPr/>
        </p:nvCxnSpPr>
        <p:spPr>
          <a:xfrm>
            <a:off x="6496290" y="4818366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7" name="Connector 616"/>
          <p:cNvCxnSpPr/>
          <p:nvPr/>
        </p:nvCxnSpPr>
        <p:spPr>
          <a:xfrm flipV="1">
            <a:off x="6496290" y="4818366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8" name="Oval 617"/>
          <p:cNvSpPr/>
          <p:nvPr/>
        </p:nvSpPr>
        <p:spPr>
          <a:xfrm>
            <a:off x="5433865" y="4830107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9" name="Connector 618"/>
          <p:cNvCxnSpPr/>
          <p:nvPr/>
        </p:nvCxnSpPr>
        <p:spPr>
          <a:xfrm>
            <a:off x="5444413" y="4840655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0" name="Connector 619"/>
          <p:cNvCxnSpPr/>
          <p:nvPr/>
        </p:nvCxnSpPr>
        <p:spPr>
          <a:xfrm flipV="1">
            <a:off x="5444413" y="4840655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1" name="Oval 620"/>
          <p:cNvSpPr/>
          <p:nvPr/>
        </p:nvSpPr>
        <p:spPr>
          <a:xfrm>
            <a:off x="2298853" y="5267021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" name="Oval 621"/>
          <p:cNvSpPr/>
          <p:nvPr/>
        </p:nvSpPr>
        <p:spPr>
          <a:xfrm>
            <a:off x="2315353" y="5283521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3" name="Oval 622"/>
          <p:cNvSpPr/>
          <p:nvPr/>
        </p:nvSpPr>
        <p:spPr>
          <a:xfrm>
            <a:off x="2766177" y="3267557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" name="Oval 623"/>
          <p:cNvSpPr/>
          <p:nvPr/>
        </p:nvSpPr>
        <p:spPr>
          <a:xfrm>
            <a:off x="2782677" y="3284057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" name="Oval 624"/>
          <p:cNvSpPr/>
          <p:nvPr/>
        </p:nvSpPr>
        <p:spPr>
          <a:xfrm>
            <a:off x="2340398" y="3261563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" name="Oval 625"/>
          <p:cNvSpPr/>
          <p:nvPr/>
        </p:nvSpPr>
        <p:spPr>
          <a:xfrm>
            <a:off x="2356898" y="3278063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" name="Oval 626"/>
          <p:cNvSpPr/>
          <p:nvPr/>
        </p:nvSpPr>
        <p:spPr>
          <a:xfrm>
            <a:off x="2347767" y="2827059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" name="Oval 627"/>
          <p:cNvSpPr/>
          <p:nvPr/>
        </p:nvSpPr>
        <p:spPr>
          <a:xfrm>
            <a:off x="2364267" y="2843559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" name="Oval 628"/>
          <p:cNvSpPr/>
          <p:nvPr/>
        </p:nvSpPr>
        <p:spPr>
          <a:xfrm>
            <a:off x="2345560" y="2414265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" name="Oval 629"/>
          <p:cNvSpPr/>
          <p:nvPr/>
        </p:nvSpPr>
        <p:spPr>
          <a:xfrm>
            <a:off x="2362060" y="2430765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Oval 630"/>
          <p:cNvSpPr/>
          <p:nvPr/>
        </p:nvSpPr>
        <p:spPr>
          <a:xfrm>
            <a:off x="2757413" y="2414265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" name="Oval 631"/>
          <p:cNvSpPr/>
          <p:nvPr/>
        </p:nvSpPr>
        <p:spPr>
          <a:xfrm>
            <a:off x="2773913" y="2430765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" name="Oval 632"/>
          <p:cNvSpPr/>
          <p:nvPr/>
        </p:nvSpPr>
        <p:spPr>
          <a:xfrm>
            <a:off x="3232030" y="242108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" name="Oval 633"/>
          <p:cNvSpPr/>
          <p:nvPr/>
        </p:nvSpPr>
        <p:spPr>
          <a:xfrm>
            <a:off x="3248530" y="243758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5" name="Oval 634"/>
          <p:cNvSpPr/>
          <p:nvPr/>
        </p:nvSpPr>
        <p:spPr>
          <a:xfrm>
            <a:off x="3245679" y="281129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" name="Oval 635"/>
          <p:cNvSpPr/>
          <p:nvPr/>
        </p:nvSpPr>
        <p:spPr>
          <a:xfrm>
            <a:off x="3262179" y="282779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7" name="Oval 636"/>
          <p:cNvSpPr/>
          <p:nvPr/>
        </p:nvSpPr>
        <p:spPr>
          <a:xfrm>
            <a:off x="3245679" y="3275557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8" name="Oval 637"/>
          <p:cNvSpPr/>
          <p:nvPr/>
        </p:nvSpPr>
        <p:spPr>
          <a:xfrm>
            <a:off x="3262179" y="3292057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9" name="Oval 638"/>
          <p:cNvSpPr/>
          <p:nvPr/>
        </p:nvSpPr>
        <p:spPr>
          <a:xfrm>
            <a:off x="7384552" y="4878459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0" name="Oval 639"/>
          <p:cNvSpPr/>
          <p:nvPr/>
        </p:nvSpPr>
        <p:spPr>
          <a:xfrm>
            <a:off x="7401052" y="4894959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1" name="Oval 640"/>
          <p:cNvSpPr/>
          <p:nvPr/>
        </p:nvSpPr>
        <p:spPr>
          <a:xfrm>
            <a:off x="4116828" y="3333851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2" name="Oval 641"/>
          <p:cNvSpPr/>
          <p:nvPr/>
        </p:nvSpPr>
        <p:spPr>
          <a:xfrm>
            <a:off x="4133328" y="3350351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4552756" y="3479614"/>
            <a:ext cx="60000" cy="30000"/>
          </a:xfrm>
          <a:custGeom>
            <a:avLst/>
            <a:gdLst/>
            <a:ahLst/>
            <a:cxnLst/>
            <a:rect l="l" t="t" r="r" b="b"/>
            <a:pathLst>
              <a:path w="60000" h="30000">
                <a:moveTo>
                  <a:pt x="60000" y="30000"/>
                </a:moveTo>
                <a:lnTo>
                  <a:pt x="59423" y="24147"/>
                </a:lnTo>
                <a:lnTo>
                  <a:pt x="57716" y="18519"/>
                </a:lnTo>
                <a:lnTo>
                  <a:pt x="54944" y="13333"/>
                </a:lnTo>
                <a:lnTo>
                  <a:pt x="51213" y="8787"/>
                </a:lnTo>
                <a:lnTo>
                  <a:pt x="46667" y="5056"/>
                </a:lnTo>
                <a:lnTo>
                  <a:pt x="41480" y="2284"/>
                </a:lnTo>
                <a:lnTo>
                  <a:pt x="35853" y="576"/>
                </a:lnTo>
                <a:lnTo>
                  <a:pt x="30000" y="0"/>
                </a:lnTo>
                <a:lnTo>
                  <a:pt x="24147" y="576"/>
                </a:lnTo>
                <a:lnTo>
                  <a:pt x="18519" y="2284"/>
                </a:lnTo>
                <a:lnTo>
                  <a:pt x="13333" y="5056"/>
                </a:lnTo>
                <a:lnTo>
                  <a:pt x="8787" y="8787"/>
                </a:lnTo>
                <a:lnTo>
                  <a:pt x="5056" y="13333"/>
                </a:lnTo>
                <a:lnTo>
                  <a:pt x="2284" y="18519"/>
                </a:lnTo>
                <a:lnTo>
                  <a:pt x="576" y="24147"/>
                </a:lnTo>
                <a:lnTo>
                  <a:pt x="0" y="30000"/>
                </a:lnTo>
                <a:lnTo>
                  <a:pt x="60000" y="30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3" name="Connector 642"/>
          <p:cNvCxnSpPr/>
          <p:nvPr/>
        </p:nvCxnSpPr>
        <p:spPr>
          <a:xfrm>
            <a:off x="4543756" y="3509614"/>
            <a:ext cx="78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4" name="Oval 643"/>
          <p:cNvSpPr/>
          <p:nvPr/>
        </p:nvSpPr>
        <p:spPr>
          <a:xfrm>
            <a:off x="4744311" y="2045157"/>
            <a:ext cx="42000" cy="4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4753311" y="2052657"/>
            <a:ext cx="24000" cy="22500"/>
          </a:xfrm>
          <a:custGeom>
            <a:avLst/>
            <a:gdLst/>
            <a:ahLst/>
            <a:cxnLst/>
            <a:rect l="l" t="t" r="r" b="b"/>
            <a:pathLst>
              <a:path w="24000" h="22500">
                <a:moveTo>
                  <a:pt x="12000" y="0"/>
                </a:moveTo>
                <a:lnTo>
                  <a:pt x="0" y="22500"/>
                </a:lnTo>
                <a:lnTo>
                  <a:pt x="24000" y="22500"/>
                </a:lnTo>
                <a:lnTo>
                  <a:pt x="12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5" name="Oval 644"/>
          <p:cNvSpPr/>
          <p:nvPr/>
        </p:nvSpPr>
        <p:spPr>
          <a:xfrm>
            <a:off x="1487931" y="5009219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6" name="Connector 645"/>
          <p:cNvCxnSpPr/>
          <p:nvPr/>
        </p:nvCxnSpPr>
        <p:spPr>
          <a:xfrm flipV="1">
            <a:off x="1501431" y="4962967"/>
            <a:ext cx="50137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7" name="Connector 646"/>
          <p:cNvCxnSpPr/>
          <p:nvPr/>
        </p:nvCxnSpPr>
        <p:spPr>
          <a:xfrm>
            <a:off x="1551568" y="4962967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8" name="Connector 647"/>
          <p:cNvCxnSpPr/>
          <p:nvPr/>
        </p:nvCxnSpPr>
        <p:spPr>
          <a:xfrm>
            <a:off x="1543045" y="4973125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9" name="Connector 648"/>
          <p:cNvCxnSpPr/>
          <p:nvPr/>
        </p:nvCxnSpPr>
        <p:spPr>
          <a:xfrm>
            <a:off x="1534521" y="4983283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0" name="Connector 649"/>
          <p:cNvCxnSpPr/>
          <p:nvPr/>
        </p:nvCxnSpPr>
        <p:spPr>
          <a:xfrm>
            <a:off x="1525998" y="4993440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1" name="TextBox 650"/>
          <p:cNvSpPr txBox="1"/>
          <p:nvPr/>
        </p:nvSpPr>
        <p:spPr>
          <a:xfrm>
            <a:off x="1251431" y="5052719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652" name="Oval 651"/>
          <p:cNvSpPr/>
          <p:nvPr/>
        </p:nvSpPr>
        <p:spPr>
          <a:xfrm>
            <a:off x="1997891" y="5153041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3" name="Connector 652"/>
          <p:cNvCxnSpPr/>
          <p:nvPr/>
        </p:nvCxnSpPr>
        <p:spPr>
          <a:xfrm flipV="1">
            <a:off x="2011391" y="5106789"/>
            <a:ext cx="50137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4" name="Connector 653"/>
          <p:cNvCxnSpPr/>
          <p:nvPr/>
        </p:nvCxnSpPr>
        <p:spPr>
          <a:xfrm>
            <a:off x="2061528" y="5106789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5" name="Connector 654"/>
          <p:cNvCxnSpPr/>
          <p:nvPr/>
        </p:nvCxnSpPr>
        <p:spPr>
          <a:xfrm>
            <a:off x="2053005" y="5116947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6" name="TextBox 655"/>
          <p:cNvSpPr txBox="1"/>
          <p:nvPr/>
        </p:nvSpPr>
        <p:spPr>
          <a:xfrm>
            <a:off x="1761391" y="5196541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657" name="Oval 656"/>
          <p:cNvSpPr/>
          <p:nvPr/>
        </p:nvSpPr>
        <p:spPr>
          <a:xfrm>
            <a:off x="3042555" y="4725138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8" name="Connector 657"/>
          <p:cNvCxnSpPr/>
          <p:nvPr/>
        </p:nvCxnSpPr>
        <p:spPr>
          <a:xfrm flipV="1">
            <a:off x="3056055" y="4678887"/>
            <a:ext cx="50138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9" name="Connector 658"/>
          <p:cNvCxnSpPr/>
          <p:nvPr/>
        </p:nvCxnSpPr>
        <p:spPr>
          <a:xfrm>
            <a:off x="3106193" y="4678887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0" name="Connector 659"/>
          <p:cNvCxnSpPr/>
          <p:nvPr/>
        </p:nvCxnSpPr>
        <p:spPr>
          <a:xfrm>
            <a:off x="3097669" y="4689044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1" name="Connector 660"/>
          <p:cNvCxnSpPr/>
          <p:nvPr/>
        </p:nvCxnSpPr>
        <p:spPr>
          <a:xfrm>
            <a:off x="3089146" y="4699202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2" name="TextBox 661"/>
          <p:cNvSpPr txBox="1"/>
          <p:nvPr/>
        </p:nvSpPr>
        <p:spPr>
          <a:xfrm>
            <a:off x="2806055" y="4768638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663" name="Oval 662"/>
          <p:cNvSpPr/>
          <p:nvPr/>
        </p:nvSpPr>
        <p:spPr>
          <a:xfrm>
            <a:off x="3089186" y="4732907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4" name="Connector 663"/>
          <p:cNvCxnSpPr/>
          <p:nvPr/>
        </p:nvCxnSpPr>
        <p:spPr>
          <a:xfrm flipV="1">
            <a:off x="3102686" y="4686656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5" name="Connector 664"/>
          <p:cNvCxnSpPr/>
          <p:nvPr/>
        </p:nvCxnSpPr>
        <p:spPr>
          <a:xfrm>
            <a:off x="3152823" y="4686656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6" name="Connector 665"/>
          <p:cNvCxnSpPr/>
          <p:nvPr/>
        </p:nvCxnSpPr>
        <p:spPr>
          <a:xfrm>
            <a:off x="3144300" y="4696814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7" name="Connector 666"/>
          <p:cNvCxnSpPr/>
          <p:nvPr/>
        </p:nvCxnSpPr>
        <p:spPr>
          <a:xfrm>
            <a:off x="3135777" y="4706971"/>
            <a:ext cx="14937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8" name="Connector 667"/>
          <p:cNvCxnSpPr/>
          <p:nvPr/>
        </p:nvCxnSpPr>
        <p:spPr>
          <a:xfrm>
            <a:off x="3127253" y="4717129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9" name="TextBox 668"/>
          <p:cNvSpPr txBox="1"/>
          <p:nvPr/>
        </p:nvSpPr>
        <p:spPr>
          <a:xfrm>
            <a:off x="2852686" y="4776407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670" name="Oval 669"/>
          <p:cNvSpPr/>
          <p:nvPr/>
        </p:nvSpPr>
        <p:spPr>
          <a:xfrm>
            <a:off x="3089186" y="4732907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1" name="Connector 670"/>
          <p:cNvCxnSpPr/>
          <p:nvPr/>
        </p:nvCxnSpPr>
        <p:spPr>
          <a:xfrm flipV="1">
            <a:off x="3102686" y="4686656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2" name="Connector 671"/>
          <p:cNvCxnSpPr/>
          <p:nvPr/>
        </p:nvCxnSpPr>
        <p:spPr>
          <a:xfrm>
            <a:off x="3152823" y="4686656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3" name="Connector 672"/>
          <p:cNvCxnSpPr/>
          <p:nvPr/>
        </p:nvCxnSpPr>
        <p:spPr>
          <a:xfrm>
            <a:off x="3144300" y="4696814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4" name="Connector 673"/>
          <p:cNvCxnSpPr/>
          <p:nvPr/>
        </p:nvCxnSpPr>
        <p:spPr>
          <a:xfrm>
            <a:off x="3135777" y="4706971"/>
            <a:ext cx="14937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5" name="TextBox 674"/>
          <p:cNvSpPr txBox="1"/>
          <p:nvPr/>
        </p:nvSpPr>
        <p:spPr>
          <a:xfrm>
            <a:off x="2852686" y="4776407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676" name="Oval 675"/>
          <p:cNvSpPr/>
          <p:nvPr/>
        </p:nvSpPr>
        <p:spPr>
          <a:xfrm>
            <a:off x="3250114" y="5475803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7" name="Connector 676"/>
          <p:cNvCxnSpPr/>
          <p:nvPr/>
        </p:nvCxnSpPr>
        <p:spPr>
          <a:xfrm flipV="1">
            <a:off x="3263614" y="5429552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8" name="Connector 677"/>
          <p:cNvCxnSpPr/>
          <p:nvPr/>
        </p:nvCxnSpPr>
        <p:spPr>
          <a:xfrm>
            <a:off x="3313751" y="5429552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9" name="TextBox 678"/>
          <p:cNvSpPr txBox="1"/>
          <p:nvPr/>
        </p:nvSpPr>
        <p:spPr>
          <a:xfrm>
            <a:off x="3013614" y="5519303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680" name="Oval 679"/>
          <p:cNvSpPr/>
          <p:nvPr/>
        </p:nvSpPr>
        <p:spPr>
          <a:xfrm>
            <a:off x="4453508" y="4189673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81" name="Connector 680"/>
          <p:cNvCxnSpPr/>
          <p:nvPr/>
        </p:nvCxnSpPr>
        <p:spPr>
          <a:xfrm flipV="1">
            <a:off x="4467008" y="4143422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2" name="Connector 681"/>
          <p:cNvCxnSpPr/>
          <p:nvPr/>
        </p:nvCxnSpPr>
        <p:spPr>
          <a:xfrm>
            <a:off x="4517145" y="4143422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3" name="Connector 682"/>
          <p:cNvCxnSpPr/>
          <p:nvPr/>
        </p:nvCxnSpPr>
        <p:spPr>
          <a:xfrm>
            <a:off x="4508622" y="4153580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4" name="Connector 683"/>
          <p:cNvCxnSpPr/>
          <p:nvPr/>
        </p:nvCxnSpPr>
        <p:spPr>
          <a:xfrm>
            <a:off x="4500098" y="4163737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5" name="TextBox 684"/>
          <p:cNvSpPr txBox="1"/>
          <p:nvPr/>
        </p:nvSpPr>
        <p:spPr>
          <a:xfrm>
            <a:off x="4217008" y="4233173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sp>
        <p:nvSpPr>
          <p:cNvPr id="686" name="Oval 685"/>
          <p:cNvSpPr/>
          <p:nvPr/>
        </p:nvSpPr>
        <p:spPr>
          <a:xfrm>
            <a:off x="3003115" y="3395960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87" name="Connector 686"/>
          <p:cNvCxnSpPr/>
          <p:nvPr/>
        </p:nvCxnSpPr>
        <p:spPr>
          <a:xfrm flipV="1">
            <a:off x="3016615" y="3349709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8" name="Connector 687"/>
          <p:cNvCxnSpPr/>
          <p:nvPr/>
        </p:nvCxnSpPr>
        <p:spPr>
          <a:xfrm>
            <a:off x="3066752" y="3349709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9" name="Connector 688"/>
          <p:cNvCxnSpPr/>
          <p:nvPr/>
        </p:nvCxnSpPr>
        <p:spPr>
          <a:xfrm>
            <a:off x="3058229" y="3359867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0" name="Connector 689"/>
          <p:cNvCxnSpPr/>
          <p:nvPr/>
        </p:nvCxnSpPr>
        <p:spPr>
          <a:xfrm>
            <a:off x="3049706" y="3370024"/>
            <a:ext cx="14937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1" name="Connector 690"/>
          <p:cNvCxnSpPr/>
          <p:nvPr/>
        </p:nvCxnSpPr>
        <p:spPr>
          <a:xfrm>
            <a:off x="3041182" y="3380182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2" name="TextBox 691"/>
          <p:cNvSpPr txBox="1"/>
          <p:nvPr/>
        </p:nvSpPr>
        <p:spPr>
          <a:xfrm>
            <a:off x="2766615" y="3439460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693" name="Oval 692"/>
          <p:cNvSpPr/>
          <p:nvPr/>
        </p:nvSpPr>
        <p:spPr>
          <a:xfrm>
            <a:off x="2031124" y="2502880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94" name="Connector 693"/>
          <p:cNvCxnSpPr/>
          <p:nvPr/>
        </p:nvCxnSpPr>
        <p:spPr>
          <a:xfrm flipV="1">
            <a:off x="2044624" y="2456629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5" name="Connector 694"/>
          <p:cNvCxnSpPr/>
          <p:nvPr/>
        </p:nvCxnSpPr>
        <p:spPr>
          <a:xfrm>
            <a:off x="2094761" y="2456629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6" name="Connector 695"/>
          <p:cNvCxnSpPr/>
          <p:nvPr/>
        </p:nvCxnSpPr>
        <p:spPr>
          <a:xfrm>
            <a:off x="2086238" y="2466786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7" name="Connector 696"/>
          <p:cNvCxnSpPr/>
          <p:nvPr/>
        </p:nvCxnSpPr>
        <p:spPr>
          <a:xfrm>
            <a:off x="2077714" y="2476944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8" name="Connector 697"/>
          <p:cNvCxnSpPr/>
          <p:nvPr/>
        </p:nvCxnSpPr>
        <p:spPr>
          <a:xfrm>
            <a:off x="2069191" y="2487102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9" name="TextBox 698"/>
          <p:cNvSpPr txBox="1"/>
          <p:nvPr/>
        </p:nvSpPr>
        <p:spPr>
          <a:xfrm>
            <a:off x="1794624" y="2546380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700" name="Oval 699"/>
          <p:cNvSpPr/>
          <p:nvPr/>
        </p:nvSpPr>
        <p:spPr>
          <a:xfrm>
            <a:off x="4033256" y="3026263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1" name="Connector 700"/>
          <p:cNvCxnSpPr/>
          <p:nvPr/>
        </p:nvCxnSpPr>
        <p:spPr>
          <a:xfrm flipV="1">
            <a:off x="4046756" y="2980011"/>
            <a:ext cx="50137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2" name="Connector 701"/>
          <p:cNvCxnSpPr/>
          <p:nvPr/>
        </p:nvCxnSpPr>
        <p:spPr>
          <a:xfrm>
            <a:off x="4096893" y="2980011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3" name="TextBox 702"/>
          <p:cNvSpPr txBox="1"/>
          <p:nvPr/>
        </p:nvSpPr>
        <p:spPr>
          <a:xfrm>
            <a:off x="3796756" y="3069763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704" name="Oval 703"/>
          <p:cNvSpPr/>
          <p:nvPr/>
        </p:nvSpPr>
        <p:spPr>
          <a:xfrm>
            <a:off x="4468048" y="2199343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5" name="Connector 704"/>
          <p:cNvCxnSpPr/>
          <p:nvPr/>
        </p:nvCxnSpPr>
        <p:spPr>
          <a:xfrm flipV="1">
            <a:off x="4481548" y="2153091"/>
            <a:ext cx="50137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6" name="Connector 705"/>
          <p:cNvCxnSpPr/>
          <p:nvPr/>
        </p:nvCxnSpPr>
        <p:spPr>
          <a:xfrm>
            <a:off x="4531685" y="2153091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7" name="Connector 706"/>
          <p:cNvCxnSpPr/>
          <p:nvPr/>
        </p:nvCxnSpPr>
        <p:spPr>
          <a:xfrm>
            <a:off x="4523162" y="2163249"/>
            <a:ext cx="14937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8" name="Connector 707"/>
          <p:cNvCxnSpPr/>
          <p:nvPr/>
        </p:nvCxnSpPr>
        <p:spPr>
          <a:xfrm>
            <a:off x="4514638" y="2173407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9" name="TextBox 708"/>
          <p:cNvSpPr txBox="1"/>
          <p:nvPr/>
        </p:nvSpPr>
        <p:spPr>
          <a:xfrm>
            <a:off x="4231548" y="2242843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710" name="Oval 709"/>
          <p:cNvSpPr/>
          <p:nvPr/>
        </p:nvSpPr>
        <p:spPr>
          <a:xfrm>
            <a:off x="5463874" y="4302318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11" name="Connector 710"/>
          <p:cNvCxnSpPr/>
          <p:nvPr/>
        </p:nvCxnSpPr>
        <p:spPr>
          <a:xfrm flipV="1">
            <a:off x="5477374" y="4256066"/>
            <a:ext cx="50137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2" name="Connector 711"/>
          <p:cNvCxnSpPr/>
          <p:nvPr/>
        </p:nvCxnSpPr>
        <p:spPr>
          <a:xfrm>
            <a:off x="5527511" y="4256066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3" name="Connector 712"/>
          <p:cNvCxnSpPr/>
          <p:nvPr/>
        </p:nvCxnSpPr>
        <p:spPr>
          <a:xfrm>
            <a:off x="5518988" y="4266224"/>
            <a:ext cx="14937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4" name="Connector 713"/>
          <p:cNvCxnSpPr/>
          <p:nvPr/>
        </p:nvCxnSpPr>
        <p:spPr>
          <a:xfrm>
            <a:off x="5510464" y="4276382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5" name="TextBox 714"/>
          <p:cNvSpPr txBox="1"/>
          <p:nvPr/>
        </p:nvSpPr>
        <p:spPr>
          <a:xfrm>
            <a:off x="5227374" y="4345818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716" name="Oval 715"/>
          <p:cNvSpPr/>
          <p:nvPr/>
        </p:nvSpPr>
        <p:spPr>
          <a:xfrm>
            <a:off x="4569839" y="4730915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17" name="Connector 716"/>
          <p:cNvCxnSpPr/>
          <p:nvPr/>
        </p:nvCxnSpPr>
        <p:spPr>
          <a:xfrm flipV="1">
            <a:off x="4583339" y="4684663"/>
            <a:ext cx="50138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8" name="Connector 717"/>
          <p:cNvCxnSpPr/>
          <p:nvPr/>
        </p:nvCxnSpPr>
        <p:spPr>
          <a:xfrm>
            <a:off x="4633477" y="4684663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9" name="Connector 718"/>
          <p:cNvCxnSpPr/>
          <p:nvPr/>
        </p:nvCxnSpPr>
        <p:spPr>
          <a:xfrm>
            <a:off x="4624953" y="4694821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0" name="TextBox 719"/>
          <p:cNvSpPr txBox="1"/>
          <p:nvPr/>
        </p:nvSpPr>
        <p:spPr>
          <a:xfrm>
            <a:off x="4333339" y="4774415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721" name="Oval 720"/>
          <p:cNvSpPr/>
          <p:nvPr/>
        </p:nvSpPr>
        <p:spPr>
          <a:xfrm>
            <a:off x="7198515" y="4745980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22" name="Connector 721"/>
          <p:cNvCxnSpPr/>
          <p:nvPr/>
        </p:nvCxnSpPr>
        <p:spPr>
          <a:xfrm flipV="1">
            <a:off x="7212015" y="4699729"/>
            <a:ext cx="50138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3" name="Connector 722"/>
          <p:cNvCxnSpPr/>
          <p:nvPr/>
        </p:nvCxnSpPr>
        <p:spPr>
          <a:xfrm>
            <a:off x="7262153" y="4699729"/>
            <a:ext cx="14937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4" name="TextBox 723"/>
          <p:cNvSpPr txBox="1"/>
          <p:nvPr/>
        </p:nvSpPr>
        <p:spPr>
          <a:xfrm>
            <a:off x="6962015" y="4789480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725" name="Oval 724"/>
          <p:cNvSpPr/>
          <p:nvPr/>
        </p:nvSpPr>
        <p:spPr>
          <a:xfrm>
            <a:off x="7534945" y="4745969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26" name="Connector 725"/>
          <p:cNvCxnSpPr/>
          <p:nvPr/>
        </p:nvCxnSpPr>
        <p:spPr>
          <a:xfrm flipV="1">
            <a:off x="7548445" y="4699717"/>
            <a:ext cx="50138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7" name="Connector 726"/>
          <p:cNvCxnSpPr/>
          <p:nvPr/>
        </p:nvCxnSpPr>
        <p:spPr>
          <a:xfrm>
            <a:off x="7598583" y="4699717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8" name="TextBox 727"/>
          <p:cNvSpPr txBox="1"/>
          <p:nvPr/>
        </p:nvSpPr>
        <p:spPr>
          <a:xfrm>
            <a:off x="7298445" y="4789469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S15</a:t>
            </a:r>
          </a:p>
        </p:txBody>
      </p:sp>
      <p:cxnSp>
        <p:nvCxnSpPr>
          <p:cNvPr id="729" name="Connector 728"/>
          <p:cNvCxnSpPr/>
          <p:nvPr/>
        </p:nvCxnSpPr>
        <p:spPr>
          <a:xfrm flipV="1">
            <a:off x="3263614" y="5283339"/>
            <a:ext cx="1026450" cy="205964"/>
          </a:xfrm>
          <a:prstGeom prst="line">
            <a:avLst/>
          </a:prstGeom>
          <a:ln w="9525">
            <a:solidFill>
              <a:srgbClr val="C0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0" name="Oval 729"/>
          <p:cNvSpPr/>
          <p:nvPr/>
        </p:nvSpPr>
        <p:spPr>
          <a:xfrm>
            <a:off x="4254064" y="5247339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1" name="Connector 730"/>
          <p:cNvCxnSpPr/>
          <p:nvPr/>
        </p:nvCxnSpPr>
        <p:spPr>
          <a:xfrm>
            <a:off x="4264612" y="5257887"/>
            <a:ext cx="50904" cy="50904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2" name="Connector 731"/>
          <p:cNvCxnSpPr/>
          <p:nvPr/>
        </p:nvCxnSpPr>
        <p:spPr>
          <a:xfrm flipV="1">
            <a:off x="4264612" y="5257887"/>
            <a:ext cx="50904" cy="50904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3" name="TextBox 732"/>
          <p:cNvSpPr txBox="1"/>
          <p:nvPr/>
        </p:nvSpPr>
        <p:spPr>
          <a:xfrm>
            <a:off x="4335064" y="5208339"/>
            <a:ext cx="22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>
                <a:solidFill>
                  <a:srgbClr val="C00000"/>
                </a:solidFill>
                <a:latin typeface="Microsoft YaHei"/>
              </a:rPr>
              <a:t>二层楼梯吊灯 F06（在楼上，S6 控）</a:t>
            </a:r>
          </a:p>
        </p:txBody>
      </p:sp>
      <p:sp>
        <p:nvSpPr>
          <p:cNvPr id="734" name="Rectangle 733"/>
          <p:cNvSpPr/>
          <p:nvPr/>
        </p:nvSpPr>
        <p:spPr>
          <a:xfrm>
            <a:off x="5595000" y="5444269"/>
            <a:ext cx="102000" cy="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5" name="TextBox 734"/>
          <p:cNvSpPr txBox="1"/>
          <p:nvPr/>
        </p:nvSpPr>
        <p:spPr>
          <a:xfrm>
            <a:off x="5595000" y="5444269"/>
            <a:ext cx="102000" cy="5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736" name="Rectangle 735"/>
          <p:cNvSpPr/>
          <p:nvPr/>
        </p:nvSpPr>
        <p:spPr>
          <a:xfrm>
            <a:off x="6479769" y="5485807"/>
            <a:ext cx="102000" cy="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7" name="TextBox 736"/>
          <p:cNvSpPr txBox="1"/>
          <p:nvPr/>
        </p:nvSpPr>
        <p:spPr>
          <a:xfrm>
            <a:off x="6479769" y="5485807"/>
            <a:ext cx="102000" cy="5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738" name="Rectangle 737"/>
          <p:cNvSpPr/>
          <p:nvPr/>
        </p:nvSpPr>
        <p:spPr>
          <a:xfrm>
            <a:off x="6712384" y="5444269"/>
            <a:ext cx="102000" cy="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9" name="TextBox 738"/>
          <p:cNvSpPr txBox="1"/>
          <p:nvPr/>
        </p:nvSpPr>
        <p:spPr>
          <a:xfrm>
            <a:off x="6712384" y="5444269"/>
            <a:ext cx="102000" cy="5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740" name="Rectangle 739"/>
          <p:cNvSpPr/>
          <p:nvPr/>
        </p:nvSpPr>
        <p:spPr>
          <a:xfrm>
            <a:off x="7215000" y="5411038"/>
            <a:ext cx="102000" cy="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1" name="TextBox 740"/>
          <p:cNvSpPr txBox="1"/>
          <p:nvPr/>
        </p:nvSpPr>
        <p:spPr>
          <a:xfrm>
            <a:off x="7215000" y="5411038"/>
            <a:ext cx="102000" cy="5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742" name="Rectangle 741"/>
          <p:cNvSpPr/>
          <p:nvPr/>
        </p:nvSpPr>
        <p:spPr>
          <a:xfrm>
            <a:off x="7431000" y="5427653"/>
            <a:ext cx="102000" cy="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3" name="TextBox 742"/>
          <p:cNvSpPr txBox="1"/>
          <p:nvPr/>
        </p:nvSpPr>
        <p:spPr>
          <a:xfrm>
            <a:off x="7431000" y="5427653"/>
            <a:ext cx="102000" cy="5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744" name="Oval 743"/>
          <p:cNvSpPr/>
          <p:nvPr/>
        </p:nvSpPr>
        <p:spPr>
          <a:xfrm>
            <a:off x="8766000" y="328000"/>
            <a:ext cx="144000" cy="14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5" name="Connector 744"/>
          <p:cNvCxnSpPr/>
          <p:nvPr/>
        </p:nvCxnSpPr>
        <p:spPr>
          <a:xfrm>
            <a:off x="8787096" y="349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6" name="Connector 745"/>
          <p:cNvCxnSpPr/>
          <p:nvPr/>
        </p:nvCxnSpPr>
        <p:spPr>
          <a:xfrm flipV="1">
            <a:off x="8787096" y="349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7" name="TextBox 746"/>
          <p:cNvSpPr txBox="1"/>
          <p:nvPr/>
        </p:nvSpPr>
        <p:spPr>
          <a:xfrm>
            <a:off x="8982000" y="334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吊灯 / 吸顶主灯</a:t>
            </a:r>
          </a:p>
        </p:txBody>
      </p:sp>
      <p:sp>
        <p:nvSpPr>
          <p:cNvPr id="748" name="Oval 747"/>
          <p:cNvSpPr/>
          <p:nvPr/>
        </p:nvSpPr>
        <p:spPr>
          <a:xfrm>
            <a:off x="8766000" y="502000"/>
            <a:ext cx="144000" cy="14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9" name="Connector 748"/>
          <p:cNvCxnSpPr/>
          <p:nvPr/>
        </p:nvCxnSpPr>
        <p:spPr>
          <a:xfrm>
            <a:off x="8787096" y="523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0" name="Connector 749"/>
          <p:cNvCxnSpPr/>
          <p:nvPr/>
        </p:nvCxnSpPr>
        <p:spPr>
          <a:xfrm flipV="1">
            <a:off x="8787096" y="523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1" name="TextBox 750"/>
          <p:cNvSpPr txBox="1"/>
          <p:nvPr/>
        </p:nvSpPr>
        <p:spPr>
          <a:xfrm>
            <a:off x="8982000" y="508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主灯位（产品待选）</a:t>
            </a:r>
          </a:p>
        </p:txBody>
      </p:sp>
      <p:sp>
        <p:nvSpPr>
          <p:cNvPr id="752" name="Oval 751"/>
          <p:cNvSpPr/>
          <p:nvPr/>
        </p:nvSpPr>
        <p:spPr>
          <a:xfrm>
            <a:off x="8790000" y="700000"/>
            <a:ext cx="96000" cy="96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3" name="Oval 752"/>
          <p:cNvSpPr/>
          <p:nvPr/>
        </p:nvSpPr>
        <p:spPr>
          <a:xfrm>
            <a:off x="8823000" y="733000"/>
            <a:ext cx="30000" cy="30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4" name="TextBox 753"/>
          <p:cNvSpPr txBox="1"/>
          <p:nvPr/>
        </p:nvSpPr>
        <p:spPr>
          <a:xfrm>
            <a:off x="8982000" y="682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嵌入式筒灯 GU10</a:t>
            </a:r>
          </a:p>
        </p:txBody>
      </p:sp>
      <p:sp>
        <p:nvSpPr>
          <p:cNvPr id="114" name="Freeform 113"/>
          <p:cNvSpPr/>
          <p:nvPr/>
        </p:nvSpPr>
        <p:spPr>
          <a:xfrm>
            <a:off x="8778000" y="862000"/>
            <a:ext cx="120000" cy="60000"/>
          </a:xfrm>
          <a:custGeom>
            <a:avLst/>
            <a:gdLst/>
            <a:ahLst/>
            <a:cxnLst/>
            <a:rect l="l" t="t" r="r" b="b"/>
            <a:pathLst>
              <a:path w="120000" h="60000">
                <a:moveTo>
                  <a:pt x="120000" y="60000"/>
                </a:moveTo>
                <a:lnTo>
                  <a:pt x="118847" y="48294"/>
                </a:lnTo>
                <a:lnTo>
                  <a:pt x="115432" y="37038"/>
                </a:lnTo>
                <a:lnTo>
                  <a:pt x="109888" y="26665"/>
                </a:lnTo>
                <a:lnTo>
                  <a:pt x="102426" y="17573"/>
                </a:lnTo>
                <a:lnTo>
                  <a:pt x="93334" y="10111"/>
                </a:lnTo>
                <a:lnTo>
                  <a:pt x="82961" y="4567"/>
                </a:lnTo>
                <a:lnTo>
                  <a:pt x="71705" y="1152"/>
                </a:lnTo>
                <a:lnTo>
                  <a:pt x="60000" y="0"/>
                </a:lnTo>
                <a:lnTo>
                  <a:pt x="48294" y="1152"/>
                </a:lnTo>
                <a:lnTo>
                  <a:pt x="37038" y="4567"/>
                </a:lnTo>
                <a:lnTo>
                  <a:pt x="26665" y="10111"/>
                </a:lnTo>
                <a:lnTo>
                  <a:pt x="17573" y="17573"/>
                </a:lnTo>
                <a:lnTo>
                  <a:pt x="10111" y="26665"/>
                </a:lnTo>
                <a:lnTo>
                  <a:pt x="4567" y="37038"/>
                </a:lnTo>
                <a:lnTo>
                  <a:pt x="1152" y="48294"/>
                </a:lnTo>
                <a:lnTo>
                  <a:pt x="0" y="60000"/>
                </a:lnTo>
                <a:lnTo>
                  <a:pt x="120000" y="60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5" name="Connector 754"/>
          <p:cNvCxnSpPr/>
          <p:nvPr/>
        </p:nvCxnSpPr>
        <p:spPr>
          <a:xfrm>
            <a:off x="8760000" y="922000"/>
            <a:ext cx="156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6" name="TextBox 755"/>
          <p:cNvSpPr txBox="1"/>
          <p:nvPr/>
        </p:nvSpPr>
        <p:spPr>
          <a:xfrm>
            <a:off x="8982000" y="856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壁灯 / 户外墙灯</a:t>
            </a:r>
          </a:p>
        </p:txBody>
      </p:sp>
      <p:sp>
        <p:nvSpPr>
          <p:cNvPr id="757" name="Oval 756"/>
          <p:cNvSpPr/>
          <p:nvPr/>
        </p:nvSpPr>
        <p:spPr>
          <a:xfrm>
            <a:off x="8796000" y="1054000"/>
            <a:ext cx="84000" cy="8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8814000" y="1069000"/>
            <a:ext cx="48000" cy="45000"/>
          </a:xfrm>
          <a:custGeom>
            <a:avLst/>
            <a:gdLst/>
            <a:ahLst/>
            <a:cxnLst/>
            <a:rect l="l" t="t" r="r" b="b"/>
            <a:pathLst>
              <a:path w="48000" h="45000">
                <a:moveTo>
                  <a:pt x="24000" y="0"/>
                </a:moveTo>
                <a:lnTo>
                  <a:pt x="0" y="45000"/>
                </a:lnTo>
                <a:lnTo>
                  <a:pt x="48000" y="45000"/>
                </a:lnTo>
                <a:lnTo>
                  <a:pt x="24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8" name="TextBox 757"/>
          <p:cNvSpPr txBox="1"/>
          <p:nvPr/>
        </p:nvSpPr>
        <p:spPr>
          <a:xfrm>
            <a:off x="8982000" y="1030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围栏地灯（户外）</a:t>
            </a:r>
          </a:p>
        </p:txBody>
      </p:sp>
      <p:sp>
        <p:nvSpPr>
          <p:cNvPr id="759" name="Oval 758"/>
          <p:cNvSpPr/>
          <p:nvPr/>
        </p:nvSpPr>
        <p:spPr>
          <a:xfrm>
            <a:off x="8763000" y="1291000"/>
            <a:ext cx="54000" cy="54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0" name="Connector 759"/>
          <p:cNvCxnSpPr/>
          <p:nvPr/>
        </p:nvCxnSpPr>
        <p:spPr>
          <a:xfrm flipV="1">
            <a:off x="8790000" y="1198497"/>
            <a:ext cx="100274" cy="11950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1" name="Connector 760"/>
          <p:cNvCxnSpPr/>
          <p:nvPr/>
        </p:nvCxnSpPr>
        <p:spPr>
          <a:xfrm>
            <a:off x="8890274" y="1198497"/>
            <a:ext cx="29876" cy="2506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2" name="Connector 761"/>
          <p:cNvCxnSpPr/>
          <p:nvPr/>
        </p:nvCxnSpPr>
        <p:spPr>
          <a:xfrm>
            <a:off x="8873228" y="1218812"/>
            <a:ext cx="29875" cy="2506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3" name="TextBox 762"/>
          <p:cNvSpPr txBox="1"/>
          <p:nvPr/>
        </p:nvSpPr>
        <p:spPr>
          <a:xfrm>
            <a:off x="8982000" y="1204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开关（短划数 = 联数），S# = 开关编号</a:t>
            </a:r>
          </a:p>
        </p:txBody>
      </p:sp>
      <p:sp>
        <p:nvSpPr>
          <p:cNvPr id="764" name="Rectangle 763"/>
          <p:cNvSpPr/>
          <p:nvPr/>
        </p:nvSpPr>
        <p:spPr>
          <a:xfrm>
            <a:off x="8736000" y="1393000"/>
            <a:ext cx="204000" cy="102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5" name="TextBox 764"/>
          <p:cNvSpPr txBox="1"/>
          <p:nvPr/>
        </p:nvSpPr>
        <p:spPr>
          <a:xfrm>
            <a:off x="8736000" y="1393000"/>
            <a:ext cx="204000" cy="10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766" name="TextBox 765"/>
          <p:cNvSpPr txBox="1"/>
          <p:nvPr/>
        </p:nvSpPr>
        <p:spPr>
          <a:xfrm>
            <a:off x="8982000" y="1378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FCU 带保险丝开关</a:t>
            </a:r>
          </a:p>
        </p:txBody>
      </p:sp>
      <p:sp>
        <p:nvSpPr>
          <p:cNvPr id="116" name="Freeform 115"/>
          <p:cNvSpPr/>
          <p:nvPr/>
        </p:nvSpPr>
        <p:spPr>
          <a:xfrm>
            <a:off x="8742000" y="1648000"/>
            <a:ext cx="192000" cy="33600"/>
          </a:xfrm>
          <a:custGeom>
            <a:avLst/>
            <a:gdLst/>
            <a:ahLst/>
            <a:cxnLst/>
            <a:rect l="l" t="t" r="r" b="b"/>
            <a:pathLst>
              <a:path w="192000" h="33600">
                <a:moveTo>
                  <a:pt x="0" y="0"/>
                </a:moveTo>
                <a:lnTo>
                  <a:pt x="12000" y="7875"/>
                </a:lnTo>
                <a:lnTo>
                  <a:pt x="24000" y="14700"/>
                </a:lnTo>
                <a:lnTo>
                  <a:pt x="36000" y="20475"/>
                </a:lnTo>
                <a:lnTo>
                  <a:pt x="48000" y="25200"/>
                </a:lnTo>
                <a:lnTo>
                  <a:pt x="60000" y="28875"/>
                </a:lnTo>
                <a:lnTo>
                  <a:pt x="72000" y="31500"/>
                </a:lnTo>
                <a:lnTo>
                  <a:pt x="84000" y="33075"/>
                </a:lnTo>
                <a:lnTo>
                  <a:pt x="96000" y="33600"/>
                </a:lnTo>
                <a:lnTo>
                  <a:pt x="108000" y="33075"/>
                </a:lnTo>
                <a:lnTo>
                  <a:pt x="120000" y="31500"/>
                </a:lnTo>
                <a:lnTo>
                  <a:pt x="132000" y="28875"/>
                </a:lnTo>
                <a:lnTo>
                  <a:pt x="144000" y="25200"/>
                </a:lnTo>
                <a:lnTo>
                  <a:pt x="156000" y="20475"/>
                </a:lnTo>
                <a:lnTo>
                  <a:pt x="168000" y="14700"/>
                </a:lnTo>
                <a:lnTo>
                  <a:pt x="180000" y="7875"/>
                </a:lnTo>
                <a:lnTo>
                  <a:pt x="19200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7" name="TextBox 766"/>
          <p:cNvSpPr txBox="1"/>
          <p:nvPr/>
        </p:nvSpPr>
        <p:spPr>
          <a:xfrm>
            <a:off x="8982000" y="1552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开关线（只画到最近一盏灯）</a:t>
            </a:r>
          </a:p>
        </p:txBody>
      </p:sp>
      <p:cxnSp>
        <p:nvCxnSpPr>
          <p:cNvPr id="768" name="Connector 767"/>
          <p:cNvCxnSpPr/>
          <p:nvPr/>
        </p:nvCxnSpPr>
        <p:spPr>
          <a:xfrm>
            <a:off x="8742000" y="1792000"/>
            <a:ext cx="1920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9" name="TextBox 768"/>
          <p:cNvSpPr txBox="1"/>
          <p:nvPr/>
        </p:nvSpPr>
        <p:spPr>
          <a:xfrm>
            <a:off x="8982000" y="1726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双控 / 三控联络线 3C+E</a:t>
            </a:r>
          </a:p>
        </p:txBody>
      </p:sp>
      <p:sp>
        <p:nvSpPr>
          <p:cNvPr id="770" name="TextBox 769"/>
          <p:cNvSpPr txBox="1"/>
          <p:nvPr/>
        </p:nvSpPr>
        <p:spPr>
          <a:xfrm>
            <a:off x="8808000" y="1893999"/>
            <a:ext cx="12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771" name="TextBox 770"/>
          <p:cNvSpPr txBox="1"/>
          <p:nvPr/>
        </p:nvSpPr>
        <p:spPr>
          <a:xfrm>
            <a:off x="8982000" y="1899999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a–u 回路字母（灯旁字母 = 控制它的键）</a:t>
            </a:r>
          </a:p>
        </p:txBody>
      </p:sp>
      <p:sp>
        <p:nvSpPr>
          <p:cNvPr id="772" name="TextBox 771"/>
          <p:cNvSpPr txBox="1"/>
          <p:nvPr/>
        </p:nvSpPr>
        <p:spPr>
          <a:xfrm>
            <a:off x="8730000" y="3450000"/>
            <a:ext cx="3300000" cy="1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1. 本图只表示位置与编号，接线见 E-GF-01~03 放大图。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2. 开关面板逐键功能见 E-GF-04 开关面板表；回路见 E-GF-05。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3. 开关中心离地 1200 mm，设在门开启侧（锁侧），距门框 150 mm。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4. 按常理补全：p、q 回路 S7 为中途开关三控（S11、S12 两路）；38 控洗衣房筒灯；围栏地灯 4 盏；前储物间加门控开关。</a:t>
            </a:r>
          </a:p>
        </p:txBody>
      </p:sp>
      <p:sp>
        <p:nvSpPr>
          <p:cNvPr id="773" name="Rectangle 772"/>
          <p:cNvSpPr/>
          <p:nvPr/>
        </p:nvSpPr>
        <p:spPr>
          <a:xfrm>
            <a:off x="400000" y="6480000"/>
            <a:ext cx="388637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4" name="Rectangle 773"/>
          <p:cNvSpPr/>
          <p:nvPr/>
        </p:nvSpPr>
        <p:spPr>
          <a:xfrm>
            <a:off x="788637" y="6480000"/>
            <a:ext cx="388637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5" name="Rectangle 774"/>
          <p:cNvSpPr/>
          <p:nvPr/>
        </p:nvSpPr>
        <p:spPr>
          <a:xfrm>
            <a:off x="1177275" y="6480000"/>
            <a:ext cx="388637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6" name="TextBox 775"/>
          <p:cNvSpPr txBox="1"/>
          <p:nvPr/>
        </p:nvSpPr>
        <p:spPr>
          <a:xfrm>
            <a:off x="1605912" y="644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3 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4169018" y="-4513604"/>
            <a:ext cx="6837926" cy="13973804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Rectangle 538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Rectangle 539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Rectangle 540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Rectangle 54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TextBox 54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一层照明放大图 1：起居室 · G07 区 · 门厅 · 楼梯</a:t>
            </a:r>
          </a:p>
        </p:txBody>
      </p:sp>
      <p:sp>
        <p:nvSpPr>
          <p:cNvPr id="544" name="TextBox 543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GROUND FLOOR LIGHTING &amp; SWITCHING — ZONE 1</a:t>
            </a:r>
          </a:p>
        </p:txBody>
      </p:sp>
      <p:sp>
        <p:nvSpPr>
          <p:cNvPr id="545" name="Rectangle 544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TextBox 545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547" name="TextBox 546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一层照明</a:t>
            </a:r>
          </a:p>
        </p:txBody>
      </p:sp>
      <p:cxnSp>
        <p:nvCxnSpPr>
          <p:cNvPr id="548" name="Connector 547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9" name="TextBox 548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50" name="TextBox 549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一层照明放大图 1：起居室 · G07 区 · 门厅 · 楼梯</a:t>
            </a:r>
          </a:p>
        </p:txBody>
      </p:sp>
      <p:cxnSp>
        <p:nvCxnSpPr>
          <p:cNvPr id="551" name="Connector 550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2" name="TextBox 551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53" name="TextBox 552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E-GF-01</a:t>
            </a:r>
          </a:p>
        </p:txBody>
      </p:sp>
      <p:cxnSp>
        <p:nvCxnSpPr>
          <p:cNvPr id="554" name="Connector 553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5" name="TextBox 554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556" name="TextBox 555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L-B · 方案 B · 精简 17 路（照明 3 路）</a:t>
            </a:r>
          </a:p>
        </p:txBody>
      </p:sp>
      <p:cxnSp>
        <p:nvCxnSpPr>
          <p:cNvPr id="557" name="Connector 556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8" name="TextBox 557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559" name="TextBox 558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v4 第 2 页按键标注；PPT v7 / v9（用户 2026-10-06 标注）；Blender v40</a:t>
            </a:r>
          </a:p>
        </p:txBody>
      </p:sp>
      <p:cxnSp>
        <p:nvCxnSpPr>
          <p:cNvPr id="560" name="Connector 559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1" name="Connector 560"/>
          <p:cNvCxnSpPr/>
          <p:nvPr/>
        </p:nvCxnSpPr>
        <p:spPr>
          <a:xfrm flipV="1">
            <a:off x="2331492" y="4113281"/>
            <a:ext cx="3020887" cy="521282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2" name="Oval 561"/>
          <p:cNvSpPr/>
          <p:nvPr/>
        </p:nvSpPr>
        <p:spPr>
          <a:xfrm>
            <a:off x="3288803" y="4382114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" name="TextBox 562"/>
          <p:cNvSpPr txBox="1"/>
          <p:nvPr/>
        </p:nvSpPr>
        <p:spPr>
          <a:xfrm>
            <a:off x="3288803" y="4382114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W1</a:t>
            </a:r>
          </a:p>
        </p:txBody>
      </p:sp>
      <p:cxnSp>
        <p:nvCxnSpPr>
          <p:cNvPr id="564" name="Connector 563"/>
          <p:cNvCxnSpPr/>
          <p:nvPr/>
        </p:nvCxnSpPr>
        <p:spPr>
          <a:xfrm flipH="1" flipV="1">
            <a:off x="5264407" y="4098624"/>
            <a:ext cx="87972" cy="14657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5" name="Oval 564"/>
          <p:cNvSpPr/>
          <p:nvPr/>
        </p:nvSpPr>
        <p:spPr>
          <a:xfrm>
            <a:off x="5221589" y="4038151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" name="TextBox 565"/>
          <p:cNvSpPr txBox="1"/>
          <p:nvPr/>
        </p:nvSpPr>
        <p:spPr>
          <a:xfrm>
            <a:off x="5221589" y="4038151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W2</a:t>
            </a:r>
          </a:p>
        </p:txBody>
      </p:sp>
      <p:sp>
        <p:nvSpPr>
          <p:cNvPr id="2" name="Freeform 1"/>
          <p:cNvSpPr/>
          <p:nvPr/>
        </p:nvSpPr>
        <p:spPr>
          <a:xfrm>
            <a:off x="2999539" y="4905894"/>
            <a:ext cx="294031" cy="260710"/>
          </a:xfrm>
          <a:custGeom>
            <a:avLst/>
            <a:gdLst/>
            <a:ahLst/>
            <a:cxnLst/>
            <a:rect l="l" t="t" r="r" b="b"/>
            <a:pathLst>
              <a:path w="294031" h="260710">
                <a:moveTo>
                  <a:pt x="294031" y="0"/>
                </a:moveTo>
                <a:lnTo>
                  <a:pt x="269544" y="9403"/>
                </a:lnTo>
                <a:lnTo>
                  <a:pt x="245871" y="19725"/>
                </a:lnTo>
                <a:lnTo>
                  <a:pt x="223013" y="30966"/>
                </a:lnTo>
                <a:lnTo>
                  <a:pt x="200970" y="43125"/>
                </a:lnTo>
                <a:lnTo>
                  <a:pt x="179741" y="56203"/>
                </a:lnTo>
                <a:lnTo>
                  <a:pt x="159328" y="70201"/>
                </a:lnTo>
                <a:lnTo>
                  <a:pt x="139729" y="85117"/>
                </a:lnTo>
                <a:lnTo>
                  <a:pt x="120944" y="100952"/>
                </a:lnTo>
                <a:lnTo>
                  <a:pt x="102975" y="117705"/>
                </a:lnTo>
                <a:lnTo>
                  <a:pt x="85820" y="135378"/>
                </a:lnTo>
                <a:lnTo>
                  <a:pt x="69480" y="153970"/>
                </a:lnTo>
                <a:lnTo>
                  <a:pt x="53954" y="173480"/>
                </a:lnTo>
                <a:lnTo>
                  <a:pt x="39243" y="193909"/>
                </a:lnTo>
                <a:lnTo>
                  <a:pt x="25347" y="215257"/>
                </a:lnTo>
                <a:lnTo>
                  <a:pt x="12266" y="237524"/>
                </a:lnTo>
                <a:lnTo>
                  <a:pt x="0" y="26071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3293570" y="4905894"/>
            <a:ext cx="587597" cy="234842"/>
          </a:xfrm>
          <a:custGeom>
            <a:avLst/>
            <a:gdLst/>
            <a:ahLst/>
            <a:cxnLst/>
            <a:rect l="l" t="t" r="r" b="b"/>
            <a:pathLst>
              <a:path w="587597" h="234842">
                <a:moveTo>
                  <a:pt x="0" y="0"/>
                </a:moveTo>
                <a:lnTo>
                  <a:pt x="31221" y="28449"/>
                </a:lnTo>
                <a:lnTo>
                  <a:pt x="63175" y="55063"/>
                </a:lnTo>
                <a:lnTo>
                  <a:pt x="95864" y="79840"/>
                </a:lnTo>
                <a:lnTo>
                  <a:pt x="129286" y="102780"/>
                </a:lnTo>
                <a:lnTo>
                  <a:pt x="163442" y="123885"/>
                </a:lnTo>
                <a:lnTo>
                  <a:pt x="198333" y="143153"/>
                </a:lnTo>
                <a:lnTo>
                  <a:pt x="233957" y="160585"/>
                </a:lnTo>
                <a:lnTo>
                  <a:pt x="270314" y="176180"/>
                </a:lnTo>
                <a:lnTo>
                  <a:pt x="307406" y="189940"/>
                </a:lnTo>
                <a:lnTo>
                  <a:pt x="345232" y="201863"/>
                </a:lnTo>
                <a:lnTo>
                  <a:pt x="383791" y="211950"/>
                </a:lnTo>
                <a:lnTo>
                  <a:pt x="423085" y="220201"/>
                </a:lnTo>
                <a:lnTo>
                  <a:pt x="463112" y="226615"/>
                </a:lnTo>
                <a:lnTo>
                  <a:pt x="503873" y="231194"/>
                </a:lnTo>
                <a:lnTo>
                  <a:pt x="545368" y="233936"/>
                </a:lnTo>
                <a:lnTo>
                  <a:pt x="587597" y="234842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2226749" y="4634563"/>
            <a:ext cx="104743" cy="514073"/>
          </a:xfrm>
          <a:custGeom>
            <a:avLst/>
            <a:gdLst/>
            <a:ahLst/>
            <a:cxnLst/>
            <a:rect l="l" t="t" r="r" b="b"/>
            <a:pathLst>
              <a:path w="104743" h="514073">
                <a:moveTo>
                  <a:pt x="104743" y="0"/>
                </a:moveTo>
                <a:lnTo>
                  <a:pt x="87189" y="30065"/>
                </a:lnTo>
                <a:lnTo>
                  <a:pt x="71241" y="60405"/>
                </a:lnTo>
                <a:lnTo>
                  <a:pt x="56899" y="91020"/>
                </a:lnTo>
                <a:lnTo>
                  <a:pt x="44164" y="121911"/>
                </a:lnTo>
                <a:lnTo>
                  <a:pt x="33036" y="153077"/>
                </a:lnTo>
                <a:lnTo>
                  <a:pt x="23514" y="184518"/>
                </a:lnTo>
                <a:lnTo>
                  <a:pt x="15598" y="216235"/>
                </a:lnTo>
                <a:lnTo>
                  <a:pt x="9289" y="248227"/>
                </a:lnTo>
                <a:lnTo>
                  <a:pt x="4586" y="280494"/>
                </a:lnTo>
                <a:lnTo>
                  <a:pt x="1490" y="313037"/>
                </a:lnTo>
                <a:lnTo>
                  <a:pt x="0" y="345854"/>
                </a:lnTo>
                <a:lnTo>
                  <a:pt x="117" y="378948"/>
                </a:lnTo>
                <a:lnTo>
                  <a:pt x="1840" y="412316"/>
                </a:lnTo>
                <a:lnTo>
                  <a:pt x="5170" y="445960"/>
                </a:lnTo>
                <a:lnTo>
                  <a:pt x="10106" y="479879"/>
                </a:lnTo>
                <a:lnTo>
                  <a:pt x="16649" y="514073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2331492" y="3333403"/>
            <a:ext cx="1345972" cy="1301160"/>
          </a:xfrm>
          <a:custGeom>
            <a:avLst/>
            <a:gdLst/>
            <a:ahLst/>
            <a:cxnLst/>
            <a:rect l="l" t="t" r="r" b="b"/>
            <a:pathLst>
              <a:path w="1345972" h="1301160">
                <a:moveTo>
                  <a:pt x="0" y="1301160"/>
                </a:moveTo>
                <a:lnTo>
                  <a:pt x="114619" y="1251384"/>
                </a:lnTo>
                <a:lnTo>
                  <a:pt x="225172" y="1197401"/>
                </a:lnTo>
                <a:lnTo>
                  <a:pt x="331659" y="1139213"/>
                </a:lnTo>
                <a:lnTo>
                  <a:pt x="434080" y="1076818"/>
                </a:lnTo>
                <a:lnTo>
                  <a:pt x="532435" y="1010217"/>
                </a:lnTo>
                <a:lnTo>
                  <a:pt x="626723" y="939410"/>
                </a:lnTo>
                <a:lnTo>
                  <a:pt x="716946" y="864397"/>
                </a:lnTo>
                <a:lnTo>
                  <a:pt x="803102" y="785177"/>
                </a:lnTo>
                <a:lnTo>
                  <a:pt x="885192" y="701752"/>
                </a:lnTo>
                <a:lnTo>
                  <a:pt x="963216" y="614120"/>
                </a:lnTo>
                <a:lnTo>
                  <a:pt x="1037174" y="522282"/>
                </a:lnTo>
                <a:lnTo>
                  <a:pt x="1107066" y="426238"/>
                </a:lnTo>
                <a:lnTo>
                  <a:pt x="1172892" y="325988"/>
                </a:lnTo>
                <a:lnTo>
                  <a:pt x="1234651" y="221531"/>
                </a:lnTo>
                <a:lnTo>
                  <a:pt x="1292345" y="112869"/>
                </a:lnTo>
                <a:lnTo>
                  <a:pt x="1345972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3677464" y="3333403"/>
            <a:ext cx="1674915" cy="779878"/>
          </a:xfrm>
          <a:custGeom>
            <a:avLst/>
            <a:gdLst/>
            <a:ahLst/>
            <a:cxnLst/>
            <a:rect l="l" t="t" r="r" b="b"/>
            <a:pathLst>
              <a:path w="1674915" h="779878">
                <a:moveTo>
                  <a:pt x="1674915" y="779878"/>
                </a:moveTo>
                <a:lnTo>
                  <a:pt x="1588511" y="691880"/>
                </a:lnTo>
                <a:lnTo>
                  <a:pt x="1499670" y="609116"/>
                </a:lnTo>
                <a:lnTo>
                  <a:pt x="1408392" y="531586"/>
                </a:lnTo>
                <a:lnTo>
                  <a:pt x="1314677" y="459290"/>
                </a:lnTo>
                <a:lnTo>
                  <a:pt x="1218525" y="392228"/>
                </a:lnTo>
                <a:lnTo>
                  <a:pt x="1119935" y="330401"/>
                </a:lnTo>
                <a:lnTo>
                  <a:pt x="1018909" y="273807"/>
                </a:lnTo>
                <a:lnTo>
                  <a:pt x="915445" y="222448"/>
                </a:lnTo>
                <a:lnTo>
                  <a:pt x="809545" y="176322"/>
                </a:lnTo>
                <a:lnTo>
                  <a:pt x="701207" y="135431"/>
                </a:lnTo>
                <a:lnTo>
                  <a:pt x="590432" y="99774"/>
                </a:lnTo>
                <a:lnTo>
                  <a:pt x="477220" y="69351"/>
                </a:lnTo>
                <a:lnTo>
                  <a:pt x="361570" y="44162"/>
                </a:lnTo>
                <a:lnTo>
                  <a:pt x="243484" y="24207"/>
                </a:lnTo>
                <a:lnTo>
                  <a:pt x="122961" y="9487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2331492" y="3356890"/>
            <a:ext cx="442915" cy="1277673"/>
          </a:xfrm>
          <a:custGeom>
            <a:avLst/>
            <a:gdLst/>
            <a:ahLst/>
            <a:cxnLst/>
            <a:rect l="l" t="t" r="r" b="b"/>
            <a:pathLst>
              <a:path w="442915" h="1277673">
                <a:moveTo>
                  <a:pt x="0" y="1277673"/>
                </a:moveTo>
                <a:lnTo>
                  <a:pt x="57477" y="1208143"/>
                </a:lnTo>
                <a:lnTo>
                  <a:pt x="110961" y="1137236"/>
                </a:lnTo>
                <a:lnTo>
                  <a:pt x="160452" y="1064952"/>
                </a:lnTo>
                <a:lnTo>
                  <a:pt x="205951" y="991292"/>
                </a:lnTo>
                <a:lnTo>
                  <a:pt x="247457" y="916256"/>
                </a:lnTo>
                <a:lnTo>
                  <a:pt x="284970" y="839842"/>
                </a:lnTo>
                <a:lnTo>
                  <a:pt x="318490" y="762053"/>
                </a:lnTo>
                <a:lnTo>
                  <a:pt x="348018" y="682886"/>
                </a:lnTo>
                <a:lnTo>
                  <a:pt x="373553" y="602343"/>
                </a:lnTo>
                <a:lnTo>
                  <a:pt x="395095" y="520424"/>
                </a:lnTo>
                <a:lnTo>
                  <a:pt x="412644" y="437128"/>
                </a:lnTo>
                <a:lnTo>
                  <a:pt x="426201" y="352455"/>
                </a:lnTo>
                <a:lnTo>
                  <a:pt x="435765" y="266406"/>
                </a:lnTo>
                <a:lnTo>
                  <a:pt x="441337" y="178981"/>
                </a:lnTo>
                <a:lnTo>
                  <a:pt x="442915" y="90178"/>
                </a:lnTo>
                <a:lnTo>
                  <a:pt x="440501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4580358" y="2554903"/>
            <a:ext cx="772021" cy="1558378"/>
          </a:xfrm>
          <a:custGeom>
            <a:avLst/>
            <a:gdLst/>
            <a:ahLst/>
            <a:cxnLst/>
            <a:rect l="l" t="t" r="r" b="b"/>
            <a:pathLst>
              <a:path w="772021" h="1558378">
                <a:moveTo>
                  <a:pt x="772021" y="1558378"/>
                </a:moveTo>
                <a:lnTo>
                  <a:pt x="760294" y="1442886"/>
                </a:lnTo>
                <a:lnTo>
                  <a:pt x="743697" y="1329805"/>
                </a:lnTo>
                <a:lnTo>
                  <a:pt x="722231" y="1219137"/>
                </a:lnTo>
                <a:lnTo>
                  <a:pt x="695894" y="1110882"/>
                </a:lnTo>
                <a:lnTo>
                  <a:pt x="664687" y="1005040"/>
                </a:lnTo>
                <a:lnTo>
                  <a:pt x="628611" y="901610"/>
                </a:lnTo>
                <a:lnTo>
                  <a:pt x="587664" y="800592"/>
                </a:lnTo>
                <a:lnTo>
                  <a:pt x="541848" y="701987"/>
                </a:lnTo>
                <a:lnTo>
                  <a:pt x="491162" y="605795"/>
                </a:lnTo>
                <a:lnTo>
                  <a:pt x="435606" y="512015"/>
                </a:lnTo>
                <a:lnTo>
                  <a:pt x="375179" y="420648"/>
                </a:lnTo>
                <a:lnTo>
                  <a:pt x="309883" y="331693"/>
                </a:lnTo>
                <a:lnTo>
                  <a:pt x="239717" y="245151"/>
                </a:lnTo>
                <a:lnTo>
                  <a:pt x="164681" y="161021"/>
                </a:lnTo>
                <a:lnTo>
                  <a:pt x="84776" y="79304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2771993" y="2554963"/>
            <a:ext cx="60333" cy="801927"/>
          </a:xfrm>
          <a:custGeom>
            <a:avLst/>
            <a:gdLst/>
            <a:ahLst/>
            <a:cxnLst/>
            <a:rect l="l" t="t" r="r" b="b"/>
            <a:pathLst>
              <a:path w="60333" h="801927">
                <a:moveTo>
                  <a:pt x="0" y="801927"/>
                </a:moveTo>
                <a:lnTo>
                  <a:pt x="14120" y="751813"/>
                </a:lnTo>
                <a:lnTo>
                  <a:pt x="26360" y="701698"/>
                </a:lnTo>
                <a:lnTo>
                  <a:pt x="36721" y="651583"/>
                </a:lnTo>
                <a:lnTo>
                  <a:pt x="45203" y="601466"/>
                </a:lnTo>
                <a:lnTo>
                  <a:pt x="51805" y="551349"/>
                </a:lnTo>
                <a:lnTo>
                  <a:pt x="56527" y="501231"/>
                </a:lnTo>
                <a:lnTo>
                  <a:pt x="59370" y="451112"/>
                </a:lnTo>
                <a:lnTo>
                  <a:pt x="60333" y="400992"/>
                </a:lnTo>
                <a:lnTo>
                  <a:pt x="59417" y="350871"/>
                </a:lnTo>
                <a:lnTo>
                  <a:pt x="56622" y="300749"/>
                </a:lnTo>
                <a:lnTo>
                  <a:pt x="51946" y="250627"/>
                </a:lnTo>
                <a:lnTo>
                  <a:pt x="45392" y="200503"/>
                </a:lnTo>
                <a:lnTo>
                  <a:pt x="36957" y="150379"/>
                </a:lnTo>
                <a:lnTo>
                  <a:pt x="26644" y="100254"/>
                </a:lnTo>
                <a:lnTo>
                  <a:pt x="14451" y="50127"/>
                </a:lnTo>
                <a:lnTo>
                  <a:pt x="378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2772371" y="2554934"/>
            <a:ext cx="906193" cy="67979"/>
          </a:xfrm>
          <a:custGeom>
            <a:avLst/>
            <a:gdLst/>
            <a:ahLst/>
            <a:cxnLst/>
            <a:rect l="l" t="t" r="r" b="b"/>
            <a:pathLst>
              <a:path w="906193" h="67979">
                <a:moveTo>
                  <a:pt x="0" y="29"/>
                </a:moveTo>
                <a:lnTo>
                  <a:pt x="56637" y="15957"/>
                </a:lnTo>
                <a:lnTo>
                  <a:pt x="113275" y="29760"/>
                </a:lnTo>
                <a:lnTo>
                  <a:pt x="169912" y="41440"/>
                </a:lnTo>
                <a:lnTo>
                  <a:pt x="226550" y="50995"/>
                </a:lnTo>
                <a:lnTo>
                  <a:pt x="283187" y="58427"/>
                </a:lnTo>
                <a:lnTo>
                  <a:pt x="339825" y="63735"/>
                </a:lnTo>
                <a:lnTo>
                  <a:pt x="396462" y="66919"/>
                </a:lnTo>
                <a:lnTo>
                  <a:pt x="453099" y="67979"/>
                </a:lnTo>
                <a:lnTo>
                  <a:pt x="509736" y="66915"/>
                </a:lnTo>
                <a:lnTo>
                  <a:pt x="566373" y="63728"/>
                </a:lnTo>
                <a:lnTo>
                  <a:pt x="623010" y="58416"/>
                </a:lnTo>
                <a:lnTo>
                  <a:pt x="679647" y="50981"/>
                </a:lnTo>
                <a:lnTo>
                  <a:pt x="736283" y="41421"/>
                </a:lnTo>
                <a:lnTo>
                  <a:pt x="792920" y="29738"/>
                </a:lnTo>
                <a:lnTo>
                  <a:pt x="849557" y="15931"/>
                </a:lnTo>
                <a:lnTo>
                  <a:pt x="906193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Freeform 115"/>
          <p:cNvSpPr/>
          <p:nvPr/>
        </p:nvSpPr>
        <p:spPr>
          <a:xfrm>
            <a:off x="3678564" y="2554903"/>
            <a:ext cx="901794" cy="67650"/>
          </a:xfrm>
          <a:custGeom>
            <a:avLst/>
            <a:gdLst/>
            <a:ahLst/>
            <a:cxnLst/>
            <a:rect l="l" t="t" r="r" b="b"/>
            <a:pathLst>
              <a:path w="901794" h="67650">
                <a:moveTo>
                  <a:pt x="0" y="31"/>
                </a:moveTo>
                <a:lnTo>
                  <a:pt x="56363" y="15881"/>
                </a:lnTo>
                <a:lnTo>
                  <a:pt x="112726" y="29617"/>
                </a:lnTo>
                <a:lnTo>
                  <a:pt x="169088" y="41240"/>
                </a:lnTo>
                <a:lnTo>
                  <a:pt x="225450" y="50749"/>
                </a:lnTo>
                <a:lnTo>
                  <a:pt x="281813" y="58145"/>
                </a:lnTo>
                <a:lnTo>
                  <a:pt x="338175" y="63427"/>
                </a:lnTo>
                <a:lnTo>
                  <a:pt x="394537" y="66595"/>
                </a:lnTo>
                <a:lnTo>
                  <a:pt x="450899" y="67650"/>
                </a:lnTo>
                <a:lnTo>
                  <a:pt x="507261" y="66591"/>
                </a:lnTo>
                <a:lnTo>
                  <a:pt x="563623" y="63419"/>
                </a:lnTo>
                <a:lnTo>
                  <a:pt x="619985" y="58133"/>
                </a:lnTo>
                <a:lnTo>
                  <a:pt x="676347" y="50734"/>
                </a:lnTo>
                <a:lnTo>
                  <a:pt x="732709" y="41221"/>
                </a:lnTo>
                <a:lnTo>
                  <a:pt x="789071" y="29594"/>
                </a:lnTo>
                <a:lnTo>
                  <a:pt x="845432" y="15854"/>
                </a:lnTo>
                <a:lnTo>
                  <a:pt x="901794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Freeform 116"/>
          <p:cNvSpPr/>
          <p:nvPr/>
        </p:nvSpPr>
        <p:spPr>
          <a:xfrm>
            <a:off x="2331492" y="4106772"/>
            <a:ext cx="430617" cy="527791"/>
          </a:xfrm>
          <a:custGeom>
            <a:avLst/>
            <a:gdLst/>
            <a:ahLst/>
            <a:cxnLst/>
            <a:rect l="l" t="t" r="r" b="b"/>
            <a:pathLst>
              <a:path w="430617" h="527791">
                <a:moveTo>
                  <a:pt x="0" y="527791"/>
                </a:moveTo>
                <a:lnTo>
                  <a:pt x="39284" y="504897"/>
                </a:lnTo>
                <a:lnTo>
                  <a:pt x="76918" y="480656"/>
                </a:lnTo>
                <a:lnTo>
                  <a:pt x="112903" y="455071"/>
                </a:lnTo>
                <a:lnTo>
                  <a:pt x="147239" y="428139"/>
                </a:lnTo>
                <a:lnTo>
                  <a:pt x="179925" y="399862"/>
                </a:lnTo>
                <a:lnTo>
                  <a:pt x="210962" y="370239"/>
                </a:lnTo>
                <a:lnTo>
                  <a:pt x="240349" y="339271"/>
                </a:lnTo>
                <a:lnTo>
                  <a:pt x="268088" y="306957"/>
                </a:lnTo>
                <a:lnTo>
                  <a:pt x="294176" y="273297"/>
                </a:lnTo>
                <a:lnTo>
                  <a:pt x="318616" y="238292"/>
                </a:lnTo>
                <a:lnTo>
                  <a:pt x="341406" y="201940"/>
                </a:lnTo>
                <a:lnTo>
                  <a:pt x="362547" y="164244"/>
                </a:lnTo>
                <a:lnTo>
                  <a:pt x="382038" y="125201"/>
                </a:lnTo>
                <a:lnTo>
                  <a:pt x="399880" y="84813"/>
                </a:lnTo>
                <a:lnTo>
                  <a:pt x="416073" y="43079"/>
                </a:lnTo>
                <a:lnTo>
                  <a:pt x="430617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Freeform 117"/>
          <p:cNvSpPr/>
          <p:nvPr/>
        </p:nvSpPr>
        <p:spPr>
          <a:xfrm>
            <a:off x="4570094" y="4031768"/>
            <a:ext cx="782285" cy="81513"/>
          </a:xfrm>
          <a:custGeom>
            <a:avLst/>
            <a:gdLst/>
            <a:ahLst/>
            <a:cxnLst/>
            <a:rect l="l" t="t" r="r" b="b"/>
            <a:pathLst>
              <a:path w="782285" h="81513">
                <a:moveTo>
                  <a:pt x="782285" y="81513"/>
                </a:moveTo>
                <a:lnTo>
                  <a:pt x="733546" y="62768"/>
                </a:lnTo>
                <a:lnTo>
                  <a:pt x="684787" y="46467"/>
                </a:lnTo>
                <a:lnTo>
                  <a:pt x="636007" y="32611"/>
                </a:lnTo>
                <a:lnTo>
                  <a:pt x="587206" y="21199"/>
                </a:lnTo>
                <a:lnTo>
                  <a:pt x="538385" y="12233"/>
                </a:lnTo>
                <a:lnTo>
                  <a:pt x="489544" y="5710"/>
                </a:lnTo>
                <a:lnTo>
                  <a:pt x="440682" y="1633"/>
                </a:lnTo>
                <a:lnTo>
                  <a:pt x="391799" y="0"/>
                </a:lnTo>
                <a:lnTo>
                  <a:pt x="342896" y="811"/>
                </a:lnTo>
                <a:lnTo>
                  <a:pt x="293973" y="4068"/>
                </a:lnTo>
                <a:lnTo>
                  <a:pt x="245029" y="9769"/>
                </a:lnTo>
                <a:lnTo>
                  <a:pt x="196064" y="17914"/>
                </a:lnTo>
                <a:lnTo>
                  <a:pt x="147079" y="28505"/>
                </a:lnTo>
                <a:lnTo>
                  <a:pt x="98073" y="41539"/>
                </a:lnTo>
                <a:lnTo>
                  <a:pt x="49047" y="57019"/>
                </a:lnTo>
                <a:lnTo>
                  <a:pt x="0" y="74943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Freeform 118"/>
          <p:cNvSpPr/>
          <p:nvPr/>
        </p:nvSpPr>
        <p:spPr>
          <a:xfrm>
            <a:off x="2762109" y="4106742"/>
            <a:ext cx="906192" cy="67979"/>
          </a:xfrm>
          <a:custGeom>
            <a:avLst/>
            <a:gdLst/>
            <a:ahLst/>
            <a:cxnLst/>
            <a:rect l="l" t="t" r="r" b="b"/>
            <a:pathLst>
              <a:path w="906192" h="67979">
                <a:moveTo>
                  <a:pt x="0" y="30"/>
                </a:moveTo>
                <a:lnTo>
                  <a:pt x="56637" y="15957"/>
                </a:lnTo>
                <a:lnTo>
                  <a:pt x="113275" y="29760"/>
                </a:lnTo>
                <a:lnTo>
                  <a:pt x="169912" y="41440"/>
                </a:lnTo>
                <a:lnTo>
                  <a:pt x="226549" y="50995"/>
                </a:lnTo>
                <a:lnTo>
                  <a:pt x="283187" y="58427"/>
                </a:lnTo>
                <a:lnTo>
                  <a:pt x="339824" y="63735"/>
                </a:lnTo>
                <a:lnTo>
                  <a:pt x="396461" y="66919"/>
                </a:lnTo>
                <a:lnTo>
                  <a:pt x="453098" y="67979"/>
                </a:lnTo>
                <a:lnTo>
                  <a:pt x="509735" y="66915"/>
                </a:lnTo>
                <a:lnTo>
                  <a:pt x="566372" y="63728"/>
                </a:lnTo>
                <a:lnTo>
                  <a:pt x="623009" y="58416"/>
                </a:lnTo>
                <a:lnTo>
                  <a:pt x="679645" y="50981"/>
                </a:lnTo>
                <a:lnTo>
                  <a:pt x="736282" y="41421"/>
                </a:lnTo>
                <a:lnTo>
                  <a:pt x="792919" y="29738"/>
                </a:lnTo>
                <a:lnTo>
                  <a:pt x="849555" y="15931"/>
                </a:lnTo>
                <a:lnTo>
                  <a:pt x="906192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Freeform 119"/>
          <p:cNvSpPr/>
          <p:nvPr/>
        </p:nvSpPr>
        <p:spPr>
          <a:xfrm>
            <a:off x="3668301" y="4106711"/>
            <a:ext cx="901793" cy="67650"/>
          </a:xfrm>
          <a:custGeom>
            <a:avLst/>
            <a:gdLst/>
            <a:ahLst/>
            <a:cxnLst/>
            <a:rect l="l" t="t" r="r" b="b"/>
            <a:pathLst>
              <a:path w="901793" h="67650">
                <a:moveTo>
                  <a:pt x="0" y="31"/>
                </a:moveTo>
                <a:lnTo>
                  <a:pt x="56362" y="15881"/>
                </a:lnTo>
                <a:lnTo>
                  <a:pt x="112725" y="29617"/>
                </a:lnTo>
                <a:lnTo>
                  <a:pt x="169087" y="41240"/>
                </a:lnTo>
                <a:lnTo>
                  <a:pt x="225450" y="50749"/>
                </a:lnTo>
                <a:lnTo>
                  <a:pt x="281812" y="58145"/>
                </a:lnTo>
                <a:lnTo>
                  <a:pt x="338174" y="63427"/>
                </a:lnTo>
                <a:lnTo>
                  <a:pt x="394537" y="66595"/>
                </a:lnTo>
                <a:lnTo>
                  <a:pt x="450899" y="67650"/>
                </a:lnTo>
                <a:lnTo>
                  <a:pt x="507261" y="66591"/>
                </a:lnTo>
                <a:lnTo>
                  <a:pt x="563623" y="63419"/>
                </a:lnTo>
                <a:lnTo>
                  <a:pt x="619985" y="58133"/>
                </a:lnTo>
                <a:lnTo>
                  <a:pt x="676347" y="50734"/>
                </a:lnTo>
                <a:lnTo>
                  <a:pt x="732708" y="41221"/>
                </a:lnTo>
                <a:lnTo>
                  <a:pt x="789070" y="29594"/>
                </a:lnTo>
                <a:lnTo>
                  <a:pt x="845432" y="15854"/>
                </a:lnTo>
                <a:lnTo>
                  <a:pt x="901793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Freeform 120"/>
          <p:cNvSpPr/>
          <p:nvPr/>
        </p:nvSpPr>
        <p:spPr>
          <a:xfrm>
            <a:off x="4570094" y="3342169"/>
            <a:ext cx="62653" cy="764542"/>
          </a:xfrm>
          <a:custGeom>
            <a:avLst/>
            <a:gdLst/>
            <a:ahLst/>
            <a:cxnLst/>
            <a:rect l="l" t="t" r="r" b="b"/>
            <a:pathLst>
              <a:path w="62653" h="764542">
                <a:moveTo>
                  <a:pt x="0" y="764542"/>
                </a:moveTo>
                <a:lnTo>
                  <a:pt x="14103" y="716945"/>
                </a:lnTo>
                <a:lnTo>
                  <a:pt x="26415" y="669323"/>
                </a:lnTo>
                <a:lnTo>
                  <a:pt x="36934" y="621676"/>
                </a:lnTo>
                <a:lnTo>
                  <a:pt x="45662" y="574004"/>
                </a:lnTo>
                <a:lnTo>
                  <a:pt x="52597" y="526308"/>
                </a:lnTo>
                <a:lnTo>
                  <a:pt x="57741" y="478586"/>
                </a:lnTo>
                <a:lnTo>
                  <a:pt x="61093" y="430839"/>
                </a:lnTo>
                <a:lnTo>
                  <a:pt x="62653" y="383068"/>
                </a:lnTo>
                <a:lnTo>
                  <a:pt x="62421" y="335272"/>
                </a:lnTo>
                <a:lnTo>
                  <a:pt x="60397" y="287450"/>
                </a:lnTo>
                <a:lnTo>
                  <a:pt x="56582" y="239604"/>
                </a:lnTo>
                <a:lnTo>
                  <a:pt x="50974" y="191733"/>
                </a:lnTo>
                <a:lnTo>
                  <a:pt x="43575" y="143837"/>
                </a:lnTo>
                <a:lnTo>
                  <a:pt x="34383" y="95916"/>
                </a:lnTo>
                <a:lnTo>
                  <a:pt x="23400" y="47971"/>
                </a:lnTo>
                <a:lnTo>
                  <a:pt x="10625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Freeform 121"/>
          <p:cNvSpPr/>
          <p:nvPr/>
        </p:nvSpPr>
        <p:spPr>
          <a:xfrm>
            <a:off x="5352379" y="3130369"/>
            <a:ext cx="1271209" cy="982912"/>
          </a:xfrm>
          <a:custGeom>
            <a:avLst/>
            <a:gdLst/>
            <a:ahLst/>
            <a:cxnLst/>
            <a:rect l="l" t="t" r="r" b="b"/>
            <a:pathLst>
              <a:path w="1271209" h="982912">
                <a:moveTo>
                  <a:pt x="0" y="982912"/>
                </a:moveTo>
                <a:lnTo>
                  <a:pt x="102487" y="951274"/>
                </a:lnTo>
                <a:lnTo>
                  <a:pt x="201903" y="915664"/>
                </a:lnTo>
                <a:lnTo>
                  <a:pt x="298248" y="876081"/>
                </a:lnTo>
                <a:lnTo>
                  <a:pt x="391521" y="832525"/>
                </a:lnTo>
                <a:lnTo>
                  <a:pt x="481722" y="784997"/>
                </a:lnTo>
                <a:lnTo>
                  <a:pt x="568851" y="733496"/>
                </a:lnTo>
                <a:lnTo>
                  <a:pt x="652909" y="678023"/>
                </a:lnTo>
                <a:lnTo>
                  <a:pt x="733896" y="618577"/>
                </a:lnTo>
                <a:lnTo>
                  <a:pt x="811811" y="555159"/>
                </a:lnTo>
                <a:lnTo>
                  <a:pt x="886654" y="487768"/>
                </a:lnTo>
                <a:lnTo>
                  <a:pt x="958425" y="416405"/>
                </a:lnTo>
                <a:lnTo>
                  <a:pt x="1027125" y="341069"/>
                </a:lnTo>
                <a:lnTo>
                  <a:pt x="1092754" y="261761"/>
                </a:lnTo>
                <a:lnTo>
                  <a:pt x="1155311" y="178480"/>
                </a:lnTo>
                <a:lnTo>
                  <a:pt x="1214796" y="91226"/>
                </a:lnTo>
                <a:lnTo>
                  <a:pt x="1271209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Freeform 122"/>
          <p:cNvSpPr/>
          <p:nvPr/>
        </p:nvSpPr>
        <p:spPr>
          <a:xfrm>
            <a:off x="5264407" y="3130369"/>
            <a:ext cx="1359181" cy="968255"/>
          </a:xfrm>
          <a:custGeom>
            <a:avLst/>
            <a:gdLst/>
            <a:ahLst/>
            <a:cxnLst/>
            <a:rect l="l" t="t" r="r" b="b"/>
            <a:pathLst>
              <a:path w="1359181" h="968255">
                <a:moveTo>
                  <a:pt x="0" y="968255"/>
                </a:moveTo>
                <a:lnTo>
                  <a:pt x="107642" y="939595"/>
                </a:lnTo>
                <a:lnTo>
                  <a:pt x="212259" y="906687"/>
                </a:lnTo>
                <a:lnTo>
                  <a:pt x="313849" y="869532"/>
                </a:lnTo>
                <a:lnTo>
                  <a:pt x="412414" y="828130"/>
                </a:lnTo>
                <a:lnTo>
                  <a:pt x="507953" y="782480"/>
                </a:lnTo>
                <a:lnTo>
                  <a:pt x="600467" y="732583"/>
                </a:lnTo>
                <a:lnTo>
                  <a:pt x="689954" y="678438"/>
                </a:lnTo>
                <a:lnTo>
                  <a:pt x="776416" y="620046"/>
                </a:lnTo>
                <a:lnTo>
                  <a:pt x="859852" y="557406"/>
                </a:lnTo>
                <a:lnTo>
                  <a:pt x="940262" y="490519"/>
                </a:lnTo>
                <a:lnTo>
                  <a:pt x="1017647" y="419384"/>
                </a:lnTo>
                <a:lnTo>
                  <a:pt x="1092005" y="344002"/>
                </a:lnTo>
                <a:lnTo>
                  <a:pt x="1163338" y="264373"/>
                </a:lnTo>
                <a:lnTo>
                  <a:pt x="1231645" y="180496"/>
                </a:lnTo>
                <a:lnTo>
                  <a:pt x="1296926" y="92372"/>
                </a:lnTo>
                <a:lnTo>
                  <a:pt x="1359181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Freeform 123"/>
          <p:cNvSpPr/>
          <p:nvPr/>
        </p:nvSpPr>
        <p:spPr>
          <a:xfrm>
            <a:off x="5352379" y="3096255"/>
            <a:ext cx="359404" cy="1017026"/>
          </a:xfrm>
          <a:custGeom>
            <a:avLst/>
            <a:gdLst/>
            <a:ahLst/>
            <a:cxnLst/>
            <a:rect l="l" t="t" r="r" b="b"/>
            <a:pathLst>
              <a:path w="359404" h="1017026">
                <a:moveTo>
                  <a:pt x="0" y="1017026"/>
                </a:moveTo>
                <a:lnTo>
                  <a:pt x="46208" y="961851"/>
                </a:lnTo>
                <a:lnTo>
                  <a:pt x="89237" y="905558"/>
                </a:lnTo>
                <a:lnTo>
                  <a:pt x="129088" y="848146"/>
                </a:lnTo>
                <a:lnTo>
                  <a:pt x="165761" y="789615"/>
                </a:lnTo>
                <a:lnTo>
                  <a:pt x="199256" y="729966"/>
                </a:lnTo>
                <a:lnTo>
                  <a:pt x="229573" y="669198"/>
                </a:lnTo>
                <a:lnTo>
                  <a:pt x="256711" y="607312"/>
                </a:lnTo>
                <a:lnTo>
                  <a:pt x="280672" y="544307"/>
                </a:lnTo>
                <a:lnTo>
                  <a:pt x="301454" y="480183"/>
                </a:lnTo>
                <a:lnTo>
                  <a:pt x="319058" y="414941"/>
                </a:lnTo>
                <a:lnTo>
                  <a:pt x="333483" y="348581"/>
                </a:lnTo>
                <a:lnTo>
                  <a:pt x="344731" y="281102"/>
                </a:lnTo>
                <a:lnTo>
                  <a:pt x="352800" y="212504"/>
                </a:lnTo>
                <a:lnTo>
                  <a:pt x="357691" y="142788"/>
                </a:lnTo>
                <a:lnTo>
                  <a:pt x="359404" y="71953"/>
                </a:lnTo>
                <a:lnTo>
                  <a:pt x="357938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Freeform 124"/>
          <p:cNvSpPr/>
          <p:nvPr/>
        </p:nvSpPr>
        <p:spPr>
          <a:xfrm>
            <a:off x="5264407" y="3096255"/>
            <a:ext cx="445910" cy="1002369"/>
          </a:xfrm>
          <a:custGeom>
            <a:avLst/>
            <a:gdLst/>
            <a:ahLst/>
            <a:cxnLst/>
            <a:rect l="l" t="t" r="r" b="b"/>
            <a:pathLst>
              <a:path w="445910" h="1002369">
                <a:moveTo>
                  <a:pt x="0" y="1002369"/>
                </a:moveTo>
                <a:lnTo>
                  <a:pt x="51362" y="950172"/>
                </a:lnTo>
                <a:lnTo>
                  <a:pt x="99592" y="896581"/>
                </a:lnTo>
                <a:lnTo>
                  <a:pt x="144690" y="841597"/>
                </a:lnTo>
                <a:lnTo>
                  <a:pt x="186655" y="785220"/>
                </a:lnTo>
                <a:lnTo>
                  <a:pt x="225488" y="727449"/>
                </a:lnTo>
                <a:lnTo>
                  <a:pt x="261188" y="668285"/>
                </a:lnTo>
                <a:lnTo>
                  <a:pt x="293756" y="607727"/>
                </a:lnTo>
                <a:lnTo>
                  <a:pt x="323192" y="545775"/>
                </a:lnTo>
                <a:lnTo>
                  <a:pt x="349495" y="482431"/>
                </a:lnTo>
                <a:lnTo>
                  <a:pt x="372666" y="417692"/>
                </a:lnTo>
                <a:lnTo>
                  <a:pt x="392704" y="351561"/>
                </a:lnTo>
                <a:lnTo>
                  <a:pt x="409610" y="284035"/>
                </a:lnTo>
                <a:lnTo>
                  <a:pt x="423384" y="215117"/>
                </a:lnTo>
                <a:lnTo>
                  <a:pt x="434025" y="144804"/>
                </a:lnTo>
                <a:lnTo>
                  <a:pt x="441534" y="73099"/>
                </a:lnTo>
                <a:lnTo>
                  <a:pt x="44591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Freeform 125"/>
          <p:cNvSpPr/>
          <p:nvPr/>
        </p:nvSpPr>
        <p:spPr>
          <a:xfrm>
            <a:off x="5692021" y="2444714"/>
            <a:ext cx="58394" cy="651541"/>
          </a:xfrm>
          <a:custGeom>
            <a:avLst/>
            <a:gdLst/>
            <a:ahLst/>
            <a:cxnLst/>
            <a:rect l="l" t="t" r="r" b="b"/>
            <a:pathLst>
              <a:path w="58394" h="651541">
                <a:moveTo>
                  <a:pt x="18296" y="651541"/>
                </a:moveTo>
                <a:lnTo>
                  <a:pt x="28606" y="610498"/>
                </a:lnTo>
                <a:lnTo>
                  <a:pt x="37388" y="569498"/>
                </a:lnTo>
                <a:lnTo>
                  <a:pt x="44643" y="528541"/>
                </a:lnTo>
                <a:lnTo>
                  <a:pt x="50371" y="487626"/>
                </a:lnTo>
                <a:lnTo>
                  <a:pt x="54573" y="446755"/>
                </a:lnTo>
                <a:lnTo>
                  <a:pt x="57247" y="405926"/>
                </a:lnTo>
                <a:lnTo>
                  <a:pt x="58394" y="365141"/>
                </a:lnTo>
                <a:lnTo>
                  <a:pt x="58014" y="324398"/>
                </a:lnTo>
                <a:lnTo>
                  <a:pt x="56107" y="283698"/>
                </a:lnTo>
                <a:lnTo>
                  <a:pt x="52673" y="243041"/>
                </a:lnTo>
                <a:lnTo>
                  <a:pt x="47712" y="202427"/>
                </a:lnTo>
                <a:lnTo>
                  <a:pt x="41223" y="161856"/>
                </a:lnTo>
                <a:lnTo>
                  <a:pt x="33208" y="121327"/>
                </a:lnTo>
                <a:lnTo>
                  <a:pt x="23666" y="80842"/>
                </a:lnTo>
                <a:lnTo>
                  <a:pt x="12597" y="40399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Freeform 126"/>
          <p:cNvSpPr/>
          <p:nvPr/>
        </p:nvSpPr>
        <p:spPr>
          <a:xfrm>
            <a:off x="5692021" y="2444714"/>
            <a:ext cx="906226" cy="67966"/>
          </a:xfrm>
          <a:custGeom>
            <a:avLst/>
            <a:gdLst/>
            <a:ahLst/>
            <a:cxnLst/>
            <a:rect l="l" t="t" r="r" b="b"/>
            <a:pathLst>
              <a:path w="906226" h="67966">
                <a:moveTo>
                  <a:pt x="0" y="0"/>
                </a:moveTo>
                <a:lnTo>
                  <a:pt x="56639" y="15929"/>
                </a:lnTo>
                <a:lnTo>
                  <a:pt x="113278" y="29735"/>
                </a:lnTo>
                <a:lnTo>
                  <a:pt x="169917" y="41417"/>
                </a:lnTo>
                <a:lnTo>
                  <a:pt x="226557" y="50975"/>
                </a:lnTo>
                <a:lnTo>
                  <a:pt x="283196" y="58409"/>
                </a:lnTo>
                <a:lnTo>
                  <a:pt x="339835" y="63718"/>
                </a:lnTo>
                <a:lnTo>
                  <a:pt x="396474" y="66904"/>
                </a:lnTo>
                <a:lnTo>
                  <a:pt x="453113" y="67966"/>
                </a:lnTo>
                <a:lnTo>
                  <a:pt x="509752" y="66904"/>
                </a:lnTo>
                <a:lnTo>
                  <a:pt x="566391" y="63718"/>
                </a:lnTo>
                <a:lnTo>
                  <a:pt x="623030" y="58409"/>
                </a:lnTo>
                <a:lnTo>
                  <a:pt x="679669" y="50975"/>
                </a:lnTo>
                <a:lnTo>
                  <a:pt x="736308" y="41417"/>
                </a:lnTo>
                <a:lnTo>
                  <a:pt x="792947" y="29735"/>
                </a:lnTo>
                <a:lnTo>
                  <a:pt x="849586" y="15929"/>
                </a:lnTo>
                <a:lnTo>
                  <a:pt x="906226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Freeform 127"/>
          <p:cNvSpPr/>
          <p:nvPr/>
        </p:nvSpPr>
        <p:spPr>
          <a:xfrm>
            <a:off x="6598247" y="2444714"/>
            <a:ext cx="901828" cy="67637"/>
          </a:xfrm>
          <a:custGeom>
            <a:avLst/>
            <a:gdLst/>
            <a:ahLst/>
            <a:cxnLst/>
            <a:rect l="l" t="t" r="r" b="b"/>
            <a:pathLst>
              <a:path w="901828" h="67637">
                <a:moveTo>
                  <a:pt x="0" y="0"/>
                </a:moveTo>
                <a:lnTo>
                  <a:pt x="56364" y="15852"/>
                </a:lnTo>
                <a:lnTo>
                  <a:pt x="112728" y="29591"/>
                </a:lnTo>
                <a:lnTo>
                  <a:pt x="169092" y="41216"/>
                </a:lnTo>
                <a:lnTo>
                  <a:pt x="225457" y="50727"/>
                </a:lnTo>
                <a:lnTo>
                  <a:pt x="281821" y="58125"/>
                </a:lnTo>
                <a:lnTo>
                  <a:pt x="338185" y="63409"/>
                </a:lnTo>
                <a:lnTo>
                  <a:pt x="394550" y="66580"/>
                </a:lnTo>
                <a:lnTo>
                  <a:pt x="450914" y="67637"/>
                </a:lnTo>
                <a:lnTo>
                  <a:pt x="507278" y="66580"/>
                </a:lnTo>
                <a:lnTo>
                  <a:pt x="563643" y="63409"/>
                </a:lnTo>
                <a:lnTo>
                  <a:pt x="620007" y="58125"/>
                </a:lnTo>
                <a:lnTo>
                  <a:pt x="676371" y="50727"/>
                </a:lnTo>
                <a:lnTo>
                  <a:pt x="732735" y="41216"/>
                </a:lnTo>
                <a:lnTo>
                  <a:pt x="789100" y="29591"/>
                </a:lnTo>
                <a:lnTo>
                  <a:pt x="845464" y="15852"/>
                </a:lnTo>
                <a:lnTo>
                  <a:pt x="901828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Freeform 128"/>
          <p:cNvSpPr/>
          <p:nvPr/>
        </p:nvSpPr>
        <p:spPr>
          <a:xfrm>
            <a:off x="5352379" y="3801649"/>
            <a:ext cx="339642" cy="311632"/>
          </a:xfrm>
          <a:custGeom>
            <a:avLst/>
            <a:gdLst/>
            <a:ahLst/>
            <a:cxnLst/>
            <a:rect l="l" t="t" r="r" b="b"/>
            <a:pathLst>
              <a:path w="339642" h="311632">
                <a:moveTo>
                  <a:pt x="0" y="311632"/>
                </a:moveTo>
                <a:lnTo>
                  <a:pt x="28531" y="300116"/>
                </a:lnTo>
                <a:lnTo>
                  <a:pt x="56089" y="287538"/>
                </a:lnTo>
                <a:lnTo>
                  <a:pt x="82673" y="273898"/>
                </a:lnTo>
                <a:lnTo>
                  <a:pt x="108283" y="259198"/>
                </a:lnTo>
                <a:lnTo>
                  <a:pt x="132919" y="243435"/>
                </a:lnTo>
                <a:lnTo>
                  <a:pt x="156581" y="226612"/>
                </a:lnTo>
                <a:lnTo>
                  <a:pt x="179270" y="208727"/>
                </a:lnTo>
                <a:lnTo>
                  <a:pt x="200984" y="189781"/>
                </a:lnTo>
                <a:lnTo>
                  <a:pt x="221725" y="169773"/>
                </a:lnTo>
                <a:lnTo>
                  <a:pt x="241492" y="148704"/>
                </a:lnTo>
                <a:lnTo>
                  <a:pt x="260285" y="126573"/>
                </a:lnTo>
                <a:lnTo>
                  <a:pt x="278104" y="103382"/>
                </a:lnTo>
                <a:lnTo>
                  <a:pt x="294949" y="79128"/>
                </a:lnTo>
                <a:lnTo>
                  <a:pt x="310821" y="53814"/>
                </a:lnTo>
                <a:lnTo>
                  <a:pt x="325718" y="27438"/>
                </a:lnTo>
                <a:lnTo>
                  <a:pt x="339642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Freeform 129"/>
          <p:cNvSpPr/>
          <p:nvPr/>
        </p:nvSpPr>
        <p:spPr>
          <a:xfrm>
            <a:off x="5264407" y="3801649"/>
            <a:ext cx="427614" cy="296975"/>
          </a:xfrm>
          <a:custGeom>
            <a:avLst/>
            <a:gdLst/>
            <a:ahLst/>
            <a:cxnLst/>
            <a:rect l="l" t="t" r="r" b="b"/>
            <a:pathLst>
              <a:path w="427614" h="296975">
                <a:moveTo>
                  <a:pt x="0" y="296975"/>
                </a:moveTo>
                <a:lnTo>
                  <a:pt x="33686" y="288436"/>
                </a:lnTo>
                <a:lnTo>
                  <a:pt x="66444" y="278561"/>
                </a:lnTo>
                <a:lnTo>
                  <a:pt x="98274" y="267350"/>
                </a:lnTo>
                <a:lnTo>
                  <a:pt x="129176" y="254802"/>
                </a:lnTo>
                <a:lnTo>
                  <a:pt x="159151" y="240918"/>
                </a:lnTo>
                <a:lnTo>
                  <a:pt x="188197" y="225698"/>
                </a:lnTo>
                <a:lnTo>
                  <a:pt x="216315" y="209142"/>
                </a:lnTo>
                <a:lnTo>
                  <a:pt x="243504" y="191249"/>
                </a:lnTo>
                <a:lnTo>
                  <a:pt x="269766" y="172020"/>
                </a:lnTo>
                <a:lnTo>
                  <a:pt x="295100" y="151455"/>
                </a:lnTo>
                <a:lnTo>
                  <a:pt x="319506" y="129553"/>
                </a:lnTo>
                <a:lnTo>
                  <a:pt x="342984" y="106315"/>
                </a:lnTo>
                <a:lnTo>
                  <a:pt x="365533" y="81741"/>
                </a:lnTo>
                <a:lnTo>
                  <a:pt x="387155" y="55830"/>
                </a:lnTo>
                <a:lnTo>
                  <a:pt x="407849" y="28583"/>
                </a:lnTo>
                <a:lnTo>
                  <a:pt x="427614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Freeform 130"/>
          <p:cNvSpPr/>
          <p:nvPr/>
        </p:nvSpPr>
        <p:spPr>
          <a:xfrm>
            <a:off x="5692021" y="3801649"/>
            <a:ext cx="906226" cy="67967"/>
          </a:xfrm>
          <a:custGeom>
            <a:avLst/>
            <a:gdLst/>
            <a:ahLst/>
            <a:cxnLst/>
            <a:rect l="l" t="t" r="r" b="b"/>
            <a:pathLst>
              <a:path w="906226" h="67967">
                <a:moveTo>
                  <a:pt x="0" y="0"/>
                </a:moveTo>
                <a:lnTo>
                  <a:pt x="56639" y="15930"/>
                </a:lnTo>
                <a:lnTo>
                  <a:pt x="113278" y="29736"/>
                </a:lnTo>
                <a:lnTo>
                  <a:pt x="169917" y="41418"/>
                </a:lnTo>
                <a:lnTo>
                  <a:pt x="226557" y="50975"/>
                </a:lnTo>
                <a:lnTo>
                  <a:pt x="283196" y="58409"/>
                </a:lnTo>
                <a:lnTo>
                  <a:pt x="339835" y="63719"/>
                </a:lnTo>
                <a:lnTo>
                  <a:pt x="396474" y="66905"/>
                </a:lnTo>
                <a:lnTo>
                  <a:pt x="453113" y="67967"/>
                </a:lnTo>
                <a:lnTo>
                  <a:pt x="509752" y="66905"/>
                </a:lnTo>
                <a:lnTo>
                  <a:pt x="566391" y="63719"/>
                </a:lnTo>
                <a:lnTo>
                  <a:pt x="623030" y="58409"/>
                </a:lnTo>
                <a:lnTo>
                  <a:pt x="679669" y="50975"/>
                </a:lnTo>
                <a:lnTo>
                  <a:pt x="736308" y="41418"/>
                </a:lnTo>
                <a:lnTo>
                  <a:pt x="792947" y="29736"/>
                </a:lnTo>
                <a:lnTo>
                  <a:pt x="849586" y="15930"/>
                </a:lnTo>
                <a:lnTo>
                  <a:pt x="906226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Freeform 131"/>
          <p:cNvSpPr/>
          <p:nvPr/>
        </p:nvSpPr>
        <p:spPr>
          <a:xfrm>
            <a:off x="6598247" y="3801649"/>
            <a:ext cx="901828" cy="67637"/>
          </a:xfrm>
          <a:custGeom>
            <a:avLst/>
            <a:gdLst/>
            <a:ahLst/>
            <a:cxnLst/>
            <a:rect l="l" t="t" r="r" b="b"/>
            <a:pathLst>
              <a:path w="901828" h="67637">
                <a:moveTo>
                  <a:pt x="0" y="0"/>
                </a:moveTo>
                <a:lnTo>
                  <a:pt x="56364" y="15853"/>
                </a:lnTo>
                <a:lnTo>
                  <a:pt x="112728" y="29592"/>
                </a:lnTo>
                <a:lnTo>
                  <a:pt x="169092" y="41217"/>
                </a:lnTo>
                <a:lnTo>
                  <a:pt x="225457" y="50728"/>
                </a:lnTo>
                <a:lnTo>
                  <a:pt x="281821" y="58126"/>
                </a:lnTo>
                <a:lnTo>
                  <a:pt x="338185" y="63410"/>
                </a:lnTo>
                <a:lnTo>
                  <a:pt x="394550" y="66581"/>
                </a:lnTo>
                <a:lnTo>
                  <a:pt x="450914" y="67637"/>
                </a:lnTo>
                <a:lnTo>
                  <a:pt x="507278" y="66581"/>
                </a:lnTo>
                <a:lnTo>
                  <a:pt x="563643" y="63410"/>
                </a:lnTo>
                <a:lnTo>
                  <a:pt x="620007" y="58126"/>
                </a:lnTo>
                <a:lnTo>
                  <a:pt x="676371" y="50728"/>
                </a:lnTo>
                <a:lnTo>
                  <a:pt x="732735" y="41217"/>
                </a:lnTo>
                <a:lnTo>
                  <a:pt x="789100" y="29592"/>
                </a:lnTo>
                <a:lnTo>
                  <a:pt x="845464" y="15853"/>
                </a:lnTo>
                <a:lnTo>
                  <a:pt x="901828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Freeform 132"/>
          <p:cNvSpPr/>
          <p:nvPr/>
        </p:nvSpPr>
        <p:spPr>
          <a:xfrm>
            <a:off x="7500075" y="3145247"/>
            <a:ext cx="58753" cy="656402"/>
          </a:xfrm>
          <a:custGeom>
            <a:avLst/>
            <a:gdLst/>
            <a:ahLst/>
            <a:cxnLst/>
            <a:rect l="l" t="t" r="r" b="b"/>
            <a:pathLst>
              <a:path w="58753" h="656402">
                <a:moveTo>
                  <a:pt x="0" y="656402"/>
                </a:moveTo>
                <a:lnTo>
                  <a:pt x="12682" y="615699"/>
                </a:lnTo>
                <a:lnTo>
                  <a:pt x="23825" y="574952"/>
                </a:lnTo>
                <a:lnTo>
                  <a:pt x="33430" y="534163"/>
                </a:lnTo>
                <a:lnTo>
                  <a:pt x="41497" y="493331"/>
                </a:lnTo>
                <a:lnTo>
                  <a:pt x="48025" y="452456"/>
                </a:lnTo>
                <a:lnTo>
                  <a:pt x="53015" y="411538"/>
                </a:lnTo>
                <a:lnTo>
                  <a:pt x="56466" y="370577"/>
                </a:lnTo>
                <a:lnTo>
                  <a:pt x="58378" y="329573"/>
                </a:lnTo>
                <a:lnTo>
                  <a:pt x="58753" y="288527"/>
                </a:lnTo>
                <a:lnTo>
                  <a:pt x="57589" y="247437"/>
                </a:lnTo>
                <a:lnTo>
                  <a:pt x="54886" y="206305"/>
                </a:lnTo>
                <a:lnTo>
                  <a:pt x="50645" y="165130"/>
                </a:lnTo>
                <a:lnTo>
                  <a:pt x="44865" y="123912"/>
                </a:lnTo>
                <a:lnTo>
                  <a:pt x="37548" y="82651"/>
                </a:lnTo>
                <a:lnTo>
                  <a:pt x="28691" y="41347"/>
                </a:lnTo>
                <a:lnTo>
                  <a:pt x="18296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Freeform 133"/>
          <p:cNvSpPr/>
          <p:nvPr/>
        </p:nvSpPr>
        <p:spPr>
          <a:xfrm>
            <a:off x="5352379" y="4113281"/>
            <a:ext cx="110939" cy="256921"/>
          </a:xfrm>
          <a:custGeom>
            <a:avLst/>
            <a:gdLst/>
            <a:ahLst/>
            <a:cxnLst/>
            <a:rect l="l" t="t" r="r" b="b"/>
            <a:pathLst>
              <a:path w="110939" h="256921">
                <a:moveTo>
                  <a:pt x="0" y="0"/>
                </a:moveTo>
                <a:lnTo>
                  <a:pt x="912" y="18658"/>
                </a:lnTo>
                <a:lnTo>
                  <a:pt x="2627" y="36969"/>
                </a:lnTo>
                <a:lnTo>
                  <a:pt x="5145" y="54933"/>
                </a:lnTo>
                <a:lnTo>
                  <a:pt x="8465" y="72551"/>
                </a:lnTo>
                <a:lnTo>
                  <a:pt x="12589" y="89822"/>
                </a:lnTo>
                <a:lnTo>
                  <a:pt x="17516" y="106746"/>
                </a:lnTo>
                <a:lnTo>
                  <a:pt x="23245" y="123324"/>
                </a:lnTo>
                <a:lnTo>
                  <a:pt x="29777" y="139555"/>
                </a:lnTo>
                <a:lnTo>
                  <a:pt x="37112" y="155439"/>
                </a:lnTo>
                <a:lnTo>
                  <a:pt x="45250" y="170976"/>
                </a:lnTo>
                <a:lnTo>
                  <a:pt x="54191" y="186167"/>
                </a:lnTo>
                <a:lnTo>
                  <a:pt x="63935" y="201011"/>
                </a:lnTo>
                <a:lnTo>
                  <a:pt x="74481" y="215509"/>
                </a:lnTo>
                <a:lnTo>
                  <a:pt x="85831" y="229659"/>
                </a:lnTo>
                <a:lnTo>
                  <a:pt x="97983" y="243464"/>
                </a:lnTo>
                <a:lnTo>
                  <a:pt x="110939" y="256921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" name="TextBox 566"/>
          <p:cNvSpPr txBox="1"/>
          <p:nvPr/>
        </p:nvSpPr>
        <p:spPr>
          <a:xfrm>
            <a:off x="7966599" y="3144886"/>
            <a:ext cx="14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F4E79"/>
                </a:solidFill>
                <a:latin typeface="Microsoft YaHei"/>
              </a:rPr>
              <a:t>p → 见另图</a:t>
            </a:r>
          </a:p>
        </p:txBody>
      </p:sp>
      <p:sp>
        <p:nvSpPr>
          <p:cNvPr id="135" name="Freeform 134"/>
          <p:cNvSpPr/>
          <p:nvPr/>
        </p:nvSpPr>
        <p:spPr>
          <a:xfrm>
            <a:off x="7926273" y="-943208"/>
            <a:ext cx="733374" cy="4031638"/>
          </a:xfrm>
          <a:custGeom>
            <a:avLst/>
            <a:gdLst/>
            <a:ahLst/>
            <a:cxnLst/>
            <a:rect l="l" t="t" r="r" b="b"/>
            <a:pathLst>
              <a:path w="733374" h="4031638">
                <a:moveTo>
                  <a:pt x="0" y="4031638"/>
                </a:moveTo>
                <a:lnTo>
                  <a:pt x="129665" y="3792851"/>
                </a:lnTo>
                <a:lnTo>
                  <a:pt x="246731" y="3552305"/>
                </a:lnTo>
                <a:lnTo>
                  <a:pt x="351198" y="3310000"/>
                </a:lnTo>
                <a:lnTo>
                  <a:pt x="443066" y="3065936"/>
                </a:lnTo>
                <a:lnTo>
                  <a:pt x="522335" y="2820114"/>
                </a:lnTo>
                <a:lnTo>
                  <a:pt x="589006" y="2572533"/>
                </a:lnTo>
                <a:lnTo>
                  <a:pt x="643077" y="2323194"/>
                </a:lnTo>
                <a:lnTo>
                  <a:pt x="684550" y="2072096"/>
                </a:lnTo>
                <a:lnTo>
                  <a:pt x="713424" y="1819239"/>
                </a:lnTo>
                <a:lnTo>
                  <a:pt x="729698" y="1564624"/>
                </a:lnTo>
                <a:lnTo>
                  <a:pt x="733374" y="1308249"/>
                </a:lnTo>
                <a:lnTo>
                  <a:pt x="724452" y="1050117"/>
                </a:lnTo>
                <a:lnTo>
                  <a:pt x="702930" y="790226"/>
                </a:lnTo>
                <a:lnTo>
                  <a:pt x="668809" y="528576"/>
                </a:lnTo>
                <a:lnTo>
                  <a:pt x="622090" y="265167"/>
                </a:lnTo>
                <a:lnTo>
                  <a:pt x="562772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8" name="TextBox 567"/>
          <p:cNvSpPr txBox="1"/>
          <p:nvPr/>
        </p:nvSpPr>
        <p:spPr>
          <a:xfrm>
            <a:off x="7966599" y="3144886"/>
            <a:ext cx="14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F4E79"/>
                </a:solidFill>
                <a:latin typeface="Microsoft YaHei"/>
              </a:rPr>
              <a:t>v → 见另图</a:t>
            </a:r>
          </a:p>
        </p:txBody>
      </p:sp>
      <p:sp>
        <p:nvSpPr>
          <p:cNvPr id="136" name="Freeform 135"/>
          <p:cNvSpPr/>
          <p:nvPr/>
        </p:nvSpPr>
        <p:spPr>
          <a:xfrm>
            <a:off x="5382666" y="4289551"/>
            <a:ext cx="161303" cy="80651"/>
          </a:xfrm>
          <a:custGeom>
            <a:avLst/>
            <a:gdLst/>
            <a:ahLst/>
            <a:cxnLst/>
            <a:rect l="l" t="t" r="r" b="b"/>
            <a:pathLst>
              <a:path w="161303" h="80651">
                <a:moveTo>
                  <a:pt x="161303" y="80651"/>
                </a:moveTo>
                <a:lnTo>
                  <a:pt x="159753" y="64917"/>
                </a:lnTo>
                <a:lnTo>
                  <a:pt x="155164" y="49787"/>
                </a:lnTo>
                <a:lnTo>
                  <a:pt x="147711" y="35843"/>
                </a:lnTo>
                <a:lnTo>
                  <a:pt x="137681" y="23622"/>
                </a:lnTo>
                <a:lnTo>
                  <a:pt x="125459" y="13592"/>
                </a:lnTo>
                <a:lnTo>
                  <a:pt x="111515" y="6139"/>
                </a:lnTo>
                <a:lnTo>
                  <a:pt x="96386" y="1549"/>
                </a:lnTo>
                <a:lnTo>
                  <a:pt x="80652" y="0"/>
                </a:lnTo>
                <a:lnTo>
                  <a:pt x="64917" y="1549"/>
                </a:lnTo>
                <a:lnTo>
                  <a:pt x="49788" y="6139"/>
                </a:lnTo>
                <a:lnTo>
                  <a:pt x="35844" y="13592"/>
                </a:lnTo>
                <a:lnTo>
                  <a:pt x="23622" y="23622"/>
                </a:lnTo>
                <a:lnTo>
                  <a:pt x="13592" y="35843"/>
                </a:lnTo>
                <a:lnTo>
                  <a:pt x="6139" y="49787"/>
                </a:lnTo>
                <a:lnTo>
                  <a:pt x="1550" y="64917"/>
                </a:lnTo>
                <a:lnTo>
                  <a:pt x="0" y="80651"/>
                </a:lnTo>
                <a:lnTo>
                  <a:pt x="161303" y="80651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9" name="Connector 568"/>
          <p:cNvCxnSpPr/>
          <p:nvPr/>
        </p:nvCxnSpPr>
        <p:spPr>
          <a:xfrm>
            <a:off x="5358471" y="4370202"/>
            <a:ext cx="209693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0" name="TextBox 569"/>
          <p:cNvSpPr txBox="1"/>
          <p:nvPr/>
        </p:nvSpPr>
        <p:spPr>
          <a:xfrm>
            <a:off x="5560099" y="4176639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n</a:t>
            </a:r>
          </a:p>
        </p:txBody>
      </p:sp>
      <p:sp>
        <p:nvSpPr>
          <p:cNvPr id="571" name="Oval 570"/>
          <p:cNvSpPr/>
          <p:nvPr/>
        </p:nvSpPr>
        <p:spPr>
          <a:xfrm>
            <a:off x="6526807" y="3033588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2" name="Connector 571"/>
          <p:cNvCxnSpPr/>
          <p:nvPr/>
        </p:nvCxnSpPr>
        <p:spPr>
          <a:xfrm>
            <a:off x="6555164" y="3061945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3" name="Connector 572"/>
          <p:cNvCxnSpPr/>
          <p:nvPr/>
        </p:nvCxnSpPr>
        <p:spPr>
          <a:xfrm flipV="1">
            <a:off x="6555164" y="3061945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4" name="TextBox 573"/>
          <p:cNvSpPr txBox="1"/>
          <p:nvPr/>
        </p:nvSpPr>
        <p:spPr>
          <a:xfrm>
            <a:off x="6720370" y="2936806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g</a:t>
            </a:r>
          </a:p>
        </p:txBody>
      </p:sp>
      <p:sp>
        <p:nvSpPr>
          <p:cNvPr id="575" name="Oval 574"/>
          <p:cNvSpPr/>
          <p:nvPr/>
        </p:nvSpPr>
        <p:spPr>
          <a:xfrm>
            <a:off x="3580682" y="3236622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6" name="Connector 575"/>
          <p:cNvCxnSpPr/>
          <p:nvPr/>
        </p:nvCxnSpPr>
        <p:spPr>
          <a:xfrm>
            <a:off x="3609039" y="3264979"/>
            <a:ext cx="136850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7" name="Connector 576"/>
          <p:cNvCxnSpPr/>
          <p:nvPr/>
        </p:nvCxnSpPr>
        <p:spPr>
          <a:xfrm flipV="1">
            <a:off x="3609039" y="3264979"/>
            <a:ext cx="136850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8" name="TextBox 577"/>
          <p:cNvSpPr txBox="1"/>
          <p:nvPr/>
        </p:nvSpPr>
        <p:spPr>
          <a:xfrm>
            <a:off x="3774246" y="3139840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579" name="Oval 578"/>
          <p:cNvSpPr/>
          <p:nvPr/>
        </p:nvSpPr>
        <p:spPr>
          <a:xfrm>
            <a:off x="2902757" y="5069822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0" name="Connector 579"/>
          <p:cNvCxnSpPr/>
          <p:nvPr/>
        </p:nvCxnSpPr>
        <p:spPr>
          <a:xfrm>
            <a:off x="2931114" y="5098179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1" name="Connector 580"/>
          <p:cNvCxnSpPr/>
          <p:nvPr/>
        </p:nvCxnSpPr>
        <p:spPr>
          <a:xfrm flipV="1">
            <a:off x="2931114" y="5098179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2" name="TextBox 581"/>
          <p:cNvSpPr txBox="1"/>
          <p:nvPr/>
        </p:nvSpPr>
        <p:spPr>
          <a:xfrm>
            <a:off x="3096320" y="4973041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137" name="Freeform 136"/>
          <p:cNvSpPr/>
          <p:nvPr/>
        </p:nvSpPr>
        <p:spPr>
          <a:xfrm>
            <a:off x="2162747" y="5067985"/>
            <a:ext cx="161302" cy="80651"/>
          </a:xfrm>
          <a:custGeom>
            <a:avLst/>
            <a:gdLst/>
            <a:ahLst/>
            <a:cxnLst/>
            <a:rect l="l" t="t" r="r" b="b"/>
            <a:pathLst>
              <a:path w="161302" h="80651">
                <a:moveTo>
                  <a:pt x="161302" y="80651"/>
                </a:moveTo>
                <a:lnTo>
                  <a:pt x="159753" y="64917"/>
                </a:lnTo>
                <a:lnTo>
                  <a:pt x="155163" y="49787"/>
                </a:lnTo>
                <a:lnTo>
                  <a:pt x="147710" y="35843"/>
                </a:lnTo>
                <a:lnTo>
                  <a:pt x="137680" y="23622"/>
                </a:lnTo>
                <a:lnTo>
                  <a:pt x="125459" y="13592"/>
                </a:lnTo>
                <a:lnTo>
                  <a:pt x="111515" y="6139"/>
                </a:lnTo>
                <a:lnTo>
                  <a:pt x="96385" y="1549"/>
                </a:lnTo>
                <a:lnTo>
                  <a:pt x="80651" y="0"/>
                </a:lnTo>
                <a:lnTo>
                  <a:pt x="64917" y="1549"/>
                </a:lnTo>
                <a:lnTo>
                  <a:pt x="49787" y="6139"/>
                </a:lnTo>
                <a:lnTo>
                  <a:pt x="35844" y="13592"/>
                </a:lnTo>
                <a:lnTo>
                  <a:pt x="23622" y="23622"/>
                </a:lnTo>
                <a:lnTo>
                  <a:pt x="13592" y="35843"/>
                </a:lnTo>
                <a:lnTo>
                  <a:pt x="6139" y="49787"/>
                </a:lnTo>
                <a:lnTo>
                  <a:pt x="1550" y="64917"/>
                </a:lnTo>
                <a:lnTo>
                  <a:pt x="0" y="80651"/>
                </a:lnTo>
                <a:lnTo>
                  <a:pt x="161302" y="80651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3" name="Connector 582"/>
          <p:cNvCxnSpPr/>
          <p:nvPr/>
        </p:nvCxnSpPr>
        <p:spPr>
          <a:xfrm>
            <a:off x="2138552" y="5148636"/>
            <a:ext cx="209693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4" name="TextBox 583"/>
          <p:cNvSpPr txBox="1"/>
          <p:nvPr/>
        </p:nvSpPr>
        <p:spPr>
          <a:xfrm>
            <a:off x="2340180" y="4955073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c</a:t>
            </a:r>
          </a:p>
        </p:txBody>
      </p:sp>
      <p:sp>
        <p:nvSpPr>
          <p:cNvPr id="585" name="Oval 584"/>
          <p:cNvSpPr/>
          <p:nvPr/>
        </p:nvSpPr>
        <p:spPr>
          <a:xfrm>
            <a:off x="4505573" y="4042190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" name="Oval 585"/>
          <p:cNvSpPr/>
          <p:nvPr/>
        </p:nvSpPr>
        <p:spPr>
          <a:xfrm>
            <a:off x="4549931" y="4086548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" name="TextBox 586"/>
          <p:cNvSpPr txBox="1"/>
          <p:nvPr/>
        </p:nvSpPr>
        <p:spPr>
          <a:xfrm>
            <a:off x="4666876" y="3913148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588" name="Oval 587"/>
          <p:cNvSpPr/>
          <p:nvPr/>
        </p:nvSpPr>
        <p:spPr>
          <a:xfrm>
            <a:off x="3603780" y="4042221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" name="Oval 588"/>
          <p:cNvSpPr/>
          <p:nvPr/>
        </p:nvSpPr>
        <p:spPr>
          <a:xfrm>
            <a:off x="3648138" y="4086579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" name="TextBox 589"/>
          <p:cNvSpPr txBox="1"/>
          <p:nvPr/>
        </p:nvSpPr>
        <p:spPr>
          <a:xfrm>
            <a:off x="3765082" y="3913179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591" name="Oval 590"/>
          <p:cNvSpPr/>
          <p:nvPr/>
        </p:nvSpPr>
        <p:spPr>
          <a:xfrm>
            <a:off x="2697587" y="4042251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" name="Oval 591"/>
          <p:cNvSpPr/>
          <p:nvPr/>
        </p:nvSpPr>
        <p:spPr>
          <a:xfrm>
            <a:off x="2741946" y="4086609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" name="TextBox 592"/>
          <p:cNvSpPr txBox="1"/>
          <p:nvPr/>
        </p:nvSpPr>
        <p:spPr>
          <a:xfrm>
            <a:off x="2858890" y="3913208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594" name="Oval 593"/>
          <p:cNvSpPr/>
          <p:nvPr/>
        </p:nvSpPr>
        <p:spPr>
          <a:xfrm>
            <a:off x="2707472" y="3292369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" name="Oval 594"/>
          <p:cNvSpPr/>
          <p:nvPr/>
        </p:nvSpPr>
        <p:spPr>
          <a:xfrm>
            <a:off x="2751830" y="3336727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" name="TextBox 595"/>
          <p:cNvSpPr txBox="1"/>
          <p:nvPr/>
        </p:nvSpPr>
        <p:spPr>
          <a:xfrm>
            <a:off x="2868774" y="3163327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597" name="Oval 596"/>
          <p:cNvSpPr/>
          <p:nvPr/>
        </p:nvSpPr>
        <p:spPr>
          <a:xfrm>
            <a:off x="3614043" y="249041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" name="Oval 597"/>
          <p:cNvSpPr/>
          <p:nvPr/>
        </p:nvSpPr>
        <p:spPr>
          <a:xfrm>
            <a:off x="3658402" y="253477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" name="TextBox 598"/>
          <p:cNvSpPr txBox="1"/>
          <p:nvPr/>
        </p:nvSpPr>
        <p:spPr>
          <a:xfrm>
            <a:off x="3775346" y="2361371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600" name="Oval 599"/>
          <p:cNvSpPr/>
          <p:nvPr/>
        </p:nvSpPr>
        <p:spPr>
          <a:xfrm>
            <a:off x="4515837" y="2490382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" name="Oval 600"/>
          <p:cNvSpPr/>
          <p:nvPr/>
        </p:nvSpPr>
        <p:spPr>
          <a:xfrm>
            <a:off x="4560195" y="2534740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" name="TextBox 601"/>
          <p:cNvSpPr txBox="1"/>
          <p:nvPr/>
        </p:nvSpPr>
        <p:spPr>
          <a:xfrm>
            <a:off x="4677139" y="2361340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603" name="Oval 602"/>
          <p:cNvSpPr/>
          <p:nvPr/>
        </p:nvSpPr>
        <p:spPr>
          <a:xfrm>
            <a:off x="4516198" y="3277648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" name="Oval 603"/>
          <p:cNvSpPr/>
          <p:nvPr/>
        </p:nvSpPr>
        <p:spPr>
          <a:xfrm>
            <a:off x="4560556" y="332200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" name="TextBox 604"/>
          <p:cNvSpPr txBox="1"/>
          <p:nvPr/>
        </p:nvSpPr>
        <p:spPr>
          <a:xfrm>
            <a:off x="4677500" y="3148606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606" name="Oval 605"/>
          <p:cNvSpPr/>
          <p:nvPr/>
        </p:nvSpPr>
        <p:spPr>
          <a:xfrm>
            <a:off x="2707850" y="2490442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" name="Oval 606"/>
          <p:cNvSpPr/>
          <p:nvPr/>
        </p:nvSpPr>
        <p:spPr>
          <a:xfrm>
            <a:off x="2752208" y="253480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" name="TextBox 607"/>
          <p:cNvSpPr txBox="1"/>
          <p:nvPr/>
        </p:nvSpPr>
        <p:spPr>
          <a:xfrm>
            <a:off x="2869152" y="2361400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609" name="Oval 608"/>
          <p:cNvSpPr/>
          <p:nvPr/>
        </p:nvSpPr>
        <p:spPr>
          <a:xfrm>
            <a:off x="6533726" y="3737128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" name="Oval 609"/>
          <p:cNvSpPr/>
          <p:nvPr/>
        </p:nvSpPr>
        <p:spPr>
          <a:xfrm>
            <a:off x="6578084" y="378148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" name="TextBox 610"/>
          <p:cNvSpPr txBox="1"/>
          <p:nvPr/>
        </p:nvSpPr>
        <p:spPr>
          <a:xfrm>
            <a:off x="6695028" y="3608086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612" name="Oval 611"/>
          <p:cNvSpPr/>
          <p:nvPr/>
        </p:nvSpPr>
        <p:spPr>
          <a:xfrm>
            <a:off x="5627500" y="3737128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" name="Oval 612"/>
          <p:cNvSpPr/>
          <p:nvPr/>
        </p:nvSpPr>
        <p:spPr>
          <a:xfrm>
            <a:off x="5671858" y="378148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" name="TextBox 613"/>
          <p:cNvSpPr txBox="1"/>
          <p:nvPr/>
        </p:nvSpPr>
        <p:spPr>
          <a:xfrm>
            <a:off x="5788803" y="3608086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615" name="Oval 614"/>
          <p:cNvSpPr/>
          <p:nvPr/>
        </p:nvSpPr>
        <p:spPr>
          <a:xfrm>
            <a:off x="5645796" y="3031734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" name="Oval 615"/>
          <p:cNvSpPr/>
          <p:nvPr/>
        </p:nvSpPr>
        <p:spPr>
          <a:xfrm>
            <a:off x="5690154" y="3076092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7" name="TextBox 616"/>
          <p:cNvSpPr txBox="1"/>
          <p:nvPr/>
        </p:nvSpPr>
        <p:spPr>
          <a:xfrm>
            <a:off x="5807099" y="2902692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618" name="Oval 617"/>
          <p:cNvSpPr/>
          <p:nvPr/>
        </p:nvSpPr>
        <p:spPr>
          <a:xfrm>
            <a:off x="5627500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" name="Oval 618"/>
          <p:cNvSpPr/>
          <p:nvPr/>
        </p:nvSpPr>
        <p:spPr>
          <a:xfrm>
            <a:off x="5671858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0" name="TextBox 619"/>
          <p:cNvSpPr txBox="1"/>
          <p:nvPr/>
        </p:nvSpPr>
        <p:spPr>
          <a:xfrm>
            <a:off x="5788803" y="2251150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621" name="Oval 620"/>
          <p:cNvSpPr/>
          <p:nvPr/>
        </p:nvSpPr>
        <p:spPr>
          <a:xfrm>
            <a:off x="6533726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" name="Oval 621"/>
          <p:cNvSpPr/>
          <p:nvPr/>
        </p:nvSpPr>
        <p:spPr>
          <a:xfrm>
            <a:off x="6578084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3" name="TextBox 622"/>
          <p:cNvSpPr txBox="1"/>
          <p:nvPr/>
        </p:nvSpPr>
        <p:spPr>
          <a:xfrm>
            <a:off x="6695028" y="2251150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624" name="Oval 623"/>
          <p:cNvSpPr/>
          <p:nvPr/>
        </p:nvSpPr>
        <p:spPr>
          <a:xfrm>
            <a:off x="7435554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" name="Oval 624"/>
          <p:cNvSpPr/>
          <p:nvPr/>
        </p:nvSpPr>
        <p:spPr>
          <a:xfrm>
            <a:off x="7479912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" name="TextBox 625"/>
          <p:cNvSpPr txBox="1"/>
          <p:nvPr/>
        </p:nvSpPr>
        <p:spPr>
          <a:xfrm>
            <a:off x="7596857" y="2251150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627" name="Oval 626"/>
          <p:cNvSpPr/>
          <p:nvPr/>
        </p:nvSpPr>
        <p:spPr>
          <a:xfrm>
            <a:off x="7453850" y="3080726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" name="Oval 627"/>
          <p:cNvSpPr/>
          <p:nvPr/>
        </p:nvSpPr>
        <p:spPr>
          <a:xfrm>
            <a:off x="7498209" y="3125084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" name="TextBox 628"/>
          <p:cNvSpPr txBox="1"/>
          <p:nvPr/>
        </p:nvSpPr>
        <p:spPr>
          <a:xfrm>
            <a:off x="7615153" y="2951684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630" name="Oval 629"/>
          <p:cNvSpPr/>
          <p:nvPr/>
        </p:nvSpPr>
        <p:spPr>
          <a:xfrm>
            <a:off x="7435554" y="3737128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Oval 630"/>
          <p:cNvSpPr/>
          <p:nvPr/>
        </p:nvSpPr>
        <p:spPr>
          <a:xfrm>
            <a:off x="7479912" y="378148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" name="TextBox 631"/>
          <p:cNvSpPr txBox="1"/>
          <p:nvPr/>
        </p:nvSpPr>
        <p:spPr>
          <a:xfrm>
            <a:off x="7596857" y="3608086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633" name="Oval 632"/>
          <p:cNvSpPr/>
          <p:nvPr/>
        </p:nvSpPr>
        <p:spPr>
          <a:xfrm>
            <a:off x="3816646" y="5076214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" name="Oval 633"/>
          <p:cNvSpPr/>
          <p:nvPr/>
        </p:nvSpPr>
        <p:spPr>
          <a:xfrm>
            <a:off x="3861004" y="5120573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5" name="TextBox 634"/>
          <p:cNvSpPr txBox="1"/>
          <p:nvPr/>
        </p:nvSpPr>
        <p:spPr>
          <a:xfrm>
            <a:off x="3977949" y="4947172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b</a:t>
            </a:r>
          </a:p>
        </p:txBody>
      </p:sp>
      <p:sp>
        <p:nvSpPr>
          <p:cNvPr id="636" name="Oval 635"/>
          <p:cNvSpPr/>
          <p:nvPr/>
        </p:nvSpPr>
        <p:spPr>
          <a:xfrm>
            <a:off x="8432589" y="-999664"/>
            <a:ext cx="112911" cy="112911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Freeform 137"/>
          <p:cNvSpPr/>
          <p:nvPr/>
        </p:nvSpPr>
        <p:spPr>
          <a:xfrm>
            <a:off x="8456784" y="-979501"/>
            <a:ext cx="64521" cy="60488"/>
          </a:xfrm>
          <a:custGeom>
            <a:avLst/>
            <a:gdLst/>
            <a:ahLst/>
            <a:cxnLst/>
            <a:rect l="l" t="t" r="r" b="b"/>
            <a:pathLst>
              <a:path w="64521" h="60488">
                <a:moveTo>
                  <a:pt x="32261" y="0"/>
                </a:moveTo>
                <a:lnTo>
                  <a:pt x="0" y="60488"/>
                </a:lnTo>
                <a:lnTo>
                  <a:pt x="64521" y="60488"/>
                </a:lnTo>
                <a:lnTo>
                  <a:pt x="32261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7" name="TextBox 636"/>
          <p:cNvSpPr txBox="1"/>
          <p:nvPr/>
        </p:nvSpPr>
        <p:spPr>
          <a:xfrm>
            <a:off x="8585826" y="-1136771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cxnSp>
        <p:nvCxnSpPr>
          <p:cNvPr id="638" name="Connector 637"/>
          <p:cNvCxnSpPr/>
          <p:nvPr/>
        </p:nvCxnSpPr>
        <p:spPr>
          <a:xfrm flipV="1">
            <a:off x="5655982" y="5126243"/>
            <a:ext cx="1936473" cy="388567"/>
          </a:xfrm>
          <a:prstGeom prst="line">
            <a:avLst/>
          </a:prstGeom>
          <a:ln w="9525">
            <a:solidFill>
              <a:srgbClr val="C0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9" name="Oval 638"/>
          <p:cNvSpPr/>
          <p:nvPr/>
        </p:nvSpPr>
        <p:spPr>
          <a:xfrm>
            <a:off x="7495674" y="5029461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0" name="Connector 639"/>
          <p:cNvCxnSpPr/>
          <p:nvPr/>
        </p:nvCxnSpPr>
        <p:spPr>
          <a:xfrm>
            <a:off x="7524031" y="5057818"/>
            <a:ext cx="136849" cy="136849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1" name="Connector 640"/>
          <p:cNvCxnSpPr/>
          <p:nvPr/>
        </p:nvCxnSpPr>
        <p:spPr>
          <a:xfrm flipV="1">
            <a:off x="7524031" y="5057818"/>
            <a:ext cx="136849" cy="136849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2" name="TextBox 641"/>
          <p:cNvSpPr txBox="1"/>
          <p:nvPr/>
        </p:nvSpPr>
        <p:spPr>
          <a:xfrm>
            <a:off x="7713432" y="5051243"/>
            <a:ext cx="22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C00000"/>
                </a:solidFill>
                <a:latin typeface="Microsoft YaHei"/>
              </a:rPr>
              <a:t>二层楼梯吊灯 F06（在楼上，S6 控）</a:t>
            </a:r>
          </a:p>
        </p:txBody>
      </p:sp>
      <p:sp>
        <p:nvSpPr>
          <p:cNvPr id="643" name="Oval 642"/>
          <p:cNvSpPr/>
          <p:nvPr/>
        </p:nvSpPr>
        <p:spPr>
          <a:xfrm>
            <a:off x="2302458" y="4605528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4" name="Connector 643"/>
          <p:cNvCxnSpPr/>
          <p:nvPr/>
        </p:nvCxnSpPr>
        <p:spPr>
          <a:xfrm flipV="1">
            <a:off x="2331492" y="4506055"/>
            <a:ext cx="107831" cy="12850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5" name="Connector 644"/>
          <p:cNvCxnSpPr/>
          <p:nvPr/>
        </p:nvCxnSpPr>
        <p:spPr>
          <a:xfrm>
            <a:off x="2439323" y="4506055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6" name="Connector 645"/>
          <p:cNvCxnSpPr/>
          <p:nvPr/>
        </p:nvCxnSpPr>
        <p:spPr>
          <a:xfrm>
            <a:off x="2420992" y="4527902"/>
            <a:ext cx="32127" cy="2695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7" name="Connector 646"/>
          <p:cNvCxnSpPr/>
          <p:nvPr/>
        </p:nvCxnSpPr>
        <p:spPr>
          <a:xfrm>
            <a:off x="2402660" y="4549748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8" name="Connector 647"/>
          <p:cNvCxnSpPr/>
          <p:nvPr/>
        </p:nvCxnSpPr>
        <p:spPr>
          <a:xfrm>
            <a:off x="2384329" y="4571594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9" name="Rounded Rectangle 648"/>
          <p:cNvSpPr/>
          <p:nvPr/>
        </p:nvSpPr>
        <p:spPr>
          <a:xfrm>
            <a:off x="2455453" y="4368575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0" name="TextBox 649"/>
          <p:cNvSpPr txBox="1"/>
          <p:nvPr/>
        </p:nvSpPr>
        <p:spPr>
          <a:xfrm>
            <a:off x="2455453" y="4368575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651" name="Oval 650"/>
          <p:cNvSpPr/>
          <p:nvPr/>
        </p:nvSpPr>
        <p:spPr>
          <a:xfrm>
            <a:off x="3264536" y="4876860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2" name="Connector 651"/>
          <p:cNvCxnSpPr/>
          <p:nvPr/>
        </p:nvCxnSpPr>
        <p:spPr>
          <a:xfrm flipV="1">
            <a:off x="3293570" y="4777387"/>
            <a:ext cx="107831" cy="12850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3" name="Connector 652"/>
          <p:cNvCxnSpPr/>
          <p:nvPr/>
        </p:nvCxnSpPr>
        <p:spPr>
          <a:xfrm>
            <a:off x="3401401" y="4777387"/>
            <a:ext cx="32127" cy="2695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4" name="Connector 653"/>
          <p:cNvCxnSpPr/>
          <p:nvPr/>
        </p:nvCxnSpPr>
        <p:spPr>
          <a:xfrm>
            <a:off x="3383069" y="4799233"/>
            <a:ext cx="32127" cy="2695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5" name="Rounded Rectangle 654"/>
          <p:cNvSpPr/>
          <p:nvPr/>
        </p:nvSpPr>
        <p:spPr>
          <a:xfrm>
            <a:off x="3417531" y="4639906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6" name="TextBox 655"/>
          <p:cNvSpPr txBox="1"/>
          <p:nvPr/>
        </p:nvSpPr>
        <p:spPr>
          <a:xfrm>
            <a:off x="3417531" y="4639906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657" name="Oval 656"/>
          <p:cNvSpPr/>
          <p:nvPr/>
        </p:nvSpPr>
        <p:spPr>
          <a:xfrm>
            <a:off x="5235372" y="4069589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8" name="Connector 657"/>
          <p:cNvCxnSpPr/>
          <p:nvPr/>
        </p:nvCxnSpPr>
        <p:spPr>
          <a:xfrm flipV="1">
            <a:off x="5264407" y="3970116"/>
            <a:ext cx="107830" cy="12850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9" name="Connector 658"/>
          <p:cNvCxnSpPr/>
          <p:nvPr/>
        </p:nvCxnSpPr>
        <p:spPr>
          <a:xfrm>
            <a:off x="5372237" y="3970116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0" name="Connector 659"/>
          <p:cNvCxnSpPr/>
          <p:nvPr/>
        </p:nvCxnSpPr>
        <p:spPr>
          <a:xfrm>
            <a:off x="5353906" y="3991963"/>
            <a:ext cx="32127" cy="2695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1" name="Connector 660"/>
          <p:cNvCxnSpPr/>
          <p:nvPr/>
        </p:nvCxnSpPr>
        <p:spPr>
          <a:xfrm>
            <a:off x="5335575" y="4013809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2" name="Rounded Rectangle 661"/>
          <p:cNvSpPr/>
          <p:nvPr/>
        </p:nvSpPr>
        <p:spPr>
          <a:xfrm>
            <a:off x="5388368" y="3832636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3" name="TextBox 662"/>
          <p:cNvSpPr txBox="1"/>
          <p:nvPr/>
        </p:nvSpPr>
        <p:spPr>
          <a:xfrm>
            <a:off x="5388368" y="3832636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664" name="Oval 663"/>
          <p:cNvSpPr/>
          <p:nvPr/>
        </p:nvSpPr>
        <p:spPr>
          <a:xfrm>
            <a:off x="5323344" y="4084247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5" name="Connector 664"/>
          <p:cNvCxnSpPr/>
          <p:nvPr/>
        </p:nvCxnSpPr>
        <p:spPr>
          <a:xfrm flipV="1">
            <a:off x="5352379" y="3984774"/>
            <a:ext cx="107830" cy="12850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6" name="Connector 665"/>
          <p:cNvCxnSpPr/>
          <p:nvPr/>
        </p:nvCxnSpPr>
        <p:spPr>
          <a:xfrm>
            <a:off x="5460209" y="3984774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7" name="Connector 666"/>
          <p:cNvCxnSpPr/>
          <p:nvPr/>
        </p:nvCxnSpPr>
        <p:spPr>
          <a:xfrm>
            <a:off x="5441878" y="4006620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8" name="Connector 667"/>
          <p:cNvCxnSpPr/>
          <p:nvPr/>
        </p:nvCxnSpPr>
        <p:spPr>
          <a:xfrm>
            <a:off x="5423547" y="4028466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9" name="Connector 668"/>
          <p:cNvCxnSpPr/>
          <p:nvPr/>
        </p:nvCxnSpPr>
        <p:spPr>
          <a:xfrm>
            <a:off x="5405216" y="4050313"/>
            <a:ext cx="32127" cy="2695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0" name="Rounded Rectangle 669"/>
          <p:cNvSpPr/>
          <p:nvPr/>
        </p:nvSpPr>
        <p:spPr>
          <a:xfrm>
            <a:off x="5476340" y="3847293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1" name="TextBox 670"/>
          <p:cNvSpPr txBox="1"/>
          <p:nvPr/>
        </p:nvSpPr>
        <p:spPr>
          <a:xfrm>
            <a:off x="5476340" y="3847293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672" name="Oval 671"/>
          <p:cNvSpPr/>
          <p:nvPr/>
        </p:nvSpPr>
        <p:spPr>
          <a:xfrm>
            <a:off x="5323344" y="4084247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3" name="Connector 672"/>
          <p:cNvCxnSpPr/>
          <p:nvPr/>
        </p:nvCxnSpPr>
        <p:spPr>
          <a:xfrm flipV="1">
            <a:off x="5352379" y="3984774"/>
            <a:ext cx="107830" cy="12850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4" name="Connector 673"/>
          <p:cNvCxnSpPr/>
          <p:nvPr/>
        </p:nvCxnSpPr>
        <p:spPr>
          <a:xfrm>
            <a:off x="5460209" y="3984774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5" name="Connector 674"/>
          <p:cNvCxnSpPr/>
          <p:nvPr/>
        </p:nvCxnSpPr>
        <p:spPr>
          <a:xfrm>
            <a:off x="5441878" y="4006620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6" name="Connector 675"/>
          <p:cNvCxnSpPr/>
          <p:nvPr/>
        </p:nvCxnSpPr>
        <p:spPr>
          <a:xfrm>
            <a:off x="5423547" y="4028466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7" name="Rounded Rectangle 676"/>
          <p:cNvSpPr/>
          <p:nvPr/>
        </p:nvSpPr>
        <p:spPr>
          <a:xfrm>
            <a:off x="5476340" y="3847293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8" name="TextBox 677"/>
          <p:cNvSpPr txBox="1"/>
          <p:nvPr/>
        </p:nvSpPr>
        <p:spPr>
          <a:xfrm>
            <a:off x="5476340" y="3847293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679" name="Oval 678"/>
          <p:cNvSpPr/>
          <p:nvPr/>
        </p:nvSpPr>
        <p:spPr>
          <a:xfrm>
            <a:off x="5626947" y="5485775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80" name="Connector 679"/>
          <p:cNvCxnSpPr/>
          <p:nvPr/>
        </p:nvCxnSpPr>
        <p:spPr>
          <a:xfrm flipV="1">
            <a:off x="5655982" y="5386302"/>
            <a:ext cx="107830" cy="12850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1" name="Connector 680"/>
          <p:cNvCxnSpPr/>
          <p:nvPr/>
        </p:nvCxnSpPr>
        <p:spPr>
          <a:xfrm>
            <a:off x="5763812" y="5386302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2" name="Rounded Rectangle 681"/>
          <p:cNvSpPr/>
          <p:nvPr/>
        </p:nvSpPr>
        <p:spPr>
          <a:xfrm>
            <a:off x="5779943" y="5248821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3" name="TextBox 682"/>
          <p:cNvSpPr txBox="1"/>
          <p:nvPr/>
        </p:nvSpPr>
        <p:spPr>
          <a:xfrm>
            <a:off x="5779943" y="5248821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684" name="Oval 683"/>
          <p:cNvSpPr/>
          <p:nvPr/>
        </p:nvSpPr>
        <p:spPr>
          <a:xfrm>
            <a:off x="7897238" y="3059396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85" name="Connector 684"/>
          <p:cNvCxnSpPr/>
          <p:nvPr/>
        </p:nvCxnSpPr>
        <p:spPr>
          <a:xfrm flipV="1">
            <a:off x="7926273" y="2959923"/>
            <a:ext cx="107831" cy="12850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6" name="Connector 685"/>
          <p:cNvCxnSpPr/>
          <p:nvPr/>
        </p:nvCxnSpPr>
        <p:spPr>
          <a:xfrm>
            <a:off x="8034104" y="2959923"/>
            <a:ext cx="32126" cy="2695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7" name="Connector 686"/>
          <p:cNvCxnSpPr/>
          <p:nvPr/>
        </p:nvCxnSpPr>
        <p:spPr>
          <a:xfrm>
            <a:off x="8015772" y="2981769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8" name="Connector 687"/>
          <p:cNvCxnSpPr/>
          <p:nvPr/>
        </p:nvCxnSpPr>
        <p:spPr>
          <a:xfrm>
            <a:off x="7997441" y="3003615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9" name="Rounded Rectangle 688"/>
          <p:cNvSpPr/>
          <p:nvPr/>
        </p:nvSpPr>
        <p:spPr>
          <a:xfrm>
            <a:off x="8050234" y="2822442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0" name="TextBox 689"/>
          <p:cNvSpPr txBox="1"/>
          <p:nvPr/>
        </p:nvSpPr>
        <p:spPr>
          <a:xfrm>
            <a:off x="8050234" y="2822442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sp>
        <p:nvSpPr>
          <p:cNvPr id="691" name="TextBox 690"/>
          <p:cNvSpPr txBox="1"/>
          <p:nvPr/>
        </p:nvSpPr>
        <p:spPr>
          <a:xfrm>
            <a:off x="8730000" y="4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本图开关（从左到右逐键）</a:t>
            </a:r>
          </a:p>
        </p:txBody>
      </p:sp>
      <p:sp>
        <p:nvSpPr>
          <p:cNvPr id="692" name="TextBox 691"/>
          <p:cNvSpPr txBox="1"/>
          <p:nvPr/>
        </p:nvSpPr>
        <p:spPr>
          <a:xfrm>
            <a:off x="8730000" y="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  4 联 · 主客厅 · 门洞右侧墙垛正中</a:t>
            </a:r>
          </a:p>
        </p:txBody>
      </p:sp>
      <p:sp>
        <p:nvSpPr>
          <p:cNvPr id="693" name="TextBox 692"/>
          <p:cNvSpPr txBox="1"/>
          <p:nvPr/>
        </p:nvSpPr>
        <p:spPr>
          <a:xfrm>
            <a:off x="8980000" y="79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键1=c  键2=d  键3=e  键4=f</a:t>
            </a:r>
          </a:p>
        </p:txBody>
      </p:sp>
      <p:sp>
        <p:nvSpPr>
          <p:cNvPr id="694" name="TextBox 693"/>
          <p:cNvSpPr txBox="1"/>
          <p:nvPr/>
        </p:nvSpPr>
        <p:spPr>
          <a:xfrm>
            <a:off x="8730000" y="99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S2  2 联 · 门厅 · 前储物间旁</a:t>
            </a:r>
          </a:p>
        </p:txBody>
      </p:sp>
      <p:sp>
        <p:nvSpPr>
          <p:cNvPr id="695" name="TextBox 694"/>
          <p:cNvSpPr txBox="1"/>
          <p:nvPr/>
        </p:nvSpPr>
        <p:spPr>
          <a:xfrm>
            <a:off x="8980000" y="116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键1=a  键2=b</a:t>
            </a:r>
          </a:p>
        </p:txBody>
      </p:sp>
      <p:sp>
        <p:nvSpPr>
          <p:cNvPr id="696" name="TextBox 695"/>
          <p:cNvSpPr txBox="1"/>
          <p:nvPr/>
        </p:nvSpPr>
        <p:spPr>
          <a:xfrm>
            <a:off x="8730000" y="136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S3  3 联 · 主客厅侧 · 拱门南侧</a:t>
            </a:r>
          </a:p>
        </p:txBody>
      </p:sp>
      <p:sp>
        <p:nvSpPr>
          <p:cNvPr id="697" name="TextBox 696"/>
          <p:cNvSpPr txBox="1"/>
          <p:nvPr/>
        </p:nvSpPr>
        <p:spPr>
          <a:xfrm>
            <a:off x="8980000" y="152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键1=g  键2=h  键3=i</a:t>
            </a:r>
          </a:p>
        </p:txBody>
      </p:sp>
      <p:sp>
        <p:nvSpPr>
          <p:cNvPr id="698" name="TextBox 697"/>
          <p:cNvSpPr txBox="1"/>
          <p:nvPr/>
        </p:nvSpPr>
        <p:spPr>
          <a:xfrm>
            <a:off x="8730000" y="172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S4  4 联 · 餐厅 · 拱门旁（与 S5 上下叠放，S4 在下）</a:t>
            </a:r>
          </a:p>
        </p:txBody>
      </p:sp>
      <p:sp>
        <p:nvSpPr>
          <p:cNvPr id="699" name="TextBox 698"/>
          <p:cNvSpPr txBox="1"/>
          <p:nvPr/>
        </p:nvSpPr>
        <p:spPr>
          <a:xfrm>
            <a:off x="8980000" y="18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键1=n  键2=d  键3=e  键4=f</a:t>
            </a:r>
          </a:p>
        </p:txBody>
      </p:sp>
      <p:sp>
        <p:nvSpPr>
          <p:cNvPr id="700" name="TextBox 699"/>
          <p:cNvSpPr txBox="1"/>
          <p:nvPr/>
        </p:nvSpPr>
        <p:spPr>
          <a:xfrm>
            <a:off x="8730000" y="209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S5  3 联 · 餐厅 · 拱门旁（叠在 S4 正上方，h1330）</a:t>
            </a:r>
          </a:p>
        </p:txBody>
      </p:sp>
      <p:sp>
        <p:nvSpPr>
          <p:cNvPr id="701" name="TextBox 700"/>
          <p:cNvSpPr txBox="1"/>
          <p:nvPr/>
        </p:nvSpPr>
        <p:spPr>
          <a:xfrm>
            <a:off x="8980000" y="225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键1=g  键2=h  键3=i</a:t>
            </a:r>
          </a:p>
        </p:txBody>
      </p:sp>
      <p:sp>
        <p:nvSpPr>
          <p:cNvPr id="702" name="TextBox 701"/>
          <p:cNvSpPr txBox="1"/>
          <p:nvPr/>
        </p:nvSpPr>
        <p:spPr>
          <a:xfrm>
            <a:off x="8730000" y="245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S6  1 联 · 楼梯第一级前约 300</a:t>
            </a:r>
          </a:p>
        </p:txBody>
      </p:sp>
      <p:sp>
        <p:nvSpPr>
          <p:cNvPr id="703" name="TextBox 702"/>
          <p:cNvSpPr txBox="1"/>
          <p:nvPr/>
        </p:nvSpPr>
        <p:spPr>
          <a:xfrm>
            <a:off x="8980000" y="262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键1=F06</a:t>
            </a:r>
          </a:p>
        </p:txBody>
      </p:sp>
      <p:sp>
        <p:nvSpPr>
          <p:cNvPr id="704" name="TextBox 703"/>
          <p:cNvSpPr txBox="1"/>
          <p:nvPr/>
        </p:nvSpPr>
        <p:spPr>
          <a:xfrm>
            <a:off x="8730000" y="282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S7  3 联 · 法式门框东侧（后花园门旁）</a:t>
            </a:r>
          </a:p>
        </p:txBody>
      </p:sp>
      <p:sp>
        <p:nvSpPr>
          <p:cNvPr id="705" name="TextBox 704"/>
          <p:cNvSpPr txBox="1"/>
          <p:nvPr/>
        </p:nvSpPr>
        <p:spPr>
          <a:xfrm>
            <a:off x="8980000" y="298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键1=p  键2=q  键3=v</a:t>
            </a:r>
          </a:p>
        </p:txBody>
      </p:sp>
      <p:sp>
        <p:nvSpPr>
          <p:cNvPr id="706" name="TextBox 705"/>
          <p:cNvSpPr txBox="1"/>
          <p:nvPr/>
        </p:nvSpPr>
        <p:spPr>
          <a:xfrm>
            <a:off x="8730000" y="324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双控联络线（红粗线）</a:t>
            </a:r>
          </a:p>
        </p:txBody>
      </p:sp>
      <p:sp>
        <p:nvSpPr>
          <p:cNvPr id="707" name="TextBox 706"/>
          <p:cNvSpPr txBox="1"/>
          <p:nvPr/>
        </p:nvSpPr>
        <p:spPr>
          <a:xfrm>
            <a:off x="8730000" y="343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W1：S1 ↔ S4  3C+E  回路 d e f</a:t>
            </a:r>
          </a:p>
        </p:txBody>
      </p:sp>
      <p:sp>
        <p:nvSpPr>
          <p:cNvPr id="708" name="TextBox 707"/>
          <p:cNvSpPr txBox="1"/>
          <p:nvPr/>
        </p:nvSpPr>
        <p:spPr>
          <a:xfrm>
            <a:off x="8730000" y="360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W2：S5 ↔ S3  3C+E  回路 g h i</a:t>
            </a:r>
          </a:p>
        </p:txBody>
      </p:sp>
      <p:sp>
        <p:nvSpPr>
          <p:cNvPr id="709" name="TextBox 708"/>
          <p:cNvSpPr txBox="1"/>
          <p:nvPr/>
        </p:nvSpPr>
        <p:spPr>
          <a:xfrm>
            <a:off x="8730000" y="3775000"/>
            <a:ext cx="3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红线只表示连接关系，实际走线沿墙 / 吊顶内，现场定。</a:t>
            </a:r>
          </a:p>
        </p:txBody>
      </p:sp>
      <p:sp>
        <p:nvSpPr>
          <p:cNvPr id="710" name="TextBox 709"/>
          <p:cNvSpPr txBox="1"/>
          <p:nvPr/>
        </p:nvSpPr>
        <p:spPr>
          <a:xfrm>
            <a:off x="8730000" y="409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跨图双控</a:t>
            </a:r>
          </a:p>
        </p:txBody>
      </p:sp>
      <p:sp>
        <p:nvSpPr>
          <p:cNvPr id="711" name="TextBox 710"/>
          <p:cNvSpPr txBox="1"/>
          <p:nvPr/>
        </p:nvSpPr>
        <p:spPr>
          <a:xfrm>
            <a:off x="8730000" y="4285000"/>
            <a:ext cx="3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· S7 与 S11（E-GF-03）双控：p q v</a:t>
            </a:r>
          </a:p>
        </p:txBody>
      </p:sp>
      <p:sp>
        <p:nvSpPr>
          <p:cNvPr id="712" name="Rectangle 711"/>
          <p:cNvSpPr/>
          <p:nvPr/>
        </p:nvSpPr>
        <p:spPr>
          <a:xfrm>
            <a:off x="399999" y="6540000"/>
            <a:ext cx="733193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3" name="Rectangle 712"/>
          <p:cNvSpPr/>
          <p:nvPr/>
        </p:nvSpPr>
        <p:spPr>
          <a:xfrm>
            <a:off x="1133193" y="6540000"/>
            <a:ext cx="733193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4" name="TextBox 713"/>
          <p:cNvSpPr txBox="1"/>
          <p:nvPr/>
        </p:nvSpPr>
        <p:spPr>
          <a:xfrm>
            <a:off x="1906386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3812269" y="-1445597"/>
            <a:ext cx="7407753" cy="15138287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Rectangle 538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Rectangle 539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Rectangle 540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Rectangle 54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TextBox 54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一层照明放大图 2：G15 区 · 卫生间 · 储物间</a:t>
            </a:r>
          </a:p>
        </p:txBody>
      </p:sp>
      <p:sp>
        <p:nvSpPr>
          <p:cNvPr id="544" name="TextBox 543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GROUND FLOOR LIGHTING &amp; SWITCHING — ZONE 2</a:t>
            </a:r>
          </a:p>
        </p:txBody>
      </p:sp>
      <p:sp>
        <p:nvSpPr>
          <p:cNvPr id="545" name="Rectangle 544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TextBox 545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547" name="TextBox 546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一层照明</a:t>
            </a:r>
          </a:p>
        </p:txBody>
      </p:sp>
      <p:cxnSp>
        <p:nvCxnSpPr>
          <p:cNvPr id="548" name="Connector 547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9" name="TextBox 548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50" name="TextBox 549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一层照明放大图 2：G15 区 · 卫生间 · 储物间</a:t>
            </a:r>
          </a:p>
        </p:txBody>
      </p:sp>
      <p:cxnSp>
        <p:nvCxnSpPr>
          <p:cNvPr id="551" name="Connector 550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2" name="TextBox 551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53" name="TextBox 552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E-GF-02</a:t>
            </a:r>
          </a:p>
        </p:txBody>
      </p:sp>
      <p:cxnSp>
        <p:nvCxnSpPr>
          <p:cNvPr id="554" name="Connector 553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5" name="TextBox 554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556" name="TextBox 555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L-B · 方案 B · 精简 17 路（照明 3 路）</a:t>
            </a:r>
          </a:p>
        </p:txBody>
      </p:sp>
      <p:cxnSp>
        <p:nvCxnSpPr>
          <p:cNvPr id="557" name="Connector 556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8" name="TextBox 557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559" name="TextBox 558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v4 第 2 页按键标注；PPT v7 / v9（用户 2026-10-06 标注）；Blender v40</a:t>
            </a:r>
          </a:p>
        </p:txBody>
      </p:sp>
      <p:cxnSp>
        <p:nvCxnSpPr>
          <p:cNvPr id="560" name="Connector 559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1" name="Connector 560"/>
          <p:cNvCxnSpPr/>
          <p:nvPr/>
        </p:nvCxnSpPr>
        <p:spPr>
          <a:xfrm flipH="1" flipV="1">
            <a:off x="2931788" y="3342491"/>
            <a:ext cx="1986545" cy="1825268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2" name="Oval 561"/>
          <p:cNvSpPr/>
          <p:nvPr/>
        </p:nvSpPr>
        <p:spPr>
          <a:xfrm>
            <a:off x="4123042" y="4458915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" name="TextBox 562"/>
          <p:cNvSpPr txBox="1"/>
          <p:nvPr/>
        </p:nvSpPr>
        <p:spPr>
          <a:xfrm>
            <a:off x="4123042" y="4458915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W1</a:t>
            </a:r>
          </a:p>
        </p:txBody>
      </p:sp>
      <p:sp>
        <p:nvSpPr>
          <p:cNvPr id="2" name="Freeform 1"/>
          <p:cNvSpPr/>
          <p:nvPr/>
        </p:nvSpPr>
        <p:spPr>
          <a:xfrm>
            <a:off x="4451986" y="4023697"/>
            <a:ext cx="466347" cy="1144062"/>
          </a:xfrm>
          <a:custGeom>
            <a:avLst/>
            <a:gdLst/>
            <a:ahLst/>
            <a:cxnLst/>
            <a:rect l="l" t="t" r="r" b="b"/>
            <a:pathLst>
              <a:path w="466347" h="1144062">
                <a:moveTo>
                  <a:pt x="466347" y="1144062"/>
                </a:moveTo>
                <a:lnTo>
                  <a:pt x="464014" y="1061628"/>
                </a:lnTo>
                <a:lnTo>
                  <a:pt x="458106" y="980651"/>
                </a:lnTo>
                <a:lnTo>
                  <a:pt x="448623" y="901132"/>
                </a:lnTo>
                <a:lnTo>
                  <a:pt x="435565" y="823070"/>
                </a:lnTo>
                <a:lnTo>
                  <a:pt x="418931" y="746466"/>
                </a:lnTo>
                <a:lnTo>
                  <a:pt x="398723" y="671319"/>
                </a:lnTo>
                <a:lnTo>
                  <a:pt x="374939" y="597629"/>
                </a:lnTo>
                <a:lnTo>
                  <a:pt x="347580" y="525396"/>
                </a:lnTo>
                <a:lnTo>
                  <a:pt x="316645" y="454621"/>
                </a:lnTo>
                <a:lnTo>
                  <a:pt x="282136" y="385303"/>
                </a:lnTo>
                <a:lnTo>
                  <a:pt x="244051" y="317443"/>
                </a:lnTo>
                <a:lnTo>
                  <a:pt x="202391" y="251040"/>
                </a:lnTo>
                <a:lnTo>
                  <a:pt x="157156" y="186094"/>
                </a:lnTo>
                <a:lnTo>
                  <a:pt x="108346" y="122605"/>
                </a:lnTo>
                <a:lnTo>
                  <a:pt x="55961" y="60574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931788" y="3342491"/>
            <a:ext cx="1520198" cy="681206"/>
          </a:xfrm>
          <a:custGeom>
            <a:avLst/>
            <a:gdLst/>
            <a:ahLst/>
            <a:cxnLst/>
            <a:rect l="l" t="t" r="r" b="b"/>
            <a:pathLst>
              <a:path w="1520198" h="681206">
                <a:moveTo>
                  <a:pt x="0" y="0"/>
                </a:moveTo>
                <a:lnTo>
                  <a:pt x="79047" y="78205"/>
                </a:lnTo>
                <a:lnTo>
                  <a:pt x="160222" y="151660"/>
                </a:lnTo>
                <a:lnTo>
                  <a:pt x="243526" y="220363"/>
                </a:lnTo>
                <a:lnTo>
                  <a:pt x="328959" y="284317"/>
                </a:lnTo>
                <a:lnTo>
                  <a:pt x="416521" y="343519"/>
                </a:lnTo>
                <a:lnTo>
                  <a:pt x="506211" y="397971"/>
                </a:lnTo>
                <a:lnTo>
                  <a:pt x="598031" y="447672"/>
                </a:lnTo>
                <a:lnTo>
                  <a:pt x="691979" y="492623"/>
                </a:lnTo>
                <a:lnTo>
                  <a:pt x="788055" y="532823"/>
                </a:lnTo>
                <a:lnTo>
                  <a:pt x="886261" y="568273"/>
                </a:lnTo>
                <a:lnTo>
                  <a:pt x="986595" y="598971"/>
                </a:lnTo>
                <a:lnTo>
                  <a:pt x="1089058" y="624920"/>
                </a:lnTo>
                <a:lnTo>
                  <a:pt x="1193650" y="646117"/>
                </a:lnTo>
                <a:lnTo>
                  <a:pt x="1300371" y="662564"/>
                </a:lnTo>
                <a:lnTo>
                  <a:pt x="1409220" y="674261"/>
                </a:lnTo>
                <a:lnTo>
                  <a:pt x="1520198" y="681206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918333" y="3512225"/>
            <a:ext cx="2022272" cy="1655534"/>
          </a:xfrm>
          <a:custGeom>
            <a:avLst/>
            <a:gdLst/>
            <a:ahLst/>
            <a:cxnLst/>
            <a:rect l="l" t="t" r="r" b="b"/>
            <a:pathLst>
              <a:path w="2022272" h="1655534">
                <a:moveTo>
                  <a:pt x="0" y="1655534"/>
                </a:moveTo>
                <a:lnTo>
                  <a:pt x="165193" y="1599460"/>
                </a:lnTo>
                <a:lnTo>
                  <a:pt x="325213" y="1537066"/>
                </a:lnTo>
                <a:lnTo>
                  <a:pt x="480060" y="1468353"/>
                </a:lnTo>
                <a:lnTo>
                  <a:pt x="629733" y="1393320"/>
                </a:lnTo>
                <a:lnTo>
                  <a:pt x="774232" y="1311968"/>
                </a:lnTo>
                <a:lnTo>
                  <a:pt x="913558" y="1224296"/>
                </a:lnTo>
                <a:lnTo>
                  <a:pt x="1047711" y="1130305"/>
                </a:lnTo>
                <a:lnTo>
                  <a:pt x="1176689" y="1029994"/>
                </a:lnTo>
                <a:lnTo>
                  <a:pt x="1300495" y="923363"/>
                </a:lnTo>
                <a:lnTo>
                  <a:pt x="1419126" y="810413"/>
                </a:lnTo>
                <a:lnTo>
                  <a:pt x="1532584" y="691143"/>
                </a:lnTo>
                <a:lnTo>
                  <a:pt x="1640869" y="565554"/>
                </a:lnTo>
                <a:lnTo>
                  <a:pt x="1743980" y="433644"/>
                </a:lnTo>
                <a:lnTo>
                  <a:pt x="1841918" y="295416"/>
                </a:lnTo>
                <a:lnTo>
                  <a:pt x="1934682" y="150868"/>
                </a:lnTo>
                <a:lnTo>
                  <a:pt x="2022272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2931788" y="3342491"/>
            <a:ext cx="4008817" cy="490093"/>
          </a:xfrm>
          <a:custGeom>
            <a:avLst/>
            <a:gdLst/>
            <a:ahLst/>
            <a:cxnLst/>
            <a:rect l="l" t="t" r="r" b="b"/>
            <a:pathLst>
              <a:path w="4008817" h="490093">
                <a:moveTo>
                  <a:pt x="0" y="0"/>
                </a:moveTo>
                <a:lnTo>
                  <a:pt x="246573" y="104565"/>
                </a:lnTo>
                <a:lnTo>
                  <a:pt x="493677" y="196603"/>
                </a:lnTo>
                <a:lnTo>
                  <a:pt x="741310" y="276112"/>
                </a:lnTo>
                <a:lnTo>
                  <a:pt x="989475" y="343095"/>
                </a:lnTo>
                <a:lnTo>
                  <a:pt x="1238169" y="397550"/>
                </a:lnTo>
                <a:lnTo>
                  <a:pt x="1487394" y="439477"/>
                </a:lnTo>
                <a:lnTo>
                  <a:pt x="1737150" y="468876"/>
                </a:lnTo>
                <a:lnTo>
                  <a:pt x="1987435" y="485749"/>
                </a:lnTo>
                <a:lnTo>
                  <a:pt x="2238252" y="490093"/>
                </a:lnTo>
                <a:lnTo>
                  <a:pt x="2489598" y="481910"/>
                </a:lnTo>
                <a:lnTo>
                  <a:pt x="2741475" y="461200"/>
                </a:lnTo>
                <a:lnTo>
                  <a:pt x="2993883" y="427962"/>
                </a:lnTo>
                <a:lnTo>
                  <a:pt x="3246821" y="382196"/>
                </a:lnTo>
                <a:lnTo>
                  <a:pt x="3500289" y="323903"/>
                </a:lnTo>
                <a:lnTo>
                  <a:pt x="3754288" y="253082"/>
                </a:lnTo>
                <a:lnTo>
                  <a:pt x="4008817" y="169734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3600400" y="4026503"/>
            <a:ext cx="1317933" cy="1141256"/>
          </a:xfrm>
          <a:custGeom>
            <a:avLst/>
            <a:gdLst/>
            <a:ahLst/>
            <a:cxnLst/>
            <a:rect l="l" t="t" r="r" b="b"/>
            <a:pathLst>
              <a:path w="1317933" h="1141256">
                <a:moveTo>
                  <a:pt x="1317933" y="1141256"/>
                </a:moveTo>
                <a:lnTo>
                  <a:pt x="1262310" y="1039038"/>
                </a:lnTo>
                <a:lnTo>
                  <a:pt x="1203121" y="940939"/>
                </a:lnTo>
                <a:lnTo>
                  <a:pt x="1140366" y="846959"/>
                </a:lnTo>
                <a:lnTo>
                  <a:pt x="1074044" y="757097"/>
                </a:lnTo>
                <a:lnTo>
                  <a:pt x="1004155" y="671353"/>
                </a:lnTo>
                <a:lnTo>
                  <a:pt x="930701" y="589729"/>
                </a:lnTo>
                <a:lnTo>
                  <a:pt x="853679" y="512222"/>
                </a:lnTo>
                <a:lnTo>
                  <a:pt x="773092" y="438835"/>
                </a:lnTo>
                <a:lnTo>
                  <a:pt x="688938" y="369565"/>
                </a:lnTo>
                <a:lnTo>
                  <a:pt x="601217" y="304415"/>
                </a:lnTo>
                <a:lnTo>
                  <a:pt x="509930" y="243383"/>
                </a:lnTo>
                <a:lnTo>
                  <a:pt x="415077" y="186469"/>
                </a:lnTo>
                <a:lnTo>
                  <a:pt x="316657" y="133674"/>
                </a:lnTo>
                <a:lnTo>
                  <a:pt x="214671" y="84998"/>
                </a:lnTo>
                <a:lnTo>
                  <a:pt x="109119" y="40440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2931788" y="3182841"/>
            <a:ext cx="664102" cy="170184"/>
          </a:xfrm>
          <a:custGeom>
            <a:avLst/>
            <a:gdLst/>
            <a:ahLst/>
            <a:cxnLst/>
            <a:rect l="l" t="t" r="r" b="b"/>
            <a:pathLst>
              <a:path w="664102" h="170184">
                <a:moveTo>
                  <a:pt x="0" y="159650"/>
                </a:moveTo>
                <a:lnTo>
                  <a:pt x="45249" y="165237"/>
                </a:lnTo>
                <a:lnTo>
                  <a:pt x="89998" y="168748"/>
                </a:lnTo>
                <a:lnTo>
                  <a:pt x="134248" y="170184"/>
                </a:lnTo>
                <a:lnTo>
                  <a:pt x="177999" y="169545"/>
                </a:lnTo>
                <a:lnTo>
                  <a:pt x="221252" y="166831"/>
                </a:lnTo>
                <a:lnTo>
                  <a:pt x="264006" y="162041"/>
                </a:lnTo>
                <a:lnTo>
                  <a:pt x="306260" y="155176"/>
                </a:lnTo>
                <a:lnTo>
                  <a:pt x="348016" y="146235"/>
                </a:lnTo>
                <a:lnTo>
                  <a:pt x="389273" y="135220"/>
                </a:lnTo>
                <a:lnTo>
                  <a:pt x="430031" y="122128"/>
                </a:lnTo>
                <a:lnTo>
                  <a:pt x="470290" y="106962"/>
                </a:lnTo>
                <a:lnTo>
                  <a:pt x="510050" y="89720"/>
                </a:lnTo>
                <a:lnTo>
                  <a:pt x="549311" y="70403"/>
                </a:lnTo>
                <a:lnTo>
                  <a:pt x="588074" y="49011"/>
                </a:lnTo>
                <a:lnTo>
                  <a:pt x="626337" y="25543"/>
                </a:lnTo>
                <a:lnTo>
                  <a:pt x="664102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3595890" y="3182841"/>
            <a:ext cx="65529" cy="843662"/>
          </a:xfrm>
          <a:custGeom>
            <a:avLst/>
            <a:gdLst/>
            <a:ahLst/>
            <a:cxnLst/>
            <a:rect l="l" t="t" r="r" b="b"/>
            <a:pathLst>
              <a:path w="65529" h="843662">
                <a:moveTo>
                  <a:pt x="4510" y="843662"/>
                </a:moveTo>
                <a:lnTo>
                  <a:pt x="19058" y="790854"/>
                </a:lnTo>
                <a:lnTo>
                  <a:pt x="31628" y="738057"/>
                </a:lnTo>
                <a:lnTo>
                  <a:pt x="42222" y="685270"/>
                </a:lnTo>
                <a:lnTo>
                  <a:pt x="50838" y="632493"/>
                </a:lnTo>
                <a:lnTo>
                  <a:pt x="57477" y="579727"/>
                </a:lnTo>
                <a:lnTo>
                  <a:pt x="62138" y="526972"/>
                </a:lnTo>
                <a:lnTo>
                  <a:pt x="64822" y="474227"/>
                </a:lnTo>
                <a:lnTo>
                  <a:pt x="65529" y="421493"/>
                </a:lnTo>
                <a:lnTo>
                  <a:pt x="64259" y="368769"/>
                </a:lnTo>
                <a:lnTo>
                  <a:pt x="61011" y="316056"/>
                </a:lnTo>
                <a:lnTo>
                  <a:pt x="55786" y="263354"/>
                </a:lnTo>
                <a:lnTo>
                  <a:pt x="48583" y="210662"/>
                </a:lnTo>
                <a:lnTo>
                  <a:pt x="39403" y="157981"/>
                </a:lnTo>
                <a:lnTo>
                  <a:pt x="28246" y="105310"/>
                </a:lnTo>
                <a:lnTo>
                  <a:pt x="15111" y="52650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3595890" y="3182841"/>
            <a:ext cx="841740" cy="63131"/>
          </a:xfrm>
          <a:custGeom>
            <a:avLst/>
            <a:gdLst/>
            <a:ahLst/>
            <a:cxnLst/>
            <a:rect l="l" t="t" r="r" b="b"/>
            <a:pathLst>
              <a:path w="841740" h="63131">
                <a:moveTo>
                  <a:pt x="0" y="0"/>
                </a:moveTo>
                <a:lnTo>
                  <a:pt x="52608" y="14796"/>
                </a:lnTo>
                <a:lnTo>
                  <a:pt x="105217" y="27620"/>
                </a:lnTo>
                <a:lnTo>
                  <a:pt x="157826" y="38470"/>
                </a:lnTo>
                <a:lnTo>
                  <a:pt x="210435" y="47348"/>
                </a:lnTo>
                <a:lnTo>
                  <a:pt x="263043" y="54253"/>
                </a:lnTo>
                <a:lnTo>
                  <a:pt x="315652" y="59185"/>
                </a:lnTo>
                <a:lnTo>
                  <a:pt x="368261" y="62144"/>
                </a:lnTo>
                <a:lnTo>
                  <a:pt x="420870" y="63131"/>
                </a:lnTo>
                <a:lnTo>
                  <a:pt x="473478" y="62144"/>
                </a:lnTo>
                <a:lnTo>
                  <a:pt x="526087" y="59185"/>
                </a:lnTo>
                <a:lnTo>
                  <a:pt x="578696" y="54253"/>
                </a:lnTo>
                <a:lnTo>
                  <a:pt x="631305" y="47348"/>
                </a:lnTo>
                <a:lnTo>
                  <a:pt x="683914" y="38470"/>
                </a:lnTo>
                <a:lnTo>
                  <a:pt x="736522" y="27620"/>
                </a:lnTo>
                <a:lnTo>
                  <a:pt x="789131" y="14796"/>
                </a:lnTo>
                <a:lnTo>
                  <a:pt x="84174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4437630" y="3182841"/>
            <a:ext cx="970017" cy="79720"/>
          </a:xfrm>
          <a:custGeom>
            <a:avLst/>
            <a:gdLst/>
            <a:ahLst/>
            <a:cxnLst/>
            <a:rect l="l" t="t" r="r" b="b"/>
            <a:pathLst>
              <a:path w="970017" h="79720">
                <a:moveTo>
                  <a:pt x="0" y="0"/>
                </a:moveTo>
                <a:lnTo>
                  <a:pt x="60381" y="17922"/>
                </a:lnTo>
                <a:lnTo>
                  <a:pt x="120795" y="33571"/>
                </a:lnTo>
                <a:lnTo>
                  <a:pt x="181241" y="46946"/>
                </a:lnTo>
                <a:lnTo>
                  <a:pt x="241720" y="58048"/>
                </a:lnTo>
                <a:lnTo>
                  <a:pt x="302232" y="66876"/>
                </a:lnTo>
                <a:lnTo>
                  <a:pt x="362776" y="73431"/>
                </a:lnTo>
                <a:lnTo>
                  <a:pt x="423354" y="77712"/>
                </a:lnTo>
                <a:lnTo>
                  <a:pt x="483963" y="79720"/>
                </a:lnTo>
                <a:lnTo>
                  <a:pt x="544606" y="79454"/>
                </a:lnTo>
                <a:lnTo>
                  <a:pt x="605281" y="76915"/>
                </a:lnTo>
                <a:lnTo>
                  <a:pt x="665989" y="72102"/>
                </a:lnTo>
                <a:lnTo>
                  <a:pt x="726729" y="65016"/>
                </a:lnTo>
                <a:lnTo>
                  <a:pt x="787502" y="55657"/>
                </a:lnTo>
                <a:lnTo>
                  <a:pt x="848308" y="44023"/>
                </a:lnTo>
                <a:lnTo>
                  <a:pt x="909146" y="30117"/>
                </a:lnTo>
                <a:lnTo>
                  <a:pt x="970017" y="13937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Freeform 115"/>
          <p:cNvSpPr/>
          <p:nvPr/>
        </p:nvSpPr>
        <p:spPr>
          <a:xfrm>
            <a:off x="4455541" y="4926790"/>
            <a:ext cx="462792" cy="240969"/>
          </a:xfrm>
          <a:custGeom>
            <a:avLst/>
            <a:gdLst/>
            <a:ahLst/>
            <a:cxnLst/>
            <a:rect l="l" t="t" r="r" b="b"/>
            <a:pathLst>
              <a:path w="462792" h="240969">
                <a:moveTo>
                  <a:pt x="462792" y="240969"/>
                </a:moveTo>
                <a:lnTo>
                  <a:pt x="439515" y="215061"/>
                </a:lnTo>
                <a:lnTo>
                  <a:pt x="415485" y="190600"/>
                </a:lnTo>
                <a:lnTo>
                  <a:pt x="390702" y="167586"/>
                </a:lnTo>
                <a:lnTo>
                  <a:pt x="365167" y="146017"/>
                </a:lnTo>
                <a:lnTo>
                  <a:pt x="338878" y="125895"/>
                </a:lnTo>
                <a:lnTo>
                  <a:pt x="311836" y="107219"/>
                </a:lnTo>
                <a:lnTo>
                  <a:pt x="284041" y="89989"/>
                </a:lnTo>
                <a:lnTo>
                  <a:pt x="255493" y="74205"/>
                </a:lnTo>
                <a:lnTo>
                  <a:pt x="226192" y="59868"/>
                </a:lnTo>
                <a:lnTo>
                  <a:pt x="196138" y="46976"/>
                </a:lnTo>
                <a:lnTo>
                  <a:pt x="165331" y="35531"/>
                </a:lnTo>
                <a:lnTo>
                  <a:pt x="133771" y="25533"/>
                </a:lnTo>
                <a:lnTo>
                  <a:pt x="101458" y="16980"/>
                </a:lnTo>
                <a:lnTo>
                  <a:pt x="68392" y="9874"/>
                </a:lnTo>
                <a:lnTo>
                  <a:pt x="34573" y="4214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Freeform 116"/>
          <p:cNvSpPr/>
          <p:nvPr/>
        </p:nvSpPr>
        <p:spPr>
          <a:xfrm>
            <a:off x="2931788" y="3342491"/>
            <a:ext cx="653551" cy="1572047"/>
          </a:xfrm>
          <a:custGeom>
            <a:avLst/>
            <a:gdLst/>
            <a:ahLst/>
            <a:cxnLst/>
            <a:rect l="l" t="t" r="r" b="b"/>
            <a:pathLst>
              <a:path w="653551" h="1572047">
                <a:moveTo>
                  <a:pt x="0" y="0"/>
                </a:moveTo>
                <a:lnTo>
                  <a:pt x="4002" y="113571"/>
                </a:lnTo>
                <a:lnTo>
                  <a:pt x="12917" y="225099"/>
                </a:lnTo>
                <a:lnTo>
                  <a:pt x="26744" y="334585"/>
                </a:lnTo>
                <a:lnTo>
                  <a:pt x="45484" y="442028"/>
                </a:lnTo>
                <a:lnTo>
                  <a:pt x="69137" y="547429"/>
                </a:lnTo>
                <a:lnTo>
                  <a:pt x="97702" y="650788"/>
                </a:lnTo>
                <a:lnTo>
                  <a:pt x="131180" y="752104"/>
                </a:lnTo>
                <a:lnTo>
                  <a:pt x="169571" y="851379"/>
                </a:lnTo>
                <a:lnTo>
                  <a:pt x="212874" y="948610"/>
                </a:lnTo>
                <a:lnTo>
                  <a:pt x="261090" y="1043800"/>
                </a:lnTo>
                <a:lnTo>
                  <a:pt x="314218" y="1136947"/>
                </a:lnTo>
                <a:lnTo>
                  <a:pt x="372260" y="1228051"/>
                </a:lnTo>
                <a:lnTo>
                  <a:pt x="435213" y="1317114"/>
                </a:lnTo>
                <a:lnTo>
                  <a:pt x="503080" y="1404134"/>
                </a:lnTo>
                <a:lnTo>
                  <a:pt x="575859" y="1489112"/>
                </a:lnTo>
                <a:lnTo>
                  <a:pt x="653551" y="1572047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Freeform 117"/>
          <p:cNvSpPr/>
          <p:nvPr/>
        </p:nvSpPr>
        <p:spPr>
          <a:xfrm>
            <a:off x="3585339" y="4855399"/>
            <a:ext cx="870202" cy="71391"/>
          </a:xfrm>
          <a:custGeom>
            <a:avLst/>
            <a:gdLst/>
            <a:ahLst/>
            <a:cxnLst/>
            <a:rect l="l" t="t" r="r" b="b"/>
            <a:pathLst>
              <a:path w="870202" h="71391">
                <a:moveTo>
                  <a:pt x="870202" y="71391"/>
                </a:moveTo>
                <a:lnTo>
                  <a:pt x="816030" y="55328"/>
                </a:lnTo>
                <a:lnTo>
                  <a:pt x="761829" y="41306"/>
                </a:lnTo>
                <a:lnTo>
                  <a:pt x="707599" y="29323"/>
                </a:lnTo>
                <a:lnTo>
                  <a:pt x="653341" y="19379"/>
                </a:lnTo>
                <a:lnTo>
                  <a:pt x="599054" y="11475"/>
                </a:lnTo>
                <a:lnTo>
                  <a:pt x="544738" y="5610"/>
                </a:lnTo>
                <a:lnTo>
                  <a:pt x="490393" y="1785"/>
                </a:lnTo>
                <a:lnTo>
                  <a:pt x="436020" y="0"/>
                </a:lnTo>
                <a:lnTo>
                  <a:pt x="381618" y="254"/>
                </a:lnTo>
                <a:lnTo>
                  <a:pt x="327187" y="2547"/>
                </a:lnTo>
                <a:lnTo>
                  <a:pt x="272728" y="6880"/>
                </a:lnTo>
                <a:lnTo>
                  <a:pt x="218239" y="13253"/>
                </a:lnTo>
                <a:lnTo>
                  <a:pt x="163723" y="21665"/>
                </a:lnTo>
                <a:lnTo>
                  <a:pt x="109177" y="32117"/>
                </a:lnTo>
                <a:lnTo>
                  <a:pt x="54603" y="44608"/>
                </a:lnTo>
                <a:lnTo>
                  <a:pt x="0" y="59139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Freeform 118"/>
          <p:cNvSpPr/>
          <p:nvPr/>
        </p:nvSpPr>
        <p:spPr>
          <a:xfrm>
            <a:off x="3585339" y="4914538"/>
            <a:ext cx="1850204" cy="153065"/>
          </a:xfrm>
          <a:custGeom>
            <a:avLst/>
            <a:gdLst/>
            <a:ahLst/>
            <a:cxnLst/>
            <a:rect l="l" t="t" r="r" b="b"/>
            <a:pathLst>
              <a:path w="1850204" h="153065">
                <a:moveTo>
                  <a:pt x="0" y="0"/>
                </a:moveTo>
                <a:lnTo>
                  <a:pt x="115135" y="34311"/>
                </a:lnTo>
                <a:lnTo>
                  <a:pt x="230337" y="64285"/>
                </a:lnTo>
                <a:lnTo>
                  <a:pt x="345606" y="89923"/>
                </a:lnTo>
                <a:lnTo>
                  <a:pt x="460942" y="111224"/>
                </a:lnTo>
                <a:lnTo>
                  <a:pt x="576345" y="128189"/>
                </a:lnTo>
                <a:lnTo>
                  <a:pt x="691815" y="140818"/>
                </a:lnTo>
                <a:lnTo>
                  <a:pt x="807353" y="149110"/>
                </a:lnTo>
                <a:lnTo>
                  <a:pt x="922957" y="153065"/>
                </a:lnTo>
                <a:lnTo>
                  <a:pt x="1038628" y="152685"/>
                </a:lnTo>
                <a:lnTo>
                  <a:pt x="1154366" y="147968"/>
                </a:lnTo>
                <a:lnTo>
                  <a:pt x="1270172" y="138914"/>
                </a:lnTo>
                <a:lnTo>
                  <a:pt x="1386044" y="125524"/>
                </a:lnTo>
                <a:lnTo>
                  <a:pt x="1501984" y="107798"/>
                </a:lnTo>
                <a:lnTo>
                  <a:pt x="1617990" y="85735"/>
                </a:lnTo>
                <a:lnTo>
                  <a:pt x="1734064" y="59336"/>
                </a:lnTo>
                <a:lnTo>
                  <a:pt x="1850204" y="2860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Freeform 119"/>
          <p:cNvSpPr/>
          <p:nvPr/>
        </p:nvSpPr>
        <p:spPr>
          <a:xfrm>
            <a:off x="5435543" y="3994283"/>
            <a:ext cx="71164" cy="948855"/>
          </a:xfrm>
          <a:custGeom>
            <a:avLst/>
            <a:gdLst/>
            <a:ahLst/>
            <a:cxnLst/>
            <a:rect l="l" t="t" r="r" b="b"/>
            <a:pathLst>
              <a:path w="71164" h="948855">
                <a:moveTo>
                  <a:pt x="0" y="948855"/>
                </a:moveTo>
                <a:lnTo>
                  <a:pt x="16679" y="889552"/>
                </a:lnTo>
                <a:lnTo>
                  <a:pt x="31134" y="830248"/>
                </a:lnTo>
                <a:lnTo>
                  <a:pt x="43366" y="770945"/>
                </a:lnTo>
                <a:lnTo>
                  <a:pt x="53373" y="711642"/>
                </a:lnTo>
                <a:lnTo>
                  <a:pt x="61157" y="652338"/>
                </a:lnTo>
                <a:lnTo>
                  <a:pt x="66717" y="593035"/>
                </a:lnTo>
                <a:lnTo>
                  <a:pt x="70052" y="533731"/>
                </a:lnTo>
                <a:lnTo>
                  <a:pt x="71164" y="474428"/>
                </a:lnTo>
                <a:lnTo>
                  <a:pt x="70052" y="415124"/>
                </a:lnTo>
                <a:lnTo>
                  <a:pt x="66717" y="355821"/>
                </a:lnTo>
                <a:lnTo>
                  <a:pt x="61157" y="296518"/>
                </a:lnTo>
                <a:lnTo>
                  <a:pt x="53373" y="237214"/>
                </a:lnTo>
                <a:lnTo>
                  <a:pt x="43366" y="177911"/>
                </a:lnTo>
                <a:lnTo>
                  <a:pt x="31134" y="118607"/>
                </a:lnTo>
                <a:lnTo>
                  <a:pt x="16679" y="59304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Freeform 120"/>
          <p:cNvSpPr/>
          <p:nvPr/>
        </p:nvSpPr>
        <p:spPr>
          <a:xfrm>
            <a:off x="7019314" y="4412174"/>
            <a:ext cx="196674" cy="650106"/>
          </a:xfrm>
          <a:custGeom>
            <a:avLst/>
            <a:gdLst/>
            <a:ahLst/>
            <a:cxnLst/>
            <a:rect l="l" t="t" r="r" b="b"/>
            <a:pathLst>
              <a:path w="196674" h="650106">
                <a:moveTo>
                  <a:pt x="4409" y="0"/>
                </a:moveTo>
                <a:lnTo>
                  <a:pt x="1189" y="45138"/>
                </a:lnTo>
                <a:lnTo>
                  <a:pt x="0" y="89675"/>
                </a:lnTo>
                <a:lnTo>
                  <a:pt x="843" y="133611"/>
                </a:lnTo>
                <a:lnTo>
                  <a:pt x="3717" y="176947"/>
                </a:lnTo>
                <a:lnTo>
                  <a:pt x="8623" y="219681"/>
                </a:lnTo>
                <a:lnTo>
                  <a:pt x="15561" y="261815"/>
                </a:lnTo>
                <a:lnTo>
                  <a:pt x="24530" y="303348"/>
                </a:lnTo>
                <a:lnTo>
                  <a:pt x="35531" y="344280"/>
                </a:lnTo>
                <a:lnTo>
                  <a:pt x="48563" y="384611"/>
                </a:lnTo>
                <a:lnTo>
                  <a:pt x="63627" y="424342"/>
                </a:lnTo>
                <a:lnTo>
                  <a:pt x="80722" y="463471"/>
                </a:lnTo>
                <a:lnTo>
                  <a:pt x="99850" y="502000"/>
                </a:lnTo>
                <a:lnTo>
                  <a:pt x="121008" y="539928"/>
                </a:lnTo>
                <a:lnTo>
                  <a:pt x="144198" y="577255"/>
                </a:lnTo>
                <a:lnTo>
                  <a:pt x="169420" y="613981"/>
                </a:lnTo>
                <a:lnTo>
                  <a:pt x="196674" y="650106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" name="Oval 563"/>
          <p:cNvSpPr/>
          <p:nvPr/>
        </p:nvSpPr>
        <p:spPr>
          <a:xfrm>
            <a:off x="4347139" y="3918851"/>
            <a:ext cx="209693" cy="20969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5" name="Connector 564"/>
          <p:cNvCxnSpPr/>
          <p:nvPr/>
        </p:nvCxnSpPr>
        <p:spPr>
          <a:xfrm>
            <a:off x="4377859" y="3949571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Connector 565"/>
          <p:cNvCxnSpPr/>
          <p:nvPr/>
        </p:nvCxnSpPr>
        <p:spPr>
          <a:xfrm flipV="1">
            <a:off x="4377859" y="3949571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7" name="TextBox 566"/>
          <p:cNvSpPr txBox="1"/>
          <p:nvPr/>
        </p:nvSpPr>
        <p:spPr>
          <a:xfrm>
            <a:off x="4556833" y="3814004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568" name="Oval 567"/>
          <p:cNvSpPr/>
          <p:nvPr/>
        </p:nvSpPr>
        <p:spPr>
          <a:xfrm>
            <a:off x="6835758" y="3407378"/>
            <a:ext cx="209693" cy="20969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9" name="Connector 568"/>
          <p:cNvCxnSpPr/>
          <p:nvPr/>
        </p:nvCxnSpPr>
        <p:spPr>
          <a:xfrm>
            <a:off x="6866478" y="3438098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0" name="Connector 569"/>
          <p:cNvCxnSpPr/>
          <p:nvPr/>
        </p:nvCxnSpPr>
        <p:spPr>
          <a:xfrm flipV="1">
            <a:off x="6866478" y="3438098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1" name="TextBox 570"/>
          <p:cNvSpPr txBox="1"/>
          <p:nvPr/>
        </p:nvSpPr>
        <p:spPr>
          <a:xfrm>
            <a:off x="7045452" y="3302531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k</a:t>
            </a:r>
          </a:p>
        </p:txBody>
      </p:sp>
      <p:sp>
        <p:nvSpPr>
          <p:cNvPr id="572" name="Oval 571"/>
          <p:cNvSpPr/>
          <p:nvPr/>
        </p:nvSpPr>
        <p:spPr>
          <a:xfrm>
            <a:off x="4385644" y="4856892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" name="Oval 572"/>
          <p:cNvSpPr/>
          <p:nvPr/>
        </p:nvSpPr>
        <p:spPr>
          <a:xfrm>
            <a:off x="4433698" y="4904947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" name="TextBox 573"/>
          <p:cNvSpPr txBox="1"/>
          <p:nvPr/>
        </p:nvSpPr>
        <p:spPr>
          <a:xfrm>
            <a:off x="4560388" y="4717096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575" name="Oval 574"/>
          <p:cNvSpPr/>
          <p:nvPr/>
        </p:nvSpPr>
        <p:spPr>
          <a:xfrm>
            <a:off x="3515441" y="4844640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" name="Oval 575"/>
          <p:cNvSpPr/>
          <p:nvPr/>
        </p:nvSpPr>
        <p:spPr>
          <a:xfrm>
            <a:off x="3563496" y="4892695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" name="TextBox 576"/>
          <p:cNvSpPr txBox="1"/>
          <p:nvPr/>
        </p:nvSpPr>
        <p:spPr>
          <a:xfrm>
            <a:off x="3690185" y="4704845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578" name="Oval 577"/>
          <p:cNvSpPr/>
          <p:nvPr/>
        </p:nvSpPr>
        <p:spPr>
          <a:xfrm>
            <a:off x="3530502" y="3956606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" name="Oval 578"/>
          <p:cNvSpPr/>
          <p:nvPr/>
        </p:nvSpPr>
        <p:spPr>
          <a:xfrm>
            <a:off x="3578556" y="4004660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" name="TextBox 579"/>
          <p:cNvSpPr txBox="1"/>
          <p:nvPr/>
        </p:nvSpPr>
        <p:spPr>
          <a:xfrm>
            <a:off x="3705246" y="3816810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581" name="Oval 580"/>
          <p:cNvSpPr/>
          <p:nvPr/>
        </p:nvSpPr>
        <p:spPr>
          <a:xfrm>
            <a:off x="3525992" y="3112943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" name="Oval 581"/>
          <p:cNvSpPr/>
          <p:nvPr/>
        </p:nvSpPr>
        <p:spPr>
          <a:xfrm>
            <a:off x="3574047" y="3160998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" name="TextBox 582"/>
          <p:cNvSpPr txBox="1"/>
          <p:nvPr/>
        </p:nvSpPr>
        <p:spPr>
          <a:xfrm>
            <a:off x="3700736" y="2973148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584" name="Oval 583"/>
          <p:cNvSpPr/>
          <p:nvPr/>
        </p:nvSpPr>
        <p:spPr>
          <a:xfrm>
            <a:off x="4367732" y="3112943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" name="Oval 584"/>
          <p:cNvSpPr/>
          <p:nvPr/>
        </p:nvSpPr>
        <p:spPr>
          <a:xfrm>
            <a:off x="4415787" y="3160998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" name="TextBox 585"/>
          <p:cNvSpPr txBox="1"/>
          <p:nvPr/>
        </p:nvSpPr>
        <p:spPr>
          <a:xfrm>
            <a:off x="4542476" y="2973148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587" name="Oval 586"/>
          <p:cNvSpPr/>
          <p:nvPr/>
        </p:nvSpPr>
        <p:spPr>
          <a:xfrm>
            <a:off x="5337750" y="3126880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" name="Oval 587"/>
          <p:cNvSpPr/>
          <p:nvPr/>
        </p:nvSpPr>
        <p:spPr>
          <a:xfrm>
            <a:off x="5385804" y="3174935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" name="TextBox 588"/>
          <p:cNvSpPr txBox="1"/>
          <p:nvPr/>
        </p:nvSpPr>
        <p:spPr>
          <a:xfrm>
            <a:off x="5512494" y="2987085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590" name="Oval 589"/>
          <p:cNvSpPr/>
          <p:nvPr/>
        </p:nvSpPr>
        <p:spPr>
          <a:xfrm>
            <a:off x="5365645" y="3924386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" name="Oval 590"/>
          <p:cNvSpPr/>
          <p:nvPr/>
        </p:nvSpPr>
        <p:spPr>
          <a:xfrm>
            <a:off x="5413700" y="3972440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" name="TextBox 591"/>
          <p:cNvSpPr txBox="1"/>
          <p:nvPr/>
        </p:nvSpPr>
        <p:spPr>
          <a:xfrm>
            <a:off x="5540390" y="3784590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593" name="Oval 592"/>
          <p:cNvSpPr/>
          <p:nvPr/>
        </p:nvSpPr>
        <p:spPr>
          <a:xfrm>
            <a:off x="5365645" y="4873241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" name="Oval 593"/>
          <p:cNvSpPr/>
          <p:nvPr/>
        </p:nvSpPr>
        <p:spPr>
          <a:xfrm>
            <a:off x="5413700" y="4921295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" name="TextBox 594"/>
          <p:cNvSpPr txBox="1"/>
          <p:nvPr/>
        </p:nvSpPr>
        <p:spPr>
          <a:xfrm>
            <a:off x="5540390" y="4733445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596" name="Oval 595"/>
          <p:cNvSpPr/>
          <p:nvPr/>
        </p:nvSpPr>
        <p:spPr>
          <a:xfrm>
            <a:off x="7146090" y="4992383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" name="Oval 596"/>
          <p:cNvSpPr/>
          <p:nvPr/>
        </p:nvSpPr>
        <p:spPr>
          <a:xfrm>
            <a:off x="7194145" y="5040437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" name="TextBox 597"/>
          <p:cNvSpPr txBox="1"/>
          <p:nvPr/>
        </p:nvSpPr>
        <p:spPr>
          <a:xfrm>
            <a:off x="7320834" y="4852587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o</a:t>
            </a:r>
          </a:p>
        </p:txBody>
      </p:sp>
      <p:sp>
        <p:nvSpPr>
          <p:cNvPr id="599" name="Oval 598"/>
          <p:cNvSpPr/>
          <p:nvPr/>
        </p:nvSpPr>
        <p:spPr>
          <a:xfrm>
            <a:off x="4886879" y="5136305"/>
            <a:ext cx="62907" cy="62907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0" name="Connector 599"/>
          <p:cNvCxnSpPr/>
          <p:nvPr/>
        </p:nvCxnSpPr>
        <p:spPr>
          <a:xfrm flipV="1">
            <a:off x="4918333" y="5028542"/>
            <a:ext cx="116816" cy="1392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1" name="Connector 600"/>
          <p:cNvCxnSpPr/>
          <p:nvPr/>
        </p:nvCxnSpPr>
        <p:spPr>
          <a:xfrm>
            <a:off x="5035149" y="5028542"/>
            <a:ext cx="34804" cy="2920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2" name="Connector 601"/>
          <p:cNvCxnSpPr/>
          <p:nvPr/>
        </p:nvCxnSpPr>
        <p:spPr>
          <a:xfrm>
            <a:off x="5015291" y="5052209"/>
            <a:ext cx="34804" cy="2920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3" name="Connector 602"/>
          <p:cNvCxnSpPr/>
          <p:nvPr/>
        </p:nvCxnSpPr>
        <p:spPr>
          <a:xfrm>
            <a:off x="4995432" y="5075876"/>
            <a:ext cx="34804" cy="2920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4" name="Connector 603"/>
          <p:cNvCxnSpPr/>
          <p:nvPr/>
        </p:nvCxnSpPr>
        <p:spPr>
          <a:xfrm>
            <a:off x="4975573" y="5099542"/>
            <a:ext cx="34804" cy="2920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5" name="Rounded Rectangle 604"/>
          <p:cNvSpPr/>
          <p:nvPr/>
        </p:nvSpPr>
        <p:spPr>
          <a:xfrm>
            <a:off x="5052624" y="4887701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" name="TextBox 605"/>
          <p:cNvSpPr txBox="1"/>
          <p:nvPr/>
        </p:nvSpPr>
        <p:spPr>
          <a:xfrm>
            <a:off x="5052624" y="4887701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607" name="Oval 606"/>
          <p:cNvSpPr/>
          <p:nvPr/>
        </p:nvSpPr>
        <p:spPr>
          <a:xfrm>
            <a:off x="2900334" y="3311037"/>
            <a:ext cx="62907" cy="62907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8" name="Connector 607"/>
          <p:cNvCxnSpPr/>
          <p:nvPr/>
        </p:nvCxnSpPr>
        <p:spPr>
          <a:xfrm flipV="1">
            <a:off x="2931788" y="3203275"/>
            <a:ext cx="116817" cy="1392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9" name="Connector 608"/>
          <p:cNvCxnSpPr/>
          <p:nvPr/>
        </p:nvCxnSpPr>
        <p:spPr>
          <a:xfrm>
            <a:off x="3048605" y="3203275"/>
            <a:ext cx="34804" cy="2920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0" name="Connector 609"/>
          <p:cNvCxnSpPr/>
          <p:nvPr/>
        </p:nvCxnSpPr>
        <p:spPr>
          <a:xfrm>
            <a:off x="3028746" y="3226941"/>
            <a:ext cx="34804" cy="2920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1" name="Connector 610"/>
          <p:cNvCxnSpPr/>
          <p:nvPr/>
        </p:nvCxnSpPr>
        <p:spPr>
          <a:xfrm>
            <a:off x="3008887" y="3250608"/>
            <a:ext cx="34804" cy="2920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2" name="Connector 611"/>
          <p:cNvCxnSpPr/>
          <p:nvPr/>
        </p:nvCxnSpPr>
        <p:spPr>
          <a:xfrm>
            <a:off x="2989029" y="3274275"/>
            <a:ext cx="34804" cy="2920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3" name="Rounded Rectangle 612"/>
          <p:cNvSpPr/>
          <p:nvPr/>
        </p:nvSpPr>
        <p:spPr>
          <a:xfrm>
            <a:off x="3066079" y="3062434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" name="TextBox 613"/>
          <p:cNvSpPr txBox="1"/>
          <p:nvPr/>
        </p:nvSpPr>
        <p:spPr>
          <a:xfrm>
            <a:off x="3066079" y="3062434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615" name="Oval 614"/>
          <p:cNvSpPr/>
          <p:nvPr/>
        </p:nvSpPr>
        <p:spPr>
          <a:xfrm>
            <a:off x="6992269" y="4380720"/>
            <a:ext cx="62907" cy="62907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6" name="Connector 615"/>
          <p:cNvCxnSpPr/>
          <p:nvPr/>
        </p:nvCxnSpPr>
        <p:spPr>
          <a:xfrm flipV="1">
            <a:off x="7023723" y="4272958"/>
            <a:ext cx="116817" cy="1392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7" name="Connector 616"/>
          <p:cNvCxnSpPr/>
          <p:nvPr/>
        </p:nvCxnSpPr>
        <p:spPr>
          <a:xfrm>
            <a:off x="7140540" y="4272958"/>
            <a:ext cx="34804" cy="2920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8" name="Rounded Rectangle 617"/>
          <p:cNvSpPr/>
          <p:nvPr/>
        </p:nvSpPr>
        <p:spPr>
          <a:xfrm>
            <a:off x="7158014" y="4132117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" name="TextBox 618"/>
          <p:cNvSpPr txBox="1"/>
          <p:nvPr/>
        </p:nvSpPr>
        <p:spPr>
          <a:xfrm>
            <a:off x="7158014" y="4132117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620" name="TextBox 619"/>
          <p:cNvSpPr txBox="1"/>
          <p:nvPr/>
        </p:nvSpPr>
        <p:spPr>
          <a:xfrm>
            <a:off x="8730000" y="4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本图开关（从左到右逐键）</a:t>
            </a:r>
          </a:p>
        </p:txBody>
      </p:sp>
      <p:sp>
        <p:nvSpPr>
          <p:cNvPr id="621" name="TextBox 620"/>
          <p:cNvSpPr txBox="1"/>
          <p:nvPr/>
        </p:nvSpPr>
        <p:spPr>
          <a:xfrm>
            <a:off x="8730000" y="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S8  4 联 · G15 区南门旁</a:t>
            </a:r>
          </a:p>
        </p:txBody>
      </p:sp>
      <p:sp>
        <p:nvSpPr>
          <p:cNvPr id="622" name="TextBox 621"/>
          <p:cNvSpPr txBox="1"/>
          <p:nvPr/>
        </p:nvSpPr>
        <p:spPr>
          <a:xfrm>
            <a:off x="8980000" y="79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键1=j  键2=k  键3=l  键4=m</a:t>
            </a:r>
          </a:p>
        </p:txBody>
      </p:sp>
      <p:sp>
        <p:nvSpPr>
          <p:cNvPr id="623" name="TextBox 622"/>
          <p:cNvSpPr txBox="1"/>
          <p:nvPr/>
        </p:nvSpPr>
        <p:spPr>
          <a:xfrm>
            <a:off x="8730000" y="99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S9  4 联 · G15 区 · 储物间门旁</a:t>
            </a:r>
          </a:p>
        </p:txBody>
      </p:sp>
      <p:sp>
        <p:nvSpPr>
          <p:cNvPr id="624" name="TextBox 623"/>
          <p:cNvSpPr txBox="1"/>
          <p:nvPr/>
        </p:nvSpPr>
        <p:spPr>
          <a:xfrm>
            <a:off x="8980000" y="116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键1=j  键2=k  键3=l  键4=m</a:t>
            </a:r>
          </a:p>
        </p:txBody>
      </p:sp>
      <p:sp>
        <p:nvSpPr>
          <p:cNvPr id="625" name="TextBox 624"/>
          <p:cNvSpPr txBox="1"/>
          <p:nvPr/>
        </p:nvSpPr>
        <p:spPr>
          <a:xfrm>
            <a:off x="8730000" y="136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S10  1 联 · 卫生间门外</a:t>
            </a:r>
          </a:p>
        </p:txBody>
      </p:sp>
      <p:sp>
        <p:nvSpPr>
          <p:cNvPr id="626" name="TextBox 625"/>
          <p:cNvSpPr txBox="1"/>
          <p:nvPr/>
        </p:nvSpPr>
        <p:spPr>
          <a:xfrm>
            <a:off x="8980000" y="152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键1=o</a:t>
            </a:r>
          </a:p>
        </p:txBody>
      </p:sp>
      <p:sp>
        <p:nvSpPr>
          <p:cNvPr id="627" name="TextBox 626"/>
          <p:cNvSpPr txBox="1"/>
          <p:nvPr/>
        </p:nvSpPr>
        <p:spPr>
          <a:xfrm>
            <a:off x="8730000" y="178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双控联络线（红粗线）</a:t>
            </a:r>
          </a:p>
        </p:txBody>
      </p:sp>
      <p:sp>
        <p:nvSpPr>
          <p:cNvPr id="628" name="TextBox 627"/>
          <p:cNvSpPr txBox="1"/>
          <p:nvPr/>
        </p:nvSpPr>
        <p:spPr>
          <a:xfrm>
            <a:off x="8730000" y="197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W1：S8 ↔ S9  3C+E  回路 j k l m</a:t>
            </a:r>
          </a:p>
        </p:txBody>
      </p:sp>
      <p:sp>
        <p:nvSpPr>
          <p:cNvPr id="629" name="TextBox 628"/>
          <p:cNvSpPr txBox="1"/>
          <p:nvPr/>
        </p:nvSpPr>
        <p:spPr>
          <a:xfrm>
            <a:off x="8730000" y="2145000"/>
            <a:ext cx="3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红线只表示连接关系，实际走线沿墙 / 吊顶内，现场定。</a:t>
            </a:r>
          </a:p>
        </p:txBody>
      </p:sp>
      <p:sp>
        <p:nvSpPr>
          <p:cNvPr id="630" name="Rectangle 629"/>
          <p:cNvSpPr/>
          <p:nvPr/>
        </p:nvSpPr>
        <p:spPr>
          <a:xfrm>
            <a:off x="400000" y="6540000"/>
            <a:ext cx="794292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Rectangle 630"/>
          <p:cNvSpPr/>
          <p:nvPr/>
        </p:nvSpPr>
        <p:spPr>
          <a:xfrm>
            <a:off x="1194292" y="6540000"/>
            <a:ext cx="794292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" name="TextBox 631"/>
          <p:cNvSpPr txBox="1"/>
          <p:nvPr/>
        </p:nvSpPr>
        <p:spPr>
          <a:xfrm>
            <a:off x="2028585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-1280212" y="-1604295"/>
            <a:ext cx="5327267" cy="10886662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13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13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Rectangle 538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Rectangle 539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Rectangle 540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Rectangle 54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TextBox 54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一层照明放大图 3：厨房 · 洗衣房 · 后花园</a:t>
            </a:r>
          </a:p>
        </p:txBody>
      </p:sp>
      <p:sp>
        <p:nvSpPr>
          <p:cNvPr id="544" name="TextBox 543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GROUND FLOOR LIGHTING &amp; SWITCHING — ZONE 3</a:t>
            </a:r>
          </a:p>
        </p:txBody>
      </p:sp>
      <p:sp>
        <p:nvSpPr>
          <p:cNvPr id="545" name="Rectangle 544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TextBox 545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547" name="TextBox 546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一层照明</a:t>
            </a:r>
          </a:p>
        </p:txBody>
      </p:sp>
      <p:cxnSp>
        <p:nvCxnSpPr>
          <p:cNvPr id="548" name="Connector 547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9" name="TextBox 548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50" name="TextBox 549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一层照明放大图 3：厨房 · 洗衣房 · 后花园</a:t>
            </a:r>
          </a:p>
        </p:txBody>
      </p:sp>
      <p:cxnSp>
        <p:nvCxnSpPr>
          <p:cNvPr id="551" name="Connector 550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2" name="TextBox 551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53" name="TextBox 552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E-GF-03</a:t>
            </a:r>
          </a:p>
        </p:txBody>
      </p:sp>
      <p:cxnSp>
        <p:nvCxnSpPr>
          <p:cNvPr id="554" name="Connector 553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5" name="TextBox 554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556" name="TextBox 555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L-B · 方案 B · 精简 17 路（照明 3 路）</a:t>
            </a:r>
          </a:p>
        </p:txBody>
      </p:sp>
      <p:cxnSp>
        <p:nvCxnSpPr>
          <p:cNvPr id="557" name="Connector 556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8" name="TextBox 557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559" name="TextBox 558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v4 第 2 页按键标注；PPT v7 / v9（用户 2026-10-06 标注）；Blender v40</a:t>
            </a:r>
          </a:p>
        </p:txBody>
      </p:sp>
      <p:cxnSp>
        <p:nvCxnSpPr>
          <p:cNvPr id="560" name="Connector 559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1" name="Connector 560"/>
          <p:cNvCxnSpPr/>
          <p:nvPr/>
        </p:nvCxnSpPr>
        <p:spPr>
          <a:xfrm>
            <a:off x="1668347" y="1392911"/>
            <a:ext cx="1463651" cy="3090923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2" name="Oval 561"/>
          <p:cNvSpPr/>
          <p:nvPr/>
        </p:nvSpPr>
        <p:spPr>
          <a:xfrm>
            <a:off x="2080625" y="2404734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" name="TextBox 562"/>
          <p:cNvSpPr txBox="1"/>
          <p:nvPr/>
        </p:nvSpPr>
        <p:spPr>
          <a:xfrm>
            <a:off x="2080625" y="2404734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W1</a:t>
            </a:r>
          </a:p>
        </p:txBody>
      </p:sp>
      <p:sp>
        <p:nvSpPr>
          <p:cNvPr id="2" name="Freeform 1"/>
          <p:cNvSpPr/>
          <p:nvPr/>
        </p:nvSpPr>
        <p:spPr>
          <a:xfrm>
            <a:off x="1668347" y="1392911"/>
            <a:ext cx="2008804" cy="2925308"/>
          </a:xfrm>
          <a:custGeom>
            <a:avLst/>
            <a:gdLst/>
            <a:ahLst/>
            <a:cxnLst/>
            <a:rect l="l" t="t" r="r" b="b"/>
            <a:pathLst>
              <a:path w="2008804" h="2925308">
                <a:moveTo>
                  <a:pt x="0" y="0"/>
                </a:moveTo>
                <a:lnTo>
                  <a:pt x="56988" y="229913"/>
                </a:lnTo>
                <a:lnTo>
                  <a:pt x="123118" y="453549"/>
                </a:lnTo>
                <a:lnTo>
                  <a:pt x="198390" y="670907"/>
                </a:lnTo>
                <a:lnTo>
                  <a:pt x="282803" y="881987"/>
                </a:lnTo>
                <a:lnTo>
                  <a:pt x="376358" y="1086790"/>
                </a:lnTo>
                <a:lnTo>
                  <a:pt x="479054" y="1285316"/>
                </a:lnTo>
                <a:lnTo>
                  <a:pt x="590892" y="1477564"/>
                </a:lnTo>
                <a:lnTo>
                  <a:pt x="711871" y="1663534"/>
                </a:lnTo>
                <a:lnTo>
                  <a:pt x="841993" y="1843227"/>
                </a:lnTo>
                <a:lnTo>
                  <a:pt x="981255" y="2016643"/>
                </a:lnTo>
                <a:lnTo>
                  <a:pt x="1129659" y="2183781"/>
                </a:lnTo>
                <a:lnTo>
                  <a:pt x="1287205" y="2344641"/>
                </a:lnTo>
                <a:lnTo>
                  <a:pt x="1453893" y="2499224"/>
                </a:lnTo>
                <a:lnTo>
                  <a:pt x="1629722" y="2647529"/>
                </a:lnTo>
                <a:lnTo>
                  <a:pt x="1814692" y="2789557"/>
                </a:lnTo>
                <a:lnTo>
                  <a:pt x="2008804" y="2925308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3131998" y="4318219"/>
            <a:ext cx="545153" cy="168763"/>
          </a:xfrm>
          <a:custGeom>
            <a:avLst/>
            <a:gdLst/>
            <a:ahLst/>
            <a:cxnLst/>
            <a:rect l="l" t="t" r="r" b="b"/>
            <a:pathLst>
              <a:path w="545153" h="168763">
                <a:moveTo>
                  <a:pt x="0" y="165615"/>
                </a:moveTo>
                <a:lnTo>
                  <a:pt x="37953" y="168041"/>
                </a:lnTo>
                <a:lnTo>
                  <a:pt x="75389" y="168763"/>
                </a:lnTo>
                <a:lnTo>
                  <a:pt x="112308" y="167782"/>
                </a:lnTo>
                <a:lnTo>
                  <a:pt x="148709" y="165098"/>
                </a:lnTo>
                <a:lnTo>
                  <a:pt x="184593" y="160709"/>
                </a:lnTo>
                <a:lnTo>
                  <a:pt x="219959" y="154617"/>
                </a:lnTo>
                <a:lnTo>
                  <a:pt x="254807" y="146822"/>
                </a:lnTo>
                <a:lnTo>
                  <a:pt x="289138" y="137323"/>
                </a:lnTo>
                <a:lnTo>
                  <a:pt x="322951" y="126120"/>
                </a:lnTo>
                <a:lnTo>
                  <a:pt x="356247" y="113213"/>
                </a:lnTo>
                <a:lnTo>
                  <a:pt x="389025" y="98603"/>
                </a:lnTo>
                <a:lnTo>
                  <a:pt x="421286" y="82290"/>
                </a:lnTo>
                <a:lnTo>
                  <a:pt x="453029" y="64273"/>
                </a:lnTo>
                <a:lnTo>
                  <a:pt x="484255" y="44552"/>
                </a:lnTo>
                <a:lnTo>
                  <a:pt x="514963" y="23128"/>
                </a:lnTo>
                <a:lnTo>
                  <a:pt x="545153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677151" y="4318219"/>
            <a:ext cx="1593685" cy="119526"/>
          </a:xfrm>
          <a:custGeom>
            <a:avLst/>
            <a:gdLst/>
            <a:ahLst/>
            <a:cxnLst/>
            <a:rect l="l" t="t" r="r" b="b"/>
            <a:pathLst>
              <a:path w="1593685" h="119526">
                <a:moveTo>
                  <a:pt x="0" y="0"/>
                </a:moveTo>
                <a:lnTo>
                  <a:pt x="99606" y="28013"/>
                </a:lnTo>
                <a:lnTo>
                  <a:pt x="199211" y="52292"/>
                </a:lnTo>
                <a:lnTo>
                  <a:pt x="298816" y="72836"/>
                </a:lnTo>
                <a:lnTo>
                  <a:pt x="398422" y="89644"/>
                </a:lnTo>
                <a:lnTo>
                  <a:pt x="498027" y="102717"/>
                </a:lnTo>
                <a:lnTo>
                  <a:pt x="597632" y="112055"/>
                </a:lnTo>
                <a:lnTo>
                  <a:pt x="697237" y="117658"/>
                </a:lnTo>
                <a:lnTo>
                  <a:pt x="796843" y="119526"/>
                </a:lnTo>
                <a:lnTo>
                  <a:pt x="896448" y="117658"/>
                </a:lnTo>
                <a:lnTo>
                  <a:pt x="996053" y="112055"/>
                </a:lnTo>
                <a:lnTo>
                  <a:pt x="1095659" y="102717"/>
                </a:lnTo>
                <a:lnTo>
                  <a:pt x="1195264" y="89644"/>
                </a:lnTo>
                <a:lnTo>
                  <a:pt x="1294869" y="72836"/>
                </a:lnTo>
                <a:lnTo>
                  <a:pt x="1394474" y="52292"/>
                </a:lnTo>
                <a:lnTo>
                  <a:pt x="1494080" y="28013"/>
                </a:lnTo>
                <a:lnTo>
                  <a:pt x="1593685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" name="TextBox 563"/>
          <p:cNvSpPr txBox="1"/>
          <p:nvPr/>
        </p:nvSpPr>
        <p:spPr>
          <a:xfrm>
            <a:off x="1699764" y="1436895"/>
            <a:ext cx="14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F4E79"/>
                </a:solidFill>
                <a:latin typeface="Microsoft YaHei"/>
              </a:rPr>
              <a:t>q → 见另图</a:t>
            </a:r>
          </a:p>
        </p:txBody>
      </p:sp>
      <p:sp>
        <p:nvSpPr>
          <p:cNvPr id="565" name="TextBox 564"/>
          <p:cNvSpPr txBox="1"/>
          <p:nvPr/>
        </p:nvSpPr>
        <p:spPr>
          <a:xfrm>
            <a:off x="3163414" y="4527817"/>
            <a:ext cx="14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F4E79"/>
                </a:solidFill>
                <a:latin typeface="Microsoft YaHei"/>
              </a:rPr>
              <a:t>q → 见另图</a:t>
            </a:r>
          </a:p>
        </p:txBody>
      </p:sp>
      <p:sp>
        <p:nvSpPr>
          <p:cNvPr id="110" name="Freeform 109"/>
          <p:cNvSpPr/>
          <p:nvPr/>
        </p:nvSpPr>
        <p:spPr>
          <a:xfrm>
            <a:off x="1817959" y="5113780"/>
            <a:ext cx="1303002" cy="234943"/>
          </a:xfrm>
          <a:custGeom>
            <a:avLst/>
            <a:gdLst/>
            <a:ahLst/>
            <a:cxnLst/>
            <a:rect l="l" t="t" r="r" b="b"/>
            <a:pathLst>
              <a:path w="1303002" h="234943">
                <a:moveTo>
                  <a:pt x="0" y="0"/>
                </a:moveTo>
                <a:lnTo>
                  <a:pt x="77245" y="41718"/>
                </a:lnTo>
                <a:lnTo>
                  <a:pt x="155050" y="79364"/>
                </a:lnTo>
                <a:lnTo>
                  <a:pt x="233413" y="112938"/>
                </a:lnTo>
                <a:lnTo>
                  <a:pt x="312336" y="142440"/>
                </a:lnTo>
                <a:lnTo>
                  <a:pt x="391817" y="167871"/>
                </a:lnTo>
                <a:lnTo>
                  <a:pt x="471857" y="189229"/>
                </a:lnTo>
                <a:lnTo>
                  <a:pt x="552457" y="206516"/>
                </a:lnTo>
                <a:lnTo>
                  <a:pt x="633615" y="219730"/>
                </a:lnTo>
                <a:lnTo>
                  <a:pt x="715332" y="228873"/>
                </a:lnTo>
                <a:lnTo>
                  <a:pt x="797608" y="233944"/>
                </a:lnTo>
                <a:lnTo>
                  <a:pt x="880443" y="234943"/>
                </a:lnTo>
                <a:lnTo>
                  <a:pt x="963837" y="231871"/>
                </a:lnTo>
                <a:lnTo>
                  <a:pt x="1047790" y="224726"/>
                </a:lnTo>
                <a:lnTo>
                  <a:pt x="1132302" y="213509"/>
                </a:lnTo>
                <a:lnTo>
                  <a:pt x="1217372" y="198221"/>
                </a:lnTo>
                <a:lnTo>
                  <a:pt x="1303002" y="178861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1817959" y="5113780"/>
            <a:ext cx="2849037" cy="362633"/>
          </a:xfrm>
          <a:custGeom>
            <a:avLst/>
            <a:gdLst/>
            <a:ahLst/>
            <a:cxnLst/>
            <a:rect l="l" t="t" r="r" b="b"/>
            <a:pathLst>
              <a:path w="2849037" h="362633">
                <a:moveTo>
                  <a:pt x="0" y="0"/>
                </a:moveTo>
                <a:lnTo>
                  <a:pt x="174640" y="75905"/>
                </a:lnTo>
                <a:lnTo>
                  <a:pt x="349738" y="142908"/>
                </a:lnTo>
                <a:lnTo>
                  <a:pt x="525291" y="201007"/>
                </a:lnTo>
                <a:lnTo>
                  <a:pt x="701301" y="250203"/>
                </a:lnTo>
                <a:lnTo>
                  <a:pt x="877768" y="290495"/>
                </a:lnTo>
                <a:lnTo>
                  <a:pt x="1054692" y="321885"/>
                </a:lnTo>
                <a:lnTo>
                  <a:pt x="1232072" y="344371"/>
                </a:lnTo>
                <a:lnTo>
                  <a:pt x="1409908" y="357954"/>
                </a:lnTo>
                <a:lnTo>
                  <a:pt x="1588201" y="362633"/>
                </a:lnTo>
                <a:lnTo>
                  <a:pt x="1766951" y="358410"/>
                </a:lnTo>
                <a:lnTo>
                  <a:pt x="1946157" y="345283"/>
                </a:lnTo>
                <a:lnTo>
                  <a:pt x="2125820" y="323253"/>
                </a:lnTo>
                <a:lnTo>
                  <a:pt x="2305939" y="292320"/>
                </a:lnTo>
                <a:lnTo>
                  <a:pt x="2486515" y="252483"/>
                </a:lnTo>
                <a:lnTo>
                  <a:pt x="2667548" y="203743"/>
                </a:lnTo>
                <a:lnTo>
                  <a:pt x="2849037" y="14610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5681549" y="5135922"/>
            <a:ext cx="288866" cy="210148"/>
          </a:xfrm>
          <a:custGeom>
            <a:avLst/>
            <a:gdLst/>
            <a:ahLst/>
            <a:cxnLst/>
            <a:rect l="l" t="t" r="r" b="b"/>
            <a:pathLst>
              <a:path w="288866" h="210148">
                <a:moveTo>
                  <a:pt x="0" y="0"/>
                </a:moveTo>
                <a:lnTo>
                  <a:pt x="13129" y="19905"/>
                </a:lnTo>
                <a:lnTo>
                  <a:pt x="26914" y="38907"/>
                </a:lnTo>
                <a:lnTo>
                  <a:pt x="41356" y="57006"/>
                </a:lnTo>
                <a:lnTo>
                  <a:pt x="56455" y="74202"/>
                </a:lnTo>
                <a:lnTo>
                  <a:pt x="72211" y="90496"/>
                </a:lnTo>
                <a:lnTo>
                  <a:pt x="88623" y="105887"/>
                </a:lnTo>
                <a:lnTo>
                  <a:pt x="105692" y="120375"/>
                </a:lnTo>
                <a:lnTo>
                  <a:pt x="123418" y="133961"/>
                </a:lnTo>
                <a:lnTo>
                  <a:pt x="141801" y="146644"/>
                </a:lnTo>
                <a:lnTo>
                  <a:pt x="160840" y="158424"/>
                </a:lnTo>
                <a:lnTo>
                  <a:pt x="180536" y="169301"/>
                </a:lnTo>
                <a:lnTo>
                  <a:pt x="200888" y="179276"/>
                </a:lnTo>
                <a:lnTo>
                  <a:pt x="221898" y="188348"/>
                </a:lnTo>
                <a:lnTo>
                  <a:pt x="243564" y="196518"/>
                </a:lnTo>
                <a:lnTo>
                  <a:pt x="265887" y="203784"/>
                </a:lnTo>
                <a:lnTo>
                  <a:pt x="288866" y="210148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6176029" y="5135905"/>
            <a:ext cx="521099" cy="227352"/>
          </a:xfrm>
          <a:custGeom>
            <a:avLst/>
            <a:gdLst/>
            <a:ahLst/>
            <a:cxnLst/>
            <a:rect l="l" t="t" r="r" b="b"/>
            <a:pathLst>
              <a:path w="521099" h="227352">
                <a:moveTo>
                  <a:pt x="0" y="0"/>
                </a:moveTo>
                <a:lnTo>
                  <a:pt x="27240" y="26423"/>
                </a:lnTo>
                <a:lnTo>
                  <a:pt x="55191" y="51217"/>
                </a:lnTo>
                <a:lnTo>
                  <a:pt x="83852" y="74383"/>
                </a:lnTo>
                <a:lnTo>
                  <a:pt x="113223" y="95921"/>
                </a:lnTo>
                <a:lnTo>
                  <a:pt x="143305" y="115829"/>
                </a:lnTo>
                <a:lnTo>
                  <a:pt x="174098" y="134110"/>
                </a:lnTo>
                <a:lnTo>
                  <a:pt x="205601" y="150762"/>
                </a:lnTo>
                <a:lnTo>
                  <a:pt x="237814" y="165786"/>
                </a:lnTo>
                <a:lnTo>
                  <a:pt x="270738" y="179181"/>
                </a:lnTo>
                <a:lnTo>
                  <a:pt x="304373" y="190948"/>
                </a:lnTo>
                <a:lnTo>
                  <a:pt x="338717" y="201086"/>
                </a:lnTo>
                <a:lnTo>
                  <a:pt x="373773" y="209596"/>
                </a:lnTo>
                <a:lnTo>
                  <a:pt x="409539" y="216478"/>
                </a:lnTo>
                <a:lnTo>
                  <a:pt x="446015" y="221731"/>
                </a:lnTo>
                <a:lnTo>
                  <a:pt x="483202" y="225355"/>
                </a:lnTo>
                <a:lnTo>
                  <a:pt x="521099" y="227352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1545445" y="1392911"/>
            <a:ext cx="271657" cy="1905976"/>
          </a:xfrm>
          <a:custGeom>
            <a:avLst/>
            <a:gdLst/>
            <a:ahLst/>
            <a:cxnLst/>
            <a:rect l="l" t="t" r="r" b="b"/>
            <a:pathLst>
              <a:path w="271657" h="1905976">
                <a:moveTo>
                  <a:pt x="122902" y="0"/>
                </a:moveTo>
                <a:lnTo>
                  <a:pt x="87528" y="122610"/>
                </a:lnTo>
                <a:lnTo>
                  <a:pt x="58110" y="244755"/>
                </a:lnTo>
                <a:lnTo>
                  <a:pt x="34648" y="366435"/>
                </a:lnTo>
                <a:lnTo>
                  <a:pt x="17142" y="487651"/>
                </a:lnTo>
                <a:lnTo>
                  <a:pt x="5593" y="608401"/>
                </a:lnTo>
                <a:lnTo>
                  <a:pt x="0" y="728687"/>
                </a:lnTo>
                <a:lnTo>
                  <a:pt x="363" y="848508"/>
                </a:lnTo>
                <a:lnTo>
                  <a:pt x="6682" y="967864"/>
                </a:lnTo>
                <a:lnTo>
                  <a:pt x="18957" y="1086755"/>
                </a:lnTo>
                <a:lnTo>
                  <a:pt x="37188" y="1205181"/>
                </a:lnTo>
                <a:lnTo>
                  <a:pt x="61376" y="1323142"/>
                </a:lnTo>
                <a:lnTo>
                  <a:pt x="91520" y="1440639"/>
                </a:lnTo>
                <a:lnTo>
                  <a:pt x="127620" y="1557670"/>
                </a:lnTo>
                <a:lnTo>
                  <a:pt x="169676" y="1674237"/>
                </a:lnTo>
                <a:lnTo>
                  <a:pt x="217688" y="1790339"/>
                </a:lnTo>
                <a:lnTo>
                  <a:pt x="271657" y="1905976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1817102" y="3298887"/>
            <a:ext cx="1314896" cy="1184947"/>
          </a:xfrm>
          <a:custGeom>
            <a:avLst/>
            <a:gdLst/>
            <a:ahLst/>
            <a:cxnLst/>
            <a:rect l="l" t="t" r="r" b="b"/>
            <a:pathLst>
              <a:path w="1314896" h="1184947">
                <a:moveTo>
                  <a:pt x="1314896" y="1184947"/>
                </a:moveTo>
                <a:lnTo>
                  <a:pt x="1260487" y="1080070"/>
                </a:lnTo>
                <a:lnTo>
                  <a:pt x="1202375" y="979302"/>
                </a:lnTo>
                <a:lnTo>
                  <a:pt x="1140560" y="882643"/>
                </a:lnTo>
                <a:lnTo>
                  <a:pt x="1075043" y="790093"/>
                </a:lnTo>
                <a:lnTo>
                  <a:pt x="1005822" y="701652"/>
                </a:lnTo>
                <a:lnTo>
                  <a:pt x="932898" y="617320"/>
                </a:lnTo>
                <a:lnTo>
                  <a:pt x="856272" y="537098"/>
                </a:lnTo>
                <a:lnTo>
                  <a:pt x="775942" y="460984"/>
                </a:lnTo>
                <a:lnTo>
                  <a:pt x="691910" y="388979"/>
                </a:lnTo>
                <a:lnTo>
                  <a:pt x="604174" y="321084"/>
                </a:lnTo>
                <a:lnTo>
                  <a:pt x="512736" y="257297"/>
                </a:lnTo>
                <a:lnTo>
                  <a:pt x="417595" y="197620"/>
                </a:lnTo>
                <a:lnTo>
                  <a:pt x="318750" y="142051"/>
                </a:lnTo>
                <a:lnTo>
                  <a:pt x="216203" y="90592"/>
                </a:lnTo>
                <a:lnTo>
                  <a:pt x="109953" y="43241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Freeform 115"/>
          <p:cNvSpPr/>
          <p:nvPr/>
        </p:nvSpPr>
        <p:spPr>
          <a:xfrm>
            <a:off x="6634294" y="5300423"/>
            <a:ext cx="125667" cy="62834"/>
          </a:xfrm>
          <a:custGeom>
            <a:avLst/>
            <a:gdLst/>
            <a:ahLst/>
            <a:cxnLst/>
            <a:rect l="l" t="t" r="r" b="b"/>
            <a:pathLst>
              <a:path w="125667" h="62834">
                <a:moveTo>
                  <a:pt x="125667" y="62834"/>
                </a:moveTo>
                <a:lnTo>
                  <a:pt x="124460" y="50575"/>
                </a:lnTo>
                <a:lnTo>
                  <a:pt x="120884" y="38788"/>
                </a:lnTo>
                <a:lnTo>
                  <a:pt x="115078" y="27925"/>
                </a:lnTo>
                <a:lnTo>
                  <a:pt x="107264" y="18404"/>
                </a:lnTo>
                <a:lnTo>
                  <a:pt x="97742" y="10589"/>
                </a:lnTo>
                <a:lnTo>
                  <a:pt x="86879" y="4783"/>
                </a:lnTo>
                <a:lnTo>
                  <a:pt x="75092" y="1207"/>
                </a:lnTo>
                <a:lnTo>
                  <a:pt x="62834" y="0"/>
                </a:lnTo>
                <a:lnTo>
                  <a:pt x="50576" y="1207"/>
                </a:lnTo>
                <a:lnTo>
                  <a:pt x="38788" y="4783"/>
                </a:lnTo>
                <a:lnTo>
                  <a:pt x="27925" y="10589"/>
                </a:lnTo>
                <a:lnTo>
                  <a:pt x="18404" y="18404"/>
                </a:lnTo>
                <a:lnTo>
                  <a:pt x="10590" y="27925"/>
                </a:lnTo>
                <a:lnTo>
                  <a:pt x="4783" y="38788"/>
                </a:lnTo>
                <a:lnTo>
                  <a:pt x="1208" y="50575"/>
                </a:lnTo>
                <a:lnTo>
                  <a:pt x="0" y="62834"/>
                </a:lnTo>
                <a:lnTo>
                  <a:pt x="125667" y="62834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6" name="Connector 565"/>
          <p:cNvCxnSpPr/>
          <p:nvPr/>
        </p:nvCxnSpPr>
        <p:spPr>
          <a:xfrm>
            <a:off x="6615444" y="5363257"/>
            <a:ext cx="16336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7" name="TextBox 566"/>
          <p:cNvSpPr txBox="1"/>
          <p:nvPr/>
        </p:nvSpPr>
        <p:spPr>
          <a:xfrm>
            <a:off x="6772528" y="5212456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u</a:t>
            </a:r>
          </a:p>
        </p:txBody>
      </p:sp>
      <p:sp>
        <p:nvSpPr>
          <p:cNvPr id="117" name="Freeform 116"/>
          <p:cNvSpPr/>
          <p:nvPr/>
        </p:nvSpPr>
        <p:spPr>
          <a:xfrm>
            <a:off x="3614318" y="4255385"/>
            <a:ext cx="125667" cy="62834"/>
          </a:xfrm>
          <a:custGeom>
            <a:avLst/>
            <a:gdLst/>
            <a:ahLst/>
            <a:cxnLst/>
            <a:rect l="l" t="t" r="r" b="b"/>
            <a:pathLst>
              <a:path w="125667" h="62834">
                <a:moveTo>
                  <a:pt x="125667" y="62834"/>
                </a:moveTo>
                <a:lnTo>
                  <a:pt x="124460" y="50575"/>
                </a:lnTo>
                <a:lnTo>
                  <a:pt x="120884" y="38788"/>
                </a:lnTo>
                <a:lnTo>
                  <a:pt x="115078" y="27925"/>
                </a:lnTo>
                <a:lnTo>
                  <a:pt x="107264" y="18403"/>
                </a:lnTo>
                <a:lnTo>
                  <a:pt x="97742" y="10589"/>
                </a:lnTo>
                <a:lnTo>
                  <a:pt x="86879" y="4783"/>
                </a:lnTo>
                <a:lnTo>
                  <a:pt x="75092" y="1207"/>
                </a:lnTo>
                <a:lnTo>
                  <a:pt x="62833" y="0"/>
                </a:lnTo>
                <a:lnTo>
                  <a:pt x="50575" y="1207"/>
                </a:lnTo>
                <a:lnTo>
                  <a:pt x="38788" y="4783"/>
                </a:lnTo>
                <a:lnTo>
                  <a:pt x="27925" y="10589"/>
                </a:lnTo>
                <a:lnTo>
                  <a:pt x="18403" y="18403"/>
                </a:lnTo>
                <a:lnTo>
                  <a:pt x="10589" y="27925"/>
                </a:lnTo>
                <a:lnTo>
                  <a:pt x="4783" y="38788"/>
                </a:lnTo>
                <a:lnTo>
                  <a:pt x="1207" y="50575"/>
                </a:lnTo>
                <a:lnTo>
                  <a:pt x="0" y="62834"/>
                </a:lnTo>
                <a:lnTo>
                  <a:pt x="125667" y="62834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8" name="Connector 567"/>
          <p:cNvCxnSpPr/>
          <p:nvPr/>
        </p:nvCxnSpPr>
        <p:spPr>
          <a:xfrm>
            <a:off x="3595468" y="4318219"/>
            <a:ext cx="16336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9" name="TextBox 568"/>
          <p:cNvSpPr txBox="1"/>
          <p:nvPr/>
        </p:nvSpPr>
        <p:spPr>
          <a:xfrm>
            <a:off x="3752552" y="4167418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p</a:t>
            </a:r>
          </a:p>
        </p:txBody>
      </p:sp>
      <p:sp>
        <p:nvSpPr>
          <p:cNvPr id="118" name="Freeform 117"/>
          <p:cNvSpPr/>
          <p:nvPr/>
        </p:nvSpPr>
        <p:spPr>
          <a:xfrm>
            <a:off x="5208002" y="4255385"/>
            <a:ext cx="125668" cy="62834"/>
          </a:xfrm>
          <a:custGeom>
            <a:avLst/>
            <a:gdLst/>
            <a:ahLst/>
            <a:cxnLst/>
            <a:rect l="l" t="t" r="r" b="b"/>
            <a:pathLst>
              <a:path w="125668" h="62834">
                <a:moveTo>
                  <a:pt x="125668" y="62834"/>
                </a:moveTo>
                <a:lnTo>
                  <a:pt x="124460" y="50575"/>
                </a:lnTo>
                <a:lnTo>
                  <a:pt x="120885" y="38788"/>
                </a:lnTo>
                <a:lnTo>
                  <a:pt x="115078" y="27925"/>
                </a:lnTo>
                <a:lnTo>
                  <a:pt x="107264" y="18403"/>
                </a:lnTo>
                <a:lnTo>
                  <a:pt x="97742" y="10589"/>
                </a:lnTo>
                <a:lnTo>
                  <a:pt x="86879" y="4783"/>
                </a:lnTo>
                <a:lnTo>
                  <a:pt x="75092" y="1207"/>
                </a:lnTo>
                <a:lnTo>
                  <a:pt x="62834" y="0"/>
                </a:lnTo>
                <a:lnTo>
                  <a:pt x="50576" y="1207"/>
                </a:lnTo>
                <a:lnTo>
                  <a:pt x="38789" y="4783"/>
                </a:lnTo>
                <a:lnTo>
                  <a:pt x="27926" y="10589"/>
                </a:lnTo>
                <a:lnTo>
                  <a:pt x="18404" y="18403"/>
                </a:lnTo>
                <a:lnTo>
                  <a:pt x="10590" y="27925"/>
                </a:lnTo>
                <a:lnTo>
                  <a:pt x="4783" y="38788"/>
                </a:lnTo>
                <a:lnTo>
                  <a:pt x="1208" y="50575"/>
                </a:lnTo>
                <a:lnTo>
                  <a:pt x="0" y="62834"/>
                </a:lnTo>
                <a:lnTo>
                  <a:pt x="125668" y="62834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0" name="Connector 569"/>
          <p:cNvCxnSpPr/>
          <p:nvPr/>
        </p:nvCxnSpPr>
        <p:spPr>
          <a:xfrm>
            <a:off x="5189152" y="4318219"/>
            <a:ext cx="163368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1" name="TextBox 570"/>
          <p:cNvSpPr txBox="1"/>
          <p:nvPr/>
        </p:nvSpPr>
        <p:spPr>
          <a:xfrm>
            <a:off x="5346236" y="4167418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p</a:t>
            </a:r>
          </a:p>
        </p:txBody>
      </p:sp>
      <p:sp>
        <p:nvSpPr>
          <p:cNvPr id="572" name="Oval 571"/>
          <p:cNvSpPr/>
          <p:nvPr/>
        </p:nvSpPr>
        <p:spPr>
          <a:xfrm>
            <a:off x="4591595" y="5184480"/>
            <a:ext cx="150800" cy="150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3" name="Connector 572"/>
          <p:cNvCxnSpPr/>
          <p:nvPr/>
        </p:nvCxnSpPr>
        <p:spPr>
          <a:xfrm>
            <a:off x="4613688" y="5206572"/>
            <a:ext cx="106615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4" name="Connector 573"/>
          <p:cNvCxnSpPr/>
          <p:nvPr/>
        </p:nvCxnSpPr>
        <p:spPr>
          <a:xfrm flipV="1">
            <a:off x="4613688" y="5206572"/>
            <a:ext cx="106615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5" name="TextBox 574"/>
          <p:cNvSpPr txBox="1"/>
          <p:nvPr/>
        </p:nvSpPr>
        <p:spPr>
          <a:xfrm>
            <a:off x="4742396" y="5109080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s</a:t>
            </a:r>
          </a:p>
        </p:txBody>
      </p:sp>
      <p:sp>
        <p:nvSpPr>
          <p:cNvPr id="576" name="Oval 575"/>
          <p:cNvSpPr/>
          <p:nvPr/>
        </p:nvSpPr>
        <p:spPr>
          <a:xfrm>
            <a:off x="3045561" y="5217240"/>
            <a:ext cx="150800" cy="150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7" name="Connector 576"/>
          <p:cNvCxnSpPr/>
          <p:nvPr/>
        </p:nvCxnSpPr>
        <p:spPr>
          <a:xfrm>
            <a:off x="3067653" y="5239333"/>
            <a:ext cx="106616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8" name="Connector 577"/>
          <p:cNvCxnSpPr/>
          <p:nvPr/>
        </p:nvCxnSpPr>
        <p:spPr>
          <a:xfrm flipV="1">
            <a:off x="3067653" y="5239333"/>
            <a:ext cx="106616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9" name="TextBox 578"/>
          <p:cNvSpPr txBox="1"/>
          <p:nvPr/>
        </p:nvSpPr>
        <p:spPr>
          <a:xfrm>
            <a:off x="3196361" y="5141840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r</a:t>
            </a:r>
          </a:p>
        </p:txBody>
      </p:sp>
      <p:sp>
        <p:nvSpPr>
          <p:cNvPr id="580" name="Oval 579"/>
          <p:cNvSpPr/>
          <p:nvPr/>
        </p:nvSpPr>
        <p:spPr>
          <a:xfrm>
            <a:off x="5920148" y="5295803"/>
            <a:ext cx="100533" cy="10053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1" name="Oval 580"/>
          <p:cNvSpPr/>
          <p:nvPr/>
        </p:nvSpPr>
        <p:spPr>
          <a:xfrm>
            <a:off x="5954707" y="5330362"/>
            <a:ext cx="31416" cy="3141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" name="TextBox 581"/>
          <p:cNvSpPr txBox="1"/>
          <p:nvPr/>
        </p:nvSpPr>
        <p:spPr>
          <a:xfrm>
            <a:off x="6045815" y="5195270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t</a:t>
            </a:r>
          </a:p>
        </p:txBody>
      </p:sp>
      <p:sp>
        <p:nvSpPr>
          <p:cNvPr id="119" name="Freeform 118"/>
          <p:cNvSpPr/>
          <p:nvPr/>
        </p:nvSpPr>
        <p:spPr>
          <a:xfrm>
            <a:off x="1754268" y="3236054"/>
            <a:ext cx="125667" cy="62833"/>
          </a:xfrm>
          <a:custGeom>
            <a:avLst/>
            <a:gdLst/>
            <a:ahLst/>
            <a:cxnLst/>
            <a:rect l="l" t="t" r="r" b="b"/>
            <a:pathLst>
              <a:path w="125667" h="62833">
                <a:moveTo>
                  <a:pt x="125667" y="62833"/>
                </a:moveTo>
                <a:lnTo>
                  <a:pt x="124460" y="50575"/>
                </a:lnTo>
                <a:lnTo>
                  <a:pt x="120884" y="38788"/>
                </a:lnTo>
                <a:lnTo>
                  <a:pt x="115078" y="27925"/>
                </a:lnTo>
                <a:lnTo>
                  <a:pt x="107264" y="18403"/>
                </a:lnTo>
                <a:lnTo>
                  <a:pt x="97742" y="10589"/>
                </a:lnTo>
                <a:lnTo>
                  <a:pt x="86879" y="4782"/>
                </a:lnTo>
                <a:lnTo>
                  <a:pt x="75092" y="1207"/>
                </a:lnTo>
                <a:lnTo>
                  <a:pt x="62834" y="0"/>
                </a:lnTo>
                <a:lnTo>
                  <a:pt x="50575" y="1207"/>
                </a:lnTo>
                <a:lnTo>
                  <a:pt x="38788" y="4782"/>
                </a:lnTo>
                <a:lnTo>
                  <a:pt x="27925" y="10589"/>
                </a:lnTo>
                <a:lnTo>
                  <a:pt x="18404" y="18403"/>
                </a:lnTo>
                <a:lnTo>
                  <a:pt x="10589" y="27925"/>
                </a:lnTo>
                <a:lnTo>
                  <a:pt x="4783" y="38788"/>
                </a:lnTo>
                <a:lnTo>
                  <a:pt x="1207" y="50575"/>
                </a:lnTo>
                <a:lnTo>
                  <a:pt x="0" y="62833"/>
                </a:lnTo>
                <a:lnTo>
                  <a:pt x="125667" y="62833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3" name="Connector 582"/>
          <p:cNvCxnSpPr/>
          <p:nvPr/>
        </p:nvCxnSpPr>
        <p:spPr>
          <a:xfrm>
            <a:off x="1735418" y="3298887"/>
            <a:ext cx="16336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4" name="TextBox 583"/>
          <p:cNvSpPr txBox="1"/>
          <p:nvPr/>
        </p:nvSpPr>
        <p:spPr>
          <a:xfrm>
            <a:off x="1892502" y="3148087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v</a:t>
            </a:r>
          </a:p>
        </p:txBody>
      </p:sp>
      <p:sp>
        <p:nvSpPr>
          <p:cNvPr id="585" name="Oval 584"/>
          <p:cNvSpPr/>
          <p:nvPr/>
        </p:nvSpPr>
        <p:spPr>
          <a:xfrm>
            <a:off x="1645727" y="1370291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6" name="Connector 585"/>
          <p:cNvCxnSpPr/>
          <p:nvPr/>
        </p:nvCxnSpPr>
        <p:spPr>
          <a:xfrm flipV="1">
            <a:off x="1668347" y="1292794"/>
            <a:ext cx="84008" cy="1001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7" name="Connector 586"/>
          <p:cNvCxnSpPr/>
          <p:nvPr/>
        </p:nvCxnSpPr>
        <p:spPr>
          <a:xfrm>
            <a:off x="1752355" y="1292794"/>
            <a:ext cx="25029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8" name="Connector 587"/>
          <p:cNvCxnSpPr/>
          <p:nvPr/>
        </p:nvCxnSpPr>
        <p:spPr>
          <a:xfrm>
            <a:off x="1738074" y="1309814"/>
            <a:ext cx="25029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9" name="Connector 588"/>
          <p:cNvCxnSpPr/>
          <p:nvPr/>
        </p:nvCxnSpPr>
        <p:spPr>
          <a:xfrm>
            <a:off x="1723792" y="1326834"/>
            <a:ext cx="25030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0" name="Rounded Rectangle 589"/>
          <p:cNvSpPr/>
          <p:nvPr/>
        </p:nvSpPr>
        <p:spPr>
          <a:xfrm>
            <a:off x="1764922" y="1164222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" name="TextBox 590"/>
          <p:cNvSpPr txBox="1"/>
          <p:nvPr/>
        </p:nvSpPr>
        <p:spPr>
          <a:xfrm>
            <a:off x="1764922" y="1164222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592" name="Oval 591"/>
          <p:cNvSpPr/>
          <p:nvPr/>
        </p:nvSpPr>
        <p:spPr>
          <a:xfrm>
            <a:off x="3109377" y="4461214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3" name="Connector 592"/>
          <p:cNvCxnSpPr/>
          <p:nvPr/>
        </p:nvCxnSpPr>
        <p:spPr>
          <a:xfrm flipV="1">
            <a:off x="3131998" y="4383717"/>
            <a:ext cx="84008" cy="1001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4" name="Connector 593"/>
          <p:cNvCxnSpPr/>
          <p:nvPr/>
        </p:nvCxnSpPr>
        <p:spPr>
          <a:xfrm>
            <a:off x="3216006" y="4383717"/>
            <a:ext cx="25029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5" name="Connector 594"/>
          <p:cNvCxnSpPr/>
          <p:nvPr/>
        </p:nvCxnSpPr>
        <p:spPr>
          <a:xfrm>
            <a:off x="3201724" y="4400737"/>
            <a:ext cx="25030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6" name="Connector 595"/>
          <p:cNvCxnSpPr/>
          <p:nvPr/>
        </p:nvCxnSpPr>
        <p:spPr>
          <a:xfrm>
            <a:off x="3187443" y="4417757"/>
            <a:ext cx="25029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7" name="Rounded Rectangle 596"/>
          <p:cNvSpPr/>
          <p:nvPr/>
        </p:nvSpPr>
        <p:spPr>
          <a:xfrm>
            <a:off x="3228573" y="4255145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" name="TextBox 597"/>
          <p:cNvSpPr txBox="1"/>
          <p:nvPr/>
        </p:nvSpPr>
        <p:spPr>
          <a:xfrm>
            <a:off x="3228573" y="4255145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599" name="Oval 598"/>
          <p:cNvSpPr/>
          <p:nvPr/>
        </p:nvSpPr>
        <p:spPr>
          <a:xfrm>
            <a:off x="1795339" y="5091160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0" name="Connector 599"/>
          <p:cNvCxnSpPr/>
          <p:nvPr/>
        </p:nvCxnSpPr>
        <p:spPr>
          <a:xfrm flipV="1">
            <a:off x="1817959" y="5013662"/>
            <a:ext cx="84008" cy="10011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1" name="Connector 600"/>
          <p:cNvCxnSpPr/>
          <p:nvPr/>
        </p:nvCxnSpPr>
        <p:spPr>
          <a:xfrm>
            <a:off x="1901967" y="5013662"/>
            <a:ext cx="25029" cy="2100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2" name="Connector 601"/>
          <p:cNvCxnSpPr/>
          <p:nvPr/>
        </p:nvCxnSpPr>
        <p:spPr>
          <a:xfrm>
            <a:off x="1887686" y="5030682"/>
            <a:ext cx="25029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3" name="Rounded Rectangle 602"/>
          <p:cNvSpPr/>
          <p:nvPr/>
        </p:nvSpPr>
        <p:spPr>
          <a:xfrm>
            <a:off x="1914534" y="4885091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" name="TextBox 603"/>
          <p:cNvSpPr txBox="1"/>
          <p:nvPr/>
        </p:nvSpPr>
        <p:spPr>
          <a:xfrm>
            <a:off x="1914534" y="4885091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605" name="Oval 604"/>
          <p:cNvSpPr/>
          <p:nvPr/>
        </p:nvSpPr>
        <p:spPr>
          <a:xfrm>
            <a:off x="5658929" y="5113302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6" name="Connector 605"/>
          <p:cNvCxnSpPr/>
          <p:nvPr/>
        </p:nvCxnSpPr>
        <p:spPr>
          <a:xfrm flipV="1">
            <a:off x="5681549" y="5035805"/>
            <a:ext cx="84008" cy="1001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7" name="Connector 606"/>
          <p:cNvCxnSpPr/>
          <p:nvPr/>
        </p:nvCxnSpPr>
        <p:spPr>
          <a:xfrm>
            <a:off x="5765557" y="5035805"/>
            <a:ext cx="25029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8" name="Rounded Rectangle 607"/>
          <p:cNvSpPr/>
          <p:nvPr/>
        </p:nvSpPr>
        <p:spPr>
          <a:xfrm>
            <a:off x="5778124" y="4907233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" name="TextBox 608"/>
          <p:cNvSpPr txBox="1"/>
          <p:nvPr/>
        </p:nvSpPr>
        <p:spPr>
          <a:xfrm>
            <a:off x="5778124" y="4907233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610" name="Oval 609"/>
          <p:cNvSpPr/>
          <p:nvPr/>
        </p:nvSpPr>
        <p:spPr>
          <a:xfrm>
            <a:off x="6153409" y="5113285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1" name="Connector 610"/>
          <p:cNvCxnSpPr/>
          <p:nvPr/>
        </p:nvCxnSpPr>
        <p:spPr>
          <a:xfrm flipV="1">
            <a:off x="6176029" y="5035788"/>
            <a:ext cx="84008" cy="1001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2" name="Connector 611"/>
          <p:cNvCxnSpPr/>
          <p:nvPr/>
        </p:nvCxnSpPr>
        <p:spPr>
          <a:xfrm>
            <a:off x="6260037" y="5035788"/>
            <a:ext cx="25030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3" name="Rounded Rectangle 612"/>
          <p:cNvSpPr/>
          <p:nvPr/>
        </p:nvSpPr>
        <p:spPr>
          <a:xfrm>
            <a:off x="6272604" y="4907216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" name="TextBox 613"/>
          <p:cNvSpPr txBox="1"/>
          <p:nvPr/>
        </p:nvSpPr>
        <p:spPr>
          <a:xfrm>
            <a:off x="6272604" y="4907216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S15</a:t>
            </a:r>
          </a:p>
        </p:txBody>
      </p:sp>
      <p:sp>
        <p:nvSpPr>
          <p:cNvPr id="615" name="Rectangle 614"/>
          <p:cNvSpPr/>
          <p:nvPr/>
        </p:nvSpPr>
        <p:spPr>
          <a:xfrm>
            <a:off x="3294388" y="6137167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" name="TextBox 615"/>
          <p:cNvSpPr txBox="1"/>
          <p:nvPr/>
        </p:nvSpPr>
        <p:spPr>
          <a:xfrm>
            <a:off x="3294388" y="6137167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17" name="TextBox 616"/>
          <p:cNvSpPr txBox="1"/>
          <p:nvPr/>
        </p:nvSpPr>
        <p:spPr>
          <a:xfrm>
            <a:off x="3254175" y="6242728"/>
            <a:ext cx="251334" cy="879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1">
                <a:solidFill>
                  <a:srgbClr val="1A1A1A"/>
                </a:solidFill>
                <a:latin typeface="Microsoft YaHei"/>
              </a:rPr>
              <a:t>FCU1</a:t>
            </a:r>
          </a:p>
        </p:txBody>
      </p:sp>
      <p:sp>
        <p:nvSpPr>
          <p:cNvPr id="618" name="Rectangle 617"/>
          <p:cNvSpPr/>
          <p:nvPr/>
        </p:nvSpPr>
        <p:spPr>
          <a:xfrm>
            <a:off x="4594809" y="6198220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" name="TextBox 618"/>
          <p:cNvSpPr txBox="1"/>
          <p:nvPr/>
        </p:nvSpPr>
        <p:spPr>
          <a:xfrm>
            <a:off x="4594809" y="6198220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20" name="TextBox 619"/>
          <p:cNvSpPr txBox="1"/>
          <p:nvPr/>
        </p:nvSpPr>
        <p:spPr>
          <a:xfrm>
            <a:off x="4554596" y="6303780"/>
            <a:ext cx="251334" cy="879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1">
                <a:solidFill>
                  <a:srgbClr val="1A1A1A"/>
                </a:solidFill>
                <a:latin typeface="Microsoft YaHei"/>
              </a:rPr>
              <a:t>FCU2</a:t>
            </a:r>
          </a:p>
        </p:txBody>
      </p:sp>
      <p:sp>
        <p:nvSpPr>
          <p:cNvPr id="621" name="Rectangle 620"/>
          <p:cNvSpPr/>
          <p:nvPr/>
        </p:nvSpPr>
        <p:spPr>
          <a:xfrm>
            <a:off x="4936704" y="6137167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" name="TextBox 621"/>
          <p:cNvSpPr txBox="1"/>
          <p:nvPr/>
        </p:nvSpPr>
        <p:spPr>
          <a:xfrm>
            <a:off x="4936704" y="6137167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23" name="TextBox 622"/>
          <p:cNvSpPr txBox="1"/>
          <p:nvPr/>
        </p:nvSpPr>
        <p:spPr>
          <a:xfrm>
            <a:off x="4896490" y="6242728"/>
            <a:ext cx="251334" cy="879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1">
                <a:solidFill>
                  <a:srgbClr val="1A1A1A"/>
                </a:solidFill>
                <a:latin typeface="Microsoft YaHei"/>
              </a:rPr>
              <a:t>FCU3</a:t>
            </a:r>
          </a:p>
        </p:txBody>
      </p:sp>
      <p:sp>
        <p:nvSpPr>
          <p:cNvPr id="624" name="Rectangle 623"/>
          <p:cNvSpPr/>
          <p:nvPr/>
        </p:nvSpPr>
        <p:spPr>
          <a:xfrm>
            <a:off x="5675441" y="6088325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" name="TextBox 624"/>
          <p:cNvSpPr txBox="1"/>
          <p:nvPr/>
        </p:nvSpPr>
        <p:spPr>
          <a:xfrm>
            <a:off x="5675441" y="6088325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26" name="TextBox 625"/>
          <p:cNvSpPr txBox="1"/>
          <p:nvPr/>
        </p:nvSpPr>
        <p:spPr>
          <a:xfrm>
            <a:off x="5635227" y="6193886"/>
            <a:ext cx="251334" cy="879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1">
                <a:solidFill>
                  <a:srgbClr val="1A1A1A"/>
                </a:solidFill>
                <a:latin typeface="Microsoft YaHei"/>
              </a:rPr>
              <a:t>FCU4</a:t>
            </a:r>
          </a:p>
        </p:txBody>
      </p:sp>
      <p:sp>
        <p:nvSpPr>
          <p:cNvPr id="627" name="Rectangle 626"/>
          <p:cNvSpPr/>
          <p:nvPr/>
        </p:nvSpPr>
        <p:spPr>
          <a:xfrm>
            <a:off x="5992914" y="6112746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" name="TextBox 627"/>
          <p:cNvSpPr txBox="1"/>
          <p:nvPr/>
        </p:nvSpPr>
        <p:spPr>
          <a:xfrm>
            <a:off x="5992914" y="6112746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29" name="TextBox 628"/>
          <p:cNvSpPr txBox="1"/>
          <p:nvPr/>
        </p:nvSpPr>
        <p:spPr>
          <a:xfrm>
            <a:off x="5952701" y="6218307"/>
            <a:ext cx="251334" cy="879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1">
                <a:solidFill>
                  <a:srgbClr val="1A1A1A"/>
                </a:solidFill>
                <a:latin typeface="Microsoft YaHei"/>
              </a:rPr>
              <a:t>FCU5</a:t>
            </a:r>
          </a:p>
        </p:txBody>
      </p:sp>
      <p:sp>
        <p:nvSpPr>
          <p:cNvPr id="630" name="TextBox 629"/>
          <p:cNvSpPr txBox="1"/>
          <p:nvPr/>
        </p:nvSpPr>
        <p:spPr>
          <a:xfrm>
            <a:off x="8730000" y="4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本图开关（从左到右逐键）</a:t>
            </a:r>
          </a:p>
        </p:txBody>
      </p:sp>
      <p:sp>
        <p:nvSpPr>
          <p:cNvPr id="631" name="TextBox 630"/>
          <p:cNvSpPr txBox="1"/>
          <p:nvPr/>
        </p:nvSpPr>
        <p:spPr>
          <a:xfrm>
            <a:off x="8730000" y="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S11  3 联 · G15 区 · 花园门组左侧 295 墙段正中</a:t>
            </a:r>
          </a:p>
        </p:txBody>
      </p:sp>
      <p:sp>
        <p:nvSpPr>
          <p:cNvPr id="632" name="TextBox 631"/>
          <p:cNvSpPr txBox="1"/>
          <p:nvPr/>
        </p:nvSpPr>
        <p:spPr>
          <a:xfrm>
            <a:off x="8980000" y="79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键1=p  键2=q  键3=v</a:t>
            </a:r>
          </a:p>
        </p:txBody>
      </p:sp>
      <p:sp>
        <p:nvSpPr>
          <p:cNvPr id="633" name="TextBox 632"/>
          <p:cNvSpPr txBox="1"/>
          <p:nvPr/>
        </p:nvSpPr>
        <p:spPr>
          <a:xfrm>
            <a:off x="8730000" y="99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S12  3 联 · 厨房吧台区 · 法式门旁</a:t>
            </a:r>
          </a:p>
        </p:txBody>
      </p:sp>
      <p:sp>
        <p:nvSpPr>
          <p:cNvPr id="634" name="TextBox 633"/>
          <p:cNvSpPr txBox="1"/>
          <p:nvPr/>
        </p:nvSpPr>
        <p:spPr>
          <a:xfrm>
            <a:off x="8980000" y="116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键1=p  键2=q  键3=v</a:t>
            </a:r>
          </a:p>
        </p:txBody>
      </p:sp>
      <p:sp>
        <p:nvSpPr>
          <p:cNvPr id="635" name="TextBox 634"/>
          <p:cNvSpPr txBox="1"/>
          <p:nvPr/>
        </p:nvSpPr>
        <p:spPr>
          <a:xfrm>
            <a:off x="8730000" y="136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S13  2 联 · 厨房入口（KP762 门旁）</a:t>
            </a:r>
          </a:p>
        </p:txBody>
      </p:sp>
      <p:sp>
        <p:nvSpPr>
          <p:cNvPr id="636" name="TextBox 635"/>
          <p:cNvSpPr txBox="1"/>
          <p:nvPr/>
        </p:nvSpPr>
        <p:spPr>
          <a:xfrm>
            <a:off x="8980000" y="152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键1=r  键2=s</a:t>
            </a:r>
          </a:p>
        </p:txBody>
      </p:sp>
      <p:sp>
        <p:nvSpPr>
          <p:cNvPr id="637" name="TextBox 636"/>
          <p:cNvSpPr txBox="1"/>
          <p:nvPr/>
        </p:nvSpPr>
        <p:spPr>
          <a:xfrm>
            <a:off x="8730000" y="172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S14  1 联 · 洗衣房门旁</a:t>
            </a:r>
          </a:p>
        </p:txBody>
      </p:sp>
      <p:sp>
        <p:nvSpPr>
          <p:cNvPr id="638" name="TextBox 637"/>
          <p:cNvSpPr txBox="1"/>
          <p:nvPr/>
        </p:nvSpPr>
        <p:spPr>
          <a:xfrm>
            <a:off x="8980000" y="18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键1=t</a:t>
            </a:r>
          </a:p>
        </p:txBody>
      </p:sp>
      <p:sp>
        <p:nvSpPr>
          <p:cNvPr id="639" name="TextBox 638"/>
          <p:cNvSpPr txBox="1"/>
          <p:nvPr/>
        </p:nvSpPr>
        <p:spPr>
          <a:xfrm>
            <a:off x="8730000" y="209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S15  1 联 · 洗衣房后门旁</a:t>
            </a:r>
          </a:p>
        </p:txBody>
      </p:sp>
      <p:sp>
        <p:nvSpPr>
          <p:cNvPr id="640" name="TextBox 639"/>
          <p:cNvSpPr txBox="1"/>
          <p:nvPr/>
        </p:nvSpPr>
        <p:spPr>
          <a:xfrm>
            <a:off x="8980000" y="225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键1=u</a:t>
            </a:r>
          </a:p>
        </p:txBody>
      </p:sp>
      <p:sp>
        <p:nvSpPr>
          <p:cNvPr id="641" name="TextBox 640"/>
          <p:cNvSpPr txBox="1"/>
          <p:nvPr/>
        </p:nvSpPr>
        <p:spPr>
          <a:xfrm>
            <a:off x="8730000" y="251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双控联络线（红粗线）</a:t>
            </a:r>
          </a:p>
        </p:txBody>
      </p:sp>
      <p:sp>
        <p:nvSpPr>
          <p:cNvPr id="642" name="TextBox 641"/>
          <p:cNvSpPr txBox="1"/>
          <p:nvPr/>
        </p:nvSpPr>
        <p:spPr>
          <a:xfrm>
            <a:off x="8730000" y="270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W1：S11 ↔ S12  3C+E  回路 p q v</a:t>
            </a:r>
          </a:p>
        </p:txBody>
      </p:sp>
      <p:sp>
        <p:nvSpPr>
          <p:cNvPr id="643" name="TextBox 642"/>
          <p:cNvSpPr txBox="1"/>
          <p:nvPr/>
        </p:nvSpPr>
        <p:spPr>
          <a:xfrm>
            <a:off x="8730000" y="2875000"/>
            <a:ext cx="3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红线只表示连接关系，实际走线沿墙 / 吊顶内，现场定。</a:t>
            </a:r>
          </a:p>
        </p:txBody>
      </p:sp>
      <p:sp>
        <p:nvSpPr>
          <p:cNvPr id="644" name="TextBox 643"/>
          <p:cNvSpPr txBox="1"/>
          <p:nvPr/>
        </p:nvSpPr>
        <p:spPr>
          <a:xfrm>
            <a:off x="8730000" y="319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跨图双控</a:t>
            </a:r>
          </a:p>
        </p:txBody>
      </p:sp>
      <p:sp>
        <p:nvSpPr>
          <p:cNvPr id="645" name="TextBox 644"/>
          <p:cNvSpPr txBox="1"/>
          <p:nvPr/>
        </p:nvSpPr>
        <p:spPr>
          <a:xfrm>
            <a:off x="8730000" y="3385000"/>
            <a:ext cx="3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· S11 与 S7（E-GF-01）双控：p q v</a:t>
            </a:r>
          </a:p>
        </p:txBody>
      </p:sp>
      <p:sp>
        <p:nvSpPr>
          <p:cNvPr id="646" name="Rectangle 645"/>
          <p:cNvSpPr/>
          <p:nvPr/>
        </p:nvSpPr>
        <p:spPr>
          <a:xfrm>
            <a:off x="400000" y="6540000"/>
            <a:ext cx="571213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7" name="Rectangle 646"/>
          <p:cNvSpPr/>
          <p:nvPr/>
        </p:nvSpPr>
        <p:spPr>
          <a:xfrm>
            <a:off x="971213" y="6540000"/>
            <a:ext cx="571213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8" name="TextBox 647"/>
          <p:cNvSpPr txBox="1"/>
          <p:nvPr/>
        </p:nvSpPr>
        <p:spPr>
          <a:xfrm>
            <a:off x="1582427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一层开关面板表（逐键）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SWITCH PLATE SCHEDULE — GANGS NUMBERED LEFT TO RIGHT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一层照明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一层开关面板表（逐键）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E-GF-04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L-B · 方案 B · 精简 17 路（照明 3 路）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v4 第 2 页按键标注；PPT v7 / v9（用户 2026-10-06 标注）；Blender v40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250000" y="780000"/>
          <a:ext cx="8200000" cy="3485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0000"/>
                <a:gridCol w="1150000"/>
                <a:gridCol w="620000"/>
                <a:gridCol w="1250000"/>
                <a:gridCol w="1250000"/>
                <a:gridCol w="1250000"/>
                <a:gridCol w="1250000"/>
                <a:gridCol w="1050000"/>
              </a:tblGrid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编号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位置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面板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1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2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3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4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双控 / 三控对端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主客厅 · 门洞右侧墙垛正中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4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c 门廊壁灯 G25（户外）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起居室主灯 G06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 起居室筒灯 上两排（含电梯旁）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 起居室筒灯 右列+下排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d↔S4，e↔S4，f↔S4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门厅 · 前储物间旁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2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 门厅吊灯 G08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b 前储物间筒灯（+门控开关）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主客厅侧 · 拱门南侧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3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 G07 区主灯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 G07 区筒灯 上排+左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G07 区筒灯 右+下排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g↔S5，h↔S5，i↔S5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餐厅 · 拱门旁（与 S5 上下叠放，S4 在下）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4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n 楼梯壁灯 F32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起居室主灯 G06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 起居室筒灯 上两排（含电梯旁）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 起居室筒灯 右列+下排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d↔S1，e↔S1，f↔S1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餐厅 · 拱门旁（叠在 S4 正上方，h1330）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3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 G07 区主灯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 G07 区筒灯 上排+左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G07 区筒灯 右+下排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g↔S3，h↔S3，i↔S3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楼梯第一级前约 300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二层楼梯吊灯 F06（与二层 S11、S12 三控）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S7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法式门框东侧（后花园门旁）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3 联（含中途开关）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 后花园壁灯 G26_2、G26_3（三控：S11、S12、S7）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q 围栏户外 LED 灯带（L40 出线；户外，三控：S11、S12、S7）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v 后花园投光灯 SOLLA 三头 150W（离地约 3.5 m，三控：S11、S12、S7）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p↔S11，p↔S12，q↔S11，q↔S12，v↔S11，v↔S12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区南门旁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4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G15 吊灯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G16 吊灯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 G15 区筒灯 上排+左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 G15 区筒灯 下排+右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j↔S9，k↔S9，l↔S9，m↔S9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 · 储物间门旁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4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G15 吊灯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G16 吊灯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 G15 区筒灯 上排+左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 G15 区筒灯 下排+右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j↔S8，k↔S8，l↔S8，m↔S8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卫生间门外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o 卫生间筒灯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 · 花园门组左侧 295 墙段正中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3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 后花园壁灯 G26_2、G26_3（三控：S11、S12、S7）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q 围栏户外 LED 灯带（L40 出线；户外，三控：S11、S12、S7）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v 后花园投光灯 SOLLA 三头 150W（离地约 3.5 m，三控：S11、S12、S7）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p↔S7，p↔S12，q↔S7，q↔S12，v↔S7，v↔S12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厨房吧台区 · 法式门旁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3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 后花园壁灯 G26_2、G26_3（三控：S11、S12、S7）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q 围栏户外 LED 灯带（L40 出线；户外，三控：S11、S12、S7）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v 后花园投光灯 SOLLA 三头 150W（离地约 3.5 m，三控：S11、S12、S7）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p↔S7，p↔S11，q↔S7，q↔S11，v↔S7，v↔S11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厨房入口（KP762 门旁）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2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r 吧台区吊灯（待选）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 厨房主灯（待选）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洗衣房门旁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t 洗衣房筒灯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洗衣房后门旁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u 后花园壁灯 G26_1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FCU1–5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厨房 / 洗衣房台面后墙（见 E-GF-03）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FCU 13A ×5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各供一台电器，用途待填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8730000" y="400000"/>
            <a:ext cx="3300000" cy="40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1. 键 1 → 键 4 为面板上从左到右的顺序（按 PPT 标注顺序）。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2. 字母 = 回路，见 E-GF-05；位置见 E-GF-00~03。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3. 开关中心离地 1200 mm；FCU 在台面上 150 mm。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4. 双控每对开关之间需敷设联络线 3C+E；三控回路需两只两路开关 + 一只中途开关（intermediate）。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5. 前储物间门框锁侧加门控开关 DS1（开门亮灯），与 S2 键 2 并联控制 b。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6. 面板统一 NAB 古铜系列；联数与本表一致。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一层照明回路表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GROUND FLOOR LIGHTING CIRCUIT SCHEDULE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一层照明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一层照明回路表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E-GF-05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L-B · 方案 B · 精简 17 路（照明 3 路）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v4 第 2 页按键标注；PPT v7 / v9（用户 2026-10-06 标注）；Blender v40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250000" y="800000"/>
          <a:ext cx="7870000" cy="5405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20000"/>
                <a:gridCol w="450000"/>
                <a:gridCol w="2900000"/>
                <a:gridCol w="450000"/>
                <a:gridCol w="2500000"/>
                <a:gridCol w="550000"/>
                <a:gridCol w="600000"/>
              </a:tblGrid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字母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回路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控制灯具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灯数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开关（编号-键）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方式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图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a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门厅吊灯 G08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S2-键1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b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前储物间筒灯（+门控开关）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S2-键2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c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门廊壁灯 G25（户外）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d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起居室主灯 G06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S1-键2，S4-键2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e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起居室筒灯 上两排（含电梯旁）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S1-键3，S4-键3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f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起居室筒灯 右列+下排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S1-键4，S4-键4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g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L7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G07 区主灯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S5-键1，S3-键1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h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G07 区筒灯 上排+左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S5-键2，S3-键2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i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G07 区筒灯 右+下排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S5-键3，S3-键3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j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G15 吊灯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S8-键1，S9-键1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k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G16 吊灯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S8-键2，S9-键2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l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G15 区筒灯 上排+左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S8-键3，S9-键3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m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G15 区筒灯 下排+右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S8-键4，S9-键4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n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楼梯壁灯 F32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S4-键1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o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卫生间筒灯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S10-键1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p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后花园壁灯 G26_2、G26_3（三控：S11、S12、S7）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S7-键1，S11-键1，S12-键1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三控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q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L17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围栏户外 LED 灯带（L40 出线；户外，三控：S11、S12、S7）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S7-键2，S11-键2，S12-键2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三控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r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吧台区吊灯（待选）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S13-键1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s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厨房主灯（待选）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S13-键2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t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L20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洗衣房筒灯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S14-键1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u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L21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后花园壁灯 G26_1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S15-键1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v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L22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后花园投光灯 SOLLA 三头 150W（离地约 3.5 m，三控：S11、S12、S7）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S7-键3，S11-键3，S12-键3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三控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657943C-DDA9-4971-B19D-825B96C1EEB0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46b9902e-1167-4303-a629-c113ab9720e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1005</TotalTime>
  <Words>1302</Words>
  <Application>Microsoft Office PowerPoint</Application>
  <PresentationFormat>Widescreen</PresentationFormat>
  <Paragraphs>338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Microsoft YaHei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Martin Jiang</cp:lastModifiedBy>
  <cp:revision>11</cp:revision>
  <dcterms:created xsi:type="dcterms:W3CDTF">2013-01-27T09:14:16Z</dcterms:created>
  <dcterms:modified xsi:type="dcterms:W3CDTF">2026-10-03T08:02:17Z</dcterms:modified>
  <cp:category/>
</cp:coreProperties>
</file>