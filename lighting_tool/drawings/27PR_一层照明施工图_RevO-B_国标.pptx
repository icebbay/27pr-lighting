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O-B 2026-10-15）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AL1（暂定楼梯下，现场定）引出 2 个回路：WL1 一层照明（B10）、WL3 户外照明（B6），均为 30 mA RCBO。本图为方案 B · 精简 17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D：S7 改为双联中途开关，控后花园壁灯 p、围栏地灯 q（与 S11、S12 三控）；G15 区筒灯 l 改为 S8、S9 双控。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H：新增后花园壁灯 G26_4（卫生间后墙、小窗东侧，IP65，与 G26_2 同款），回路 v、键 28；S7、S11、S12 改三联，v 与 p、q 一样三处控制（S11、S12 两路，S7 中途），接户外 WL3。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13. 2026-10-07：键 28 的灯为后花园投光灯（SOLLA 三头 LED 150 W、6000 K、IP66），装在两扇后花园法式门中间的后墙上、离地约 3.5 m，照向院子；仍为回路 v、户外 WL3，S11 / S12 两路 + S7 中途三控。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14. Rev J：S7 挪到法式门框东侧（后花园门旁），按键不变。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15. Rev K（2026-10-08）：一层卫生间有窗，不装排气扇；洗衣房有窗，也不装。厨房天花装一个温感 + 一氧化碳报警器（市电，接本层照明回路）。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16. Rev L（2026-10-13）：开关、灯位按墙面立面图 / 点位定位图 Rev B 定位；墙体按模型 v46（业主平面 keyplan3d）更新：主客厅宽 3.689、厨房 / 洗衣房洞口 2.12（左边加 300 墙垛）；围栏地灯 ×4 取消，改 LED 灯带（L40 出线）。按键与回路不变。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17. Rev M（2026-10-14）：后花园 S11 一处控 p、q、v；S12 只控 p（与 S11 双控），S7 只控 v（与 S11 双控），q 由 S11 单控，不再有中途开关。取消 S3（拱门背面，用处不大），g、h、i 改由 S5 单控。S9 取消 k 键（改三联），k（G16 吊灯）由 S8 单控。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18. Rev N（2026-10-14）：按模型 v47 —— 洗衣房后门挪到后墙中间偏东（x 2.65–3.53，原门洞补墙、后小窗取消），洗衣房与厨房之间改无门洞口 760，去掉厨房 / 早餐区之间 300 墙垛，早餐区法式门挪 91（门框离墙 600，放冰箱）；S12 跟法式门、S14 在洞口旁、壁灯 G26_1 挪到后门左边。回路与开关控制不变。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19. Rev O（2026-10-15）：洗衣房后门合页改到东侧（外开），S15 在锁侧。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20. 本套图：方案 B · 精简 17 路，全屋照明 3 路（WL1 一层照明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L40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O-B 2026-10-15）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82" y="3896301"/>
            <a:ext cx="0" cy="4276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H="1">
            <a:off x="1743781" y="4323995"/>
            <a:ext cx="20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1743982" y="3896301"/>
            <a:ext cx="48330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227285" y="3896285"/>
            <a:ext cx="0" cy="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227285" y="3896285"/>
            <a:ext cx="4809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V="1">
            <a:off x="2708242" y="3896269"/>
            <a:ext cx="0" cy="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V="1">
            <a:off x="2702768" y="4316144"/>
            <a:ext cx="0" cy="40775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2702768" y="4316144"/>
            <a:ext cx="56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2221811" y="4723900"/>
            <a:ext cx="4809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2221811" y="4723900"/>
            <a:ext cx="0" cy="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1738509" y="4723916"/>
            <a:ext cx="4833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1738509" y="4723916"/>
            <a:ext cx="0" cy="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1508847" y="5005421"/>
            <a:ext cx="5131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55" y="5005421"/>
            <a:ext cx="0" cy="14470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021955" y="5150130"/>
            <a:ext cx="10980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 flipV="1">
            <a:off x="3119986" y="4727404"/>
            <a:ext cx="0" cy="422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119986" y="4727404"/>
            <a:ext cx="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 flipV="1">
            <a:off x="3119986" y="3382204"/>
            <a:ext cx="0" cy="13452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>
            <a:off x="3033384" y="3382204"/>
            <a:ext cx="8660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3033384" y="3382204"/>
            <a:ext cx="10365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4069884" y="3010224"/>
            <a:ext cx="0" cy="371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2055393" y="3382204"/>
            <a:ext cx="97799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2055393" y="2483611"/>
            <a:ext cx="0" cy="8985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3119986" y="4727404"/>
            <a:ext cx="14897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4609780" y="4725399"/>
            <a:ext cx="0" cy="20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609780" y="4725399"/>
            <a:ext cx="260800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7217786" y="4725399"/>
            <a:ext cx="0" cy="22822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124012" y="4725399"/>
            <a:ext cx="0" cy="68385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4124012" y="4725399"/>
            <a:ext cx="4857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4492730" y="4180816"/>
            <a:ext cx="105218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5544916" y="4180816"/>
            <a:ext cx="0" cy="11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4492730" y="2178200"/>
            <a:ext cx="0" cy="2002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4492730" y="2178200"/>
            <a:ext cx="1463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5544916" y="4294155"/>
            <a:ext cx="214217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7687094" y="4294155"/>
            <a:ext cx="0" cy="4858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4145128" y="4180816"/>
            <a:ext cx="0" cy="122844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4145128" y="4180816"/>
            <a:ext cx="34760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1461863" y="5005421"/>
            <a:ext cx="469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1461863" y="5005421"/>
            <a:ext cx="0" cy="27417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1508847" y="4311469"/>
            <a:ext cx="0" cy="69395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1508847" y="4311469"/>
            <a:ext cx="71785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1508847" y="4323995"/>
            <a:ext cx="0" cy="6814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1508847" y="4323995"/>
            <a:ext cx="23493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1508847" y="5005421"/>
            <a:ext cx="22966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 flipV="1">
            <a:off x="1738509" y="4723932"/>
            <a:ext cx="0" cy="28148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H="1">
            <a:off x="1865138" y="5150130"/>
            <a:ext cx="15681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>
            <a:off x="1865138" y="5150130"/>
            <a:ext cx="0" cy="139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2021955" y="5150130"/>
            <a:ext cx="31338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2335340" y="5150130"/>
            <a:ext cx="0" cy="12524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3119986" y="4727404"/>
            <a:ext cx="0" cy="13702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3119986" y="4864428"/>
            <a:ext cx="591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119986" y="4311469"/>
            <a:ext cx="0" cy="4159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H="1">
            <a:off x="2226699" y="4311469"/>
            <a:ext cx="8932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119986" y="3896269"/>
            <a:ext cx="0" cy="8311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H="1">
            <a:off x="2708242" y="3896269"/>
            <a:ext cx="4117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2702768" y="4727404"/>
            <a:ext cx="4172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2702768" y="4723900"/>
            <a:ext cx="0" cy="35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V="1">
            <a:off x="3119986" y="4203184"/>
            <a:ext cx="0" cy="5242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>
            <a:off x="3119986" y="4203184"/>
            <a:ext cx="67797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3119986" y="4184989"/>
            <a:ext cx="0" cy="5424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3119986" y="4184989"/>
            <a:ext cx="1909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3119986" y="4561200"/>
            <a:ext cx="0" cy="1662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3119986" y="4561200"/>
            <a:ext cx="18114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3281908" y="5369306"/>
            <a:ext cx="0" cy="1055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492730" y="4180816"/>
            <a:ext cx="116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V="1">
            <a:off x="4609193" y="3482976"/>
            <a:ext cx="0" cy="69784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V="1">
            <a:off x="3033384" y="2818974"/>
            <a:ext cx="0" cy="5632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 flipV="1">
            <a:off x="3033384" y="2567172"/>
            <a:ext cx="0" cy="8150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H="1">
            <a:off x="2384555" y="3382204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V="1">
            <a:off x="2384555" y="2820355"/>
            <a:ext cx="0" cy="56184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H="1">
            <a:off x="2805548" y="3382204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 flipV="1">
            <a:off x="2805548" y="3263573"/>
            <a:ext cx="0" cy="1186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055393" y="2483611"/>
            <a:ext cx="7484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2803798" y="2483611"/>
            <a:ext cx="0" cy="335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2055393" y="2405014"/>
            <a:ext cx="0" cy="785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2055393" y="2405014"/>
            <a:ext cx="3269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2055393" y="2483611"/>
            <a:ext cx="0" cy="7739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2055393" y="3257541"/>
            <a:ext cx="32174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4069884" y="3010224"/>
            <a:ext cx="9465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4164537" y="3010224"/>
            <a:ext cx="0" cy="32005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4507360" y="2178200"/>
            <a:ext cx="13751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5882529" y="2178200"/>
            <a:ext cx="0" cy="200258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4507360" y="2178200"/>
            <a:ext cx="28551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4792875" y="2030609"/>
            <a:ext cx="0" cy="14759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4507360" y="2178200"/>
            <a:ext cx="0" cy="130477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4507360" y="3482976"/>
            <a:ext cx="1018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544916" y="4294155"/>
            <a:ext cx="3376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 flipV="1">
            <a:off x="5882529" y="4180781"/>
            <a:ext cx="0" cy="11337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4609780" y="4725399"/>
            <a:ext cx="89199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5501777" y="4725399"/>
            <a:ext cx="0" cy="12244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4609780" y="4725399"/>
            <a:ext cx="1950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6560148" y="4725399"/>
            <a:ext cx="0" cy="10001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7217786" y="4953623"/>
            <a:ext cx="2346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 flipV="1">
            <a:off x="7452431" y="4884418"/>
            <a:ext cx="0" cy="6920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7687094" y="4780028"/>
            <a:ext cx="2628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7949984" y="4518867"/>
            <a:ext cx="0" cy="261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 flipV="1">
            <a:off x="1508847" y="4727404"/>
            <a:ext cx="1611139" cy="27801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2277227" y="4852302"/>
            <a:ext cx="25826" cy="36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 flipV="1">
            <a:off x="2289365" y="4850207"/>
            <a:ext cx="25827" cy="36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 flipV="1">
            <a:off x="2301503" y="4848113"/>
            <a:ext cx="25827" cy="3659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V="1">
            <a:off x="2313642" y="4846018"/>
            <a:ext cx="25826" cy="36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 flipV="1">
            <a:off x="2325780" y="4843924"/>
            <a:ext cx="25827" cy="3659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2" name="TextBox 681"/>
          <p:cNvSpPr txBox="1"/>
          <p:nvPr/>
        </p:nvSpPr>
        <p:spPr>
          <a:xfrm>
            <a:off x="2335533" y="4810103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83" name="Connector 682"/>
          <p:cNvCxnSpPr/>
          <p:nvPr/>
        </p:nvCxnSpPr>
        <p:spPr>
          <a:xfrm>
            <a:off x="2055393" y="2483611"/>
            <a:ext cx="977991" cy="89859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V="1">
            <a:off x="2503871" y="2915293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V="1">
            <a:off x="2512941" y="2923627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 flipV="1">
            <a:off x="2522012" y="2931961"/>
            <a:ext cx="44753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 flipV="1">
            <a:off x="2531082" y="2940295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 flipV="1">
            <a:off x="2540152" y="2948628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9" name="TextBox 688"/>
          <p:cNvSpPr txBox="1"/>
          <p:nvPr/>
        </p:nvSpPr>
        <p:spPr>
          <a:xfrm>
            <a:off x="2565505" y="2876598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90" name="Connector 689"/>
          <p:cNvCxnSpPr/>
          <p:nvPr/>
        </p:nvCxnSpPr>
        <p:spPr>
          <a:xfrm>
            <a:off x="4507360" y="2178200"/>
            <a:ext cx="1037556" cy="211595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 flipH="1">
            <a:off x="4492730" y="2178200"/>
            <a:ext cx="14630" cy="2002616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2" name="Rectangle 691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TextBox 692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94" name="Connector 693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6" name="Rectangle 695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TextBox 696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98" name="Oval 697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TextBox 698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00" name="Oval 699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1" name="Connector 700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3" name="TextBox 702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04" name="Oval 703"/>
          <p:cNvSpPr/>
          <p:nvPr/>
        </p:nvSpPr>
        <p:spPr>
          <a:xfrm>
            <a:off x="2184467" y="4269237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5" name="Connector 704"/>
          <p:cNvCxnSpPr/>
          <p:nvPr/>
        </p:nvCxnSpPr>
        <p:spPr>
          <a:xfrm>
            <a:off x="2196841" y="4281611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V="1">
            <a:off x="2196841" y="4281611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/>
          <p:cNvSpPr txBox="1"/>
          <p:nvPr/>
        </p:nvSpPr>
        <p:spPr>
          <a:xfrm>
            <a:off x="2265411" y="423052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08" name="Oval 707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9" name="Connector 708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1" name="TextBox 710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12" name="Oval 711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3" name="Connector 712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5" name="TextBox 714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16" name="Oval 715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7" name="Connector 716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" name="TextBox 718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20" name="Oval 719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22" name="Oval 721"/>
          <p:cNvSpPr/>
          <p:nvPr/>
        </p:nvSpPr>
        <p:spPr>
          <a:xfrm>
            <a:off x="7911271" y="448015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71" y="4518867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3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9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9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3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TextBox 722"/>
          <p:cNvSpPr txBox="1"/>
          <p:nvPr/>
        </p:nvSpPr>
        <p:spPr>
          <a:xfrm>
            <a:off x="7988696" y="443792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24" name="Oval 723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TextBox 724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26" name="Oval 725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TextBox 726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28" name="Oval 727"/>
          <p:cNvSpPr/>
          <p:nvPr/>
        </p:nvSpPr>
        <p:spPr>
          <a:xfrm>
            <a:off x="2674613" y="46957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2693970" y="471510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2741481" y="46429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31" name="Oval 730"/>
          <p:cNvSpPr/>
          <p:nvPr/>
        </p:nvSpPr>
        <p:spPr>
          <a:xfrm>
            <a:off x="2193657" y="469576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2213013" y="471511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TextBox 732"/>
          <p:cNvSpPr txBox="1"/>
          <p:nvPr/>
        </p:nvSpPr>
        <p:spPr>
          <a:xfrm>
            <a:off x="2260524" y="464297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34" name="Oval 733"/>
          <p:cNvSpPr/>
          <p:nvPr/>
        </p:nvSpPr>
        <p:spPr>
          <a:xfrm>
            <a:off x="1710354" y="469577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1729711" y="471513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1777222" y="464298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37" name="Oval 736"/>
          <p:cNvSpPr/>
          <p:nvPr/>
        </p:nvSpPr>
        <p:spPr>
          <a:xfrm>
            <a:off x="1715626" y="429584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1734982" y="431519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TextBox 738"/>
          <p:cNvSpPr txBox="1"/>
          <p:nvPr/>
        </p:nvSpPr>
        <p:spPr>
          <a:xfrm>
            <a:off x="1782493" y="424305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40" name="Oval 739"/>
          <p:cNvSpPr/>
          <p:nvPr/>
        </p:nvSpPr>
        <p:spPr>
          <a:xfrm>
            <a:off x="2199131" y="386813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xfrm>
            <a:off x="2218487" y="388748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2265998" y="381534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43" name="Oval 742"/>
          <p:cNvSpPr/>
          <p:nvPr/>
        </p:nvSpPr>
        <p:spPr>
          <a:xfrm>
            <a:off x="2680087" y="386811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2699443" y="3887470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TextBox 744"/>
          <p:cNvSpPr txBox="1"/>
          <p:nvPr/>
        </p:nvSpPr>
        <p:spPr>
          <a:xfrm>
            <a:off x="2746954" y="381532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46" name="Oval 745"/>
          <p:cNvSpPr/>
          <p:nvPr/>
        </p:nvSpPr>
        <p:spPr>
          <a:xfrm>
            <a:off x="2680280" y="428798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xfrm>
            <a:off x="2699636" y="430734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TextBox 747"/>
          <p:cNvSpPr txBox="1"/>
          <p:nvPr/>
        </p:nvSpPr>
        <p:spPr>
          <a:xfrm>
            <a:off x="2747147" y="42351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49" name="Oval 748"/>
          <p:cNvSpPr/>
          <p:nvPr/>
        </p:nvSpPr>
        <p:spPr>
          <a:xfrm>
            <a:off x="1715828" y="38681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xfrm>
            <a:off x="1735184" y="38875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TextBox 750"/>
          <p:cNvSpPr txBox="1"/>
          <p:nvPr/>
        </p:nvSpPr>
        <p:spPr>
          <a:xfrm>
            <a:off x="1782695" y="38153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52" name="Oval 751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TextBox 753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55" name="Oval 754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58" name="Oval 757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Oval 758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TextBox 759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61" name="Oval 760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Oval 761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TextBox 762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64" name="Oval 763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TextBox 765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67" name="Oval 766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TextBox 768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70" name="Oval 769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TextBox 771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73" name="Oval 772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TextBox 774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76" name="Oval 775"/>
          <p:cNvSpPr/>
          <p:nvPr/>
        </p:nvSpPr>
        <p:spPr>
          <a:xfrm>
            <a:off x="6517916" y="4783183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7" name="Connector 776"/>
          <p:cNvCxnSpPr/>
          <p:nvPr/>
        </p:nvCxnSpPr>
        <p:spPr>
          <a:xfrm>
            <a:off x="6530290" y="4795557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 flipV="1">
            <a:off x="6530290" y="4795557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9" name="TextBox 778"/>
          <p:cNvSpPr txBox="1"/>
          <p:nvPr/>
        </p:nvSpPr>
        <p:spPr>
          <a:xfrm>
            <a:off x="6598861" y="474447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780" name="Oval 779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1" name="Connector 780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Connector 781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3" name="TextBox 782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784" name="Oval 783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Oval 784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TextBox 785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87" name="Oval 786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Oval 787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TextBox 788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790" name="Oval 789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Oval 790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TextBox 791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793" name="Oval 792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Oval 793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TextBox 794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796" name="Oval 795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Oval 796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TextBox 797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799" name="Oval 798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Oval 799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TextBox 800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02" name="Oval 801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Oval 802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TextBox 803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05" name="Oval 804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Oval 805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TextBox 806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08" name="Oval 807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Oval 808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TextBox 809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11" name="Oval 810"/>
          <p:cNvSpPr/>
          <p:nvPr/>
        </p:nvSpPr>
        <p:spPr>
          <a:xfrm>
            <a:off x="7424277" y="48562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Oval 811"/>
          <p:cNvSpPr/>
          <p:nvPr/>
        </p:nvSpPr>
        <p:spPr>
          <a:xfrm>
            <a:off x="7443633" y="4875620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TextBox 812"/>
          <p:cNvSpPr txBox="1"/>
          <p:nvPr/>
        </p:nvSpPr>
        <p:spPr>
          <a:xfrm>
            <a:off x="7491144" y="48034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14" name="Oval 813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Oval 814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TextBox 815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17" name="Oval 816"/>
          <p:cNvSpPr/>
          <p:nvPr/>
        </p:nvSpPr>
        <p:spPr>
          <a:xfrm>
            <a:off x="4570480" y="3444263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70480" y="3482976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2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TextBox 817"/>
          <p:cNvSpPr txBox="1"/>
          <p:nvPr/>
        </p:nvSpPr>
        <p:spPr>
          <a:xfrm>
            <a:off x="4647905" y="34020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819" name="Oval 818"/>
          <p:cNvSpPr/>
          <p:nvPr/>
        </p:nvSpPr>
        <p:spPr>
          <a:xfrm>
            <a:off x="4768240" y="2005973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778798" y="2014772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TextBox 819"/>
          <p:cNvSpPr txBox="1"/>
          <p:nvPr/>
        </p:nvSpPr>
        <p:spPr>
          <a:xfrm>
            <a:off x="4831587" y="194966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21" name="Oval 820"/>
          <p:cNvSpPr/>
          <p:nvPr/>
        </p:nvSpPr>
        <p:spPr>
          <a:xfrm>
            <a:off x="1496177" y="499275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2" name="Connector 821"/>
          <p:cNvCxnSpPr/>
          <p:nvPr/>
        </p:nvCxnSpPr>
        <p:spPr>
          <a:xfrm flipV="1">
            <a:off x="1508847" y="495764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3" name="Connector 822"/>
          <p:cNvCxnSpPr/>
          <p:nvPr/>
        </p:nvCxnSpPr>
        <p:spPr>
          <a:xfrm>
            <a:off x="1556627" y="495764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4" name="Connector 823"/>
          <p:cNvCxnSpPr/>
          <p:nvPr/>
        </p:nvCxnSpPr>
        <p:spPr>
          <a:xfrm>
            <a:off x="1548027" y="496624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5" name="Connector 824"/>
          <p:cNvCxnSpPr/>
          <p:nvPr/>
        </p:nvCxnSpPr>
        <p:spPr>
          <a:xfrm>
            <a:off x="1539426" y="497484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6" name="Connector 825"/>
          <p:cNvCxnSpPr/>
          <p:nvPr/>
        </p:nvCxnSpPr>
        <p:spPr>
          <a:xfrm>
            <a:off x="1530826" y="498344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Connector 826"/>
          <p:cNvCxnSpPr/>
          <p:nvPr/>
        </p:nvCxnSpPr>
        <p:spPr>
          <a:xfrm flipH="1">
            <a:off x="1473012" y="5005421"/>
            <a:ext cx="35835" cy="358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Connector 827"/>
          <p:cNvCxnSpPr/>
          <p:nvPr/>
        </p:nvCxnSpPr>
        <p:spPr>
          <a:xfrm flipH="1" flipV="1">
            <a:off x="1461067" y="502931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9" name="TextBox 828"/>
          <p:cNvSpPr txBox="1"/>
          <p:nvPr/>
        </p:nvSpPr>
        <p:spPr>
          <a:xfrm>
            <a:off x="1563666" y="490133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30" name="Oval 829"/>
          <p:cNvSpPr/>
          <p:nvPr/>
        </p:nvSpPr>
        <p:spPr>
          <a:xfrm>
            <a:off x="2009285" y="51374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1" name="Connector 830"/>
          <p:cNvCxnSpPr/>
          <p:nvPr/>
        </p:nvCxnSpPr>
        <p:spPr>
          <a:xfrm flipV="1">
            <a:off x="2021955" y="51023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2" name="Connector 831"/>
          <p:cNvCxnSpPr/>
          <p:nvPr/>
        </p:nvCxnSpPr>
        <p:spPr>
          <a:xfrm>
            <a:off x="2069735" y="51023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3" name="Connector 832"/>
          <p:cNvCxnSpPr/>
          <p:nvPr/>
        </p:nvCxnSpPr>
        <p:spPr>
          <a:xfrm>
            <a:off x="2061135" y="51109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4" name="TextBox 833"/>
          <p:cNvSpPr txBox="1"/>
          <p:nvPr/>
        </p:nvSpPr>
        <p:spPr>
          <a:xfrm>
            <a:off x="2076774" y="50460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35" name="Oval 834"/>
          <p:cNvSpPr/>
          <p:nvPr/>
        </p:nvSpPr>
        <p:spPr>
          <a:xfrm>
            <a:off x="3107317" y="4714734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6" name="Connector 835"/>
          <p:cNvCxnSpPr/>
          <p:nvPr/>
        </p:nvCxnSpPr>
        <p:spPr>
          <a:xfrm flipV="1">
            <a:off x="3119986" y="4679624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7" name="Connector 836"/>
          <p:cNvCxnSpPr/>
          <p:nvPr/>
        </p:nvCxnSpPr>
        <p:spPr>
          <a:xfrm>
            <a:off x="3167766" y="467962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8" name="Connector 837"/>
          <p:cNvCxnSpPr/>
          <p:nvPr/>
        </p:nvCxnSpPr>
        <p:spPr>
          <a:xfrm>
            <a:off x="3159166" y="468822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9" name="Connector 838"/>
          <p:cNvCxnSpPr/>
          <p:nvPr/>
        </p:nvCxnSpPr>
        <p:spPr>
          <a:xfrm>
            <a:off x="3150566" y="46968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0" name="Connector 839"/>
          <p:cNvCxnSpPr/>
          <p:nvPr/>
        </p:nvCxnSpPr>
        <p:spPr>
          <a:xfrm>
            <a:off x="3141965" y="4705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1" name="Connector 840"/>
          <p:cNvCxnSpPr/>
          <p:nvPr/>
        </p:nvCxnSpPr>
        <p:spPr>
          <a:xfrm flipH="1">
            <a:off x="3084151" y="4727404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2" name="Connector 841"/>
          <p:cNvCxnSpPr/>
          <p:nvPr/>
        </p:nvCxnSpPr>
        <p:spPr>
          <a:xfrm flipH="1" flipV="1">
            <a:off x="3072206" y="475129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3" name="TextBox 842"/>
          <p:cNvSpPr txBox="1"/>
          <p:nvPr/>
        </p:nvSpPr>
        <p:spPr>
          <a:xfrm>
            <a:off x="3174805" y="462331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44" name="Oval 843"/>
          <p:cNvSpPr/>
          <p:nvPr/>
        </p:nvSpPr>
        <p:spPr>
          <a:xfrm>
            <a:off x="3107317" y="4714734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5" name="Connector 844"/>
          <p:cNvCxnSpPr/>
          <p:nvPr/>
        </p:nvCxnSpPr>
        <p:spPr>
          <a:xfrm flipV="1">
            <a:off x="3119986" y="4679624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6" name="Connector 845"/>
          <p:cNvCxnSpPr/>
          <p:nvPr/>
        </p:nvCxnSpPr>
        <p:spPr>
          <a:xfrm>
            <a:off x="3167766" y="467962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7" name="Connector 846"/>
          <p:cNvCxnSpPr/>
          <p:nvPr/>
        </p:nvCxnSpPr>
        <p:spPr>
          <a:xfrm>
            <a:off x="3159166" y="468822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8" name="Connector 847"/>
          <p:cNvCxnSpPr/>
          <p:nvPr/>
        </p:nvCxnSpPr>
        <p:spPr>
          <a:xfrm>
            <a:off x="3150566" y="46968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9" name="TextBox 848"/>
          <p:cNvSpPr txBox="1"/>
          <p:nvPr/>
        </p:nvSpPr>
        <p:spPr>
          <a:xfrm>
            <a:off x="3174805" y="462331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850" name="Oval 849"/>
          <p:cNvSpPr/>
          <p:nvPr/>
        </p:nvSpPr>
        <p:spPr>
          <a:xfrm>
            <a:off x="3269238" y="546221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1" name="Connector 850"/>
          <p:cNvCxnSpPr/>
          <p:nvPr/>
        </p:nvCxnSpPr>
        <p:spPr>
          <a:xfrm flipV="1">
            <a:off x="3281908" y="542710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2" name="Connector 851"/>
          <p:cNvCxnSpPr/>
          <p:nvPr/>
        </p:nvCxnSpPr>
        <p:spPr>
          <a:xfrm>
            <a:off x="3329688" y="54271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3" name="TextBox 852"/>
          <p:cNvSpPr txBox="1"/>
          <p:nvPr/>
        </p:nvSpPr>
        <p:spPr>
          <a:xfrm>
            <a:off x="3336727" y="53707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854" name="Oval 853"/>
          <p:cNvSpPr/>
          <p:nvPr/>
        </p:nvSpPr>
        <p:spPr>
          <a:xfrm>
            <a:off x="4480060" y="4168147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5" name="Connector 854"/>
          <p:cNvCxnSpPr/>
          <p:nvPr/>
        </p:nvCxnSpPr>
        <p:spPr>
          <a:xfrm flipV="1">
            <a:off x="4492730" y="413303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>
            <a:off x="4540510" y="413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 flipH="1">
            <a:off x="4456895" y="418081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 flipH="1" flipV="1">
            <a:off x="4444950" y="420470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9" name="TextBox 858"/>
          <p:cNvSpPr txBox="1"/>
          <p:nvPr/>
        </p:nvSpPr>
        <p:spPr>
          <a:xfrm>
            <a:off x="4547549" y="407672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860" name="Oval 859"/>
          <p:cNvSpPr/>
          <p:nvPr/>
        </p:nvSpPr>
        <p:spPr>
          <a:xfrm>
            <a:off x="3020715" y="3369534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1" name="Connector 860"/>
          <p:cNvCxnSpPr/>
          <p:nvPr/>
        </p:nvCxnSpPr>
        <p:spPr>
          <a:xfrm flipV="1">
            <a:off x="3033384" y="3334424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2" name="Connector 861"/>
          <p:cNvCxnSpPr/>
          <p:nvPr/>
        </p:nvCxnSpPr>
        <p:spPr>
          <a:xfrm>
            <a:off x="3081164" y="333442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Connector 862"/>
          <p:cNvCxnSpPr/>
          <p:nvPr/>
        </p:nvCxnSpPr>
        <p:spPr>
          <a:xfrm>
            <a:off x="3072564" y="334302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>
            <a:off x="3055363" y="33602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 flipH="1">
            <a:off x="2997549" y="3382204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 flipH="1" flipV="1">
            <a:off x="2985604" y="340609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8" name="TextBox 867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869" name="Oval 868"/>
          <p:cNvSpPr/>
          <p:nvPr/>
        </p:nvSpPr>
        <p:spPr>
          <a:xfrm>
            <a:off x="2042723" y="247094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0" name="Connector 869"/>
          <p:cNvCxnSpPr/>
          <p:nvPr/>
        </p:nvCxnSpPr>
        <p:spPr>
          <a:xfrm flipV="1">
            <a:off x="2055393" y="243583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>
            <a:off x="2103173" y="24358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>
            <a:off x="2094573" y="24444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>
            <a:off x="2085972" y="24530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Connector 873"/>
          <p:cNvCxnSpPr/>
          <p:nvPr/>
        </p:nvCxnSpPr>
        <p:spPr>
          <a:xfrm flipH="1">
            <a:off x="2019558" y="248361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 flipH="1" flipV="1">
            <a:off x="2007613" y="250750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6" name="TextBox 875"/>
          <p:cNvSpPr txBox="1"/>
          <p:nvPr/>
        </p:nvSpPr>
        <p:spPr>
          <a:xfrm>
            <a:off x="2110212" y="237952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877" name="Oval 876"/>
          <p:cNvSpPr/>
          <p:nvPr/>
        </p:nvSpPr>
        <p:spPr>
          <a:xfrm>
            <a:off x="4057214" y="299755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8" name="Connector 877"/>
          <p:cNvCxnSpPr/>
          <p:nvPr/>
        </p:nvCxnSpPr>
        <p:spPr>
          <a:xfrm flipV="1">
            <a:off x="4069884" y="2962444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>
            <a:off x="4117664" y="296244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0" name="TextBox 879"/>
          <p:cNvSpPr txBox="1"/>
          <p:nvPr/>
        </p:nvSpPr>
        <p:spPr>
          <a:xfrm>
            <a:off x="4124703" y="290613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881" name="Oval 880"/>
          <p:cNvSpPr/>
          <p:nvPr/>
        </p:nvSpPr>
        <p:spPr>
          <a:xfrm>
            <a:off x="4494690" y="2165530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2" name="Connector 881"/>
          <p:cNvCxnSpPr/>
          <p:nvPr/>
        </p:nvCxnSpPr>
        <p:spPr>
          <a:xfrm flipV="1">
            <a:off x="4507360" y="213042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>
            <a:off x="4555140" y="21304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>
            <a:off x="4546539" y="21390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5" name="Connector 884"/>
          <p:cNvCxnSpPr/>
          <p:nvPr/>
        </p:nvCxnSpPr>
        <p:spPr>
          <a:xfrm>
            <a:off x="4537939" y="21476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 flipH="1">
            <a:off x="4471525" y="2178200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 flipH="1" flipV="1">
            <a:off x="4459580" y="220209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8" name="TextBox 887"/>
          <p:cNvSpPr txBox="1"/>
          <p:nvPr/>
        </p:nvSpPr>
        <p:spPr>
          <a:xfrm>
            <a:off x="4562178" y="207411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889" name="Oval 888"/>
          <p:cNvSpPr/>
          <p:nvPr/>
        </p:nvSpPr>
        <p:spPr>
          <a:xfrm>
            <a:off x="5532246" y="428148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0" name="Connector 889"/>
          <p:cNvCxnSpPr/>
          <p:nvPr/>
        </p:nvCxnSpPr>
        <p:spPr>
          <a:xfrm flipV="1">
            <a:off x="5544916" y="424637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5592696" y="424637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 flipH="1">
            <a:off x="5509081" y="429415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 flipH="1" flipV="1">
            <a:off x="5497136" y="431804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4" name="TextBox 893"/>
          <p:cNvSpPr txBox="1"/>
          <p:nvPr/>
        </p:nvSpPr>
        <p:spPr>
          <a:xfrm>
            <a:off x="5599734" y="41900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895" name="Oval 894"/>
          <p:cNvSpPr/>
          <p:nvPr/>
        </p:nvSpPr>
        <p:spPr>
          <a:xfrm>
            <a:off x="4597110" y="471272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6" name="Connector 895"/>
          <p:cNvCxnSpPr/>
          <p:nvPr/>
        </p:nvCxnSpPr>
        <p:spPr>
          <a:xfrm flipV="1">
            <a:off x="4609780" y="467761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4657560" y="467761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4648959" y="468621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9" name="TextBox 898"/>
          <p:cNvSpPr txBox="1"/>
          <p:nvPr/>
        </p:nvSpPr>
        <p:spPr>
          <a:xfrm>
            <a:off x="4664598" y="462131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00" name="Oval 899"/>
          <p:cNvSpPr/>
          <p:nvPr/>
        </p:nvSpPr>
        <p:spPr>
          <a:xfrm>
            <a:off x="7205117" y="4940954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1" name="Connector 900"/>
          <p:cNvCxnSpPr/>
          <p:nvPr/>
        </p:nvCxnSpPr>
        <p:spPr>
          <a:xfrm flipV="1">
            <a:off x="7217786" y="4905843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" name="Connector 901"/>
          <p:cNvCxnSpPr/>
          <p:nvPr/>
        </p:nvCxnSpPr>
        <p:spPr>
          <a:xfrm>
            <a:off x="7265566" y="4905843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3" name="TextBox 902"/>
          <p:cNvSpPr txBox="1"/>
          <p:nvPr/>
        </p:nvSpPr>
        <p:spPr>
          <a:xfrm>
            <a:off x="7272605" y="484953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04" name="Oval 903"/>
          <p:cNvSpPr/>
          <p:nvPr/>
        </p:nvSpPr>
        <p:spPr>
          <a:xfrm>
            <a:off x="7674424" y="47673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5" name="Connector 904"/>
          <p:cNvCxnSpPr/>
          <p:nvPr/>
        </p:nvCxnSpPr>
        <p:spPr>
          <a:xfrm flipV="1">
            <a:off x="7687094" y="47322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>
            <a:off x="7734874" y="47322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7" name="TextBox 906"/>
          <p:cNvSpPr txBox="1"/>
          <p:nvPr/>
        </p:nvSpPr>
        <p:spPr>
          <a:xfrm>
            <a:off x="7741912" y="46759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10" name="Rectangle 909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TextBox 910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12" name="Rectangle 911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TextBox 912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14" name="Rectangle 913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TextBox 914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TextBox 916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cxnSp>
        <p:nvCxnSpPr>
          <p:cNvPr id="918" name="Connector 917"/>
          <p:cNvCxnSpPr/>
          <p:nvPr/>
        </p:nvCxnSpPr>
        <p:spPr>
          <a:xfrm flipV="1">
            <a:off x="3281908" y="5267650"/>
            <a:ext cx="1032786" cy="207235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9" name="Oval 918"/>
          <p:cNvSpPr/>
          <p:nvPr/>
        </p:nvSpPr>
        <p:spPr>
          <a:xfrm>
            <a:off x="4272462" y="522541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0" name="Connector 919"/>
          <p:cNvCxnSpPr/>
          <p:nvPr/>
        </p:nvCxnSpPr>
        <p:spPr>
          <a:xfrm>
            <a:off x="4284836" y="52377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V="1">
            <a:off x="4284836" y="52377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" name="TextBox 921"/>
          <p:cNvSpPr txBox="1"/>
          <p:nvPr/>
        </p:nvSpPr>
        <p:spPr>
          <a:xfrm>
            <a:off x="4367484" y="519265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24" name="Rectangle 923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TextBox 924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26" name="Rectangle 925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TextBox 926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28" name="Rectangle 927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TextBox 928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30" name="Rectangle 929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Rectangle 931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TextBox 932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O-B 2026-10-15）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71" y="2554963"/>
            <a:ext cx="0" cy="80192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771993" y="3356890"/>
            <a:ext cx="37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2772371" y="2554963"/>
            <a:ext cx="90619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678564" y="2554934"/>
            <a:ext cx="0" cy="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3678564" y="2554934"/>
            <a:ext cx="90179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4580358" y="2554903"/>
            <a:ext cx="0" cy="3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4570094" y="3342169"/>
            <a:ext cx="0" cy="76454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570094" y="3342169"/>
            <a:ext cx="1062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668301" y="4106711"/>
            <a:ext cx="90179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3668301" y="4106711"/>
            <a:ext cx="0" cy="3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2762109" y="4106742"/>
            <a:ext cx="9061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2762109" y="4106742"/>
            <a:ext cx="0" cy="3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2331492" y="4634563"/>
            <a:ext cx="96207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3293570" y="4634563"/>
            <a:ext cx="0" cy="2713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3293570" y="4905894"/>
            <a:ext cx="205880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5352379" y="4113281"/>
            <a:ext cx="0" cy="79261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5352379" y="4113281"/>
            <a:ext cx="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H="1">
            <a:off x="5352379" y="5391754"/>
            <a:ext cx="187374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V="1">
            <a:off x="5352379" y="4113281"/>
            <a:ext cx="0" cy="1278473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91" name="Connector 590"/>
          <p:cNvCxnSpPr/>
          <p:nvPr/>
        </p:nvCxnSpPr>
        <p:spPr>
          <a:xfrm flipV="1">
            <a:off x="7274519" y="3088430"/>
            <a:ext cx="0" cy="230332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7274519" y="3088430"/>
            <a:ext cx="651754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3" name="TextBox 592"/>
          <p:cNvSpPr txBox="1"/>
          <p:nvPr/>
        </p:nvSpPr>
        <p:spPr>
          <a:xfrm>
            <a:off x="5453542" y="5089312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94" name="Connector 593"/>
          <p:cNvCxnSpPr/>
          <p:nvPr/>
        </p:nvCxnSpPr>
        <p:spPr>
          <a:xfrm flipH="1">
            <a:off x="2243398" y="4634563"/>
            <a:ext cx="8809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243398" y="4634563"/>
            <a:ext cx="0" cy="51407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2331492" y="3333403"/>
            <a:ext cx="0" cy="13011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31492" y="3333403"/>
            <a:ext cx="13459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2331492" y="3356890"/>
            <a:ext cx="0" cy="127767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2331492" y="3356890"/>
            <a:ext cx="4405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2331492" y="4634563"/>
            <a:ext cx="43061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V="1">
            <a:off x="2762109" y="4106772"/>
            <a:ext cx="0" cy="52779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H="1">
            <a:off x="2999539" y="4905894"/>
            <a:ext cx="2940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999539" y="4905894"/>
            <a:ext cx="0" cy="2607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3293570" y="4905894"/>
            <a:ext cx="58759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3881167" y="4905894"/>
            <a:ext cx="0" cy="23484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5352379" y="4113281"/>
            <a:ext cx="0" cy="2569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5352379" y="4370202"/>
            <a:ext cx="1109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352379" y="3333403"/>
            <a:ext cx="0" cy="7798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H="1">
            <a:off x="3677464" y="3333403"/>
            <a:ext cx="167491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 flipV="1">
            <a:off x="5352379" y="2554903"/>
            <a:ext cx="0" cy="15583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H="1">
            <a:off x="4580358" y="2554903"/>
            <a:ext cx="7720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4570094" y="4113281"/>
            <a:ext cx="78228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4570094" y="4106711"/>
            <a:ext cx="0" cy="65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5352379" y="3130369"/>
            <a:ext cx="0" cy="98291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5352379" y="3130369"/>
            <a:ext cx="127120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5352379" y="3096255"/>
            <a:ext cx="0" cy="10170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5352379" y="3096255"/>
            <a:ext cx="357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352379" y="3801649"/>
            <a:ext cx="0" cy="311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5352379" y="3801649"/>
            <a:ext cx="3396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655982" y="52728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TextBox 620"/>
          <p:cNvSpPr txBox="1"/>
          <p:nvPr/>
        </p:nvSpPr>
        <p:spPr>
          <a:xfrm>
            <a:off x="5688242" y="52244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7974664" y="3152951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接线见另图</a:t>
            </a:r>
          </a:p>
        </p:txBody>
      </p:sp>
      <p:cxnSp>
        <p:nvCxnSpPr>
          <p:cNvPr id="623" name="Connector 622"/>
          <p:cNvCxnSpPr/>
          <p:nvPr/>
        </p:nvCxnSpPr>
        <p:spPr>
          <a:xfrm flipV="1">
            <a:off x="2331492" y="4113281"/>
            <a:ext cx="3020887" cy="52128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3756709" y="4341586"/>
            <a:ext cx="59186" cy="8387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V="1">
            <a:off x="3784526" y="4336786"/>
            <a:ext cx="59186" cy="8387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 flipV="1">
            <a:off x="3812343" y="4331986"/>
            <a:ext cx="59186" cy="8387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V="1">
            <a:off x="3840159" y="4327186"/>
            <a:ext cx="59186" cy="8387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3867976" y="4322386"/>
            <a:ext cx="59186" cy="8387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9" name="TextBox 628"/>
          <p:cNvSpPr txBox="1"/>
          <p:nvPr/>
        </p:nvSpPr>
        <p:spPr>
          <a:xfrm>
            <a:off x="3890326" y="4244880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32" name="Connector 631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4" name="TextBox 633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35" name="Rectangle 634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TextBox 635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37" name="Oval 636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TextBox 637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39" name="Oval 638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0" name="Connector 639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43" name="Oval 642"/>
          <p:cNvSpPr/>
          <p:nvPr/>
        </p:nvSpPr>
        <p:spPr>
          <a:xfrm>
            <a:off x="3580682" y="32366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4" name="Connector 643"/>
          <p:cNvCxnSpPr/>
          <p:nvPr/>
        </p:nvCxnSpPr>
        <p:spPr>
          <a:xfrm>
            <a:off x="3609039" y="3264979"/>
            <a:ext cx="136850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3609039" y="3264979"/>
            <a:ext cx="136850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3766180" y="3147905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47" name="Oval 646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0" name="TextBox 649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51" name="Oval 650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TextBox 651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53" name="Oval 652"/>
          <p:cNvSpPr/>
          <p:nvPr/>
        </p:nvSpPr>
        <p:spPr>
          <a:xfrm>
            <a:off x="4505573" y="404219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xfrm>
            <a:off x="4549931" y="408654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TextBox 654"/>
          <p:cNvSpPr txBox="1"/>
          <p:nvPr/>
        </p:nvSpPr>
        <p:spPr>
          <a:xfrm>
            <a:off x="4658810" y="392121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56" name="Oval 655"/>
          <p:cNvSpPr/>
          <p:nvPr/>
        </p:nvSpPr>
        <p:spPr>
          <a:xfrm>
            <a:off x="3603780" y="4042221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xfrm>
            <a:off x="3648138" y="4086579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TextBox 657"/>
          <p:cNvSpPr txBox="1"/>
          <p:nvPr/>
        </p:nvSpPr>
        <p:spPr>
          <a:xfrm>
            <a:off x="3757017" y="392124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59" name="Oval 658"/>
          <p:cNvSpPr/>
          <p:nvPr/>
        </p:nvSpPr>
        <p:spPr>
          <a:xfrm>
            <a:off x="2697587" y="4042251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Oval 659"/>
          <p:cNvSpPr/>
          <p:nvPr/>
        </p:nvSpPr>
        <p:spPr>
          <a:xfrm>
            <a:off x="2741946" y="4086609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2850825" y="392127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62" name="Oval 661"/>
          <p:cNvSpPr/>
          <p:nvPr/>
        </p:nvSpPr>
        <p:spPr>
          <a:xfrm>
            <a:off x="2707472" y="3292369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Oval 662"/>
          <p:cNvSpPr/>
          <p:nvPr/>
        </p:nvSpPr>
        <p:spPr>
          <a:xfrm>
            <a:off x="2751830" y="3336727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TextBox 663"/>
          <p:cNvSpPr txBox="1"/>
          <p:nvPr/>
        </p:nvSpPr>
        <p:spPr>
          <a:xfrm>
            <a:off x="2860709" y="3171392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65" name="Oval 664"/>
          <p:cNvSpPr/>
          <p:nvPr/>
        </p:nvSpPr>
        <p:spPr>
          <a:xfrm>
            <a:off x="3614043" y="249041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3658402" y="253477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TextBox 666"/>
          <p:cNvSpPr txBox="1"/>
          <p:nvPr/>
        </p:nvSpPr>
        <p:spPr>
          <a:xfrm>
            <a:off x="3767281" y="236943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68" name="Oval 667"/>
          <p:cNvSpPr/>
          <p:nvPr/>
        </p:nvSpPr>
        <p:spPr>
          <a:xfrm>
            <a:off x="4515837" y="2490382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4560195" y="2534740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4669074" y="2369405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1" name="Oval 670"/>
          <p:cNvSpPr/>
          <p:nvPr/>
        </p:nvSpPr>
        <p:spPr>
          <a:xfrm>
            <a:off x="4516198" y="327764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4560556" y="332200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TextBox 672"/>
          <p:cNvSpPr txBox="1"/>
          <p:nvPr/>
        </p:nvSpPr>
        <p:spPr>
          <a:xfrm>
            <a:off x="4669435" y="31566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4" name="Oval 673"/>
          <p:cNvSpPr/>
          <p:nvPr/>
        </p:nvSpPr>
        <p:spPr>
          <a:xfrm>
            <a:off x="2707850" y="2490442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2752208" y="253480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2861087" y="2369465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7" name="Oval 676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80" name="Oval 679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83" name="Oval 682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TextBox 684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86" name="Oval 685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89" name="Oval 688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TextBox 690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2" name="Oval 691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TextBox 693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5" name="Oval 694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TextBox 696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8" name="Oval 697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TextBox 699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01" name="Oval 700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TextBox 702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04" name="Oval 703"/>
          <p:cNvSpPr/>
          <p:nvPr/>
        </p:nvSpPr>
        <p:spPr>
          <a:xfrm>
            <a:off x="8432589" y="-999664"/>
            <a:ext cx="112911" cy="112911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8456784" y="-979501"/>
            <a:ext cx="64521" cy="60488"/>
          </a:xfrm>
          <a:custGeom>
            <a:avLst/>
            <a:gdLst/>
            <a:ahLst/>
            <a:cxnLst/>
            <a:rect l="l" t="t" r="r" b="b"/>
            <a:pathLst>
              <a:path w="64521" h="60488">
                <a:moveTo>
                  <a:pt x="32261" y="0"/>
                </a:moveTo>
                <a:lnTo>
                  <a:pt x="0" y="60488"/>
                </a:lnTo>
                <a:lnTo>
                  <a:pt x="64521" y="60488"/>
                </a:lnTo>
                <a:lnTo>
                  <a:pt x="32261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TextBox 704"/>
          <p:cNvSpPr txBox="1"/>
          <p:nvPr/>
        </p:nvSpPr>
        <p:spPr>
          <a:xfrm>
            <a:off x="8577761" y="-11287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706" name="Oval 705"/>
          <p:cNvSpPr/>
          <p:nvPr/>
        </p:nvSpPr>
        <p:spPr>
          <a:xfrm>
            <a:off x="2302458" y="4605528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7" name="Connector 706"/>
          <p:cNvCxnSpPr/>
          <p:nvPr/>
        </p:nvCxnSpPr>
        <p:spPr>
          <a:xfrm flipV="1">
            <a:off x="2331492" y="4525067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2440988" y="452506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2421279" y="4544776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2401570" y="4564486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2381860" y="4584195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>
            <a:off x="2249370" y="4634563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 flipV="1">
            <a:off x="2221996" y="4689311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2457118" y="439602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15" name="Oval 714"/>
          <p:cNvSpPr/>
          <p:nvPr/>
        </p:nvSpPr>
        <p:spPr>
          <a:xfrm>
            <a:off x="3264536" y="4876860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6" name="Connector 715"/>
          <p:cNvCxnSpPr/>
          <p:nvPr/>
        </p:nvCxnSpPr>
        <p:spPr>
          <a:xfrm flipV="1">
            <a:off x="3293570" y="479639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3403066" y="479639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3383357" y="4816108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" name="TextBox 718"/>
          <p:cNvSpPr txBox="1"/>
          <p:nvPr/>
        </p:nvSpPr>
        <p:spPr>
          <a:xfrm>
            <a:off x="3419196" y="46673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20" name="Oval 719"/>
          <p:cNvSpPr/>
          <p:nvPr/>
        </p:nvSpPr>
        <p:spPr>
          <a:xfrm>
            <a:off x="5323344" y="4084247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1" name="Connector 720"/>
          <p:cNvCxnSpPr/>
          <p:nvPr/>
        </p:nvCxnSpPr>
        <p:spPr>
          <a:xfrm flipV="1">
            <a:off x="5352379" y="4003786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5461875" y="4003786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5442165" y="4023495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5422456" y="4043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5402747" y="406291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 flipH="1">
            <a:off x="5270257" y="4113281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 flipH="1" flipV="1">
            <a:off x="5242883" y="416802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" name="TextBox 727"/>
          <p:cNvSpPr txBox="1"/>
          <p:nvPr/>
        </p:nvSpPr>
        <p:spPr>
          <a:xfrm>
            <a:off x="5478005" y="38747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29" name="Oval 728"/>
          <p:cNvSpPr/>
          <p:nvPr/>
        </p:nvSpPr>
        <p:spPr>
          <a:xfrm>
            <a:off x="5323344" y="4084247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0" name="Connector 729"/>
          <p:cNvCxnSpPr/>
          <p:nvPr/>
        </p:nvCxnSpPr>
        <p:spPr>
          <a:xfrm flipV="1">
            <a:off x="5352379" y="4003786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5461875" y="4003786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5442165" y="4023495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422456" y="4043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4" name="TextBox 733"/>
          <p:cNvSpPr txBox="1"/>
          <p:nvPr/>
        </p:nvSpPr>
        <p:spPr>
          <a:xfrm>
            <a:off x="5478005" y="38747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35" name="Oval 734"/>
          <p:cNvSpPr/>
          <p:nvPr/>
        </p:nvSpPr>
        <p:spPr>
          <a:xfrm>
            <a:off x="5626947" y="5485775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6" name="Connector 735"/>
          <p:cNvCxnSpPr/>
          <p:nvPr/>
        </p:nvCxnSpPr>
        <p:spPr>
          <a:xfrm flipV="1">
            <a:off x="5655982" y="5405314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>
            <a:off x="5765478" y="5405314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8" name="TextBox 737"/>
          <p:cNvSpPr txBox="1"/>
          <p:nvPr/>
        </p:nvSpPr>
        <p:spPr>
          <a:xfrm>
            <a:off x="5781608" y="52762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39" name="Oval 738"/>
          <p:cNvSpPr/>
          <p:nvPr/>
        </p:nvSpPr>
        <p:spPr>
          <a:xfrm>
            <a:off x="7897238" y="305939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0" name="Connector 739"/>
          <p:cNvCxnSpPr/>
          <p:nvPr/>
        </p:nvCxnSpPr>
        <p:spPr>
          <a:xfrm flipV="1">
            <a:off x="7926273" y="2978935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8035769" y="2978935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 flipH="1">
            <a:off x="7844151" y="308843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H="1" flipV="1">
            <a:off x="7816777" y="314317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4" name="TextBox 743"/>
          <p:cNvSpPr txBox="1"/>
          <p:nvPr/>
        </p:nvSpPr>
        <p:spPr>
          <a:xfrm>
            <a:off x="8051899" y="28498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cxnSp>
        <p:nvCxnSpPr>
          <p:cNvPr id="745" name="Connector 744"/>
          <p:cNvCxnSpPr/>
          <p:nvPr/>
        </p:nvCxnSpPr>
        <p:spPr>
          <a:xfrm flipV="1">
            <a:off x="5655982" y="5126243"/>
            <a:ext cx="1936473" cy="388567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Oval 745"/>
          <p:cNvSpPr/>
          <p:nvPr/>
        </p:nvSpPr>
        <p:spPr>
          <a:xfrm>
            <a:off x="7495674" y="5029461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7" name="Connector 746"/>
          <p:cNvCxnSpPr/>
          <p:nvPr/>
        </p:nvCxnSpPr>
        <p:spPr>
          <a:xfrm>
            <a:off x="7524031" y="5057818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 flipV="1">
            <a:off x="7524031" y="5057818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9" name="TextBox 748"/>
          <p:cNvSpPr txBox="1"/>
          <p:nvPr/>
        </p:nvSpPr>
        <p:spPr>
          <a:xfrm>
            <a:off x="7713432" y="5051243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50" name="TextBox 74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51" name="TextBox 75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主客厅 · 门洞右侧墙垛正中</a:t>
            </a:r>
          </a:p>
        </p:txBody>
      </p:sp>
      <p:sp>
        <p:nvSpPr>
          <p:cNvPr id="752" name="TextBox 75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53" name="TextBox 75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54" name="TextBox 75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55" name="TextBox 75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餐厅 · 拱门旁（与 S5 上下叠放，S4 在下）</a:t>
            </a:r>
          </a:p>
        </p:txBody>
      </p:sp>
      <p:sp>
        <p:nvSpPr>
          <p:cNvPr id="756" name="TextBox 75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57" name="TextBox 756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餐厅 · 拱门旁（叠在 S4 正上方，h1330）</a:t>
            </a:r>
          </a:p>
        </p:txBody>
      </p:sp>
      <p:sp>
        <p:nvSpPr>
          <p:cNvPr id="758" name="TextBox 757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楼梯第一级前约 300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61" name="TextBox 760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法式门框东侧（后花园门旁）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键1=v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64" name="Rectangle 763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Rectangle 764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TextBox 765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O-B 2026-10-15）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59"/>
            <a:ext cx="21053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23" y="4412174"/>
            <a:ext cx="0" cy="7555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88" y="5167759"/>
            <a:ext cx="19865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88" y="3342491"/>
            <a:ext cx="0" cy="18252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6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WL1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59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59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6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88" y="3342491"/>
            <a:ext cx="152019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491"/>
            <a:ext cx="0" cy="68120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2931788" y="3182841"/>
            <a:ext cx="0" cy="1596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88" y="3182841"/>
            <a:ext cx="6641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931788" y="3342491"/>
            <a:ext cx="0" cy="15720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88" y="4914538"/>
            <a:ext cx="6535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7023723" y="4412174"/>
            <a:ext cx="192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7215988" y="4412174"/>
            <a:ext cx="0" cy="65010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2931788" y="3342491"/>
            <a:ext cx="1986545" cy="1825268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 flipV="1">
            <a:off x="3824470" y="4211394"/>
            <a:ext cx="111108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3846989" y="4232084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V="1">
            <a:off x="3869507" y="4252774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3892025" y="4273464"/>
            <a:ext cx="111108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3914544" y="4294155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0" name="TextBox 599"/>
          <p:cNvSpPr txBox="1"/>
          <p:nvPr/>
        </p:nvSpPr>
        <p:spPr>
          <a:xfrm>
            <a:off x="3977484" y="4115329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01" name="Oval 600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2" name="Connector 601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4" name="TextBox 603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5" name="Oval 604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6" name="Connector 605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TextBox 607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09" name="Oval 608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2" name="Oval 611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5" name="Oval 614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TextBox 616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18" name="Oval 617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1" name="Oval 620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TextBox 622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4" name="Oval 623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7" name="Oval 626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0" name="Oval 629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3" name="Oval 632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6" name="Oval 635"/>
          <p:cNvSpPr/>
          <p:nvPr/>
        </p:nvSpPr>
        <p:spPr>
          <a:xfrm>
            <a:off x="4886879" y="5136305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4918333" y="5049138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5036953" y="5049138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5015602" y="507049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4994250" y="5091841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4972898" y="511319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H="1">
            <a:off x="4829367" y="5167759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H="1" flipV="1">
            <a:off x="4799712" y="522706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4" name="TextBox 643"/>
          <p:cNvSpPr txBox="1"/>
          <p:nvPr/>
        </p:nvSpPr>
        <p:spPr>
          <a:xfrm>
            <a:off x="5054428" y="490934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5" name="Oval 644"/>
          <p:cNvSpPr/>
          <p:nvPr/>
        </p:nvSpPr>
        <p:spPr>
          <a:xfrm>
            <a:off x="2900334" y="3311037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6" name="Connector 645"/>
          <p:cNvCxnSpPr/>
          <p:nvPr/>
        </p:nvCxnSpPr>
        <p:spPr>
          <a:xfrm flipV="1">
            <a:off x="2931788" y="3223871"/>
            <a:ext cx="118621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050409" y="322387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3029057" y="3245222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07706" y="326657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H="1">
            <a:off x="2842823" y="3342491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 flipH="1" flipV="1">
            <a:off x="2813168" y="340180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2" name="TextBox 651"/>
          <p:cNvSpPr txBox="1"/>
          <p:nvPr/>
        </p:nvSpPr>
        <p:spPr>
          <a:xfrm>
            <a:off x="3067883" y="308407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3" name="Oval 652"/>
          <p:cNvSpPr/>
          <p:nvPr/>
        </p:nvSpPr>
        <p:spPr>
          <a:xfrm>
            <a:off x="6992269" y="4380720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4" name="Connector 653"/>
          <p:cNvCxnSpPr/>
          <p:nvPr/>
        </p:nvCxnSpPr>
        <p:spPr>
          <a:xfrm flipV="1">
            <a:off x="7023723" y="4293554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7142343" y="4293554"/>
            <a:ext cx="29656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6" name="TextBox 655"/>
          <p:cNvSpPr txBox="1"/>
          <p:nvPr/>
        </p:nvSpPr>
        <p:spPr>
          <a:xfrm>
            <a:off x="7159818" y="415375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57" name="TextBox 656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58" name="TextBox 657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59" name="TextBox 658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键2=l  键3=m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4" name="Rectangle 663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Rectangle 664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TextBox 665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O-B 2026-10-15）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1817959" y="5113780"/>
            <a:ext cx="38096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5627653" y="5113780"/>
            <a:ext cx="0" cy="33338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1101510" y="5113780"/>
            <a:ext cx="0" cy="998956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1101510" y="5113780"/>
            <a:ext cx="71644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8" name="TextBox 567"/>
          <p:cNvSpPr txBox="1"/>
          <p:nvPr/>
        </p:nvSpPr>
        <p:spPr>
          <a:xfrm>
            <a:off x="-655039" y="597136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69" name="Connector 568"/>
          <p:cNvCxnSpPr/>
          <p:nvPr/>
        </p:nvCxnSpPr>
        <p:spPr>
          <a:xfrm>
            <a:off x="1668347" y="1392911"/>
            <a:ext cx="0" cy="3090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1668347" y="4483832"/>
            <a:ext cx="151562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3183976" y="4483832"/>
            <a:ext cx="312922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6313202" y="4483832"/>
            <a:ext cx="0" cy="70974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1139210" y="6112736"/>
            <a:ext cx="204476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3183976" y="4483832"/>
            <a:ext cx="0" cy="162890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TextBox 574"/>
          <p:cNvSpPr txBox="1"/>
          <p:nvPr/>
        </p:nvSpPr>
        <p:spPr>
          <a:xfrm>
            <a:off x="-655039" y="587711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76" name="Connector 575"/>
          <p:cNvCxnSpPr/>
          <p:nvPr/>
        </p:nvCxnSpPr>
        <p:spPr>
          <a:xfrm>
            <a:off x="1668347" y="1392911"/>
            <a:ext cx="20088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3677151" y="1392911"/>
            <a:ext cx="0" cy="292530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TextBox 577"/>
          <p:cNvSpPr txBox="1"/>
          <p:nvPr/>
        </p:nvSpPr>
        <p:spPr>
          <a:xfrm>
            <a:off x="1706047" y="1443178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cxnSp>
        <p:nvCxnSpPr>
          <p:cNvPr id="579" name="Connector 578"/>
          <p:cNvCxnSpPr/>
          <p:nvPr/>
        </p:nvCxnSpPr>
        <p:spPr>
          <a:xfrm>
            <a:off x="1668347" y="1392911"/>
            <a:ext cx="14875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1817102" y="1392911"/>
            <a:ext cx="0" cy="190597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3183976" y="4483832"/>
            <a:ext cx="49317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3677151" y="4318219"/>
            <a:ext cx="0" cy="16561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1817959" y="5113780"/>
            <a:ext cx="0" cy="1788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1817959" y="5292641"/>
            <a:ext cx="13030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1817959" y="5113780"/>
            <a:ext cx="284903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4666996" y="5113780"/>
            <a:ext cx="0" cy="1461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5627653" y="5447163"/>
            <a:ext cx="34276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5970415" y="5346070"/>
            <a:ext cx="0" cy="1010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6313202" y="5193580"/>
            <a:ext cx="38402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6697224" y="4812085"/>
            <a:ext cx="0" cy="38149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1668347" y="1392911"/>
            <a:ext cx="1515629" cy="30909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2" name="Rectangle 591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594" name="Oval 593"/>
          <p:cNvSpPr/>
          <p:nvPr/>
        </p:nvSpPr>
        <p:spPr>
          <a:xfrm>
            <a:off x="6628107" y="4742968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107" y="4812085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3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9"/>
                </a:lnTo>
                <a:lnTo>
                  <a:pt x="95567" y="63856"/>
                </a:lnTo>
                <a:lnTo>
                  <a:pt x="82601" y="67789"/>
                </a:lnTo>
                <a:lnTo>
                  <a:pt x="69117" y="69117"/>
                </a:lnTo>
                <a:lnTo>
                  <a:pt x="55633" y="67789"/>
                </a:lnTo>
                <a:lnTo>
                  <a:pt x="42667" y="63856"/>
                </a:lnTo>
                <a:lnTo>
                  <a:pt x="30718" y="57469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6766341" y="4667568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596" name="Oval 595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98" name="Oval 597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TextBox 598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00" name="Oval 599"/>
          <p:cNvSpPr/>
          <p:nvPr/>
        </p:nvSpPr>
        <p:spPr>
          <a:xfrm>
            <a:off x="4591595" y="518448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1" name="Connector 600"/>
          <p:cNvCxnSpPr/>
          <p:nvPr/>
        </p:nvCxnSpPr>
        <p:spPr>
          <a:xfrm>
            <a:off x="4613688" y="5206572"/>
            <a:ext cx="106615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4613688" y="5206572"/>
            <a:ext cx="106615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TextBox 602"/>
          <p:cNvSpPr txBox="1"/>
          <p:nvPr/>
        </p:nvSpPr>
        <p:spPr>
          <a:xfrm>
            <a:off x="4736112" y="511536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04" name="Oval 60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5" name="Connector 60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7" name="TextBox 606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08" name="Oval 607"/>
          <p:cNvSpPr/>
          <p:nvPr/>
        </p:nvSpPr>
        <p:spPr>
          <a:xfrm>
            <a:off x="5920148" y="5295803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5954707" y="5330362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6039532" y="520155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11" name="Oval 610"/>
          <p:cNvSpPr/>
          <p:nvPr/>
        </p:nvSpPr>
        <p:spPr>
          <a:xfrm>
            <a:off x="1747985" y="322977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747985" y="3298887"/>
            <a:ext cx="138233" cy="69117"/>
          </a:xfrm>
          <a:custGeom>
            <a:avLst/>
            <a:gdLst/>
            <a:ahLst/>
            <a:cxnLst/>
            <a:rect l="l" t="t" r="r" b="b"/>
            <a:pathLst>
              <a:path w="138233" h="69117">
                <a:moveTo>
                  <a:pt x="138233" y="0"/>
                </a:moveTo>
                <a:lnTo>
                  <a:pt x="136905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9"/>
                </a:lnTo>
                <a:lnTo>
                  <a:pt x="95566" y="63856"/>
                </a:lnTo>
                <a:lnTo>
                  <a:pt x="82601" y="67789"/>
                </a:lnTo>
                <a:lnTo>
                  <a:pt x="69117" y="69117"/>
                </a:lnTo>
                <a:lnTo>
                  <a:pt x="55633" y="67789"/>
                </a:lnTo>
                <a:lnTo>
                  <a:pt x="42667" y="63856"/>
                </a:lnTo>
                <a:lnTo>
                  <a:pt x="30717" y="57469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1886218" y="315437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613" name="Oval 612"/>
          <p:cNvSpPr/>
          <p:nvPr/>
        </p:nvSpPr>
        <p:spPr>
          <a:xfrm>
            <a:off x="1645727" y="1370291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4" name="Connector 613"/>
          <p:cNvCxnSpPr/>
          <p:nvPr/>
        </p:nvCxnSpPr>
        <p:spPr>
          <a:xfrm flipV="1">
            <a:off x="1668347" y="1307606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1753652" y="130760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1738297" y="132296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1722942" y="133831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H="1">
            <a:off x="1604368" y="1392911"/>
            <a:ext cx="63979" cy="639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H="1" flipV="1">
            <a:off x="1583041" y="1435564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0" name="TextBox 619"/>
          <p:cNvSpPr txBox="1"/>
          <p:nvPr/>
        </p:nvSpPr>
        <p:spPr>
          <a:xfrm>
            <a:off x="1766219" y="1207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21" name="Oval 620"/>
          <p:cNvSpPr/>
          <p:nvPr/>
        </p:nvSpPr>
        <p:spPr>
          <a:xfrm>
            <a:off x="3161356" y="4461212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2" name="Connector 621"/>
          <p:cNvCxnSpPr/>
          <p:nvPr/>
        </p:nvCxnSpPr>
        <p:spPr>
          <a:xfrm flipV="1">
            <a:off x="3183976" y="4398526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3269282" y="4398526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H="1">
            <a:off x="3119997" y="4483832"/>
            <a:ext cx="63979" cy="639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H="1" flipV="1">
            <a:off x="3098671" y="4526485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6" name="TextBox 625"/>
          <p:cNvSpPr txBox="1"/>
          <p:nvPr/>
        </p:nvSpPr>
        <p:spPr>
          <a:xfrm>
            <a:off x="3281849" y="429799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27" name="Oval 626"/>
          <p:cNvSpPr/>
          <p:nvPr/>
        </p:nvSpPr>
        <p:spPr>
          <a:xfrm>
            <a:off x="1795339" y="5091160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8" name="Connector 627"/>
          <p:cNvCxnSpPr/>
          <p:nvPr/>
        </p:nvCxnSpPr>
        <p:spPr>
          <a:xfrm flipV="1">
            <a:off x="1817959" y="5028474"/>
            <a:ext cx="85305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>
            <a:off x="1903264" y="5028474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1887909" y="504382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1" name="TextBox 630"/>
          <p:cNvSpPr txBox="1"/>
          <p:nvPr/>
        </p:nvSpPr>
        <p:spPr>
          <a:xfrm>
            <a:off x="1915831" y="492794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32" name="Oval 631"/>
          <p:cNvSpPr/>
          <p:nvPr/>
        </p:nvSpPr>
        <p:spPr>
          <a:xfrm>
            <a:off x="5605033" y="5424542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3" name="Connector 632"/>
          <p:cNvCxnSpPr/>
          <p:nvPr/>
        </p:nvCxnSpPr>
        <p:spPr>
          <a:xfrm flipV="1">
            <a:off x="5627653" y="5361857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5712959" y="536185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5725525" y="526132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36" name="Oval 635"/>
          <p:cNvSpPr/>
          <p:nvPr/>
        </p:nvSpPr>
        <p:spPr>
          <a:xfrm>
            <a:off x="6290582" y="5170960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6313202" y="5108274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6398508" y="5108274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" name="TextBox 638"/>
          <p:cNvSpPr txBox="1"/>
          <p:nvPr/>
        </p:nvSpPr>
        <p:spPr>
          <a:xfrm>
            <a:off x="6411075" y="50077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40" name="Rectangle 639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TextBox 640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42" name="Rectangle 641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TextBox 642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44" name="Rectangle 643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TextBox 644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46" name="Rectangle 645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TextBox 646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48" name="Rectangle 647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51" name="TextBox 65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花园门组左侧 295 墙段正中</a:t>
            </a:r>
          </a:p>
        </p:txBody>
      </p:sp>
      <p:sp>
        <p:nvSpPr>
          <p:cNvPr id="652" name="TextBox 65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53" name="TextBox 65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厨房吧台区 · 法式门旁</a:t>
            </a:r>
          </a:p>
        </p:txBody>
      </p:sp>
      <p:sp>
        <p:nvSpPr>
          <p:cNvPr id="654" name="TextBox 65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</a:t>
            </a:r>
          </a:p>
        </p:txBody>
      </p:sp>
      <p:sp>
        <p:nvSpPr>
          <p:cNvPr id="655" name="TextBox 65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厨房入口（KP762 门旁）</a:t>
            </a:r>
          </a:p>
        </p:txBody>
      </p:sp>
      <p:sp>
        <p:nvSpPr>
          <p:cNvPr id="656" name="TextBox 65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57" name="TextBox 656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 · 通厨房洞口南侧（离洞边约 130）</a:t>
            </a:r>
          </a:p>
        </p:txBody>
      </p:sp>
      <p:sp>
        <p:nvSpPr>
          <p:cNvPr id="658" name="TextBox 657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59" name="TextBox 658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洗衣房后门锁侧（离门洞边约 140）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61" name="Rectangle 660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Rectangle 661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TextBox 662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O-B 2026-10-15）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25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B10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一层照明（门廊 / 门厅 / 起居室 / 餐厅 / 楼梯 / 客厅 / 卫生间 / 厨房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36 盏（一层，字母 a b c d e f g h i j k l m n o r s t）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5 盏（一层，字母 p q u v）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盏（二层，字母 见二层图）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00000" y="37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O-B 2026-10-15）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28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主客厅 · 门洞右侧墙垛正中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餐厅 · 拱门旁（与 S5 上下叠放，S4 在下）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餐厅 · 拱门旁（叠在 S4 正上方，h1330）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楼梯第一级前约 300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法式门框东侧（后花园门旁）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m，双控：S11、S7）（双控）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花园门组左侧 295 墙段正中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G26_2、G26_3（双控：S11、S12）（双控）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围栏户外 LED 灯带（L40 出线；户外，单控：S11）（单控）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m，双控：S11、S7）（双控）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厨房吧台区 · 法式门旁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G26_2、G26_3（双控：S11、S12）（双控）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厨房入口（KP762 门旁）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 · 通厨房洞口南侧（离洞边约 130）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洗衣房后门锁侧（离门洞边约 140）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71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G26_2、G26_3（双控：S11、S12）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围栏户外 LED 灯带（L40 出线；户外，单控：S11）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后花园投光灯 SOLLA 三头 150W（离地约 3.5 m，双控：S11、S7）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S7-1，S11-3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