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G-B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2 个回路：WL1 一层照明（B10）、WL3 户外照明（B6），均为 30 mA RCBO。本图为方案 B · 精简 17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本套图：方案 B · 精简 17 路，全屋照明 3 路（WL1 一层照明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G-B 2026-10-03）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188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04743" y="4661128"/>
            <a:ext cx="0" cy="1421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4743" y="4803230"/>
            <a:ext cx="0" cy="200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137871" y="5003846"/>
            <a:ext cx="668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V="1">
            <a:off x="3016666" y="3382205"/>
            <a:ext cx="0" cy="1278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3016666" y="3382205"/>
            <a:ext cx="16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3033384" y="3382205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4069897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204743" y="4803230"/>
            <a:ext cx="151715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4721897" y="4732179"/>
            <a:ext cx="0" cy="71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4124012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124012" y="4732179"/>
            <a:ext cx="59788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4458589" y="4176307"/>
            <a:ext cx="101143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470025" y="4176307"/>
            <a:ext cx="0" cy="217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458589" y="2312256"/>
            <a:ext cx="0" cy="1864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4145128" y="4176307"/>
            <a:ext cx="0" cy="123294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4145128" y="4176307"/>
            <a:ext cx="31346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137871" y="5003846"/>
            <a:ext cx="4128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V="1">
            <a:off x="3179154" y="4864428"/>
            <a:ext cx="0" cy="1394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2226858" y="5003846"/>
            <a:ext cx="9110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2226858" y="4252643"/>
            <a:ext cx="0" cy="7512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3137871" y="3837501"/>
            <a:ext cx="0" cy="11663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2708269" y="3837501"/>
            <a:ext cx="42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2740" y="5003846"/>
            <a:ext cx="4351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2702740" y="4665274"/>
            <a:ext cx="0" cy="3385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3204743" y="4203184"/>
            <a:ext cx="0" cy="60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3204743" y="4203184"/>
            <a:ext cx="5932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3204743" y="4184989"/>
            <a:ext cx="0" cy="6182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204743" y="4184989"/>
            <a:ext cx="1061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204743" y="4803230"/>
            <a:ext cx="963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V="1">
            <a:off x="3301129" y="4561200"/>
            <a:ext cx="0" cy="2420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4458589" y="4176307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5882529" y="4176307"/>
            <a:ext cx="0" cy="44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4458589" y="4176307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5011131" y="2116500"/>
            <a:ext cx="0" cy="2059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1507871" y="4924435"/>
            <a:ext cx="1630000" cy="794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2281676" y="49478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V="1">
            <a:off x="2293979" y="49484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 flipV="1">
            <a:off x="2306282" y="4949093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 flipV="1">
            <a:off x="2318586" y="49496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 flipV="1">
            <a:off x="2330889" y="49502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3" name="TextBox 692"/>
          <p:cNvSpPr txBox="1"/>
          <p:nvPr/>
        </p:nvSpPr>
        <p:spPr>
          <a:xfrm>
            <a:off x="2343987" y="4907831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94" name="Connector 693"/>
          <p:cNvCxnSpPr/>
          <p:nvPr/>
        </p:nvCxnSpPr>
        <p:spPr>
          <a:xfrm flipH="1" flipV="1">
            <a:off x="3016666" y="4661128"/>
            <a:ext cx="188077" cy="1421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H="1">
            <a:off x="3108177" y="4743941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H="1">
            <a:off x="3098350" y="4736516"/>
            <a:ext cx="44365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H="1">
            <a:off x="3088522" y="4729090"/>
            <a:ext cx="44365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H="1">
            <a:off x="3078694" y="4721665"/>
            <a:ext cx="44366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H="1">
            <a:off x="3068866" y="4714239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3131821" y="467587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1" name="Connector 700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08" name="Connector 707"/>
          <p:cNvCxnSpPr/>
          <p:nvPr/>
        </p:nvCxnSpPr>
        <p:spPr>
          <a:xfrm flipV="1">
            <a:off x="4458589" y="2312256"/>
            <a:ext cx="0" cy="186405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 flipV="1">
            <a:off x="4442752" y="3253080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 flipV="1">
            <a:off x="4442752" y="3240762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 flipV="1">
            <a:off x="4442752" y="3228445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 flipV="1">
            <a:off x="4442752" y="3216127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 flipV="1">
            <a:off x="4442752" y="3203809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H="1" flipV="1"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H="1" flipV="1"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0" name="Rectangle 719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Rectangle 723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26" name="Oval 725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28" name="Oval 727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9" name="Connector 728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" name="TextBox 730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32" name="Oval 731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3" name="Connector 732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5" name="TextBox 734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36" name="Oval 735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7" name="Connector 736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9" name="TextBox 738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0" name="Oval 739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1" name="Connector 740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3" name="TextBox 742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44" name="Oval 743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5" name="Connector 744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48" name="Oval 747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TextBox 748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0" name="Oval 749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TextBox 750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52" name="Oval 751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54" name="Oval 753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TextBox 754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56" name="Oval 755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59" name="Oval 758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2" name="Oval 761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5" name="Oval 764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68" name="Oval 767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1" name="Oval 770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4" name="Oval 773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7" name="Oval 776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0" name="Oval 779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83" name="Oval 782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86" name="Oval 785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89" name="Oval 788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2" name="Oval 791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5" name="Oval 794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8" name="Oval 797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01" name="Oval 800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04" name="Oval 803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5" name="Connector 804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7" name="TextBox 806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08" name="Oval 807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9" name="Connector 808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1" name="TextBox 810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12" name="Oval 811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TextBox 813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15" name="Oval 814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TextBox 816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18" name="Oval 817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TextBox 819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1" name="Oval 820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4" name="Oval 823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7" name="Oval 826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0" name="Oval 829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3" name="Oval 832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6" name="Oval 835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9" name="Oval 838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42" name="Oval 841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45" name="Oval 844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TextBox 845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7" name="Oval 846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TextBox 847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9" name="Oval 848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1" name="Oval 850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TextBox 851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3" name="Oval 852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4" name="Connector 853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1" name="TextBox 860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62" name="Oval 861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3" name="Connector 862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6" name="TextBox 865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67" name="Oval 866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8" name="Connector 867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4" name="TextBox 873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75" name="Oval 874"/>
          <p:cNvSpPr/>
          <p:nvPr/>
        </p:nvSpPr>
        <p:spPr>
          <a:xfrm>
            <a:off x="3125202" y="49911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6" name="Connector 875"/>
          <p:cNvCxnSpPr/>
          <p:nvPr/>
        </p:nvCxnSpPr>
        <p:spPr>
          <a:xfrm flipV="1">
            <a:off x="3137871" y="49560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>
            <a:off x="3185651" y="49560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>
            <a:off x="3177051" y="49646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>
            <a:off x="3168450" y="49732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159850" y="498186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 flipH="1">
            <a:off x="3102036" y="500384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 flipH="1" flipV="1">
            <a:off x="3090091" y="50277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3" name="TextBox 882"/>
          <p:cNvSpPr txBox="1"/>
          <p:nvPr/>
        </p:nvSpPr>
        <p:spPr>
          <a:xfrm>
            <a:off x="3192690" y="48997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84" name="Oval 883"/>
          <p:cNvSpPr/>
          <p:nvPr/>
        </p:nvSpPr>
        <p:spPr>
          <a:xfrm>
            <a:off x="3192074" y="4790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5" name="Connector 884"/>
          <p:cNvCxnSpPr/>
          <p:nvPr/>
        </p:nvCxnSpPr>
        <p:spPr>
          <a:xfrm flipV="1">
            <a:off x="3204743" y="4755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>
            <a:off x="3252523" y="4755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>
            <a:off x="3243923" y="47640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235322" y="47726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 flipH="1">
            <a:off x="3168908" y="480323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 flipH="1" flipV="1">
            <a:off x="3156963" y="48271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1" name="TextBox 890"/>
          <p:cNvSpPr txBox="1"/>
          <p:nvPr/>
        </p:nvSpPr>
        <p:spPr>
          <a:xfrm>
            <a:off x="3259562" y="4699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892" name="Oval 891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3" name="Connector 892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5" name="TextBox 894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896" name="Oval 895"/>
          <p:cNvSpPr/>
          <p:nvPr/>
        </p:nvSpPr>
        <p:spPr>
          <a:xfrm>
            <a:off x="4445920" y="416363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7" name="Connector 896"/>
          <p:cNvCxnSpPr/>
          <p:nvPr/>
        </p:nvCxnSpPr>
        <p:spPr>
          <a:xfrm flipV="1">
            <a:off x="4458589" y="4128527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4506369" y="412852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4497769" y="413712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>
            <a:off x="4422754" y="4176307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H="1" flipV="1">
            <a:off x="4410809" y="420019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" name="TextBox 901"/>
          <p:cNvSpPr txBox="1"/>
          <p:nvPr/>
        </p:nvSpPr>
        <p:spPr>
          <a:xfrm>
            <a:off x="4513408" y="40722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03" name="Oval 902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4" name="Connector 903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12" name="Oval 911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3" name="Connector 912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0" name="TextBox 919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21" name="Oval 920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2" name="Connector 921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4" name="TextBox 923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25" name="Oval 924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6" name="Connector 925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1" name="TextBox 930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32" name="Oval 931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3" name="Connector 932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8" name="TextBox 937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39" name="Oval 938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0" name="Connector 939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" name="TextBox 942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44" name="Oval 943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5" name="Connector 944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7" name="TextBox 946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48" name="Oval 947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9" name="Connector 948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1" name="TextBox 950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52" name="Rectangle 951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TextBox 952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4" name="Rectangle 953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6" name="Rectangle 955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8" name="Rectangle 957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TextBox 958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0" name="Rectangle 959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62" name="Connector 961"/>
          <p:cNvCxnSpPr/>
          <p:nvPr/>
        </p:nvCxnSpPr>
        <p:spPr>
          <a:xfrm flipV="1">
            <a:off x="3204743" y="5267450"/>
            <a:ext cx="793553" cy="171062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3" name="Oval 962"/>
          <p:cNvSpPr/>
          <p:nvPr/>
        </p:nvSpPr>
        <p:spPr>
          <a:xfrm>
            <a:off x="3956064" y="52252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4" name="Connector 963"/>
          <p:cNvCxnSpPr/>
          <p:nvPr/>
        </p:nvCxnSpPr>
        <p:spPr>
          <a:xfrm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V="1"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6" name="TextBox 965"/>
          <p:cNvSpPr txBox="1"/>
          <p:nvPr/>
        </p:nvSpPr>
        <p:spPr>
          <a:xfrm>
            <a:off x="4051086" y="51924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72" name="Rectangle 971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74" name="Rectangle 973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Rectangle 975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TextBox 976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G-B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3526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511298" y="3989014"/>
            <a:ext cx="0" cy="2664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511298" y="4255456"/>
            <a:ext cx="0" cy="3761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13" y="4631610"/>
            <a:ext cx="12538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5385913" y="5391754"/>
            <a:ext cx="184021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5385913" y="4631610"/>
            <a:ext cx="0" cy="76014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TextBox 587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7274519" y="3079975"/>
            <a:ext cx="0" cy="23117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7274519" y="3079975"/>
            <a:ext cx="5877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TextBox 590"/>
          <p:cNvSpPr txBox="1"/>
          <p:nvPr/>
        </p:nvSpPr>
        <p:spPr>
          <a:xfrm>
            <a:off x="5453542" y="5089312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2" name="Connector 591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385913" y="4631610"/>
            <a:ext cx="77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463318" y="4370202"/>
            <a:ext cx="0" cy="2614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3677764" y="4631610"/>
            <a:ext cx="17081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3677764" y="3223106"/>
            <a:ext cx="0" cy="1408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85913" y="2444714"/>
            <a:ext cx="0" cy="21868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80409" y="2444714"/>
            <a:ext cx="805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4570043" y="4631610"/>
            <a:ext cx="81587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570043" y="3996789"/>
            <a:ext cx="0" cy="6348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511298" y="3130369"/>
            <a:ext cx="0" cy="11250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511298" y="3130369"/>
            <a:ext cx="11122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511298" y="3096255"/>
            <a:ext cx="0" cy="1159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511298" y="3096255"/>
            <a:ext cx="199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511298" y="4255456"/>
            <a:ext cx="18072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92021" y="3801649"/>
            <a:ext cx="0" cy="453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7910650" y="3144496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7910650" y="3144496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cxnSp>
        <p:nvCxnSpPr>
          <p:cNvPr id="628" name="Connector 627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763383" y="4519932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791577" y="4521305"/>
            <a:ext cx="76033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819772" y="4522679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47966" y="4524052"/>
            <a:ext cx="76033" cy="689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876161" y="4525426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" name="TextBox 633"/>
          <p:cNvSpPr txBox="1"/>
          <p:nvPr/>
        </p:nvSpPr>
        <p:spPr>
          <a:xfrm>
            <a:off x="3906179" y="442812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5" name="Connector 634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5329184" y="4149190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5306662" y="4132173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5284140" y="4115157"/>
            <a:ext cx="101671" cy="141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5261618" y="4098140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5239095" y="4081123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5383366" y="3993193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2" name="Rectangle 641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TextBox 642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4" name="Connector 643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7" name="Rectangle 646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49" name="Oval 648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1" name="Oval 650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2" name="Connector 651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5" name="Oval 654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59" name="Oval 658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2" name="TextBox 661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3" name="Oval 662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TextBox 663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5" name="Oval 664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TextBox 666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8" name="Oval 667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1" name="Oval 670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TextBox 672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4" name="Oval 673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7" name="Oval 676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0" name="Oval 679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3" name="Oval 682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TextBox 684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6" name="Oval 685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9" name="Oval 688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TextBox 690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2" name="Oval 691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TextBox 693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5" name="Oval 694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TextBox 696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8" name="Oval 697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TextBox 699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1" name="Oval 700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TextBox 702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4" name="Oval 703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7" name="Oval 706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TextBox 708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0" name="Oval 709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3" name="Oval 712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6" name="Oval 715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7" name="Connector 716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TextBox 723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5" name="Oval 724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6" name="Connector 725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" name="TextBox 728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0" name="Oval 729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1" name="Connector 730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7" name="TextBox 736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8" name="Oval 737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9" name="Connector 738"/>
          <p:cNvCxnSpPr/>
          <p:nvPr/>
        </p:nvCxnSpPr>
        <p:spPr>
          <a:xfrm flipV="1">
            <a:off x="5385913" y="45221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5495409" y="4522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75700" y="4541824"/>
            <a:ext cx="27373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55990" y="456153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5436281" y="458124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 flipH="1">
            <a:off x="5303791" y="463161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 flipV="1">
            <a:off x="5276417" y="468635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5511539" y="4393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7" name="Oval 746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 flipV="1">
            <a:off x="5511298" y="4145960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5620793" y="414596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601084" y="416567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581375" y="418537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 flipH="1">
            <a:off x="5429176" y="425545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 flipV="1">
            <a:off x="5401802" y="4310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5636924" y="40169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5" name="Oval 754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6" name="Connector 755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TextBox 757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59" name="Oval 758"/>
          <p:cNvSpPr/>
          <p:nvPr/>
        </p:nvSpPr>
        <p:spPr>
          <a:xfrm>
            <a:off x="7833225" y="305094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0" name="Connector 759"/>
          <p:cNvCxnSpPr/>
          <p:nvPr/>
        </p:nvCxnSpPr>
        <p:spPr>
          <a:xfrm flipV="1">
            <a:off x="7862259" y="2970480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7971755" y="297048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7952046" y="299018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H="1">
            <a:off x="7780137" y="3079975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H="1" flipV="1">
            <a:off x="7752763" y="313472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5" name="TextBox 764"/>
          <p:cNvSpPr txBox="1"/>
          <p:nvPr/>
        </p:nvSpPr>
        <p:spPr>
          <a:xfrm>
            <a:off x="7987885" y="28414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66" name="Connector 765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Oval 766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8" name="Connector 767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0" name="TextBox 769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G07 区东侧 · 卫生间走道口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7" name="Rectangle 786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TextBox 788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G-B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WL1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G-B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015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01510" y="5123684"/>
            <a:ext cx="8802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97136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139210" y="6112736"/>
            <a:ext cx="19353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1597105" y="4318219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 flipV="1"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 flipV="1"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 flipV="1"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 flipV="1"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 flipV="1"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Rectangle 601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4" name="Oval 603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06" name="Oval 605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TextBox 606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08" name="Oval 607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0" name="Oval 60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1" name="Connector 61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TextBox 612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4" name="Oval 61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5" name="Connector 61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7" name="TextBox 616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18" name="Oval 61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1" name="Oval 62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3" name="Oval 62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5" name="Oval 62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7" name="Oval 62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9" name="Oval 628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0" name="Connector 629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6" name="Oval 635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43" name="Oval 642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4" name="Connector 643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8" name="Oval 647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52" name="Oval 651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56" name="Rectangle 655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TextBox 656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58" name="Rectangle 657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TextBox 658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0" name="Rectangle 659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2" name="Rectangle 661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TextBox 662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4" name="Rectangle 663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0" name="TextBox 669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73" name="TextBox 672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77" name="Rectangle 676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G-B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25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B10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一层照明（门廊 / 门厅 / 起居室 / 餐厅 / 楼梯 / 客厅 / 卫生间 / 厨房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36 盏（一层，字母 a b c d e f g h i j k l m n o r s t）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盏（一层，字母 p q u）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16 盏（二层，字母 见二层图）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00000" y="37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G-B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51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