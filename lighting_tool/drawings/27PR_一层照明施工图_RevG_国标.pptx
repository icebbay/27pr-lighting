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AL1（暂定楼梯下，现场定）引出 3 个回路：WL1 前区（含门廊壁灯）、WL2 后区（G15 区、卫生间、厨房、洗衣房，含排气扇）、WL3 后花园户外，均为 30 mA RCBO。楼梯壁灯在 WL1、楼梯吊灯在二层 WL4：任一路跳闸楼梯仍有照明。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D：S7 改为双联中途开关，控后花园壁灯 p、围栏地灯 q（与 S11、S12 三控）；G15 区筒灯 l 改为 S8、S9 双控。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E：一层照明曾按区域分 4 路；Rev G 起按全屋 18 路方案，厨房并回一层后区 WL2。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13. Rev G：全屋照明 4 路（一层前区 / 一层后区 / 二层 / 户外）。按已购灯具估算一层室内约 680 W、二层约 320 W，LED 负载远小于 6–10 A 照明回路；GU10 筒灯必须选 LED（≤ 7 W），不得换卤素灯。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 2026-10-03）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74" y="3837501"/>
            <a:ext cx="0" cy="42799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1743974" y="3837501"/>
            <a:ext cx="48332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227295" y="3837501"/>
            <a:ext cx="4809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702740" y="4257675"/>
            <a:ext cx="0" cy="407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02740" y="4257675"/>
            <a:ext cx="55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221767" y="4665274"/>
            <a:ext cx="48097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1738445" y="4665274"/>
            <a:ext cx="48332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5011131" y="2116500"/>
            <a:ext cx="78598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5797113" y="2116500"/>
            <a:ext cx="7234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6520530" y="2116500"/>
            <a:ext cx="4105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6931118" y="2116500"/>
            <a:ext cx="0" cy="19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507871" y="4924435"/>
            <a:ext cx="514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021948" y="4924435"/>
            <a:ext cx="0" cy="2256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48" y="5150128"/>
            <a:ext cx="994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3016666" y="4661128"/>
            <a:ext cx="0" cy="489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016666" y="4661128"/>
            <a:ext cx="188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204743" y="4661128"/>
            <a:ext cx="0" cy="1421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204743" y="4803230"/>
            <a:ext cx="0" cy="200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>
            <a:off x="3137871" y="5003846"/>
            <a:ext cx="668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137871" y="5409256"/>
            <a:ext cx="98614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3137871" y="5003846"/>
            <a:ext cx="0" cy="40541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3033384" y="3382205"/>
            <a:ext cx="103651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4069897" y="3010230"/>
            <a:ext cx="0" cy="3719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2055384" y="3382205"/>
            <a:ext cx="9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2055384" y="2483615"/>
            <a:ext cx="0" cy="89859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069897" y="3010230"/>
            <a:ext cx="0" cy="17219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069897" y="4732179"/>
            <a:ext cx="652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4721897" y="4732179"/>
            <a:ext cx="25327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7254666" y="4732179"/>
            <a:ext cx="0" cy="83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4145128" y="4732179"/>
            <a:ext cx="0" cy="67707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4145128" y="4732179"/>
            <a:ext cx="57676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4458589" y="4176307"/>
            <a:ext cx="101143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470025" y="4176307"/>
            <a:ext cx="0" cy="217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4458589" y="2312256"/>
            <a:ext cx="0" cy="1864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5470025" y="4393641"/>
            <a:ext cx="212318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7593205" y="4393641"/>
            <a:ext cx="0" cy="3468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4166244" y="4176307"/>
            <a:ext cx="0" cy="123294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4166244" y="4176307"/>
            <a:ext cx="29234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1461863" y="4924435"/>
            <a:ext cx="460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1461863" y="4924435"/>
            <a:ext cx="0" cy="355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1507871" y="4252643"/>
            <a:ext cx="0" cy="67179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1507871" y="4252643"/>
            <a:ext cx="7189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1507871" y="4265497"/>
            <a:ext cx="0" cy="658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1507871" y="4265497"/>
            <a:ext cx="23610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507871" y="4924435"/>
            <a:ext cx="230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1738445" y="4665274"/>
            <a:ext cx="0" cy="259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H="1">
            <a:off x="1865138" y="5150128"/>
            <a:ext cx="1568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1865138" y="5150128"/>
            <a:ext cx="0" cy="13904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2021948" y="5150128"/>
            <a:ext cx="3133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2335340" y="5150128"/>
            <a:ext cx="0" cy="125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3016666" y="4203184"/>
            <a:ext cx="0" cy="45794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>
            <a:off x="3016666" y="4203184"/>
            <a:ext cx="7812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016666" y="4184989"/>
            <a:ext cx="0" cy="4761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3016666" y="4184989"/>
            <a:ext cx="2942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016666" y="4561200"/>
            <a:ext cx="0" cy="9992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3016666" y="4561200"/>
            <a:ext cx="284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137871" y="5003846"/>
            <a:ext cx="4128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V="1">
            <a:off x="3179154" y="4864428"/>
            <a:ext cx="0" cy="1394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>
            <a:off x="2226858" y="5003846"/>
            <a:ext cx="9110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2226858" y="4252643"/>
            <a:ext cx="0" cy="7512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3137871" y="3837501"/>
            <a:ext cx="0" cy="11663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2708269" y="3837501"/>
            <a:ext cx="42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2702740" y="5003846"/>
            <a:ext cx="4351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2702740" y="4665274"/>
            <a:ext cx="0" cy="33857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3204743" y="4203184"/>
            <a:ext cx="0" cy="60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3204743" y="4203184"/>
            <a:ext cx="59322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V="1">
            <a:off x="3204743" y="4184989"/>
            <a:ext cx="0" cy="6182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3204743" y="4184989"/>
            <a:ext cx="1061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204743" y="4803230"/>
            <a:ext cx="963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 flipV="1">
            <a:off x="3301129" y="4561200"/>
            <a:ext cx="0" cy="2420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3204743" y="5332932"/>
            <a:ext cx="0" cy="10558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4458589" y="4176307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5882529" y="4176307"/>
            <a:ext cx="0" cy="447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4458589" y="4176307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 flipV="1">
            <a:off x="5011131" y="2116500"/>
            <a:ext cx="0" cy="2059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3033384" y="2818974"/>
            <a:ext cx="0" cy="5632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3033384" y="2567172"/>
            <a:ext cx="0" cy="815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2384555" y="3382205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2384555" y="2820355"/>
            <a:ext cx="0" cy="5618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H="1">
            <a:off x="2805548" y="3382205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2805548" y="3263573"/>
            <a:ext cx="0" cy="118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2055384" y="2483615"/>
            <a:ext cx="7484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2803798" y="2483615"/>
            <a:ext cx="0" cy="3353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2055384" y="2483615"/>
            <a:ext cx="0" cy="835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2055384" y="2567172"/>
            <a:ext cx="1973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V="1">
            <a:off x="2055384" y="2405014"/>
            <a:ext cx="0" cy="786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2055384" y="2405014"/>
            <a:ext cx="3269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2055384" y="2483615"/>
            <a:ext cx="0" cy="7739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2055384" y="3257541"/>
            <a:ext cx="3217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4069897" y="3010230"/>
            <a:ext cx="946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4164537" y="3010230"/>
            <a:ext cx="0" cy="32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4458589" y="2312256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5882529" y="2312256"/>
            <a:ext cx="0" cy="18685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4458589" y="2312256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5011131" y="2116500"/>
            <a:ext cx="0" cy="195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5470025" y="4180781"/>
            <a:ext cx="0" cy="2128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5470025" y="4180781"/>
            <a:ext cx="412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5470025" y="2116500"/>
            <a:ext cx="0" cy="22771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5470025" y="2116500"/>
            <a:ext cx="3270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4721897" y="4732179"/>
            <a:ext cx="7798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5501777" y="4732179"/>
            <a:ext cx="0" cy="1156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4721897" y="4732179"/>
            <a:ext cx="19726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6694541" y="4732179"/>
            <a:ext cx="0" cy="934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7254666" y="4740538"/>
            <a:ext cx="0" cy="338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7254666" y="5078600"/>
            <a:ext cx="1644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593205" y="4740538"/>
            <a:ext cx="3567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7949918" y="4740538"/>
            <a:ext cx="0" cy="1556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1507871" y="4924435"/>
            <a:ext cx="1630000" cy="794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 flipV="1">
            <a:off x="2281676" y="49478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 flipV="1">
            <a:off x="2293979" y="49484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 flipV="1">
            <a:off x="2306282" y="4949093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 flipV="1">
            <a:off x="2318586" y="49496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 flipV="1">
            <a:off x="2330889" y="49502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3" name="TextBox 692"/>
          <p:cNvSpPr txBox="1"/>
          <p:nvPr/>
        </p:nvSpPr>
        <p:spPr>
          <a:xfrm>
            <a:off x="2343987" y="4907831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94" name="Connector 693"/>
          <p:cNvCxnSpPr/>
          <p:nvPr/>
        </p:nvCxnSpPr>
        <p:spPr>
          <a:xfrm flipH="1" flipV="1">
            <a:off x="3016666" y="4661128"/>
            <a:ext cx="188077" cy="14210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H="1">
            <a:off x="3108177" y="4743941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H="1">
            <a:off x="3098350" y="4736516"/>
            <a:ext cx="44365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H="1">
            <a:off x="3088522" y="4729090"/>
            <a:ext cx="44365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H="1">
            <a:off x="3078694" y="4721665"/>
            <a:ext cx="44366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H="1">
            <a:off x="3068866" y="4714239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3131821" y="467587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1" name="Connector 700"/>
          <p:cNvCxnSpPr/>
          <p:nvPr/>
        </p:nvCxnSpPr>
        <p:spPr>
          <a:xfrm flipH="1" flipV="1">
            <a:off x="2055384" y="2483615"/>
            <a:ext cx="978000" cy="89859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>
            <a:off x="2540148" y="2948631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2531078" y="2940297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2522007" y="2931963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2512937" y="2923629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H="1">
            <a:off x="2503867" y="2915295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/>
          <p:cNvSpPr txBox="1"/>
          <p:nvPr/>
        </p:nvSpPr>
        <p:spPr>
          <a:xfrm>
            <a:off x="2565500" y="287660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cxnSp>
        <p:nvCxnSpPr>
          <p:cNvPr id="708" name="Connector 707"/>
          <p:cNvCxnSpPr/>
          <p:nvPr/>
        </p:nvCxnSpPr>
        <p:spPr>
          <a:xfrm flipV="1">
            <a:off x="4458589" y="2312256"/>
            <a:ext cx="0" cy="186405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 flipV="1">
            <a:off x="4442752" y="3253080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 flipV="1">
            <a:off x="4442752" y="3240762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 flipV="1">
            <a:off x="4442752" y="3228445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 flipV="1">
            <a:off x="4442752" y="3216127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 flipV="1">
            <a:off x="4442752" y="3203809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H="1" flipV="1">
            <a:off x="4458589" y="2312256"/>
            <a:ext cx="1011436" cy="20813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H="1" flipV="1">
            <a:off x="4953908" y="3367784"/>
            <a:ext cx="42333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H="1" flipV="1">
            <a:off x="4948525" y="3356705"/>
            <a:ext cx="42332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H="1" flipV="1">
            <a:off x="4943141" y="3345626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4937757" y="3334547"/>
            <a:ext cx="42333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 flipV="1">
            <a:off x="4932374" y="3323468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0" name="Rectangle 719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722" name="Connector 721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Rectangle 723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TextBox 724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726" name="Oval 725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TextBox 726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28" name="Oval 727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9" name="Connector 728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1" name="TextBox 730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32" name="Oval 731"/>
          <p:cNvSpPr/>
          <p:nvPr/>
        </p:nvSpPr>
        <p:spPr>
          <a:xfrm>
            <a:off x="2184627" y="421041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3" name="Connector 732"/>
          <p:cNvCxnSpPr/>
          <p:nvPr/>
        </p:nvCxnSpPr>
        <p:spPr>
          <a:xfrm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 flipV="1"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5" name="TextBox 734"/>
          <p:cNvSpPr txBox="1"/>
          <p:nvPr/>
        </p:nvSpPr>
        <p:spPr>
          <a:xfrm>
            <a:off x="2265571" y="41716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36" name="Oval 735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7" name="Connector 736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9" name="TextBox 738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40" name="Oval 739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1" name="Connector 740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3" name="TextBox 742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44" name="Oval 743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5" name="Connector 744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48" name="Oval 747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TextBox 748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50" name="Oval 749"/>
          <p:cNvSpPr/>
          <p:nvPr/>
        </p:nvSpPr>
        <p:spPr>
          <a:xfrm>
            <a:off x="7911205" y="4857471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05" y="4896184"/>
            <a:ext cx="77426" cy="38712"/>
          </a:xfrm>
          <a:custGeom>
            <a:avLst/>
            <a:gdLst/>
            <a:ahLst/>
            <a:cxnLst/>
            <a:rect l="l" t="t" r="r" b="b"/>
            <a:pathLst>
              <a:path w="77426" h="38712">
                <a:moveTo>
                  <a:pt x="77426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1" y="32188"/>
                </a:lnTo>
                <a:lnTo>
                  <a:pt x="53528" y="35765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1" y="37968"/>
                </a:lnTo>
                <a:lnTo>
                  <a:pt x="23898" y="35765"/>
                </a:lnTo>
                <a:lnTo>
                  <a:pt x="17205" y="32188"/>
                </a:lnTo>
                <a:lnTo>
                  <a:pt x="11339" y="27374"/>
                </a:lnTo>
                <a:lnTo>
                  <a:pt x="6525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6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TextBox 750"/>
          <p:cNvSpPr txBox="1"/>
          <p:nvPr/>
        </p:nvSpPr>
        <p:spPr>
          <a:xfrm>
            <a:off x="7988631" y="4815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52" name="Oval 751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TextBox 752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54" name="Oval 753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TextBox 754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56" name="Oval 755"/>
          <p:cNvSpPr/>
          <p:nvPr/>
        </p:nvSpPr>
        <p:spPr>
          <a:xfrm>
            <a:off x="2674586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2693942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2741453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59" name="Oval 758"/>
          <p:cNvSpPr/>
          <p:nvPr/>
        </p:nvSpPr>
        <p:spPr>
          <a:xfrm>
            <a:off x="2193612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2212968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2260479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2" name="Oval 761"/>
          <p:cNvSpPr/>
          <p:nvPr/>
        </p:nvSpPr>
        <p:spPr>
          <a:xfrm>
            <a:off x="1710290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1729647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1777157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5" name="Oval 764"/>
          <p:cNvSpPr/>
          <p:nvPr/>
        </p:nvSpPr>
        <p:spPr>
          <a:xfrm>
            <a:off x="1715819" y="423734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1735175" y="4256699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1782686" y="418455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68" name="Oval 767"/>
          <p:cNvSpPr/>
          <p:nvPr/>
        </p:nvSpPr>
        <p:spPr>
          <a:xfrm>
            <a:off x="2199141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218497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2266008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1" name="Oval 770"/>
          <p:cNvSpPr/>
          <p:nvPr/>
        </p:nvSpPr>
        <p:spPr>
          <a:xfrm>
            <a:off x="268011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269947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TextBox 772"/>
          <p:cNvSpPr txBox="1"/>
          <p:nvPr/>
        </p:nvSpPr>
        <p:spPr>
          <a:xfrm>
            <a:off x="274698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4" name="Oval 773"/>
          <p:cNvSpPr/>
          <p:nvPr/>
        </p:nvSpPr>
        <p:spPr>
          <a:xfrm>
            <a:off x="2680114" y="422952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2699471" y="42488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2746982" y="41767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7" name="Oval 776"/>
          <p:cNvSpPr/>
          <p:nvPr/>
        </p:nvSpPr>
        <p:spPr>
          <a:xfrm>
            <a:off x="1715819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1735175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1782686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0" name="Oval 779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83" name="Oval 782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86" name="Oval 785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89" name="Oval 788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2" name="Oval 791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TextBox 793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5" name="Oval 794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8" name="Oval 797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TextBox 799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01" name="Oval 800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TextBox 802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04" name="Oval 803"/>
          <p:cNvSpPr/>
          <p:nvPr/>
        </p:nvSpPr>
        <p:spPr>
          <a:xfrm>
            <a:off x="6652309" y="478336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5" name="Connector 804"/>
          <p:cNvCxnSpPr/>
          <p:nvPr/>
        </p:nvCxnSpPr>
        <p:spPr>
          <a:xfrm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 flipV="1"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7" name="TextBox 806"/>
          <p:cNvSpPr txBox="1"/>
          <p:nvPr/>
        </p:nvSpPr>
        <p:spPr>
          <a:xfrm>
            <a:off x="6733254" y="47446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808" name="Oval 807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9" name="Connector 808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1" name="TextBox 810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812" name="Oval 811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TextBox 813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815" name="Oval 814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TextBox 816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18" name="Oval 817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TextBox 819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21" name="Oval 820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TextBox 822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24" name="Oval 823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TextBox 825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27" name="Oval 826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0" name="Oval 829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3" name="Oval 832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TextBox 834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6" name="Oval 835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9" name="Oval 838"/>
          <p:cNvSpPr/>
          <p:nvPr/>
        </p:nvSpPr>
        <p:spPr>
          <a:xfrm>
            <a:off x="7390977" y="50504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7410333" y="50698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7457844" y="49976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42" name="Oval 841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TextBox 843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45" name="Oval 844"/>
          <p:cNvSpPr/>
          <p:nvPr/>
        </p:nvSpPr>
        <p:spPr>
          <a:xfrm>
            <a:off x="4986496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997054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TextBox 845"/>
          <p:cNvSpPr txBox="1"/>
          <p:nvPr/>
        </p:nvSpPr>
        <p:spPr>
          <a:xfrm>
            <a:off x="5049844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47" name="Oval 846"/>
          <p:cNvSpPr/>
          <p:nvPr/>
        </p:nvSpPr>
        <p:spPr>
          <a:xfrm>
            <a:off x="5772478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783036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TextBox 847"/>
          <p:cNvSpPr txBox="1"/>
          <p:nvPr/>
        </p:nvSpPr>
        <p:spPr>
          <a:xfrm>
            <a:off x="5835826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49" name="Oval 848"/>
          <p:cNvSpPr/>
          <p:nvPr/>
        </p:nvSpPr>
        <p:spPr>
          <a:xfrm>
            <a:off x="6495894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506452" y="2100663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8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8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TextBox 849"/>
          <p:cNvSpPr txBox="1"/>
          <p:nvPr/>
        </p:nvSpPr>
        <p:spPr>
          <a:xfrm>
            <a:off x="6559242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1" name="Oval 850"/>
          <p:cNvSpPr/>
          <p:nvPr/>
        </p:nvSpPr>
        <p:spPr>
          <a:xfrm>
            <a:off x="6906483" y="2093844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917041" y="2102642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7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TextBox 851"/>
          <p:cNvSpPr txBox="1"/>
          <p:nvPr/>
        </p:nvSpPr>
        <p:spPr>
          <a:xfrm>
            <a:off x="6969831" y="203753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3" name="Oval 852"/>
          <p:cNvSpPr/>
          <p:nvPr/>
        </p:nvSpPr>
        <p:spPr>
          <a:xfrm>
            <a:off x="1495202" y="491176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4" name="Connector 853"/>
          <p:cNvCxnSpPr/>
          <p:nvPr/>
        </p:nvCxnSpPr>
        <p:spPr>
          <a:xfrm flipV="1">
            <a:off x="1507871" y="487665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>
            <a:off x="1555651" y="48766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>
            <a:off x="1547051" y="48852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>
            <a:off x="1538450" y="48938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>
            <a:off x="1529850" y="490245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 flipH="1">
            <a:off x="1472036" y="492443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 flipH="1" flipV="1">
            <a:off x="1460091" y="49483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1" name="TextBox 860"/>
          <p:cNvSpPr txBox="1"/>
          <p:nvPr/>
        </p:nvSpPr>
        <p:spPr>
          <a:xfrm>
            <a:off x="1562690" y="482034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62" name="Oval 861"/>
          <p:cNvSpPr/>
          <p:nvPr/>
        </p:nvSpPr>
        <p:spPr>
          <a:xfrm>
            <a:off x="2009279" y="5137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3" name="Connector 862"/>
          <p:cNvCxnSpPr/>
          <p:nvPr/>
        </p:nvCxnSpPr>
        <p:spPr>
          <a:xfrm flipV="1">
            <a:off x="2021948" y="5102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>
            <a:off x="2069728" y="5102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>
            <a:off x="2061128" y="5110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6" name="TextBox 865"/>
          <p:cNvSpPr txBox="1"/>
          <p:nvPr/>
        </p:nvSpPr>
        <p:spPr>
          <a:xfrm>
            <a:off x="2076767" y="5046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67" name="Oval 866"/>
          <p:cNvSpPr/>
          <p:nvPr/>
        </p:nvSpPr>
        <p:spPr>
          <a:xfrm>
            <a:off x="3003997" y="4648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8" name="Connector 867"/>
          <p:cNvCxnSpPr/>
          <p:nvPr/>
        </p:nvCxnSpPr>
        <p:spPr>
          <a:xfrm flipV="1">
            <a:off x="3016666" y="4613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>
            <a:off x="3064446" y="4613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>
            <a:off x="3055846" y="4621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>
            <a:off x="3047245" y="463054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 flipH="1">
            <a:off x="2980831" y="4661128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 flipH="1" flipV="1">
            <a:off x="2968886" y="468501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4" name="TextBox 873"/>
          <p:cNvSpPr txBox="1"/>
          <p:nvPr/>
        </p:nvSpPr>
        <p:spPr>
          <a:xfrm>
            <a:off x="3071485" y="4557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875" name="Oval 874"/>
          <p:cNvSpPr/>
          <p:nvPr/>
        </p:nvSpPr>
        <p:spPr>
          <a:xfrm>
            <a:off x="3125202" y="499117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6" name="Connector 875"/>
          <p:cNvCxnSpPr/>
          <p:nvPr/>
        </p:nvCxnSpPr>
        <p:spPr>
          <a:xfrm flipV="1">
            <a:off x="3137871" y="495606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>
            <a:off x="3185651" y="49560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Connector 877"/>
          <p:cNvCxnSpPr/>
          <p:nvPr/>
        </p:nvCxnSpPr>
        <p:spPr>
          <a:xfrm>
            <a:off x="3177051" y="49646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>
            <a:off x="3168450" y="49732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3159850" y="498186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 flipH="1">
            <a:off x="3102036" y="500384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 flipH="1" flipV="1">
            <a:off x="3090091" y="50277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3" name="TextBox 882"/>
          <p:cNvSpPr txBox="1"/>
          <p:nvPr/>
        </p:nvSpPr>
        <p:spPr>
          <a:xfrm>
            <a:off x="3192690" y="48997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84" name="Oval 883"/>
          <p:cNvSpPr/>
          <p:nvPr/>
        </p:nvSpPr>
        <p:spPr>
          <a:xfrm>
            <a:off x="3192074" y="4790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5" name="Connector 884"/>
          <p:cNvCxnSpPr/>
          <p:nvPr/>
        </p:nvCxnSpPr>
        <p:spPr>
          <a:xfrm flipV="1">
            <a:off x="3204743" y="4755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>
            <a:off x="3252523" y="4755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>
            <a:off x="3243923" y="47640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3235322" y="47726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 flipH="1">
            <a:off x="3168908" y="4803230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 flipH="1" flipV="1">
            <a:off x="3156963" y="48271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1" name="TextBox 890"/>
          <p:cNvSpPr txBox="1"/>
          <p:nvPr/>
        </p:nvSpPr>
        <p:spPr>
          <a:xfrm>
            <a:off x="3259562" y="4699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892" name="Oval 891"/>
          <p:cNvSpPr/>
          <p:nvPr/>
        </p:nvSpPr>
        <p:spPr>
          <a:xfrm>
            <a:off x="3192074" y="5425843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3" name="Connector 892"/>
          <p:cNvCxnSpPr/>
          <p:nvPr/>
        </p:nvCxnSpPr>
        <p:spPr>
          <a:xfrm flipV="1">
            <a:off x="3204743" y="5390732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>
            <a:off x="3252523" y="53907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5" name="TextBox 894"/>
          <p:cNvSpPr txBox="1"/>
          <p:nvPr/>
        </p:nvSpPr>
        <p:spPr>
          <a:xfrm>
            <a:off x="3259562" y="533442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896" name="Oval 895"/>
          <p:cNvSpPr/>
          <p:nvPr/>
        </p:nvSpPr>
        <p:spPr>
          <a:xfrm>
            <a:off x="4445920" y="416363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7" name="Connector 896"/>
          <p:cNvCxnSpPr/>
          <p:nvPr/>
        </p:nvCxnSpPr>
        <p:spPr>
          <a:xfrm flipV="1">
            <a:off x="4458589" y="4128527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4506369" y="412852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4497769" y="413712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H="1">
            <a:off x="4422754" y="4176307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H="1" flipV="1">
            <a:off x="4410809" y="420019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" name="TextBox 901"/>
          <p:cNvSpPr txBox="1"/>
          <p:nvPr/>
        </p:nvSpPr>
        <p:spPr>
          <a:xfrm>
            <a:off x="4513408" y="40722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903" name="Oval 902"/>
          <p:cNvSpPr/>
          <p:nvPr/>
        </p:nvSpPr>
        <p:spPr>
          <a:xfrm>
            <a:off x="3020715" y="336953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4" name="Connector 903"/>
          <p:cNvCxnSpPr/>
          <p:nvPr/>
        </p:nvCxnSpPr>
        <p:spPr>
          <a:xfrm flipV="1">
            <a:off x="3033384" y="333442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3081164" y="3334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>
            <a:off x="3072564" y="33430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>
            <a:off x="3055363" y="336022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 flipH="1">
            <a:off x="2997549" y="338220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 flipH="1" flipV="1">
            <a:off x="2985604" y="340609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912" name="Oval 911"/>
          <p:cNvSpPr/>
          <p:nvPr/>
        </p:nvSpPr>
        <p:spPr>
          <a:xfrm>
            <a:off x="2042715" y="247094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3" name="Connector 912"/>
          <p:cNvCxnSpPr/>
          <p:nvPr/>
        </p:nvCxnSpPr>
        <p:spPr>
          <a:xfrm flipV="1">
            <a:off x="2055384" y="24358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>
            <a:off x="2103164" y="24358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>
            <a:off x="2094564" y="244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>
            <a:off x="2085963" y="245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2077363" y="246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 flipH="1">
            <a:off x="2019549" y="24836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 flipH="1" flipV="1">
            <a:off x="2007604" y="25075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0" name="TextBox 919"/>
          <p:cNvSpPr txBox="1"/>
          <p:nvPr/>
        </p:nvSpPr>
        <p:spPr>
          <a:xfrm>
            <a:off x="2110203" y="23795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921" name="Oval 920"/>
          <p:cNvSpPr/>
          <p:nvPr/>
        </p:nvSpPr>
        <p:spPr>
          <a:xfrm>
            <a:off x="4057227" y="2997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2" name="Connector 921"/>
          <p:cNvCxnSpPr/>
          <p:nvPr/>
        </p:nvCxnSpPr>
        <p:spPr>
          <a:xfrm flipV="1">
            <a:off x="4069897" y="2962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>
            <a:off x="4117677" y="2962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4" name="TextBox 923"/>
          <p:cNvSpPr txBox="1"/>
          <p:nvPr/>
        </p:nvSpPr>
        <p:spPr>
          <a:xfrm>
            <a:off x="4124716" y="2906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925" name="Oval 924"/>
          <p:cNvSpPr/>
          <p:nvPr/>
        </p:nvSpPr>
        <p:spPr>
          <a:xfrm>
            <a:off x="4445920" y="229958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6" name="Connector 925"/>
          <p:cNvCxnSpPr/>
          <p:nvPr/>
        </p:nvCxnSpPr>
        <p:spPr>
          <a:xfrm flipV="1">
            <a:off x="4458589" y="226447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4506369" y="22644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4497769" y="22730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 flipH="1">
            <a:off x="4422754" y="231225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 flipV="1">
            <a:off x="4410809" y="233614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1" name="TextBox 930"/>
          <p:cNvSpPr txBox="1"/>
          <p:nvPr/>
        </p:nvSpPr>
        <p:spPr>
          <a:xfrm>
            <a:off x="4513408" y="220816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932" name="Oval 931"/>
          <p:cNvSpPr/>
          <p:nvPr/>
        </p:nvSpPr>
        <p:spPr>
          <a:xfrm>
            <a:off x="5457356" y="438097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3" name="Connector 932"/>
          <p:cNvCxnSpPr/>
          <p:nvPr/>
        </p:nvCxnSpPr>
        <p:spPr>
          <a:xfrm flipV="1">
            <a:off x="5470025" y="434586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5517805" y="43458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5509205" y="43544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 flipH="1">
            <a:off x="5434190" y="439364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 flipH="1" flipV="1">
            <a:off x="5422245" y="44175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8" name="TextBox 937"/>
          <p:cNvSpPr txBox="1"/>
          <p:nvPr/>
        </p:nvSpPr>
        <p:spPr>
          <a:xfrm>
            <a:off x="5524844" y="42895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939" name="Oval 938"/>
          <p:cNvSpPr/>
          <p:nvPr/>
        </p:nvSpPr>
        <p:spPr>
          <a:xfrm>
            <a:off x="4709227" y="471950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0" name="Connector 939"/>
          <p:cNvCxnSpPr/>
          <p:nvPr/>
        </p:nvCxnSpPr>
        <p:spPr>
          <a:xfrm flipV="1">
            <a:off x="4721897" y="468439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4769677" y="46843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>
            <a:off x="4761077" y="46929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3" name="TextBox 942"/>
          <p:cNvSpPr txBox="1"/>
          <p:nvPr/>
        </p:nvSpPr>
        <p:spPr>
          <a:xfrm>
            <a:off x="4776716" y="462809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44" name="Oval 943"/>
          <p:cNvSpPr/>
          <p:nvPr/>
        </p:nvSpPr>
        <p:spPr>
          <a:xfrm>
            <a:off x="7241997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5" name="Connector 944"/>
          <p:cNvCxnSpPr/>
          <p:nvPr/>
        </p:nvCxnSpPr>
        <p:spPr>
          <a:xfrm flipV="1">
            <a:off x="7254666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>
            <a:off x="7302446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7" name="TextBox 946"/>
          <p:cNvSpPr txBox="1"/>
          <p:nvPr/>
        </p:nvSpPr>
        <p:spPr>
          <a:xfrm>
            <a:off x="7309485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48" name="Oval 947"/>
          <p:cNvSpPr/>
          <p:nvPr/>
        </p:nvSpPr>
        <p:spPr>
          <a:xfrm>
            <a:off x="7580535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9" name="Connector 948"/>
          <p:cNvCxnSpPr/>
          <p:nvPr/>
        </p:nvCxnSpPr>
        <p:spPr>
          <a:xfrm flipV="1">
            <a:off x="7593205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7640985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1" name="TextBox 950"/>
          <p:cNvSpPr txBox="1"/>
          <p:nvPr/>
        </p:nvSpPr>
        <p:spPr>
          <a:xfrm>
            <a:off x="7648023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52" name="Rectangle 951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TextBox 952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4" name="Rectangle 953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6" name="Rectangle 955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8" name="Rectangle 957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TextBox 958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0" name="Rectangle 959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cxnSp>
        <p:nvCxnSpPr>
          <p:cNvPr id="962" name="Connector 961"/>
          <p:cNvCxnSpPr/>
          <p:nvPr/>
        </p:nvCxnSpPr>
        <p:spPr>
          <a:xfrm flipV="1">
            <a:off x="3204743" y="5267450"/>
            <a:ext cx="793553" cy="171062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3" name="Oval 962"/>
          <p:cNvSpPr/>
          <p:nvPr/>
        </p:nvSpPr>
        <p:spPr>
          <a:xfrm>
            <a:off x="3956064" y="522521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4" name="Connector 963"/>
          <p:cNvCxnSpPr/>
          <p:nvPr/>
        </p:nvCxnSpPr>
        <p:spPr>
          <a:xfrm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 flipV="1"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6" name="TextBox 965"/>
          <p:cNvSpPr txBox="1"/>
          <p:nvPr/>
        </p:nvSpPr>
        <p:spPr>
          <a:xfrm>
            <a:off x="4051086" y="519245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WL1/WL2/WL3（先到开关盒）；细实线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68" name="Rectangle 967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70" name="Rectangle 969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72" name="Rectangle 971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74" name="Rectangle 973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Rectangle 974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Rectangle 975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TextBox 976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55" y="2444714"/>
            <a:ext cx="0" cy="8024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772355" y="2444714"/>
            <a:ext cx="9062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678583" y="2444714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570043" y="3232541"/>
            <a:ext cx="0" cy="7642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4570043" y="3232541"/>
            <a:ext cx="103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3668217" y="3996789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2761988" y="3996789"/>
            <a:ext cx="9062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2329663" y="4482716"/>
            <a:ext cx="963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93557" y="4482716"/>
            <a:ext cx="0" cy="4231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3293557" y="4905889"/>
            <a:ext cx="186509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5158653" y="3989014"/>
            <a:ext cx="0" cy="9168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5158653" y="3989014"/>
            <a:ext cx="3526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5511298" y="3989014"/>
            <a:ext cx="0" cy="2664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511298" y="4255456"/>
            <a:ext cx="0" cy="37615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5385913" y="4631610"/>
            <a:ext cx="12538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>
            <a:off x="5385913" y="5391754"/>
            <a:ext cx="184021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5385913" y="4631610"/>
            <a:ext cx="0" cy="76014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TextBox 587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89" name="Connector 588"/>
          <p:cNvCxnSpPr/>
          <p:nvPr/>
        </p:nvCxnSpPr>
        <p:spPr>
          <a:xfrm flipV="1">
            <a:off x="7322909" y="3079975"/>
            <a:ext cx="0" cy="23117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7322909" y="3079975"/>
            <a:ext cx="53935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TextBox 590"/>
          <p:cNvSpPr txBox="1"/>
          <p:nvPr/>
        </p:nvSpPr>
        <p:spPr>
          <a:xfrm>
            <a:off x="5453542" y="4968335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92" name="Connector 591"/>
          <p:cNvCxnSpPr/>
          <p:nvPr/>
        </p:nvCxnSpPr>
        <p:spPr>
          <a:xfrm flipH="1">
            <a:off x="2243398" y="4482716"/>
            <a:ext cx="86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243398" y="4482716"/>
            <a:ext cx="0" cy="6659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2329663" y="3223106"/>
            <a:ext cx="0" cy="12596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329663" y="3223106"/>
            <a:ext cx="13481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2329663" y="3247206"/>
            <a:ext cx="0" cy="12355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29663" y="3247206"/>
            <a:ext cx="4426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329663" y="4482716"/>
            <a:ext cx="4323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2761988" y="3996789"/>
            <a:ext cx="0" cy="4859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2999539" y="4905889"/>
            <a:ext cx="2940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999539" y="4905889"/>
            <a:ext cx="0" cy="260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293557" y="4905889"/>
            <a:ext cx="5876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881167" y="4905889"/>
            <a:ext cx="0" cy="2348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5158653" y="3130369"/>
            <a:ext cx="0" cy="8586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5158653" y="3130369"/>
            <a:ext cx="14649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5158653" y="3096255"/>
            <a:ext cx="0" cy="8927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5158653" y="3096255"/>
            <a:ext cx="5516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158653" y="3801649"/>
            <a:ext cx="0" cy="1873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158653" y="3801649"/>
            <a:ext cx="533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385913" y="4631610"/>
            <a:ext cx="774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5463318" y="4370202"/>
            <a:ext cx="0" cy="26140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3677764" y="4631610"/>
            <a:ext cx="17081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3677764" y="3223106"/>
            <a:ext cx="0" cy="14085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5385913" y="2444714"/>
            <a:ext cx="0" cy="218689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4580409" y="2444714"/>
            <a:ext cx="805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4570043" y="4631610"/>
            <a:ext cx="81587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570043" y="3996789"/>
            <a:ext cx="0" cy="6348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511298" y="3130369"/>
            <a:ext cx="0" cy="11250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5511298" y="3130369"/>
            <a:ext cx="11122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511298" y="3096255"/>
            <a:ext cx="0" cy="11592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5511298" y="3096255"/>
            <a:ext cx="19901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5511298" y="4255456"/>
            <a:ext cx="18072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92021" y="3801649"/>
            <a:ext cx="0" cy="453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5511298" y="52046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TextBox 624"/>
          <p:cNvSpPr txBox="1"/>
          <p:nvPr/>
        </p:nvSpPr>
        <p:spPr>
          <a:xfrm>
            <a:off x="5543558" y="51562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7910650" y="3144496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接线见另图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7910650" y="3144496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cxnSp>
        <p:nvCxnSpPr>
          <p:cNvPr id="628" name="Connector 627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763383" y="4519932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791577" y="4521305"/>
            <a:ext cx="76033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819772" y="4522679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847966" y="4524052"/>
            <a:ext cx="76033" cy="6896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876161" y="4525426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4" name="TextBox 633"/>
          <p:cNvSpPr txBox="1"/>
          <p:nvPr/>
        </p:nvSpPr>
        <p:spPr>
          <a:xfrm>
            <a:off x="3906179" y="4428121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35" name="Connector 634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>
            <a:off x="5329184" y="4149190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5306662" y="4132173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>
            <a:off x="5284140" y="4115157"/>
            <a:ext cx="101671" cy="1415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5261618" y="4098140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5239095" y="4081123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TextBox 640"/>
          <p:cNvSpPr txBox="1"/>
          <p:nvPr/>
        </p:nvSpPr>
        <p:spPr>
          <a:xfrm>
            <a:off x="5383366" y="3993193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42" name="Rectangle 641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TextBox 642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44" name="Connector 643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47" name="Rectangle 646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49" name="Oval 648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extBox 649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51" name="Oval 650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2" name="Connector 651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55" name="Oval 654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extBox 657"/>
          <p:cNvSpPr txBox="1"/>
          <p:nvPr/>
        </p:nvSpPr>
        <p:spPr>
          <a:xfrm>
            <a:off x="3766480" y="30376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59" name="Oval 658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0" name="Connector 659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2" name="TextBox 661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63" name="Oval 662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TextBox 663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65" name="Oval 664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TextBox 666"/>
          <p:cNvSpPr txBox="1"/>
          <p:nvPr/>
        </p:nvSpPr>
        <p:spPr>
          <a:xfrm>
            <a:off x="4658759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68" name="Oval 667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3756933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1" name="Oval 670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TextBox 672"/>
          <p:cNvSpPr txBox="1"/>
          <p:nvPr/>
        </p:nvSpPr>
        <p:spPr>
          <a:xfrm>
            <a:off x="2850705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4" name="Oval 673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2861071" y="30617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7" name="Oval 676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3767299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0" name="Oval 679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4669125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3" name="Oval 682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TextBox 684"/>
          <p:cNvSpPr txBox="1"/>
          <p:nvPr/>
        </p:nvSpPr>
        <p:spPr>
          <a:xfrm>
            <a:off x="4669125" y="304704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86" name="Oval 685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2861071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9" name="Oval 688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TextBox 690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2" name="Oval 691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TextBox 693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5" name="Oval 694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TextBox 696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8" name="Oval 697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TextBox 699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1" name="Oval 700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TextBox 702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4" name="Oval 703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TextBox 705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7" name="Oval 706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TextBox 708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0" name="Oval 709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3" name="Oval 712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16" name="Oval 715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7" name="Connector 716"/>
          <p:cNvCxnSpPr/>
          <p:nvPr/>
        </p:nvCxnSpPr>
        <p:spPr>
          <a:xfrm flipV="1">
            <a:off x="2329663" y="4373220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2439159" y="437322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2419450" y="4392929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2399740" y="4412639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2380031" y="443234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H="1">
            <a:off x="2247541" y="448271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H="1" flipV="1">
            <a:off x="2220167" y="453746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TextBox 723"/>
          <p:cNvSpPr txBox="1"/>
          <p:nvPr/>
        </p:nvSpPr>
        <p:spPr>
          <a:xfrm>
            <a:off x="2455289" y="424417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25" name="Oval 724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6" name="Connector 725"/>
          <p:cNvCxnSpPr/>
          <p:nvPr/>
        </p:nvCxnSpPr>
        <p:spPr>
          <a:xfrm flipV="1">
            <a:off x="3293557" y="4796393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3403053" y="479639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3383344" y="481610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" name="TextBox 728"/>
          <p:cNvSpPr txBox="1"/>
          <p:nvPr/>
        </p:nvSpPr>
        <p:spPr>
          <a:xfrm>
            <a:off x="3419183" y="46673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30" name="Oval 729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1" name="Connector 730"/>
          <p:cNvCxnSpPr/>
          <p:nvPr/>
        </p:nvCxnSpPr>
        <p:spPr>
          <a:xfrm flipV="1">
            <a:off x="5158653" y="387951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5268149" y="38795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248440" y="389922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5228731" y="391893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H="1">
            <a:off x="5076531" y="3989014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 flipV="1">
            <a:off x="5049158" y="4043762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7" name="TextBox 736"/>
          <p:cNvSpPr txBox="1"/>
          <p:nvPr/>
        </p:nvSpPr>
        <p:spPr>
          <a:xfrm>
            <a:off x="5284279" y="37504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738" name="Oval 737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9" name="Connector 738"/>
          <p:cNvCxnSpPr/>
          <p:nvPr/>
        </p:nvCxnSpPr>
        <p:spPr>
          <a:xfrm flipV="1">
            <a:off x="5385913" y="4522114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5495409" y="4522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5475700" y="4541824"/>
            <a:ext cx="27373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455990" y="456153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5436281" y="458124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 flipH="1">
            <a:off x="5303791" y="463161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H="1" flipV="1">
            <a:off x="5276417" y="468635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TextBox 745"/>
          <p:cNvSpPr txBox="1"/>
          <p:nvPr/>
        </p:nvSpPr>
        <p:spPr>
          <a:xfrm>
            <a:off x="5511539" y="4393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47" name="Oval 746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 flipV="1">
            <a:off x="5511298" y="4145960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5620793" y="414596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5601084" y="416567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5581375" y="418537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 flipH="1">
            <a:off x="5429176" y="425545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H="1" flipV="1">
            <a:off x="5401802" y="4310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4" name="TextBox 753"/>
          <p:cNvSpPr txBox="1"/>
          <p:nvPr/>
        </p:nvSpPr>
        <p:spPr>
          <a:xfrm>
            <a:off x="5636924" y="40169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55" name="Oval 754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6" name="Connector 755"/>
          <p:cNvCxnSpPr/>
          <p:nvPr/>
        </p:nvCxnSpPr>
        <p:spPr>
          <a:xfrm flipV="1">
            <a:off x="5511298" y="533711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>
            <a:off x="5620793" y="5337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8" name="TextBox 757"/>
          <p:cNvSpPr txBox="1"/>
          <p:nvPr/>
        </p:nvSpPr>
        <p:spPr>
          <a:xfrm>
            <a:off x="5636924" y="5208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59" name="Oval 758"/>
          <p:cNvSpPr/>
          <p:nvPr/>
        </p:nvSpPr>
        <p:spPr>
          <a:xfrm>
            <a:off x="7833225" y="305094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0" name="Connector 759"/>
          <p:cNvCxnSpPr/>
          <p:nvPr/>
        </p:nvCxnSpPr>
        <p:spPr>
          <a:xfrm flipV="1">
            <a:off x="7862259" y="2970480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7971755" y="297048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7952046" y="299018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 flipH="1">
            <a:off x="7780137" y="3079975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 flipH="1" flipV="1">
            <a:off x="7752763" y="313472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5" name="TextBox 764"/>
          <p:cNvSpPr txBox="1"/>
          <p:nvPr/>
        </p:nvSpPr>
        <p:spPr>
          <a:xfrm>
            <a:off x="7987885" y="28414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cxnSp>
        <p:nvCxnSpPr>
          <p:cNvPr id="766" name="Connector 765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7" name="Oval 766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8" name="Connector 767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0" name="TextBox 769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门厅 · 前门内侧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起居室侧 · 拱门旁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楼梯口 · 拱门旁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G07 区侧 · 拱门旁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楼梯底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G07 区东侧 · 卫生间走道口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8710000" y="29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87" name="Rectangle 786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TextBox 788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60"/>
            <a:ext cx="21054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50" y="4412187"/>
            <a:ext cx="0" cy="7555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70" y="5167760"/>
            <a:ext cx="19865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70" y="3342500"/>
            <a:ext cx="0" cy="18252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8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WL2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60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60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70" y="3342500"/>
            <a:ext cx="152021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500"/>
            <a:ext cx="0" cy="6811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931770" y="3342500"/>
            <a:ext cx="0" cy="169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70" y="3512225"/>
            <a:ext cx="40088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2931770" y="3182841"/>
            <a:ext cx="0" cy="1596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70" y="3182841"/>
            <a:ext cx="66412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931770" y="3342500"/>
            <a:ext cx="0" cy="15720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31770" y="4914538"/>
            <a:ext cx="6535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023750" y="4412187"/>
            <a:ext cx="1922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7215988" y="4412187"/>
            <a:ext cx="0" cy="6500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914535" y="4294159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892016" y="4273469"/>
            <a:ext cx="111108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3869498" y="425277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3846980" y="423208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3824461" y="421139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TextBox 601"/>
          <p:cNvSpPr txBox="1"/>
          <p:nvPr/>
        </p:nvSpPr>
        <p:spPr>
          <a:xfrm>
            <a:off x="3977475" y="4115334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sp>
        <p:nvSpPr>
          <p:cNvPr id="603" name="Oval 602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7" name="Oval 606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TextBox 609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11" name="Oval 610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4" name="Oval 613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7" name="Oval 616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0" name="Oval 619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3" name="Oval 622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6" name="Oval 625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9" name="Oval 628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2" name="Oval 631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5" name="Oval 634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8" name="Oval 637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4918333" y="5049139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5036953" y="5049139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5015602" y="507049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994250" y="509184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4972898" y="5113195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4829367" y="5167760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4799712" y="522707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054428" y="49093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7" name="Oval 64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2931770" y="3223879"/>
            <a:ext cx="118621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50391" y="322387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029039" y="324523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007687" y="3266582"/>
            <a:ext cx="29656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986336" y="328793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42805" y="3342500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 flipV="1">
            <a:off x="2813150" y="340181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3067865" y="30840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6" name="Oval 655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7023750" y="4293567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7142370" y="4293567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7159844" y="415377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404240" y="1302782"/>
            <a:ext cx="114813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52378" y="1302782"/>
            <a:ext cx="105674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609123" y="1302782"/>
            <a:ext cx="5997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208897" y="1302782"/>
            <a:ext cx="0" cy="289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981736" y="5123684"/>
            <a:ext cx="36997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5681526" y="5123684"/>
            <a:ext cx="0" cy="122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1139210" y="5123684"/>
            <a:ext cx="0" cy="98905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139210" y="5123684"/>
            <a:ext cx="8425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TextBox 571"/>
          <p:cNvSpPr txBox="1"/>
          <p:nvPr/>
        </p:nvSpPr>
        <p:spPr>
          <a:xfrm>
            <a:off x="-655039" y="587711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WL2  BV-3×2.5 PC20 WC/CC</a:t>
            </a:r>
          </a:p>
        </p:txBody>
      </p:sp>
      <p:cxnSp>
        <p:nvCxnSpPr>
          <p:cNvPr id="573" name="Connector 572"/>
          <p:cNvCxnSpPr/>
          <p:nvPr/>
        </p:nvCxnSpPr>
        <p:spPr>
          <a:xfrm>
            <a:off x="1597105" y="1588736"/>
            <a:ext cx="0" cy="30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597105" y="4629157"/>
            <a:ext cx="147747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3074578" y="4629157"/>
            <a:ext cx="3101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176052" y="4629157"/>
            <a:ext cx="0" cy="506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176910" y="6112736"/>
            <a:ext cx="18976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074578" y="4629157"/>
            <a:ext cx="0" cy="14835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-655039" y="5782860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1597105" y="1588736"/>
            <a:ext cx="0" cy="27294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1597105" y="4318219"/>
            <a:ext cx="20800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597105" y="1588736"/>
            <a:ext cx="8071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404240" y="1302782"/>
            <a:ext cx="0" cy="2859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V="1">
            <a:off x="3074578" y="4318219"/>
            <a:ext cx="0" cy="310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3074578" y="4318219"/>
            <a:ext cx="6025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3074578" y="1302782"/>
            <a:ext cx="0" cy="33263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074578" y="1302782"/>
            <a:ext cx="4778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1981736" y="5123684"/>
            <a:ext cx="0" cy="1689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981736" y="5292641"/>
            <a:ext cx="1139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1981736" y="5123684"/>
            <a:ext cx="28815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4863313" y="5123684"/>
            <a:ext cx="0" cy="1364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5681526" y="5135894"/>
            <a:ext cx="0" cy="4938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5681526" y="5629725"/>
            <a:ext cx="2402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6176052" y="5135894"/>
            <a:ext cx="5210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6697128" y="5135894"/>
            <a:ext cx="0" cy="227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1597105" y="1588736"/>
            <a:ext cx="1477473" cy="30404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 flipV="1">
            <a:off x="2317276" y="313543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 flipV="1">
            <a:off x="2307664" y="311565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 flipV="1">
            <a:off x="2298052" y="309587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 flipV="1">
            <a:off x="2288440" y="307609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 flipV="1">
            <a:off x="2278828" y="305631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Rectangle 601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04" name="Oval 603"/>
          <p:cNvSpPr/>
          <p:nvPr/>
        </p:nvSpPr>
        <p:spPr>
          <a:xfrm>
            <a:off x="6628011" y="529414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011" y="5363257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7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6766245" y="521874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606" name="Oval 605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TextBox 606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08" name="Oval 607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0" name="Oval 60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1" name="Connector 61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TextBox 612"/>
          <p:cNvSpPr txBox="1"/>
          <p:nvPr/>
        </p:nvSpPr>
        <p:spPr>
          <a:xfrm>
            <a:off x="4932430" y="511563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14" name="Oval 61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5" name="Connector 61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7" name="TextBox 616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18" name="Oval 61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5990888" y="5485208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21" name="Oval 62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2473357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3" name="Oval 62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3621495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5" name="Oval 62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4678239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7" name="Oval 62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278014" y="1161156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9" name="Oval 628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0" name="Connector 629"/>
          <p:cNvCxnSpPr/>
          <p:nvPr/>
        </p:nvCxnSpPr>
        <p:spPr>
          <a:xfrm flipV="1">
            <a:off x="1597105" y="1503431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1682410" y="150343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1667055" y="151878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1533126" y="1588736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H="1" flipV="1">
            <a:off x="1511799" y="1631389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1694977" y="14028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36" name="Oval 635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3074578" y="4543852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3159884" y="454385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3144529" y="455920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3010599" y="4629157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 flipV="1">
            <a:off x="2989273" y="4671810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3172451" y="4443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43" name="Oval 642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4" name="Connector 643"/>
          <p:cNvCxnSpPr/>
          <p:nvPr/>
        </p:nvCxnSpPr>
        <p:spPr>
          <a:xfrm flipV="1">
            <a:off x="1981736" y="5038378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067042" y="5038378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051687" y="5053733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TextBox 646"/>
          <p:cNvSpPr txBox="1"/>
          <p:nvPr/>
        </p:nvSpPr>
        <p:spPr>
          <a:xfrm>
            <a:off x="2079609" y="49378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48" name="Oval 647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 flipV="1">
            <a:off x="5681526" y="5050589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5766831" y="505058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5779398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52" name="Oval 651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6176052" y="5050589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6261358" y="5050589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6273924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56" name="Rectangle 655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TextBox 656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58" name="Rectangle 657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TextBox 658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0" name="Rectangle 659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2" name="Rectangle 661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TextBox 662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4" name="Rectangle 663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通后花园门旁</a:t>
            </a:r>
          </a:p>
        </p:txBody>
      </p:sp>
      <p:sp>
        <p:nvSpPr>
          <p:cNvPr id="668" name="TextBox 667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69" name="TextBox 668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厨房后门旁（吧台区）</a:t>
            </a:r>
          </a:p>
        </p:txBody>
      </p:sp>
      <p:sp>
        <p:nvSpPr>
          <p:cNvPr id="670" name="TextBox 669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</a:t>
            </a:r>
          </a:p>
        </p:txBody>
      </p:sp>
      <p:sp>
        <p:nvSpPr>
          <p:cNvPr id="672" name="TextBox 671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73" name="TextBox 672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洗衣房门旁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洗衣房后门旁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77" name="Rectangle 676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2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一层前区照明（门廊 / 门厅 / 起居室 / G07 餐厅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a b c d e f g h i n）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一层后区照明（G15 区 / 卫生间 / 厨房 / 吧台区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盏（一层，字母 j k l m o r s t）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C10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盏（一层，字母 p q u）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7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8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5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6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7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二层照明（主卧 / 北卫 / 衣帽间 / 盥洗室 / 西卫 / 卧室2 / 走廊 / 卧室3 / 楼梯 / 书房 / 后卫）+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16 盏（二层，字母 见二层图）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45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000000" y="44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WL4，一层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51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S5-1，S3-1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S5-2，S3-2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S5-3，S3-3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S7-1，S11-1，S12-1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S7-2，S11-2，S12-2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