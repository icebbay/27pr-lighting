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84" r:id="rId17"/>
    <p:sldId id="285" r:id="rId18"/>
    <p:sldId id="286" r:id="rId19"/>
    <p:sldId id="287" r:id="rId20"/>
    <p:sldId id="288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BED4"/>
    <a:srgbClr val="469990"/>
    <a:srgbClr val="E6194B"/>
    <a:srgbClr val="AAFFC3"/>
    <a:srgbClr val="BFEF45"/>
    <a:srgbClr val="F032E6"/>
    <a:srgbClr val="4363D8"/>
    <a:srgbClr val="808000"/>
    <a:srgbClr val="800000"/>
    <a:srgbClr val="FFFAC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778" autoAdjust="0"/>
  </p:normalViewPr>
  <p:slideViewPr>
    <p:cSldViewPr snapToGrid="0" snapToObjects="1">
      <p:cViewPr>
        <p:scale>
          <a:sx n="125" d="100"/>
          <a:sy n="125" d="100"/>
        </p:scale>
        <p:origin x="-1152" y="-7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77436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10" name="二层平面（横向）"/>
          <p:cNvGrpSpPr/>
          <p:nvPr/>
        </p:nvGrpSpPr>
        <p:grpSpPr>
          <a:xfrm rot="5400000">
            <a:off x="2330475" y="1251603"/>
            <a:ext cx="3914435" cy="5164485"/>
            <a:chOff x="356311" y="926340"/>
            <a:chExt cx="3635855" cy="4796943"/>
          </a:xfrm>
        </p:grpSpPr>
        <p:grpSp>
          <p:nvGrpSpPr>
            <p:cNvPr id="6" name="墙体（Blender 1.2 m 剖切，已锁定）">
              <a:extLst>
                <a:ext uri="{FF2B5EF4-FFF2-40B4-BE49-F238E27FC236}">
                  <a16:creationId xmlns:a16="http://schemas.microsoft.com/office/drawing/2014/main" id="{F8B5F234-FA8A-924F-BCB9-E3B494015B5B}"/>
                </a:ext>
              </a:extLst>
            </p:cNvPr>
            <p:cNvGrpSpPr>
              <a:grpSpLocks noGrp="1" noRot="1" noMove="1" noResize="1"/>
            </p:cNvGrpSpPr>
            <p:nvPr/>
          </p:nvGrpSpPr>
          <p:grpSpPr>
            <a:xfrm>
              <a:off x="356311" y="926340"/>
              <a:ext cx="3635855" cy="4796943"/>
              <a:chOff x="356311" y="926340"/>
              <a:chExt cx="3635855" cy="4796943"/>
            </a:xfrm>
          </p:grpSpPr>
          <p:sp>
            <p:nvSpPr>
              <p:cNvPr id="5" name="墙_GF_Wall_Shell">
                <a:extLst>
                  <a:ext uri="{FF2B5EF4-FFF2-40B4-BE49-F238E27FC236}">
                    <a16:creationId xmlns:a16="http://schemas.microsoft.com/office/drawing/2014/main" id="{36090254-C9EF-9A5F-197B-A425633E0A8F}"/>
                  </a:ext>
                </a:extLst>
              </p:cNvPr>
              <p:cNvSpPr/>
              <p:nvPr/>
            </p:nvSpPr>
            <p:spPr>
              <a:xfrm>
                <a:off x="2603764" y="4099465"/>
                <a:ext cx="49507" cy="415573"/>
              </a:xfrm>
              <a:custGeom>
                <a:avLst/>
                <a:gdLst/>
                <a:ahLst/>
                <a:cxnLst/>
                <a:rect l="l" t="t" r="r" b="b"/>
                <a:pathLst>
                  <a:path w="49507" h="415573">
                    <a:moveTo>
                      <a:pt x="49507" y="76297"/>
                    </a:moveTo>
                    <a:lnTo>
                      <a:pt x="49507" y="0"/>
                    </a:lnTo>
                    <a:lnTo>
                      <a:pt x="0" y="0"/>
                    </a:lnTo>
                    <a:lnTo>
                      <a:pt x="0" y="76297"/>
                    </a:lnTo>
                    <a:close/>
                    <a:moveTo>
                      <a:pt x="49507" y="415573"/>
                    </a:moveTo>
                    <a:lnTo>
                      <a:pt x="49507" y="353886"/>
                    </a:lnTo>
                    <a:lnTo>
                      <a:pt x="0" y="353886"/>
                    </a:lnTo>
                    <a:lnTo>
                      <a:pt x="0" y="41557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墙_FF_Wall_Shell">
                <a:extLst>
                  <a:ext uri="{FF2B5EF4-FFF2-40B4-BE49-F238E27FC236}">
                    <a16:creationId xmlns:a16="http://schemas.microsoft.com/office/drawing/2014/main" id="{D6149830-E1C6-E65A-A4FE-0F7ADADC412D}"/>
                  </a:ext>
                </a:extLst>
              </p:cNvPr>
              <p:cNvSpPr/>
              <p:nvPr/>
            </p:nvSpPr>
            <p:spPr>
              <a:xfrm>
                <a:off x="356311" y="926340"/>
                <a:ext cx="3635855" cy="4796943"/>
              </a:xfrm>
              <a:custGeom>
                <a:avLst/>
                <a:gdLst/>
                <a:ahLst/>
                <a:cxnLst/>
                <a:rect l="l" t="t" r="r" b="b"/>
                <a:pathLst>
                  <a:path w="3635855" h="4796943">
                    <a:moveTo>
                      <a:pt x="1498370" y="4271390"/>
                    </a:moveTo>
                    <a:lnTo>
                      <a:pt x="1498370" y="4222690"/>
                    </a:lnTo>
                    <a:lnTo>
                      <a:pt x="1509529" y="4222690"/>
                    </a:lnTo>
                    <a:lnTo>
                      <a:pt x="1509529" y="3735690"/>
                    </a:lnTo>
                    <a:lnTo>
                      <a:pt x="1509529" y="2997075"/>
                    </a:lnTo>
                    <a:lnTo>
                      <a:pt x="1032932" y="2997075"/>
                    </a:lnTo>
                    <a:lnTo>
                      <a:pt x="1032932" y="2972644"/>
                    </a:lnTo>
                    <a:lnTo>
                      <a:pt x="1533876" y="2972644"/>
                    </a:lnTo>
                    <a:lnTo>
                      <a:pt x="1533876" y="2972725"/>
                    </a:lnTo>
                    <a:lnTo>
                      <a:pt x="2272409" y="2972725"/>
                    </a:lnTo>
                    <a:lnTo>
                      <a:pt x="2820222" y="2972725"/>
                    </a:lnTo>
                    <a:lnTo>
                      <a:pt x="2915217" y="2972725"/>
                    </a:lnTo>
                    <a:lnTo>
                      <a:pt x="2915217" y="3021425"/>
                    </a:lnTo>
                    <a:lnTo>
                      <a:pt x="2820222" y="3021425"/>
                    </a:lnTo>
                    <a:lnTo>
                      <a:pt x="2296757" y="3021425"/>
                    </a:lnTo>
                    <a:lnTo>
                      <a:pt x="2296757" y="3183880"/>
                    </a:lnTo>
                    <a:lnTo>
                      <a:pt x="2248062" y="3183880"/>
                    </a:lnTo>
                    <a:lnTo>
                      <a:pt x="2248062" y="3021425"/>
                    </a:lnTo>
                    <a:lnTo>
                      <a:pt x="1558224" y="3021425"/>
                    </a:lnTo>
                    <a:lnTo>
                      <a:pt x="1558224" y="3711340"/>
                    </a:lnTo>
                    <a:lnTo>
                      <a:pt x="2248062" y="3711340"/>
                    </a:lnTo>
                    <a:lnTo>
                      <a:pt x="2248062" y="3588251"/>
                    </a:lnTo>
                    <a:lnTo>
                      <a:pt x="2296757" y="3588251"/>
                    </a:lnTo>
                    <a:lnTo>
                      <a:pt x="2296757" y="3735690"/>
                    </a:lnTo>
                    <a:lnTo>
                      <a:pt x="2296757" y="4247040"/>
                    </a:lnTo>
                    <a:lnTo>
                      <a:pt x="2248062" y="4247040"/>
                    </a:lnTo>
                    <a:lnTo>
                      <a:pt x="2248062" y="3760040"/>
                    </a:lnTo>
                    <a:lnTo>
                      <a:pt x="1558224" y="3760040"/>
                    </a:lnTo>
                    <a:lnTo>
                      <a:pt x="1558224" y="4222690"/>
                    </a:lnTo>
                    <a:lnTo>
                      <a:pt x="1947739" y="4222690"/>
                    </a:lnTo>
                    <a:lnTo>
                      <a:pt x="1947739" y="4271390"/>
                    </a:lnTo>
                    <a:lnTo>
                      <a:pt x="1558224" y="4271390"/>
                    </a:lnTo>
                    <a:lnTo>
                      <a:pt x="1558224" y="4502714"/>
                    </a:lnTo>
                    <a:lnTo>
                      <a:pt x="1558224" y="4703601"/>
                    </a:lnTo>
                    <a:lnTo>
                      <a:pt x="1893607" y="4703601"/>
                    </a:lnTo>
                    <a:lnTo>
                      <a:pt x="1893607" y="4750272"/>
                    </a:lnTo>
                    <a:lnTo>
                      <a:pt x="1893607" y="4796943"/>
                    </a:lnTo>
                    <a:lnTo>
                      <a:pt x="1533876" y="4796943"/>
                    </a:lnTo>
                    <a:lnTo>
                      <a:pt x="1533876" y="4750272"/>
                    </a:lnTo>
                    <a:lnTo>
                      <a:pt x="1522717" y="4750272"/>
                    </a:lnTo>
                    <a:lnTo>
                      <a:pt x="1487211" y="4750272"/>
                    </a:lnTo>
                    <a:lnTo>
                      <a:pt x="1487211" y="4549385"/>
                    </a:lnTo>
                    <a:lnTo>
                      <a:pt x="256458" y="4549385"/>
                    </a:lnTo>
                    <a:lnTo>
                      <a:pt x="46666" y="4549385"/>
                    </a:lnTo>
                    <a:lnTo>
                      <a:pt x="46666" y="4502714"/>
                    </a:lnTo>
                    <a:lnTo>
                      <a:pt x="0" y="4502714"/>
                    </a:lnTo>
                    <a:lnTo>
                      <a:pt x="0" y="1523902"/>
                    </a:lnTo>
                    <a:lnTo>
                      <a:pt x="46666" y="1523902"/>
                    </a:lnTo>
                    <a:lnTo>
                      <a:pt x="46666" y="1477231"/>
                    </a:lnTo>
                    <a:lnTo>
                      <a:pt x="700673" y="1477231"/>
                    </a:lnTo>
                    <a:lnTo>
                      <a:pt x="764341" y="1477231"/>
                    </a:lnTo>
                    <a:lnTo>
                      <a:pt x="1533876" y="1477231"/>
                    </a:lnTo>
                    <a:lnTo>
                      <a:pt x="1638772" y="1477231"/>
                    </a:lnTo>
                    <a:lnTo>
                      <a:pt x="1638772" y="1523902"/>
                    </a:lnTo>
                    <a:lnTo>
                      <a:pt x="1638772" y="1570573"/>
                    </a:lnTo>
                    <a:lnTo>
                      <a:pt x="1558224" y="1570573"/>
                    </a:lnTo>
                    <a:lnTo>
                      <a:pt x="1558224" y="2215400"/>
                    </a:lnTo>
                    <a:lnTo>
                      <a:pt x="1558224" y="2546600"/>
                    </a:lnTo>
                    <a:lnTo>
                      <a:pt x="1985234" y="2546600"/>
                    </a:lnTo>
                    <a:lnTo>
                      <a:pt x="1985234" y="2595300"/>
                    </a:lnTo>
                    <a:lnTo>
                      <a:pt x="1533876" y="2595300"/>
                    </a:lnTo>
                    <a:lnTo>
                      <a:pt x="1533876" y="2570950"/>
                    </a:lnTo>
                    <a:lnTo>
                      <a:pt x="1509529" y="2570950"/>
                    </a:lnTo>
                    <a:lnTo>
                      <a:pt x="1509529" y="2239994"/>
                    </a:lnTo>
                    <a:lnTo>
                      <a:pt x="1057847" y="2239994"/>
                    </a:lnTo>
                    <a:lnTo>
                      <a:pt x="1057847" y="2570950"/>
                    </a:lnTo>
                    <a:lnTo>
                      <a:pt x="1008016" y="2570950"/>
                    </a:lnTo>
                    <a:lnTo>
                      <a:pt x="1008016" y="2239994"/>
                    </a:lnTo>
                    <a:lnTo>
                      <a:pt x="692395" y="2239994"/>
                    </a:lnTo>
                    <a:lnTo>
                      <a:pt x="692395" y="2190847"/>
                    </a:lnTo>
                    <a:lnTo>
                      <a:pt x="667480" y="2190847"/>
                    </a:lnTo>
                    <a:lnTo>
                      <a:pt x="667480" y="2141701"/>
                    </a:lnTo>
                    <a:lnTo>
                      <a:pt x="717310" y="2141701"/>
                    </a:lnTo>
                    <a:lnTo>
                      <a:pt x="717310" y="2190847"/>
                    </a:lnTo>
                    <a:lnTo>
                      <a:pt x="1032932" y="2190847"/>
                    </a:lnTo>
                    <a:lnTo>
                      <a:pt x="1509529" y="2190847"/>
                    </a:lnTo>
                    <a:lnTo>
                      <a:pt x="1509529" y="1570573"/>
                    </a:lnTo>
                    <a:lnTo>
                      <a:pt x="764341" y="1570573"/>
                    </a:lnTo>
                    <a:lnTo>
                      <a:pt x="717310" y="1570573"/>
                    </a:lnTo>
                    <a:lnTo>
                      <a:pt x="717310" y="1854940"/>
                    </a:lnTo>
                    <a:lnTo>
                      <a:pt x="667480" y="1854940"/>
                    </a:lnTo>
                    <a:lnTo>
                      <a:pt x="667480" y="1570573"/>
                    </a:lnTo>
                    <a:lnTo>
                      <a:pt x="93331" y="1570573"/>
                    </a:lnTo>
                    <a:lnTo>
                      <a:pt x="93331" y="4456043"/>
                    </a:lnTo>
                    <a:lnTo>
                      <a:pt x="256458" y="4456043"/>
                    </a:lnTo>
                    <a:lnTo>
                      <a:pt x="1509529" y="4456043"/>
                    </a:lnTo>
                    <a:lnTo>
                      <a:pt x="1509529" y="4271390"/>
                    </a:lnTo>
                    <a:close/>
                    <a:moveTo>
                      <a:pt x="2296757" y="4583881"/>
                    </a:moveTo>
                    <a:lnTo>
                      <a:pt x="2296757" y="4673164"/>
                    </a:lnTo>
                    <a:lnTo>
                      <a:pt x="2464428" y="4673164"/>
                    </a:lnTo>
                    <a:lnTo>
                      <a:pt x="2464428" y="4697514"/>
                    </a:lnTo>
                    <a:lnTo>
                      <a:pt x="2488978" y="4697514"/>
                    </a:lnTo>
                    <a:lnTo>
                      <a:pt x="2488978" y="4703601"/>
                    </a:lnTo>
                    <a:lnTo>
                      <a:pt x="2610674" y="4703601"/>
                    </a:lnTo>
                    <a:lnTo>
                      <a:pt x="2610674" y="4750272"/>
                    </a:lnTo>
                    <a:lnTo>
                      <a:pt x="2610674" y="4796943"/>
                    </a:lnTo>
                    <a:lnTo>
                      <a:pt x="2464428" y="4796943"/>
                    </a:lnTo>
                    <a:lnTo>
                      <a:pt x="2306090" y="4796943"/>
                    </a:lnTo>
                    <a:lnTo>
                      <a:pt x="2306090" y="4750272"/>
                    </a:lnTo>
                    <a:lnTo>
                      <a:pt x="2306090" y="4721864"/>
                    </a:lnTo>
                    <a:lnTo>
                      <a:pt x="2272409" y="4721864"/>
                    </a:lnTo>
                    <a:lnTo>
                      <a:pt x="2272409" y="4697514"/>
                    </a:lnTo>
                    <a:lnTo>
                      <a:pt x="2248062" y="4697514"/>
                    </a:lnTo>
                    <a:lnTo>
                      <a:pt x="2248062" y="4583881"/>
                    </a:lnTo>
                    <a:close/>
                    <a:moveTo>
                      <a:pt x="3535828" y="582370"/>
                    </a:moveTo>
                    <a:lnTo>
                      <a:pt x="3535828" y="533670"/>
                    </a:lnTo>
                    <a:lnTo>
                      <a:pt x="3538466" y="533670"/>
                    </a:lnTo>
                    <a:lnTo>
                      <a:pt x="3538466" y="93342"/>
                    </a:lnTo>
                    <a:lnTo>
                      <a:pt x="3221505" y="93342"/>
                    </a:lnTo>
                    <a:lnTo>
                      <a:pt x="2319075" y="93342"/>
                    </a:lnTo>
                    <a:lnTo>
                      <a:pt x="2319075" y="682611"/>
                    </a:lnTo>
                    <a:lnTo>
                      <a:pt x="2272409" y="682611"/>
                    </a:lnTo>
                    <a:lnTo>
                      <a:pt x="2225663" y="682611"/>
                    </a:lnTo>
                    <a:lnTo>
                      <a:pt x="2225663" y="46671"/>
                    </a:lnTo>
                    <a:lnTo>
                      <a:pt x="2272409" y="46671"/>
                    </a:lnTo>
                    <a:lnTo>
                      <a:pt x="2272409" y="0"/>
                    </a:lnTo>
                    <a:lnTo>
                      <a:pt x="3221505" y="0"/>
                    </a:lnTo>
                    <a:lnTo>
                      <a:pt x="3587161" y="0"/>
                    </a:lnTo>
                    <a:lnTo>
                      <a:pt x="3587161" y="46671"/>
                    </a:lnTo>
                    <a:lnTo>
                      <a:pt x="3635855" y="46671"/>
                    </a:lnTo>
                    <a:lnTo>
                      <a:pt x="3635855" y="558020"/>
                    </a:lnTo>
                    <a:lnTo>
                      <a:pt x="3635855" y="1174886"/>
                    </a:lnTo>
                    <a:lnTo>
                      <a:pt x="3635855" y="1523902"/>
                    </a:lnTo>
                    <a:lnTo>
                      <a:pt x="3635855" y="2497901"/>
                    </a:lnTo>
                    <a:lnTo>
                      <a:pt x="3635855" y="2997075"/>
                    </a:lnTo>
                    <a:lnTo>
                      <a:pt x="3635855" y="4750272"/>
                    </a:lnTo>
                    <a:lnTo>
                      <a:pt x="3587161" y="4750272"/>
                    </a:lnTo>
                    <a:lnTo>
                      <a:pt x="3587161" y="4796943"/>
                    </a:lnTo>
                    <a:lnTo>
                      <a:pt x="3027093" y="4796943"/>
                    </a:lnTo>
                    <a:lnTo>
                      <a:pt x="3027093" y="4750272"/>
                    </a:lnTo>
                    <a:lnTo>
                      <a:pt x="3027093" y="4703601"/>
                    </a:lnTo>
                    <a:lnTo>
                      <a:pt x="3538466" y="4703601"/>
                    </a:lnTo>
                    <a:lnTo>
                      <a:pt x="3538466" y="3021425"/>
                    </a:lnTo>
                    <a:lnTo>
                      <a:pt x="3331433" y="3021425"/>
                    </a:lnTo>
                    <a:lnTo>
                      <a:pt x="3332042" y="3001174"/>
                    </a:lnTo>
                    <a:lnTo>
                      <a:pt x="3333178" y="2972725"/>
                    </a:lnTo>
                    <a:lnTo>
                      <a:pt x="3538466" y="2972725"/>
                    </a:lnTo>
                    <a:lnTo>
                      <a:pt x="3538466" y="2497901"/>
                    </a:lnTo>
                    <a:lnTo>
                      <a:pt x="3538466" y="1548252"/>
                    </a:lnTo>
                    <a:lnTo>
                      <a:pt x="3166197" y="1548252"/>
                    </a:lnTo>
                    <a:lnTo>
                      <a:pt x="3166197" y="1499552"/>
                    </a:lnTo>
                    <a:lnTo>
                      <a:pt x="3166197" y="1499065"/>
                    </a:lnTo>
                    <a:lnTo>
                      <a:pt x="3217245" y="1499065"/>
                    </a:lnTo>
                    <a:lnTo>
                      <a:pt x="3217245" y="1499552"/>
                    </a:lnTo>
                    <a:lnTo>
                      <a:pt x="3538466" y="1499552"/>
                    </a:lnTo>
                    <a:lnTo>
                      <a:pt x="3538466" y="1491435"/>
                    </a:lnTo>
                    <a:lnTo>
                      <a:pt x="3538466" y="1174886"/>
                    </a:lnTo>
                    <a:lnTo>
                      <a:pt x="3538466" y="582370"/>
                    </a:lnTo>
                    <a:close/>
                    <a:moveTo>
                      <a:pt x="2795875" y="2558775"/>
                    </a:moveTo>
                    <a:lnTo>
                      <a:pt x="2795875" y="2530367"/>
                    </a:lnTo>
                    <a:lnTo>
                      <a:pt x="2456231" y="2530367"/>
                    </a:lnTo>
                    <a:lnTo>
                      <a:pt x="2456231" y="2570950"/>
                    </a:lnTo>
                    <a:lnTo>
                      <a:pt x="2431640" y="2570950"/>
                    </a:lnTo>
                    <a:lnTo>
                      <a:pt x="2431640" y="2595300"/>
                    </a:lnTo>
                    <a:lnTo>
                      <a:pt x="2362291" y="2595300"/>
                    </a:lnTo>
                    <a:lnTo>
                      <a:pt x="2361074" y="2546600"/>
                    </a:lnTo>
                    <a:lnTo>
                      <a:pt x="2407050" y="2546600"/>
                    </a:lnTo>
                    <a:lnTo>
                      <a:pt x="2407050" y="2506017"/>
                    </a:lnTo>
                    <a:lnTo>
                      <a:pt x="2431640" y="2506017"/>
                    </a:lnTo>
                    <a:lnTo>
                      <a:pt x="2431640" y="2481667"/>
                    </a:lnTo>
                    <a:lnTo>
                      <a:pt x="2795875" y="2481667"/>
                    </a:lnTo>
                    <a:lnTo>
                      <a:pt x="2795875" y="1548252"/>
                    </a:lnTo>
                    <a:lnTo>
                      <a:pt x="2272409" y="1548252"/>
                    </a:lnTo>
                    <a:lnTo>
                      <a:pt x="2272409" y="1570573"/>
                    </a:lnTo>
                    <a:lnTo>
                      <a:pt x="2052229" y="1570573"/>
                    </a:lnTo>
                    <a:lnTo>
                      <a:pt x="2052229" y="1523902"/>
                    </a:lnTo>
                    <a:lnTo>
                      <a:pt x="2052229" y="1477231"/>
                    </a:lnTo>
                    <a:lnTo>
                      <a:pt x="2225663" y="1477231"/>
                    </a:lnTo>
                    <a:lnTo>
                      <a:pt x="2225663" y="1441112"/>
                    </a:lnTo>
                    <a:lnTo>
                      <a:pt x="2272409" y="1441112"/>
                    </a:lnTo>
                    <a:lnTo>
                      <a:pt x="2319075" y="1441112"/>
                    </a:lnTo>
                    <a:lnTo>
                      <a:pt x="2319075" y="1499552"/>
                    </a:lnTo>
                    <a:lnTo>
                      <a:pt x="2828338" y="1499552"/>
                    </a:lnTo>
                    <a:lnTo>
                      <a:pt x="2828338" y="1523902"/>
                    </a:lnTo>
                    <a:lnTo>
                      <a:pt x="2844570" y="1523902"/>
                    </a:lnTo>
                    <a:lnTo>
                      <a:pt x="2844570" y="2506017"/>
                    </a:lnTo>
                    <a:lnTo>
                      <a:pt x="2844570" y="2558775"/>
                    </a:lnTo>
                    <a:close/>
                    <a:moveTo>
                      <a:pt x="2272409" y="1090878"/>
                    </a:moveTo>
                    <a:lnTo>
                      <a:pt x="2225663" y="1090878"/>
                    </a:lnTo>
                    <a:lnTo>
                      <a:pt x="2225663" y="1174886"/>
                    </a:lnTo>
                    <a:lnTo>
                      <a:pt x="2225663" y="1247936"/>
                    </a:lnTo>
                    <a:lnTo>
                      <a:pt x="2272409" y="1247936"/>
                    </a:lnTo>
                    <a:lnTo>
                      <a:pt x="2319075" y="1247936"/>
                    </a:lnTo>
                    <a:lnTo>
                      <a:pt x="2319075" y="1174886"/>
                    </a:lnTo>
                    <a:lnTo>
                      <a:pt x="2319075" y="109087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墙_Wall_FF_MasterBath_DoorInfill">
                <a:extLst>
                  <a:ext uri="{FF2B5EF4-FFF2-40B4-BE49-F238E27FC236}">
                    <a16:creationId xmlns:a16="http://schemas.microsoft.com/office/drawing/2014/main" id="{D4065AA6-F08C-A92B-989C-F38B0ADEAD7B}"/>
                  </a:ext>
                </a:extLst>
              </p:cNvPr>
              <p:cNvSpPr/>
              <p:nvPr/>
            </p:nvSpPr>
            <p:spPr>
              <a:xfrm>
                <a:off x="2303888" y="5148949"/>
                <a:ext cx="348977" cy="361191"/>
              </a:xfrm>
              <a:custGeom>
                <a:avLst/>
                <a:gdLst/>
                <a:ahLst/>
                <a:cxnLst/>
                <a:rect l="l" t="t" r="r" b="b"/>
                <a:pathLst>
                  <a:path w="348977" h="361191">
                    <a:moveTo>
                      <a:pt x="0" y="48699"/>
                    </a:moveTo>
                    <a:lnTo>
                      <a:pt x="0" y="0"/>
                    </a:lnTo>
                    <a:lnTo>
                      <a:pt x="23535" y="0"/>
                    </a:lnTo>
                    <a:lnTo>
                      <a:pt x="23535" y="48699"/>
                    </a:lnTo>
                    <a:close/>
                    <a:moveTo>
                      <a:pt x="348977" y="333594"/>
                    </a:moveTo>
                    <a:lnTo>
                      <a:pt x="348977" y="361191"/>
                    </a:lnTo>
                    <a:lnTo>
                      <a:pt x="300282" y="361191"/>
                    </a:lnTo>
                    <a:lnTo>
                      <a:pt x="300282" y="33359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墙_Wall_FF_Corridor_NorthEnd_Infill">
                <a:extLst>
                  <a:ext uri="{FF2B5EF4-FFF2-40B4-BE49-F238E27FC236}">
                    <a16:creationId xmlns:a16="http://schemas.microsoft.com/office/drawing/2014/main" id="{6FE94703-347E-5AA9-EBCD-A4BA6C8C610F}"/>
                  </a:ext>
                </a:extLst>
              </p:cNvPr>
              <p:cNvSpPr/>
              <p:nvPr/>
            </p:nvSpPr>
            <p:spPr>
              <a:xfrm>
                <a:off x="1865637" y="3497615"/>
                <a:ext cx="48695" cy="23944"/>
              </a:xfrm>
              <a:custGeom>
                <a:avLst/>
                <a:gdLst/>
                <a:ahLst/>
                <a:cxnLst/>
                <a:rect l="l" t="t" r="r" b="b"/>
                <a:pathLst>
                  <a:path w="48695" h="23944">
                    <a:moveTo>
                      <a:pt x="48695" y="0"/>
                    </a:moveTo>
                    <a:lnTo>
                      <a:pt x="48695" y="23944"/>
                    </a:lnTo>
                    <a:lnTo>
                      <a:pt x="0" y="2394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墙_Wall_FF_Study_North_FlushInfill">
                <a:extLst>
                  <a:ext uri="{FF2B5EF4-FFF2-40B4-BE49-F238E27FC236}">
                    <a16:creationId xmlns:a16="http://schemas.microsoft.com/office/drawing/2014/main" id="{6CBA934C-8B14-5DE7-5288-2C5C4A954CC4}"/>
                  </a:ext>
                </a:extLst>
              </p:cNvPr>
              <p:cNvSpPr/>
              <p:nvPr/>
            </p:nvSpPr>
            <p:spPr>
              <a:xfrm>
                <a:off x="2628517" y="2474511"/>
                <a:ext cx="523466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523466" h="22321">
                    <a:moveTo>
                      <a:pt x="523466" y="0"/>
                    </a:moveTo>
                    <a:lnTo>
                      <a:pt x="523466" y="22321"/>
                    </a:lnTo>
                    <a:lnTo>
                      <a:pt x="0" y="2232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墙_Wall_FF_NarrowWindow_LowerInfill">
                <a:extLst>
                  <a:ext uri="{FF2B5EF4-FFF2-40B4-BE49-F238E27FC236}">
                    <a16:creationId xmlns:a16="http://schemas.microsoft.com/office/drawing/2014/main" id="{5AAA951F-7EA2-9F88-1DFF-E488B9075678}"/>
                  </a:ext>
                </a:extLst>
              </p:cNvPr>
              <p:cNvSpPr/>
              <p:nvPr/>
            </p:nvSpPr>
            <p:spPr>
              <a:xfrm>
                <a:off x="2581852" y="2174195"/>
                <a:ext cx="93331" cy="193176"/>
              </a:xfrm>
              <a:custGeom>
                <a:avLst/>
                <a:gdLst/>
                <a:ahLst/>
                <a:cxnLst/>
                <a:rect l="l" t="t" r="r" b="b"/>
                <a:pathLst>
                  <a:path w="93331" h="193176">
                    <a:moveTo>
                      <a:pt x="93331" y="0"/>
                    </a:moveTo>
                    <a:lnTo>
                      <a:pt x="93331" y="193176"/>
                    </a:lnTo>
                    <a:lnTo>
                      <a:pt x="0" y="19317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" name="墙_V35_Partition_Study_Bath">
                <a:extLst>
                  <a:ext uri="{FF2B5EF4-FFF2-40B4-BE49-F238E27FC236}">
                    <a16:creationId xmlns:a16="http://schemas.microsoft.com/office/drawing/2014/main" id="{D106B129-B0A9-2A70-E4C2-3EE326CDF4EE}"/>
                  </a:ext>
                </a:extLst>
              </p:cNvPr>
              <p:cNvSpPr/>
              <p:nvPr/>
            </p:nvSpPr>
            <p:spPr>
              <a:xfrm>
                <a:off x="2673154" y="1425027"/>
                <a:ext cx="1225478" cy="44642"/>
              </a:xfrm>
              <a:custGeom>
                <a:avLst/>
                <a:gdLst/>
                <a:ahLst/>
                <a:cxnLst/>
                <a:rect l="l" t="t" r="r" b="b"/>
                <a:pathLst>
                  <a:path w="1225478" h="44642">
                    <a:moveTo>
                      <a:pt x="1225478" y="0"/>
                    </a:moveTo>
                    <a:lnTo>
                      <a:pt x="1225478" y="44642"/>
                    </a:lnTo>
                    <a:lnTo>
                      <a:pt x="409845" y="44642"/>
                    </a:lnTo>
                    <a:lnTo>
                      <a:pt x="409845" y="0"/>
                    </a:lnTo>
                    <a:close/>
                    <a:moveTo>
                      <a:pt x="142026" y="0"/>
                    </a:moveTo>
                    <a:lnTo>
                      <a:pt x="142026" y="44642"/>
                    </a:lnTo>
                    <a:lnTo>
                      <a:pt x="0" y="446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" name="墙_V35_DoorLeaf_Bath245">
                <a:extLst>
                  <a:ext uri="{FF2B5EF4-FFF2-40B4-BE49-F238E27FC236}">
                    <a16:creationId xmlns:a16="http://schemas.microsoft.com/office/drawing/2014/main" id="{74B8227F-0476-BA74-FCC2-02FF628D3440}"/>
                  </a:ext>
                </a:extLst>
              </p:cNvPr>
              <p:cNvSpPr/>
              <p:nvPr/>
            </p:nvSpPr>
            <p:spPr>
              <a:xfrm>
                <a:off x="3066768" y="1473727"/>
                <a:ext cx="16231" cy="259733"/>
              </a:xfrm>
              <a:custGeom>
                <a:avLst/>
                <a:gdLst/>
                <a:ahLst/>
                <a:cxnLst/>
                <a:rect l="l" t="t" r="r" b="b"/>
                <a:pathLst>
                  <a:path w="16231" h="259733">
                    <a:moveTo>
                      <a:pt x="16231" y="0"/>
                    </a:moveTo>
                    <a:lnTo>
                      <a:pt x="16231" y="259733"/>
                    </a:lnTo>
                    <a:lnTo>
                      <a:pt x="0" y="25973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墙_Landing_Guard">
                <a:extLst>
                  <a:ext uri="{FF2B5EF4-FFF2-40B4-BE49-F238E27FC236}">
                    <a16:creationId xmlns:a16="http://schemas.microsoft.com/office/drawing/2014/main" id="{0F12960E-200E-E42B-CF0F-19FB66E17FDB}"/>
                  </a:ext>
                </a:extLst>
              </p:cNvPr>
              <p:cNvSpPr/>
              <p:nvPr/>
            </p:nvSpPr>
            <p:spPr>
              <a:xfrm>
                <a:off x="3522508" y="3016257"/>
                <a:ext cx="21263" cy="197437"/>
              </a:xfrm>
              <a:custGeom>
                <a:avLst/>
                <a:gdLst/>
                <a:ahLst/>
                <a:cxnLst/>
                <a:rect l="l" t="t" r="r" b="b"/>
                <a:pathLst>
                  <a:path w="21263" h="197437">
                    <a:moveTo>
                      <a:pt x="18138" y="28895"/>
                    </a:moveTo>
                    <a:lnTo>
                      <a:pt x="14689" y="7508"/>
                    </a:lnTo>
                    <a:lnTo>
                      <a:pt x="10631" y="0"/>
                    </a:lnTo>
                    <a:lnTo>
                      <a:pt x="6573" y="7508"/>
                    </a:lnTo>
                    <a:lnTo>
                      <a:pt x="3124" y="28895"/>
                    </a:lnTo>
                    <a:lnTo>
                      <a:pt x="811" y="60915"/>
                    </a:lnTo>
                    <a:lnTo>
                      <a:pt x="0" y="98698"/>
                    </a:lnTo>
                    <a:lnTo>
                      <a:pt x="811" y="136481"/>
                    </a:lnTo>
                    <a:lnTo>
                      <a:pt x="3124" y="168502"/>
                    </a:lnTo>
                    <a:lnTo>
                      <a:pt x="6573" y="189889"/>
                    </a:lnTo>
                    <a:lnTo>
                      <a:pt x="10631" y="197437"/>
                    </a:lnTo>
                    <a:lnTo>
                      <a:pt x="14689" y="189889"/>
                    </a:lnTo>
                    <a:lnTo>
                      <a:pt x="18138" y="168502"/>
                    </a:lnTo>
                    <a:lnTo>
                      <a:pt x="20451" y="136481"/>
                    </a:lnTo>
                    <a:lnTo>
                      <a:pt x="21263" y="98698"/>
                    </a:lnTo>
                    <a:lnTo>
                      <a:pt x="20451" y="6091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墙_Landing_Baluster.009">
                <a:extLst>
                  <a:ext uri="{FF2B5EF4-FFF2-40B4-BE49-F238E27FC236}">
                    <a16:creationId xmlns:a16="http://schemas.microsoft.com/office/drawing/2014/main" id="{FC76F062-C556-7052-B8F8-1C522EE46B32}"/>
                  </a:ext>
                </a:extLst>
              </p:cNvPr>
              <p:cNvSpPr/>
              <p:nvPr/>
            </p:nvSpPr>
            <p:spPr>
              <a:xfrm>
                <a:off x="3528879" y="3506422"/>
                <a:ext cx="8521" cy="8116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6">
                    <a:moveTo>
                      <a:pt x="7263" y="6939"/>
                    </a:moveTo>
                    <a:lnTo>
                      <a:pt x="5883" y="7832"/>
                    </a:lnTo>
                    <a:lnTo>
                      <a:pt x="4260" y="8116"/>
                    </a:lnTo>
                    <a:lnTo>
                      <a:pt x="2637" y="7832"/>
                    </a:lnTo>
                    <a:lnTo>
                      <a:pt x="1257" y="6939"/>
                    </a:lnTo>
                    <a:lnTo>
                      <a:pt x="324" y="5600"/>
                    </a:lnTo>
                    <a:lnTo>
                      <a:pt x="0" y="4058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8"/>
                    </a:lnTo>
                    <a:lnTo>
                      <a:pt x="8196" y="560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墙_Landing_Baluster.010">
                <a:extLst>
                  <a:ext uri="{FF2B5EF4-FFF2-40B4-BE49-F238E27FC236}">
                    <a16:creationId xmlns:a16="http://schemas.microsoft.com/office/drawing/2014/main" id="{AB2B220B-D5E3-118B-AD32-9B7C25BAA328}"/>
                  </a:ext>
                </a:extLst>
              </p:cNvPr>
              <p:cNvSpPr/>
              <p:nvPr/>
            </p:nvSpPr>
            <p:spPr>
              <a:xfrm>
                <a:off x="3528879" y="3470911"/>
                <a:ext cx="8521" cy="811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7">
                    <a:moveTo>
                      <a:pt x="7263" y="6940"/>
                    </a:moveTo>
                    <a:lnTo>
                      <a:pt x="5883" y="7792"/>
                    </a:lnTo>
                    <a:lnTo>
                      <a:pt x="4260" y="8117"/>
                    </a:lnTo>
                    <a:lnTo>
                      <a:pt x="2637" y="7792"/>
                    </a:lnTo>
                    <a:lnTo>
                      <a:pt x="1257" y="6940"/>
                    </a:lnTo>
                    <a:lnTo>
                      <a:pt x="324" y="5601"/>
                    </a:lnTo>
                    <a:lnTo>
                      <a:pt x="0" y="4059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9"/>
                    </a:lnTo>
                    <a:lnTo>
                      <a:pt x="8196" y="560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墙_Landing_Baluster.011">
                <a:extLst>
                  <a:ext uri="{FF2B5EF4-FFF2-40B4-BE49-F238E27FC236}">
                    <a16:creationId xmlns:a16="http://schemas.microsoft.com/office/drawing/2014/main" id="{3280A4AE-87A8-5BA7-914A-F1E2CDE4CD46}"/>
                  </a:ext>
                </a:extLst>
              </p:cNvPr>
              <p:cNvSpPr/>
              <p:nvPr/>
            </p:nvSpPr>
            <p:spPr>
              <a:xfrm>
                <a:off x="3528879" y="3435401"/>
                <a:ext cx="8521" cy="811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7">
                    <a:moveTo>
                      <a:pt x="7263" y="6940"/>
                    </a:moveTo>
                    <a:lnTo>
                      <a:pt x="5883" y="7792"/>
                    </a:lnTo>
                    <a:lnTo>
                      <a:pt x="4260" y="8117"/>
                    </a:lnTo>
                    <a:lnTo>
                      <a:pt x="2637" y="7792"/>
                    </a:lnTo>
                    <a:lnTo>
                      <a:pt x="1257" y="6940"/>
                    </a:lnTo>
                    <a:lnTo>
                      <a:pt x="324" y="5600"/>
                    </a:lnTo>
                    <a:lnTo>
                      <a:pt x="0" y="4058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8"/>
                    </a:lnTo>
                    <a:lnTo>
                      <a:pt x="8196" y="560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墙_Landing_Baluster.012">
                <a:extLst>
                  <a:ext uri="{FF2B5EF4-FFF2-40B4-BE49-F238E27FC236}">
                    <a16:creationId xmlns:a16="http://schemas.microsoft.com/office/drawing/2014/main" id="{D48B5122-8658-CEE7-DDD5-B243AA759C14}"/>
                  </a:ext>
                </a:extLst>
              </p:cNvPr>
              <p:cNvSpPr/>
              <p:nvPr/>
            </p:nvSpPr>
            <p:spPr>
              <a:xfrm>
                <a:off x="3528879" y="3399809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6981"/>
                    </a:moveTo>
                    <a:lnTo>
                      <a:pt x="5883" y="7874"/>
                    </a:lnTo>
                    <a:lnTo>
                      <a:pt x="4260" y="8198"/>
                    </a:lnTo>
                    <a:lnTo>
                      <a:pt x="2637" y="7874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7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7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墙_Landing_Baluster.013">
                <a:extLst>
                  <a:ext uri="{FF2B5EF4-FFF2-40B4-BE49-F238E27FC236}">
                    <a16:creationId xmlns:a16="http://schemas.microsoft.com/office/drawing/2014/main" id="{50B6F500-57D4-B827-7DD9-10FC08FC6BCC}"/>
                  </a:ext>
                </a:extLst>
              </p:cNvPr>
              <p:cNvSpPr/>
              <p:nvPr/>
            </p:nvSpPr>
            <p:spPr>
              <a:xfrm>
                <a:off x="3528879" y="3363974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6981"/>
                    </a:moveTo>
                    <a:lnTo>
                      <a:pt x="5883" y="7874"/>
                    </a:lnTo>
                    <a:lnTo>
                      <a:pt x="4260" y="8198"/>
                    </a:lnTo>
                    <a:lnTo>
                      <a:pt x="2637" y="7874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7"/>
                    </a:lnTo>
                    <a:lnTo>
                      <a:pt x="1257" y="1177"/>
                    </a:lnTo>
                    <a:lnTo>
                      <a:pt x="2637" y="284"/>
                    </a:lnTo>
                    <a:lnTo>
                      <a:pt x="4260" y="0"/>
                    </a:lnTo>
                    <a:lnTo>
                      <a:pt x="5883" y="284"/>
                    </a:lnTo>
                    <a:lnTo>
                      <a:pt x="7263" y="1177"/>
                    </a:lnTo>
                    <a:lnTo>
                      <a:pt x="8196" y="2517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墙_Landing_Baluster.014">
                <a:extLst>
                  <a:ext uri="{FF2B5EF4-FFF2-40B4-BE49-F238E27FC236}">
                    <a16:creationId xmlns:a16="http://schemas.microsoft.com/office/drawing/2014/main" id="{20D9CF46-D1C9-06BA-5733-504801C88AC0}"/>
                  </a:ext>
                </a:extLst>
              </p:cNvPr>
              <p:cNvSpPr/>
              <p:nvPr/>
            </p:nvSpPr>
            <p:spPr>
              <a:xfrm>
                <a:off x="3528879" y="3328139"/>
                <a:ext cx="8521" cy="815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58">
                    <a:moveTo>
                      <a:pt x="7263" y="6981"/>
                    </a:moveTo>
                    <a:lnTo>
                      <a:pt x="5883" y="7873"/>
                    </a:lnTo>
                    <a:lnTo>
                      <a:pt x="4260" y="8158"/>
                    </a:lnTo>
                    <a:lnTo>
                      <a:pt x="2637" y="7873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284"/>
                    </a:lnTo>
                    <a:lnTo>
                      <a:pt x="4260" y="0"/>
                    </a:lnTo>
                    <a:lnTo>
                      <a:pt x="5883" y="284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墙_Landing_Baluster.015">
                <a:extLst>
                  <a:ext uri="{FF2B5EF4-FFF2-40B4-BE49-F238E27FC236}">
                    <a16:creationId xmlns:a16="http://schemas.microsoft.com/office/drawing/2014/main" id="{4D35CEA2-D85D-5EB4-49CB-62FAECD9C892}"/>
                  </a:ext>
                </a:extLst>
              </p:cNvPr>
              <p:cNvSpPr/>
              <p:nvPr/>
            </p:nvSpPr>
            <p:spPr>
              <a:xfrm>
                <a:off x="3528879" y="3292264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7021"/>
                    </a:moveTo>
                    <a:lnTo>
                      <a:pt x="5883" y="7913"/>
                    </a:lnTo>
                    <a:lnTo>
                      <a:pt x="4260" y="8198"/>
                    </a:lnTo>
                    <a:lnTo>
                      <a:pt x="2637" y="7913"/>
                    </a:lnTo>
                    <a:lnTo>
                      <a:pt x="1257" y="7021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5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5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墙_Landing_Baluster.016">
                <a:extLst>
                  <a:ext uri="{FF2B5EF4-FFF2-40B4-BE49-F238E27FC236}">
                    <a16:creationId xmlns:a16="http://schemas.microsoft.com/office/drawing/2014/main" id="{EBC5A500-DCAB-11F1-B9BF-83F493C6B333}"/>
                  </a:ext>
                </a:extLst>
              </p:cNvPr>
              <p:cNvSpPr/>
              <p:nvPr/>
            </p:nvSpPr>
            <p:spPr>
              <a:xfrm>
                <a:off x="3528879" y="3256429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7021"/>
                    </a:moveTo>
                    <a:lnTo>
                      <a:pt x="5883" y="7873"/>
                    </a:lnTo>
                    <a:lnTo>
                      <a:pt x="4260" y="8198"/>
                    </a:lnTo>
                    <a:lnTo>
                      <a:pt x="2637" y="7873"/>
                    </a:lnTo>
                    <a:lnTo>
                      <a:pt x="1257" y="7021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5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5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墙_Landing_Baluster.017">
                <a:extLst>
                  <a:ext uri="{FF2B5EF4-FFF2-40B4-BE49-F238E27FC236}">
                    <a16:creationId xmlns:a16="http://schemas.microsoft.com/office/drawing/2014/main" id="{FDA16E81-991B-020E-2BEA-D0FFCC95F7F8}"/>
                  </a:ext>
                </a:extLst>
              </p:cNvPr>
              <p:cNvSpPr/>
              <p:nvPr/>
            </p:nvSpPr>
            <p:spPr>
              <a:xfrm>
                <a:off x="3528879" y="3220594"/>
                <a:ext cx="8521" cy="819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7">
                    <a:moveTo>
                      <a:pt x="7263" y="6980"/>
                    </a:moveTo>
                    <a:lnTo>
                      <a:pt x="5883" y="7873"/>
                    </a:lnTo>
                    <a:lnTo>
                      <a:pt x="4260" y="8197"/>
                    </a:lnTo>
                    <a:lnTo>
                      <a:pt x="2637" y="7873"/>
                    </a:lnTo>
                    <a:lnTo>
                      <a:pt x="1257" y="6980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墙_Landing_Baluster.018">
                <a:extLst>
                  <a:ext uri="{FF2B5EF4-FFF2-40B4-BE49-F238E27FC236}">
                    <a16:creationId xmlns:a16="http://schemas.microsoft.com/office/drawing/2014/main" id="{9837DC46-5458-0980-BC4B-FEB40C2EF57E}"/>
                  </a:ext>
                </a:extLst>
              </p:cNvPr>
              <p:cNvSpPr/>
              <p:nvPr/>
            </p:nvSpPr>
            <p:spPr>
              <a:xfrm>
                <a:off x="3528879" y="3184759"/>
                <a:ext cx="8521" cy="819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7">
                    <a:moveTo>
                      <a:pt x="7263" y="6980"/>
                    </a:moveTo>
                    <a:lnTo>
                      <a:pt x="5883" y="7873"/>
                    </a:lnTo>
                    <a:lnTo>
                      <a:pt x="4260" y="8197"/>
                    </a:lnTo>
                    <a:lnTo>
                      <a:pt x="2637" y="7873"/>
                    </a:lnTo>
                    <a:lnTo>
                      <a:pt x="1257" y="6980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墙_Lift_Guide_Duo_-1">
                <a:extLst>
                  <a:ext uri="{FF2B5EF4-FFF2-40B4-BE49-F238E27FC236}">
                    <a16:creationId xmlns:a16="http://schemas.microsoft.com/office/drawing/2014/main" id="{564FDBC6-D875-3E4A-BE94-F34E95887F6D}"/>
                  </a:ext>
                </a:extLst>
              </p:cNvPr>
              <p:cNvSpPr/>
              <p:nvPr/>
            </p:nvSpPr>
            <p:spPr>
              <a:xfrm>
                <a:off x="1418054" y="3333334"/>
                <a:ext cx="24956" cy="56817"/>
              </a:xfrm>
              <a:custGeom>
                <a:avLst/>
                <a:gdLst/>
                <a:ahLst/>
                <a:cxnLst/>
                <a:rect l="l" t="t" r="r" b="b"/>
                <a:pathLst>
                  <a:path w="24956" h="56817">
                    <a:moveTo>
                      <a:pt x="0" y="0"/>
                    </a:moveTo>
                    <a:lnTo>
                      <a:pt x="24956" y="0"/>
                    </a:lnTo>
                    <a:lnTo>
                      <a:pt x="24956" y="56817"/>
                    </a:lnTo>
                    <a:lnTo>
                      <a:pt x="0" y="568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墙_Lift_Guide_Duo_1">
                <a:extLst>
                  <a:ext uri="{FF2B5EF4-FFF2-40B4-BE49-F238E27FC236}">
                    <a16:creationId xmlns:a16="http://schemas.microsoft.com/office/drawing/2014/main" id="{41B18154-8CBF-3D4E-CAD4-36024E7E5524}"/>
                  </a:ext>
                </a:extLst>
              </p:cNvPr>
              <p:cNvSpPr/>
              <p:nvPr/>
            </p:nvSpPr>
            <p:spPr>
              <a:xfrm>
                <a:off x="1817957" y="3333334"/>
                <a:ext cx="24956" cy="56817"/>
              </a:xfrm>
              <a:custGeom>
                <a:avLst/>
                <a:gdLst/>
                <a:ahLst/>
                <a:cxnLst/>
                <a:rect l="l" t="t" r="r" b="b"/>
                <a:pathLst>
                  <a:path w="24956" h="56817">
                    <a:moveTo>
                      <a:pt x="0" y="0"/>
                    </a:moveTo>
                    <a:lnTo>
                      <a:pt x="24956" y="0"/>
                    </a:lnTo>
                    <a:lnTo>
                      <a:pt x="24956" y="56817"/>
                    </a:lnTo>
                    <a:lnTo>
                      <a:pt x="0" y="568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墙_FrameJamb.028">
                <a:extLst>
                  <a:ext uri="{FF2B5EF4-FFF2-40B4-BE49-F238E27FC236}">
                    <a16:creationId xmlns:a16="http://schemas.microsoft.com/office/drawing/2014/main" id="{50AC45B7-5F8C-0778-5E05-59E59BB191ED}"/>
                  </a:ext>
                </a:extLst>
              </p:cNvPr>
              <p:cNvSpPr/>
              <p:nvPr/>
            </p:nvSpPr>
            <p:spPr>
              <a:xfrm>
                <a:off x="2341545" y="3467868"/>
                <a:ext cx="12336" cy="58845"/>
              </a:xfrm>
              <a:custGeom>
                <a:avLst/>
                <a:gdLst/>
                <a:ahLst/>
                <a:cxnLst/>
                <a:rect l="l" t="t" r="r" b="b"/>
                <a:pathLst>
                  <a:path w="12336" h="58845">
                    <a:moveTo>
                      <a:pt x="0" y="0"/>
                    </a:moveTo>
                    <a:lnTo>
                      <a:pt x="12336" y="0"/>
                    </a:lnTo>
                    <a:lnTo>
                      <a:pt x="12336" y="58845"/>
                    </a:lnTo>
                    <a:lnTo>
                      <a:pt x="0" y="58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墙_FrameJamb.029">
                <a:extLst>
                  <a:ext uri="{FF2B5EF4-FFF2-40B4-BE49-F238E27FC236}">
                    <a16:creationId xmlns:a16="http://schemas.microsoft.com/office/drawing/2014/main" id="{A438263E-0007-5606-6BDE-5A90C2873A43}"/>
                  </a:ext>
                </a:extLst>
              </p:cNvPr>
              <p:cNvSpPr/>
              <p:nvPr/>
            </p:nvSpPr>
            <p:spPr>
              <a:xfrm>
                <a:off x="2714220" y="3467868"/>
                <a:ext cx="12295" cy="58845"/>
              </a:xfrm>
              <a:custGeom>
                <a:avLst/>
                <a:gdLst/>
                <a:ahLst/>
                <a:cxnLst/>
                <a:rect l="l" t="t" r="r" b="b"/>
                <a:pathLst>
                  <a:path w="12295" h="58845">
                    <a:moveTo>
                      <a:pt x="0" y="0"/>
                    </a:moveTo>
                    <a:lnTo>
                      <a:pt x="12295" y="0"/>
                    </a:lnTo>
                    <a:lnTo>
                      <a:pt x="12295" y="58845"/>
                    </a:lnTo>
                    <a:lnTo>
                      <a:pt x="0" y="58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墙_DoorLeaf.009">
                <a:extLst>
                  <a:ext uri="{FF2B5EF4-FFF2-40B4-BE49-F238E27FC236}">
                    <a16:creationId xmlns:a16="http://schemas.microsoft.com/office/drawing/2014/main" id="{9C35A2A1-1583-DF5A-9A84-FD36ED700446}"/>
                  </a:ext>
                </a:extLst>
              </p:cNvPr>
              <p:cNvSpPr/>
              <p:nvPr/>
            </p:nvSpPr>
            <p:spPr>
              <a:xfrm>
                <a:off x="2657978" y="3144459"/>
                <a:ext cx="63100" cy="353602"/>
              </a:xfrm>
              <a:custGeom>
                <a:avLst/>
                <a:gdLst/>
                <a:ahLst/>
                <a:cxnLst/>
                <a:rect l="l" t="t" r="r" b="b"/>
                <a:pathLst>
                  <a:path w="63100" h="353602">
                    <a:moveTo>
                      <a:pt x="63059" y="350883"/>
                    </a:moveTo>
                    <a:lnTo>
                      <a:pt x="63100" y="350234"/>
                    </a:lnTo>
                    <a:lnTo>
                      <a:pt x="14080" y="1380"/>
                    </a:lnTo>
                    <a:lnTo>
                      <a:pt x="13878" y="772"/>
                    </a:lnTo>
                    <a:lnTo>
                      <a:pt x="13431" y="285"/>
                    </a:lnTo>
                    <a:lnTo>
                      <a:pt x="12863" y="41"/>
                    </a:lnTo>
                    <a:lnTo>
                      <a:pt x="12214" y="0"/>
                    </a:lnTo>
                    <a:lnTo>
                      <a:pt x="1379" y="1543"/>
                    </a:lnTo>
                    <a:lnTo>
                      <a:pt x="771" y="1746"/>
                    </a:lnTo>
                    <a:lnTo>
                      <a:pt x="324" y="2151"/>
                    </a:lnTo>
                    <a:lnTo>
                      <a:pt x="40" y="2720"/>
                    </a:lnTo>
                    <a:lnTo>
                      <a:pt x="0" y="3369"/>
                    </a:lnTo>
                    <a:lnTo>
                      <a:pt x="48897" y="352223"/>
                    </a:lnTo>
                    <a:lnTo>
                      <a:pt x="49100" y="352831"/>
                    </a:lnTo>
                    <a:lnTo>
                      <a:pt x="49546" y="353278"/>
                    </a:lnTo>
                    <a:lnTo>
                      <a:pt x="50114" y="353562"/>
                    </a:lnTo>
                    <a:lnTo>
                      <a:pt x="50723" y="353602"/>
                    </a:lnTo>
                    <a:lnTo>
                      <a:pt x="61720" y="352060"/>
                    </a:lnTo>
                    <a:lnTo>
                      <a:pt x="62329" y="351857"/>
                    </a:lnTo>
                    <a:lnTo>
                      <a:pt x="62816" y="35145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墙_FrameJamb.048">
                <a:extLst>
                  <a:ext uri="{FF2B5EF4-FFF2-40B4-BE49-F238E27FC236}">
                    <a16:creationId xmlns:a16="http://schemas.microsoft.com/office/drawing/2014/main" id="{61347552-9D9E-D8B2-48AB-D3A17E293165}"/>
                  </a:ext>
                </a:extLst>
              </p:cNvPr>
              <p:cNvSpPr/>
              <p:nvPr/>
            </p:nvSpPr>
            <p:spPr>
              <a:xfrm>
                <a:off x="3271528" y="3893992"/>
                <a:ext cx="12782" cy="58846"/>
              </a:xfrm>
              <a:custGeom>
                <a:avLst/>
                <a:gdLst/>
                <a:ahLst/>
                <a:cxnLst/>
                <a:rect l="l" t="t" r="r" b="b"/>
                <a:pathLst>
                  <a:path w="12782" h="58846">
                    <a:moveTo>
                      <a:pt x="0" y="0"/>
                    </a:moveTo>
                    <a:lnTo>
                      <a:pt x="12782" y="0"/>
                    </a:lnTo>
                    <a:lnTo>
                      <a:pt x="12782" y="58846"/>
                    </a:lnTo>
                    <a:lnTo>
                      <a:pt x="0" y="5884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墙_FrameJamb.049">
                <a:extLst>
                  <a:ext uri="{FF2B5EF4-FFF2-40B4-BE49-F238E27FC236}">
                    <a16:creationId xmlns:a16="http://schemas.microsoft.com/office/drawing/2014/main" id="{8FB9C7B6-262F-8A83-8211-7F96E286D476}"/>
                  </a:ext>
                </a:extLst>
              </p:cNvPr>
              <p:cNvSpPr/>
              <p:nvPr/>
            </p:nvSpPr>
            <p:spPr>
              <a:xfrm>
                <a:off x="3684133" y="3893992"/>
                <a:ext cx="12782" cy="58846"/>
              </a:xfrm>
              <a:custGeom>
                <a:avLst/>
                <a:gdLst/>
                <a:ahLst/>
                <a:cxnLst/>
                <a:rect l="l" t="t" r="r" b="b"/>
                <a:pathLst>
                  <a:path w="12782" h="58846">
                    <a:moveTo>
                      <a:pt x="0" y="0"/>
                    </a:moveTo>
                    <a:lnTo>
                      <a:pt x="12782" y="0"/>
                    </a:lnTo>
                    <a:lnTo>
                      <a:pt x="12782" y="58846"/>
                    </a:lnTo>
                    <a:lnTo>
                      <a:pt x="0" y="5884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墙_PassageJamb_FF">
                <a:extLst>
                  <a:ext uri="{FF2B5EF4-FFF2-40B4-BE49-F238E27FC236}">
                    <a16:creationId xmlns:a16="http://schemas.microsoft.com/office/drawing/2014/main" id="{95BE67ED-2EE8-B999-8A11-AA1B0E2FDFCE}"/>
                  </a:ext>
                </a:extLst>
              </p:cNvPr>
              <p:cNvSpPr/>
              <p:nvPr/>
            </p:nvSpPr>
            <p:spPr>
              <a:xfrm>
                <a:off x="1358078" y="3884455"/>
                <a:ext cx="62289" cy="14610"/>
              </a:xfrm>
              <a:custGeom>
                <a:avLst/>
                <a:gdLst/>
                <a:ahLst/>
                <a:cxnLst/>
                <a:rect l="l" t="t" r="r" b="b"/>
                <a:pathLst>
                  <a:path w="62289" h="14610">
                    <a:moveTo>
                      <a:pt x="0" y="0"/>
                    </a:moveTo>
                    <a:lnTo>
                      <a:pt x="62289" y="0"/>
                    </a:lnTo>
                    <a:lnTo>
                      <a:pt x="62289" y="14610"/>
                    </a:lnTo>
                    <a:lnTo>
                      <a:pt x="0" y="1461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墙_PassageJamb_FF.001">
                <a:extLst>
                  <a:ext uri="{FF2B5EF4-FFF2-40B4-BE49-F238E27FC236}">
                    <a16:creationId xmlns:a16="http://schemas.microsoft.com/office/drawing/2014/main" id="{A2448B4C-2F7B-81CB-6E88-325D4146DA3B}"/>
                  </a:ext>
                </a:extLst>
              </p:cNvPr>
              <p:cNvSpPr/>
              <p:nvPr/>
            </p:nvSpPr>
            <p:spPr>
              <a:xfrm>
                <a:off x="1358078" y="3497290"/>
                <a:ext cx="62289" cy="14610"/>
              </a:xfrm>
              <a:custGeom>
                <a:avLst/>
                <a:gdLst/>
                <a:ahLst/>
                <a:cxnLst/>
                <a:rect l="l" t="t" r="r" b="b"/>
                <a:pathLst>
                  <a:path w="62289" h="14610">
                    <a:moveTo>
                      <a:pt x="0" y="0"/>
                    </a:moveTo>
                    <a:lnTo>
                      <a:pt x="62289" y="0"/>
                    </a:lnTo>
                    <a:lnTo>
                      <a:pt x="62289" y="14610"/>
                    </a:lnTo>
                    <a:lnTo>
                      <a:pt x="0" y="1461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墙_PassageLeaf_FF">
                <a:extLst>
                  <a:ext uri="{FF2B5EF4-FFF2-40B4-BE49-F238E27FC236}">
                    <a16:creationId xmlns:a16="http://schemas.microsoft.com/office/drawing/2014/main" id="{048201CB-B9C3-0E08-C58D-00A51C01A423}"/>
                  </a:ext>
                </a:extLst>
              </p:cNvPr>
              <p:cNvSpPr/>
              <p:nvPr/>
            </p:nvSpPr>
            <p:spPr>
              <a:xfrm>
                <a:off x="1010684" y="3504879"/>
                <a:ext cx="379573" cy="65908"/>
              </a:xfrm>
              <a:custGeom>
                <a:avLst/>
                <a:gdLst/>
                <a:ahLst/>
                <a:cxnLst/>
                <a:rect l="l" t="t" r="r" b="b"/>
                <a:pathLst>
                  <a:path w="379573" h="65908">
                    <a:moveTo>
                      <a:pt x="379573" y="14042"/>
                    </a:moveTo>
                    <a:lnTo>
                      <a:pt x="2029" y="65908"/>
                    </a:lnTo>
                    <a:lnTo>
                      <a:pt x="0" y="51825"/>
                    </a:lnTo>
                    <a:lnTo>
                      <a:pt x="37754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5" name="墙_DoorLeaf.014">
                <a:extLst>
                  <a:ext uri="{FF2B5EF4-FFF2-40B4-BE49-F238E27FC236}">
                    <a16:creationId xmlns:a16="http://schemas.microsoft.com/office/drawing/2014/main" id="{6C07DE54-F5AF-8906-D8D7-C9F9F8D9767C}"/>
                  </a:ext>
                </a:extLst>
              </p:cNvPr>
              <p:cNvSpPr/>
              <p:nvPr/>
            </p:nvSpPr>
            <p:spPr>
              <a:xfrm>
                <a:off x="3621966" y="3922644"/>
                <a:ext cx="69309" cy="381726"/>
              </a:xfrm>
              <a:custGeom>
                <a:avLst/>
                <a:gdLst/>
                <a:ahLst/>
                <a:cxnLst/>
                <a:rect l="l" t="t" r="r" b="b"/>
                <a:pathLst>
                  <a:path w="69309" h="381726">
                    <a:moveTo>
                      <a:pt x="0" y="378966"/>
                    </a:moveTo>
                    <a:lnTo>
                      <a:pt x="0" y="378317"/>
                    </a:lnTo>
                    <a:lnTo>
                      <a:pt x="54579" y="1380"/>
                    </a:lnTo>
                    <a:lnTo>
                      <a:pt x="54781" y="811"/>
                    </a:lnTo>
                    <a:lnTo>
                      <a:pt x="55228" y="324"/>
                    </a:lnTo>
                    <a:lnTo>
                      <a:pt x="55796" y="40"/>
                    </a:lnTo>
                    <a:lnTo>
                      <a:pt x="56405" y="0"/>
                    </a:lnTo>
                    <a:lnTo>
                      <a:pt x="67929" y="1542"/>
                    </a:lnTo>
                    <a:lnTo>
                      <a:pt x="68538" y="1745"/>
                    </a:lnTo>
                    <a:lnTo>
                      <a:pt x="69025" y="2191"/>
                    </a:lnTo>
                    <a:lnTo>
                      <a:pt x="69268" y="2759"/>
                    </a:lnTo>
                    <a:lnTo>
                      <a:pt x="69309" y="3368"/>
                    </a:lnTo>
                    <a:lnTo>
                      <a:pt x="14730" y="380346"/>
                    </a:lnTo>
                    <a:lnTo>
                      <a:pt x="14527" y="380955"/>
                    </a:lnTo>
                    <a:lnTo>
                      <a:pt x="14081" y="381401"/>
                    </a:lnTo>
                    <a:lnTo>
                      <a:pt x="13513" y="381685"/>
                    </a:lnTo>
                    <a:lnTo>
                      <a:pt x="12904" y="381726"/>
                    </a:lnTo>
                    <a:lnTo>
                      <a:pt x="1339" y="380143"/>
                    </a:lnTo>
                    <a:lnTo>
                      <a:pt x="771" y="379940"/>
                    </a:lnTo>
                    <a:lnTo>
                      <a:pt x="284" y="37953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墙_WD_07_10_Study 1 Window_LowerL">
                <a:extLst>
                  <a:ext uri="{FF2B5EF4-FFF2-40B4-BE49-F238E27FC236}">
                    <a16:creationId xmlns:a16="http://schemas.microsoft.com/office/drawing/2014/main" id="{591EB3B5-EFD6-7660-C059-2E9786DFE4DF}"/>
                  </a:ext>
                </a:extLst>
              </p:cNvPr>
              <p:cNvSpPr/>
              <p:nvPr/>
            </p:nvSpPr>
            <p:spPr>
              <a:xfrm>
                <a:off x="2369422" y="2435023"/>
                <a:ext cx="12985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8">
                    <a:moveTo>
                      <a:pt x="12985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墙_WD_07_10_Study 1 Window_LowerR">
                <a:extLst>
                  <a:ext uri="{FF2B5EF4-FFF2-40B4-BE49-F238E27FC236}">
                    <a16:creationId xmlns:a16="http://schemas.microsoft.com/office/drawing/2014/main" id="{B0519F38-3D5F-242A-FBD8-0971BC6C8FED}"/>
                  </a:ext>
                </a:extLst>
              </p:cNvPr>
              <p:cNvSpPr/>
              <p:nvPr/>
            </p:nvSpPr>
            <p:spPr>
              <a:xfrm>
                <a:off x="2021257" y="2435023"/>
                <a:ext cx="12985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8">
                    <a:moveTo>
                      <a:pt x="12985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墙_WD_07_10_Study 1 Window_OuterL">
                <a:extLst>
                  <a:ext uri="{FF2B5EF4-FFF2-40B4-BE49-F238E27FC236}">
                    <a16:creationId xmlns:a16="http://schemas.microsoft.com/office/drawing/2014/main" id="{20189F94-87D1-02E2-F809-8CA75EE3F88B}"/>
                  </a:ext>
                </a:extLst>
              </p:cNvPr>
              <p:cNvSpPr/>
              <p:nvPr/>
            </p:nvSpPr>
            <p:spPr>
              <a:xfrm>
                <a:off x="2382407" y="2435023"/>
                <a:ext cx="22319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8">
                    <a:moveTo>
                      <a:pt x="22319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墙_WD_07_10_Study 1 Window_OuterR">
                <a:extLst>
                  <a:ext uri="{FF2B5EF4-FFF2-40B4-BE49-F238E27FC236}">
                    <a16:creationId xmlns:a16="http://schemas.microsoft.com/office/drawing/2014/main" id="{25928827-797C-291F-FE17-F39E1C7C5BEC}"/>
                  </a:ext>
                </a:extLst>
              </p:cNvPr>
              <p:cNvSpPr/>
              <p:nvPr/>
            </p:nvSpPr>
            <p:spPr>
              <a:xfrm>
                <a:off x="1998938" y="2435023"/>
                <a:ext cx="22319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8">
                    <a:moveTo>
                      <a:pt x="22319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墙_WD_08_11_Study 2 Window_LowerL">
                <a:extLst>
                  <a:ext uri="{FF2B5EF4-FFF2-40B4-BE49-F238E27FC236}">
                    <a16:creationId xmlns:a16="http://schemas.microsoft.com/office/drawing/2014/main" id="{CE3A3607-AA29-9FD6-A5EA-734AAC9970D1}"/>
                  </a:ext>
                </a:extLst>
              </p:cNvPr>
              <p:cNvSpPr/>
              <p:nvPr/>
            </p:nvSpPr>
            <p:spPr>
              <a:xfrm>
                <a:off x="2613503" y="1980693"/>
                <a:ext cx="30434" cy="12987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12987">
                    <a:moveTo>
                      <a:pt x="0" y="12987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1298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墙_WD_08_11_Study 2 Window_LowerR">
                <a:extLst>
                  <a:ext uri="{FF2B5EF4-FFF2-40B4-BE49-F238E27FC236}">
                    <a16:creationId xmlns:a16="http://schemas.microsoft.com/office/drawing/2014/main" id="{F03CBD16-A156-CEE8-03BB-86824C36C006}"/>
                  </a:ext>
                </a:extLst>
              </p:cNvPr>
              <p:cNvSpPr/>
              <p:nvPr/>
            </p:nvSpPr>
            <p:spPr>
              <a:xfrm>
                <a:off x="2613503" y="1632489"/>
                <a:ext cx="30434" cy="12987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12987">
                    <a:moveTo>
                      <a:pt x="0" y="12987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1298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墙_WD_08_11_Study 2 Window_OuterL">
                <a:extLst>
                  <a:ext uri="{FF2B5EF4-FFF2-40B4-BE49-F238E27FC236}">
                    <a16:creationId xmlns:a16="http://schemas.microsoft.com/office/drawing/2014/main" id="{E2723628-ABF1-042F-2A6B-CD59543C163B}"/>
                  </a:ext>
                </a:extLst>
              </p:cNvPr>
              <p:cNvSpPr/>
              <p:nvPr/>
            </p:nvSpPr>
            <p:spPr>
              <a:xfrm>
                <a:off x="2613503" y="1993680"/>
                <a:ext cx="30434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22321">
                    <a:moveTo>
                      <a:pt x="0" y="22321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2232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" name="墙_WD_08_11_Study 2 Window_OuterR">
                <a:extLst>
                  <a:ext uri="{FF2B5EF4-FFF2-40B4-BE49-F238E27FC236}">
                    <a16:creationId xmlns:a16="http://schemas.microsoft.com/office/drawing/2014/main" id="{10E5ABEA-3BA4-49F0-9420-A8F55A34A2EA}"/>
                  </a:ext>
                </a:extLst>
              </p:cNvPr>
              <p:cNvSpPr/>
              <p:nvPr/>
            </p:nvSpPr>
            <p:spPr>
              <a:xfrm>
                <a:off x="2613503" y="1610168"/>
                <a:ext cx="30434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22321">
                    <a:moveTo>
                      <a:pt x="0" y="22321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2232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墙_WD_10_16_Bedroom Window (Clear)_LowerL">
                <a:extLst>
                  <a:ext uri="{FF2B5EF4-FFF2-40B4-BE49-F238E27FC236}">
                    <a16:creationId xmlns:a16="http://schemas.microsoft.com/office/drawing/2014/main" id="{37A3642F-8FE4-75EA-FFD9-7AF985DB95E9}"/>
                  </a:ext>
                </a:extLst>
              </p:cNvPr>
              <p:cNvSpPr/>
              <p:nvPr/>
            </p:nvSpPr>
            <p:spPr>
              <a:xfrm>
                <a:off x="2991900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0" y="0"/>
                    </a:moveTo>
                    <a:lnTo>
                      <a:pt x="12985" y="0"/>
                    </a:lnTo>
                    <a:lnTo>
                      <a:pt x="12985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" name="墙_WD_10_16_Bedroom Window (Clear)_LowerR">
                <a:extLst>
                  <a:ext uri="{FF2B5EF4-FFF2-40B4-BE49-F238E27FC236}">
                    <a16:creationId xmlns:a16="http://schemas.microsoft.com/office/drawing/2014/main" id="{44909E44-6CAA-86FE-FC5F-7A5AADBE1564}"/>
                  </a:ext>
                </a:extLst>
              </p:cNvPr>
              <p:cNvSpPr/>
              <p:nvPr/>
            </p:nvSpPr>
            <p:spPr>
              <a:xfrm>
                <a:off x="3340066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0" y="0"/>
                    </a:moveTo>
                    <a:lnTo>
                      <a:pt x="12985" y="0"/>
                    </a:lnTo>
                    <a:lnTo>
                      <a:pt x="12985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墙_WD_10_16_Bedroom Window (Clear)_OuterL">
                <a:extLst>
                  <a:ext uri="{FF2B5EF4-FFF2-40B4-BE49-F238E27FC236}">
                    <a16:creationId xmlns:a16="http://schemas.microsoft.com/office/drawing/2014/main" id="{F29628AB-BADE-87E1-ED01-75076D39F776}"/>
                  </a:ext>
                </a:extLst>
              </p:cNvPr>
              <p:cNvSpPr/>
              <p:nvPr/>
            </p:nvSpPr>
            <p:spPr>
              <a:xfrm>
                <a:off x="2969582" y="5661394"/>
                <a:ext cx="22318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8" h="30437">
                    <a:moveTo>
                      <a:pt x="0" y="0"/>
                    </a:moveTo>
                    <a:lnTo>
                      <a:pt x="22318" y="0"/>
                    </a:lnTo>
                    <a:lnTo>
                      <a:pt x="22318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" name="墙_WD_10_16_Bedroom Window (Clear)_OuterR">
                <a:extLst>
                  <a:ext uri="{FF2B5EF4-FFF2-40B4-BE49-F238E27FC236}">
                    <a16:creationId xmlns:a16="http://schemas.microsoft.com/office/drawing/2014/main" id="{3686FCC6-081E-5FD7-6462-C52FED4035E8}"/>
                  </a:ext>
                </a:extLst>
              </p:cNvPr>
              <p:cNvSpPr/>
              <p:nvPr/>
            </p:nvSpPr>
            <p:spPr>
              <a:xfrm>
                <a:off x="3353051" y="5661394"/>
                <a:ext cx="22318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8" h="30437">
                    <a:moveTo>
                      <a:pt x="0" y="0"/>
                    </a:moveTo>
                    <a:lnTo>
                      <a:pt x="22318" y="0"/>
                    </a:lnTo>
                    <a:lnTo>
                      <a:pt x="22318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墙_WD_11_17_Bedroom Window (Frosted)_LowerL">
                <a:extLst>
                  <a:ext uri="{FF2B5EF4-FFF2-40B4-BE49-F238E27FC236}">
                    <a16:creationId xmlns:a16="http://schemas.microsoft.com/office/drawing/2014/main" id="{9493DBD5-C5C4-A764-C26B-CFCAD7D835AA}"/>
                  </a:ext>
                </a:extLst>
              </p:cNvPr>
              <p:cNvSpPr/>
              <p:nvPr/>
            </p:nvSpPr>
            <p:spPr>
              <a:xfrm>
                <a:off x="2624216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12985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9" name="墙_WD_11_17_Bedroom Window (Frosted)_LowerR">
                <a:extLst>
                  <a:ext uri="{FF2B5EF4-FFF2-40B4-BE49-F238E27FC236}">
                    <a16:creationId xmlns:a16="http://schemas.microsoft.com/office/drawing/2014/main" id="{5F409CA0-F231-CA73-665A-958DF21040D3}"/>
                  </a:ext>
                </a:extLst>
              </p:cNvPr>
              <p:cNvSpPr/>
              <p:nvPr/>
            </p:nvSpPr>
            <p:spPr>
              <a:xfrm>
                <a:off x="2276051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12985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" name="墙_WD_11_17_Bedroom Window (Frosted)_OuterL">
                <a:extLst>
                  <a:ext uri="{FF2B5EF4-FFF2-40B4-BE49-F238E27FC236}">
                    <a16:creationId xmlns:a16="http://schemas.microsoft.com/office/drawing/2014/main" id="{6DFDFE20-8618-6B48-FF93-B587331D39C4}"/>
                  </a:ext>
                </a:extLst>
              </p:cNvPr>
              <p:cNvSpPr/>
              <p:nvPr/>
            </p:nvSpPr>
            <p:spPr>
              <a:xfrm>
                <a:off x="2637201" y="5661394"/>
                <a:ext cx="22319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7">
                    <a:moveTo>
                      <a:pt x="22319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1" name="墙_WD_11_17_Bedroom Window (Frosted)_OuterR">
                <a:extLst>
                  <a:ext uri="{FF2B5EF4-FFF2-40B4-BE49-F238E27FC236}">
                    <a16:creationId xmlns:a16="http://schemas.microsoft.com/office/drawing/2014/main" id="{29361968-058A-29EB-204E-E23D4FB62547}"/>
                  </a:ext>
                </a:extLst>
              </p:cNvPr>
              <p:cNvSpPr/>
              <p:nvPr/>
            </p:nvSpPr>
            <p:spPr>
              <a:xfrm>
                <a:off x="2253732" y="5661394"/>
                <a:ext cx="22319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7">
                    <a:moveTo>
                      <a:pt x="22319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2" name="墙_Bifold slim jamb">
                <a:extLst>
                  <a:ext uri="{FF2B5EF4-FFF2-40B4-BE49-F238E27FC236}">
                    <a16:creationId xmlns:a16="http://schemas.microsoft.com/office/drawing/2014/main" id="{E3CECA8B-8BD2-A84F-A52D-A1F27A050CBD}"/>
                  </a:ext>
                </a:extLst>
              </p:cNvPr>
              <p:cNvSpPr/>
              <p:nvPr/>
            </p:nvSpPr>
            <p:spPr>
              <a:xfrm>
                <a:off x="2596988" y="4515931"/>
                <a:ext cx="52752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2752" h="12175">
                    <a:moveTo>
                      <a:pt x="406" y="40"/>
                    </a:moveTo>
                    <a:lnTo>
                      <a:pt x="608" y="0"/>
                    </a:lnTo>
                    <a:lnTo>
                      <a:pt x="52143" y="0"/>
                    </a:lnTo>
                    <a:lnTo>
                      <a:pt x="52387" y="40"/>
                    </a:lnTo>
                    <a:lnTo>
                      <a:pt x="52590" y="203"/>
                    </a:lnTo>
                    <a:lnTo>
                      <a:pt x="52712" y="365"/>
                    </a:lnTo>
                    <a:lnTo>
                      <a:pt x="52752" y="608"/>
                    </a:lnTo>
                    <a:lnTo>
                      <a:pt x="52752" y="11566"/>
                    </a:lnTo>
                    <a:lnTo>
                      <a:pt x="52712" y="11809"/>
                    </a:lnTo>
                    <a:lnTo>
                      <a:pt x="52590" y="12012"/>
                    </a:lnTo>
                    <a:lnTo>
                      <a:pt x="52387" y="12134"/>
                    </a:lnTo>
                    <a:lnTo>
                      <a:pt x="52143" y="12175"/>
                    </a:lnTo>
                    <a:lnTo>
                      <a:pt x="608" y="12175"/>
                    </a:lnTo>
                    <a:lnTo>
                      <a:pt x="406" y="12134"/>
                    </a:lnTo>
                    <a:lnTo>
                      <a:pt x="203" y="12012"/>
                    </a:lnTo>
                    <a:lnTo>
                      <a:pt x="40" y="11809"/>
                    </a:lnTo>
                    <a:lnTo>
                      <a:pt x="0" y="11566"/>
                    </a:lnTo>
                    <a:lnTo>
                      <a:pt x="0" y="608"/>
                    </a:lnTo>
                    <a:lnTo>
                      <a:pt x="40" y="365"/>
                    </a:lnTo>
                    <a:lnTo>
                      <a:pt x="203" y="20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墙_Bifold slim jamb.001">
                <a:extLst>
                  <a:ext uri="{FF2B5EF4-FFF2-40B4-BE49-F238E27FC236}">
                    <a16:creationId xmlns:a16="http://schemas.microsoft.com/office/drawing/2014/main" id="{D93DE9E4-AB95-D456-556B-77C3B5038CC8}"/>
                  </a:ext>
                </a:extLst>
              </p:cNvPr>
              <p:cNvSpPr/>
              <p:nvPr/>
            </p:nvSpPr>
            <p:spPr>
              <a:xfrm>
                <a:off x="2596988" y="4097923"/>
                <a:ext cx="52752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2752" h="12175">
                    <a:moveTo>
                      <a:pt x="406" y="40"/>
                    </a:moveTo>
                    <a:lnTo>
                      <a:pt x="608" y="0"/>
                    </a:lnTo>
                    <a:lnTo>
                      <a:pt x="52143" y="0"/>
                    </a:lnTo>
                    <a:lnTo>
                      <a:pt x="52387" y="40"/>
                    </a:lnTo>
                    <a:lnTo>
                      <a:pt x="52590" y="203"/>
                    </a:lnTo>
                    <a:lnTo>
                      <a:pt x="52712" y="365"/>
                    </a:lnTo>
                    <a:lnTo>
                      <a:pt x="52752" y="609"/>
                    </a:lnTo>
                    <a:lnTo>
                      <a:pt x="52752" y="11566"/>
                    </a:lnTo>
                    <a:lnTo>
                      <a:pt x="52712" y="11810"/>
                    </a:lnTo>
                    <a:lnTo>
                      <a:pt x="52590" y="12013"/>
                    </a:lnTo>
                    <a:lnTo>
                      <a:pt x="52387" y="12134"/>
                    </a:lnTo>
                    <a:lnTo>
                      <a:pt x="52143" y="12175"/>
                    </a:lnTo>
                    <a:lnTo>
                      <a:pt x="608" y="12175"/>
                    </a:lnTo>
                    <a:lnTo>
                      <a:pt x="406" y="12134"/>
                    </a:lnTo>
                    <a:lnTo>
                      <a:pt x="203" y="12013"/>
                    </a:lnTo>
                    <a:lnTo>
                      <a:pt x="40" y="11810"/>
                    </a:lnTo>
                    <a:lnTo>
                      <a:pt x="0" y="11566"/>
                    </a:lnTo>
                    <a:lnTo>
                      <a:pt x="0" y="609"/>
                    </a:lnTo>
                    <a:lnTo>
                      <a:pt x="40" y="365"/>
                    </a:lnTo>
                    <a:lnTo>
                      <a:pt x="203" y="20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4" name="墙_Rear215 jamb">
                <a:extLst>
                  <a:ext uri="{FF2B5EF4-FFF2-40B4-BE49-F238E27FC236}">
                    <a16:creationId xmlns:a16="http://schemas.microsoft.com/office/drawing/2014/main" id="{707112ED-273C-161D-D8E0-A9F5B1D9152A}"/>
                  </a:ext>
                </a:extLst>
              </p:cNvPr>
              <p:cNvSpPr/>
              <p:nvPr/>
            </p:nvSpPr>
            <p:spPr>
              <a:xfrm>
                <a:off x="3184649" y="2421834"/>
                <a:ext cx="12174" cy="56816"/>
              </a:xfrm>
              <a:custGeom>
                <a:avLst/>
                <a:gdLst/>
                <a:ahLst/>
                <a:cxnLst/>
                <a:rect l="l" t="t" r="r" b="b"/>
                <a:pathLst>
                  <a:path w="12174" h="56816">
                    <a:moveTo>
                      <a:pt x="1502" y="203"/>
                    </a:moveTo>
                    <a:lnTo>
                      <a:pt x="2435" y="0"/>
                    </a:lnTo>
                    <a:lnTo>
                      <a:pt x="9739" y="0"/>
                    </a:lnTo>
                    <a:lnTo>
                      <a:pt x="10672" y="203"/>
                    </a:lnTo>
                    <a:lnTo>
                      <a:pt x="11443" y="730"/>
                    </a:lnTo>
                    <a:lnTo>
                      <a:pt x="11971" y="1501"/>
                    </a:lnTo>
                    <a:lnTo>
                      <a:pt x="12174" y="2435"/>
                    </a:lnTo>
                    <a:lnTo>
                      <a:pt x="12174" y="54381"/>
                    </a:lnTo>
                    <a:lnTo>
                      <a:pt x="11971" y="55315"/>
                    </a:lnTo>
                    <a:lnTo>
                      <a:pt x="11443" y="56126"/>
                    </a:lnTo>
                    <a:lnTo>
                      <a:pt x="10672" y="56654"/>
                    </a:lnTo>
                    <a:lnTo>
                      <a:pt x="9739" y="56816"/>
                    </a:lnTo>
                    <a:lnTo>
                      <a:pt x="2435" y="56816"/>
                    </a:lnTo>
                    <a:lnTo>
                      <a:pt x="1502" y="56654"/>
                    </a:lnTo>
                    <a:lnTo>
                      <a:pt x="690" y="56126"/>
                    </a:lnTo>
                    <a:lnTo>
                      <a:pt x="162" y="55315"/>
                    </a:lnTo>
                    <a:lnTo>
                      <a:pt x="0" y="54381"/>
                    </a:lnTo>
                    <a:lnTo>
                      <a:pt x="0" y="2435"/>
                    </a:lnTo>
                    <a:lnTo>
                      <a:pt x="162" y="1501"/>
                    </a:lnTo>
                    <a:lnTo>
                      <a:pt x="690" y="73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墙_Rear215 jamb.001">
                <a:extLst>
                  <a:ext uri="{FF2B5EF4-FFF2-40B4-BE49-F238E27FC236}">
                    <a16:creationId xmlns:a16="http://schemas.microsoft.com/office/drawing/2014/main" id="{0598CAED-4677-23A1-A4E5-A5FE2A50932A}"/>
                  </a:ext>
                </a:extLst>
              </p:cNvPr>
              <p:cNvSpPr/>
              <p:nvPr/>
            </p:nvSpPr>
            <p:spPr>
              <a:xfrm>
                <a:off x="3509725" y="2421834"/>
                <a:ext cx="12783" cy="56816"/>
              </a:xfrm>
              <a:custGeom>
                <a:avLst/>
                <a:gdLst/>
                <a:ahLst/>
                <a:cxnLst/>
                <a:rect l="l" t="t" r="r" b="b"/>
                <a:pathLst>
                  <a:path w="12783" h="56816">
                    <a:moveTo>
                      <a:pt x="1502" y="203"/>
                    </a:moveTo>
                    <a:lnTo>
                      <a:pt x="2435" y="0"/>
                    </a:lnTo>
                    <a:lnTo>
                      <a:pt x="10348" y="0"/>
                    </a:lnTo>
                    <a:lnTo>
                      <a:pt x="11281" y="203"/>
                    </a:lnTo>
                    <a:lnTo>
                      <a:pt x="12052" y="730"/>
                    </a:lnTo>
                    <a:lnTo>
                      <a:pt x="12580" y="1501"/>
                    </a:lnTo>
                    <a:lnTo>
                      <a:pt x="12783" y="2435"/>
                    </a:lnTo>
                    <a:lnTo>
                      <a:pt x="12783" y="54381"/>
                    </a:lnTo>
                    <a:lnTo>
                      <a:pt x="12580" y="55315"/>
                    </a:lnTo>
                    <a:lnTo>
                      <a:pt x="12052" y="56126"/>
                    </a:lnTo>
                    <a:lnTo>
                      <a:pt x="11281" y="56654"/>
                    </a:lnTo>
                    <a:lnTo>
                      <a:pt x="10348" y="56816"/>
                    </a:lnTo>
                    <a:lnTo>
                      <a:pt x="2435" y="56816"/>
                    </a:lnTo>
                    <a:lnTo>
                      <a:pt x="1502" y="56654"/>
                    </a:lnTo>
                    <a:lnTo>
                      <a:pt x="731" y="56126"/>
                    </a:lnTo>
                    <a:lnTo>
                      <a:pt x="203" y="55315"/>
                    </a:lnTo>
                    <a:lnTo>
                      <a:pt x="0" y="54381"/>
                    </a:lnTo>
                    <a:lnTo>
                      <a:pt x="0" y="2435"/>
                    </a:lnTo>
                    <a:lnTo>
                      <a:pt x="203" y="1501"/>
                    </a:lnTo>
                    <a:lnTo>
                      <a:pt x="731" y="73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墙_DoorLeaf_Rear215">
                <a:extLst>
                  <a:ext uri="{FF2B5EF4-FFF2-40B4-BE49-F238E27FC236}">
                    <a16:creationId xmlns:a16="http://schemas.microsoft.com/office/drawing/2014/main" id="{4E5F1EAF-A1D2-FB19-98E4-51A8733FBF90}"/>
                  </a:ext>
                </a:extLst>
              </p:cNvPr>
              <p:cNvSpPr/>
              <p:nvPr/>
            </p:nvSpPr>
            <p:spPr>
              <a:xfrm>
                <a:off x="3460057" y="2172612"/>
                <a:ext cx="55390" cy="278158"/>
              </a:xfrm>
              <a:custGeom>
                <a:avLst/>
                <a:gdLst/>
                <a:ahLst/>
                <a:cxnLst/>
                <a:rect l="l" t="t" r="r" b="b"/>
                <a:pathLst>
                  <a:path w="55390" h="278158">
                    <a:moveTo>
                      <a:pt x="55309" y="274708"/>
                    </a:moveTo>
                    <a:lnTo>
                      <a:pt x="55390" y="273450"/>
                    </a:lnTo>
                    <a:lnTo>
                      <a:pt x="14568" y="2759"/>
                    </a:lnTo>
                    <a:lnTo>
                      <a:pt x="14121" y="1542"/>
                    </a:lnTo>
                    <a:lnTo>
                      <a:pt x="13269" y="609"/>
                    </a:lnTo>
                    <a:lnTo>
                      <a:pt x="12133" y="40"/>
                    </a:lnTo>
                    <a:lnTo>
                      <a:pt x="10875" y="0"/>
                    </a:lnTo>
                    <a:lnTo>
                      <a:pt x="2719" y="1096"/>
                    </a:lnTo>
                    <a:lnTo>
                      <a:pt x="1501" y="1501"/>
                    </a:lnTo>
                    <a:lnTo>
                      <a:pt x="568" y="2354"/>
                    </a:lnTo>
                    <a:lnTo>
                      <a:pt x="41" y="3449"/>
                    </a:lnTo>
                    <a:lnTo>
                      <a:pt x="0" y="4748"/>
                    </a:lnTo>
                    <a:lnTo>
                      <a:pt x="41309" y="275398"/>
                    </a:lnTo>
                    <a:lnTo>
                      <a:pt x="41756" y="276615"/>
                    </a:lnTo>
                    <a:lnTo>
                      <a:pt x="42608" y="277549"/>
                    </a:lnTo>
                    <a:lnTo>
                      <a:pt x="43744" y="278117"/>
                    </a:lnTo>
                    <a:lnTo>
                      <a:pt x="45002" y="278158"/>
                    </a:lnTo>
                    <a:lnTo>
                      <a:pt x="52631" y="277102"/>
                    </a:lnTo>
                    <a:lnTo>
                      <a:pt x="53848" y="276697"/>
                    </a:lnTo>
                    <a:lnTo>
                      <a:pt x="54781" y="275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墙_Room199_Jamb">
                <a:extLst>
                  <a:ext uri="{FF2B5EF4-FFF2-40B4-BE49-F238E27FC236}">
                    <a16:creationId xmlns:a16="http://schemas.microsoft.com/office/drawing/2014/main" id="{008EFFD3-7398-E747-9F1B-9FF9B0554E2F}"/>
                  </a:ext>
                </a:extLst>
              </p:cNvPr>
              <p:cNvSpPr/>
              <p:nvPr/>
            </p:nvSpPr>
            <p:spPr>
              <a:xfrm>
                <a:off x="1040793" y="3071166"/>
                <a:ext cx="56810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6810" h="12175">
                    <a:moveTo>
                      <a:pt x="0" y="0"/>
                    </a:moveTo>
                    <a:lnTo>
                      <a:pt x="56810" y="0"/>
                    </a:lnTo>
                    <a:lnTo>
                      <a:pt x="56810" y="12175"/>
                    </a:lnTo>
                    <a:lnTo>
                      <a:pt x="0" y="1217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墙_Room199_Jamb.001">
                <a:extLst>
                  <a:ext uri="{FF2B5EF4-FFF2-40B4-BE49-F238E27FC236}">
                    <a16:creationId xmlns:a16="http://schemas.microsoft.com/office/drawing/2014/main" id="{55A8A80A-CBC6-F300-4DDE-E94AA5F070EB}"/>
                  </a:ext>
                </a:extLst>
              </p:cNvPr>
              <p:cNvSpPr/>
              <p:nvPr/>
            </p:nvSpPr>
            <p:spPr>
              <a:xfrm>
                <a:off x="1040793" y="2799258"/>
                <a:ext cx="56810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6810" h="12175">
                    <a:moveTo>
                      <a:pt x="0" y="0"/>
                    </a:moveTo>
                    <a:lnTo>
                      <a:pt x="56810" y="0"/>
                    </a:lnTo>
                    <a:lnTo>
                      <a:pt x="56810" y="12175"/>
                    </a:lnTo>
                    <a:lnTo>
                      <a:pt x="0" y="1217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9" name="墙_DoorLeaf_Room199">
                <a:extLst>
                  <a:ext uri="{FF2B5EF4-FFF2-40B4-BE49-F238E27FC236}">
                    <a16:creationId xmlns:a16="http://schemas.microsoft.com/office/drawing/2014/main" id="{EC6A3079-8DDB-20F1-94AA-2750F920CB82}"/>
                  </a:ext>
                </a:extLst>
              </p:cNvPr>
              <p:cNvSpPr/>
              <p:nvPr/>
            </p:nvSpPr>
            <p:spPr>
              <a:xfrm>
                <a:off x="784457" y="2786271"/>
                <a:ext cx="265263" cy="51095"/>
              </a:xfrm>
              <a:custGeom>
                <a:avLst/>
                <a:gdLst/>
                <a:ahLst/>
                <a:cxnLst/>
                <a:rect l="l" t="t" r="r" b="b"/>
                <a:pathLst>
                  <a:path w="265263" h="51095">
                    <a:moveTo>
                      <a:pt x="265263" y="14610"/>
                    </a:moveTo>
                    <a:lnTo>
                      <a:pt x="2070" y="51095"/>
                    </a:lnTo>
                    <a:lnTo>
                      <a:pt x="0" y="36485"/>
                    </a:lnTo>
                    <a:lnTo>
                      <a:pt x="26319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墙_WR_Carcass">
                <a:extLst>
                  <a:ext uri="{FF2B5EF4-FFF2-40B4-BE49-F238E27FC236}">
                    <a16:creationId xmlns:a16="http://schemas.microsoft.com/office/drawing/2014/main" id="{9F08FDF2-8D7F-AA06-11AA-B4C47E2235CE}"/>
                  </a:ext>
                </a:extLst>
              </p:cNvPr>
              <p:cNvSpPr/>
              <p:nvPr/>
            </p:nvSpPr>
            <p:spPr>
              <a:xfrm>
                <a:off x="449439" y="4022357"/>
                <a:ext cx="235357" cy="1217498"/>
              </a:xfrm>
              <a:custGeom>
                <a:avLst/>
                <a:gdLst/>
                <a:ahLst/>
                <a:cxnLst/>
                <a:rect l="l" t="t" r="r" b="b"/>
                <a:pathLst>
                  <a:path w="235357" h="1217498">
                    <a:moveTo>
                      <a:pt x="244" y="608992"/>
                    </a:moveTo>
                    <a:lnTo>
                      <a:pt x="0" y="609561"/>
                    </a:lnTo>
                    <a:lnTo>
                      <a:pt x="0" y="1216686"/>
                    </a:lnTo>
                    <a:lnTo>
                      <a:pt x="244" y="1217255"/>
                    </a:lnTo>
                    <a:lnTo>
                      <a:pt x="812" y="1217498"/>
                    </a:lnTo>
                    <a:lnTo>
                      <a:pt x="234545" y="1217498"/>
                    </a:lnTo>
                    <a:lnTo>
                      <a:pt x="235113" y="1217255"/>
                    </a:lnTo>
                    <a:lnTo>
                      <a:pt x="235357" y="1216686"/>
                    </a:lnTo>
                    <a:lnTo>
                      <a:pt x="235357" y="609561"/>
                    </a:lnTo>
                    <a:lnTo>
                      <a:pt x="235113" y="608992"/>
                    </a:lnTo>
                    <a:lnTo>
                      <a:pt x="234545" y="608749"/>
                    </a:lnTo>
                    <a:lnTo>
                      <a:pt x="812" y="608749"/>
                    </a:lnTo>
                    <a:close/>
                    <a:moveTo>
                      <a:pt x="244" y="243"/>
                    </a:moveTo>
                    <a:lnTo>
                      <a:pt x="0" y="811"/>
                    </a:lnTo>
                    <a:lnTo>
                      <a:pt x="0" y="607937"/>
                    </a:lnTo>
                    <a:lnTo>
                      <a:pt x="244" y="608505"/>
                    </a:lnTo>
                    <a:lnTo>
                      <a:pt x="812" y="608749"/>
                    </a:lnTo>
                    <a:lnTo>
                      <a:pt x="234545" y="608749"/>
                    </a:lnTo>
                    <a:lnTo>
                      <a:pt x="235113" y="608505"/>
                    </a:lnTo>
                    <a:lnTo>
                      <a:pt x="235357" y="607937"/>
                    </a:lnTo>
                    <a:lnTo>
                      <a:pt x="235357" y="811"/>
                    </a:lnTo>
                    <a:lnTo>
                      <a:pt x="235113" y="243"/>
                    </a:lnTo>
                    <a:lnTo>
                      <a:pt x="234545" y="0"/>
                    </a:lnTo>
                    <a:lnTo>
                      <a:pt x="812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1" name="墙_WR_Door_L1">
                <a:extLst>
                  <a:ext uri="{FF2B5EF4-FFF2-40B4-BE49-F238E27FC236}">
                    <a16:creationId xmlns:a16="http://schemas.microsoft.com/office/drawing/2014/main" id="{77B18D4A-5E44-E47B-6339-E0F4924957E0}"/>
                  </a:ext>
                </a:extLst>
              </p:cNvPr>
              <p:cNvSpPr/>
              <p:nvPr/>
            </p:nvSpPr>
            <p:spPr>
              <a:xfrm>
                <a:off x="684796" y="4479527"/>
                <a:ext cx="8116" cy="759111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111">
                    <a:moveTo>
                      <a:pt x="7872" y="735410"/>
                    </a:moveTo>
                    <a:lnTo>
                      <a:pt x="7385" y="735572"/>
                    </a:lnTo>
                    <a:lnTo>
                      <a:pt x="7020" y="735816"/>
                    </a:lnTo>
                    <a:lnTo>
                      <a:pt x="6695" y="736181"/>
                    </a:lnTo>
                    <a:lnTo>
                      <a:pt x="6574" y="736546"/>
                    </a:lnTo>
                    <a:lnTo>
                      <a:pt x="6574" y="737033"/>
                    </a:lnTo>
                    <a:lnTo>
                      <a:pt x="6695" y="737398"/>
                    </a:lnTo>
                    <a:lnTo>
                      <a:pt x="7020" y="737764"/>
                    </a:lnTo>
                    <a:lnTo>
                      <a:pt x="7385" y="738007"/>
                    </a:lnTo>
                    <a:lnTo>
                      <a:pt x="7872" y="738170"/>
                    </a:lnTo>
                    <a:lnTo>
                      <a:pt x="7872" y="738170"/>
                    </a:lnTo>
                    <a:lnTo>
                      <a:pt x="8116" y="738413"/>
                    </a:lnTo>
                    <a:lnTo>
                      <a:pt x="8116" y="629447"/>
                    </a:lnTo>
                    <a:lnTo>
                      <a:pt x="7872" y="629690"/>
                    </a:lnTo>
                    <a:lnTo>
                      <a:pt x="7872" y="629690"/>
                    </a:lnTo>
                    <a:lnTo>
                      <a:pt x="7385" y="629853"/>
                    </a:lnTo>
                    <a:lnTo>
                      <a:pt x="7020" y="630096"/>
                    </a:lnTo>
                    <a:lnTo>
                      <a:pt x="6695" y="630462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695" y="631679"/>
                    </a:lnTo>
                    <a:lnTo>
                      <a:pt x="7020" y="632044"/>
                    </a:lnTo>
                    <a:lnTo>
                      <a:pt x="7385" y="632288"/>
                    </a:lnTo>
                    <a:lnTo>
                      <a:pt x="7872" y="632450"/>
                    </a:lnTo>
                    <a:lnTo>
                      <a:pt x="7872" y="632450"/>
                    </a:lnTo>
                    <a:lnTo>
                      <a:pt x="8116" y="632694"/>
                    </a:lnTo>
                    <a:lnTo>
                      <a:pt x="8116" y="735166"/>
                    </a:lnTo>
                    <a:lnTo>
                      <a:pt x="7872" y="735410"/>
                    </a:lnTo>
                    <a:close/>
                    <a:moveTo>
                      <a:pt x="0" y="608993"/>
                    </a:moveTo>
                    <a:lnTo>
                      <a:pt x="243" y="608750"/>
                    </a:lnTo>
                    <a:lnTo>
                      <a:pt x="7872" y="608750"/>
                    </a:lnTo>
                    <a:lnTo>
                      <a:pt x="8116" y="608993"/>
                    </a:lnTo>
                    <a:lnTo>
                      <a:pt x="8116" y="758867"/>
                    </a:lnTo>
                    <a:lnTo>
                      <a:pt x="7872" y="759111"/>
                    </a:lnTo>
                    <a:lnTo>
                      <a:pt x="243" y="759111"/>
                    </a:lnTo>
                    <a:lnTo>
                      <a:pt x="0" y="758867"/>
                    </a:lnTo>
                    <a:close/>
                    <a:moveTo>
                      <a:pt x="7872" y="126661"/>
                    </a:moveTo>
                    <a:lnTo>
                      <a:pt x="7385" y="126823"/>
                    </a:lnTo>
                    <a:lnTo>
                      <a:pt x="7020" y="127067"/>
                    </a:lnTo>
                    <a:lnTo>
                      <a:pt x="6695" y="127432"/>
                    </a:lnTo>
                    <a:lnTo>
                      <a:pt x="6574" y="127797"/>
                    </a:lnTo>
                    <a:lnTo>
                      <a:pt x="6574" y="128284"/>
                    </a:lnTo>
                    <a:lnTo>
                      <a:pt x="6695" y="128649"/>
                    </a:lnTo>
                    <a:lnTo>
                      <a:pt x="7020" y="129015"/>
                    </a:lnTo>
                    <a:lnTo>
                      <a:pt x="7385" y="129258"/>
                    </a:lnTo>
                    <a:lnTo>
                      <a:pt x="7872" y="129420"/>
                    </a:lnTo>
                    <a:lnTo>
                      <a:pt x="7872" y="129420"/>
                    </a:lnTo>
                    <a:lnTo>
                      <a:pt x="8116" y="129664"/>
                    </a:lnTo>
                    <a:lnTo>
                      <a:pt x="8116" y="20698"/>
                    </a:lnTo>
                    <a:lnTo>
                      <a:pt x="7872" y="20941"/>
                    </a:lnTo>
                    <a:lnTo>
                      <a:pt x="7872" y="20941"/>
                    </a:lnTo>
                    <a:lnTo>
                      <a:pt x="7385" y="21104"/>
                    </a:lnTo>
                    <a:lnTo>
                      <a:pt x="7020" y="21347"/>
                    </a:lnTo>
                    <a:lnTo>
                      <a:pt x="6695" y="21712"/>
                    </a:lnTo>
                    <a:lnTo>
                      <a:pt x="6574" y="22078"/>
                    </a:lnTo>
                    <a:lnTo>
                      <a:pt x="6574" y="22565"/>
                    </a:lnTo>
                    <a:lnTo>
                      <a:pt x="6695" y="22930"/>
                    </a:lnTo>
                    <a:lnTo>
                      <a:pt x="7020" y="23295"/>
                    </a:lnTo>
                    <a:lnTo>
                      <a:pt x="7385" y="23539"/>
                    </a:lnTo>
                    <a:lnTo>
                      <a:pt x="7872" y="23701"/>
                    </a:lnTo>
                    <a:lnTo>
                      <a:pt x="7872" y="23701"/>
                    </a:lnTo>
                    <a:lnTo>
                      <a:pt x="8116" y="23945"/>
                    </a:lnTo>
                    <a:lnTo>
                      <a:pt x="8116" y="126417"/>
                    </a:lnTo>
                    <a:lnTo>
                      <a:pt x="7872" y="126661"/>
                    </a:lnTo>
                    <a:close/>
                    <a:moveTo>
                      <a:pt x="0" y="244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150118"/>
                    </a:lnTo>
                    <a:lnTo>
                      <a:pt x="7872" y="150361"/>
                    </a:lnTo>
                    <a:lnTo>
                      <a:pt x="243" y="150361"/>
                    </a:lnTo>
                    <a:lnTo>
                      <a:pt x="0" y="15011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墙_WR_Door_L2">
                <a:extLst>
                  <a:ext uri="{FF2B5EF4-FFF2-40B4-BE49-F238E27FC236}">
                    <a16:creationId xmlns:a16="http://schemas.microsoft.com/office/drawing/2014/main" id="{B7272506-954C-8AE7-A98E-96AE115F1C24}"/>
                  </a:ext>
                </a:extLst>
              </p:cNvPr>
              <p:cNvSpPr/>
              <p:nvPr/>
            </p:nvSpPr>
            <p:spPr>
              <a:xfrm>
                <a:off x="684796" y="4327340"/>
                <a:ext cx="8116" cy="759719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719">
                    <a:moveTo>
                      <a:pt x="7872" y="736018"/>
                    </a:moveTo>
                    <a:lnTo>
                      <a:pt x="7385" y="736181"/>
                    </a:lnTo>
                    <a:lnTo>
                      <a:pt x="7020" y="736424"/>
                    </a:lnTo>
                    <a:lnTo>
                      <a:pt x="6695" y="736789"/>
                    </a:lnTo>
                    <a:lnTo>
                      <a:pt x="6574" y="737155"/>
                    </a:lnTo>
                    <a:lnTo>
                      <a:pt x="6574" y="737642"/>
                    </a:lnTo>
                    <a:lnTo>
                      <a:pt x="6695" y="738007"/>
                    </a:lnTo>
                    <a:lnTo>
                      <a:pt x="7020" y="738372"/>
                    </a:lnTo>
                    <a:lnTo>
                      <a:pt x="7385" y="738616"/>
                    </a:lnTo>
                    <a:lnTo>
                      <a:pt x="7872" y="738778"/>
                    </a:lnTo>
                    <a:lnTo>
                      <a:pt x="7872" y="738778"/>
                    </a:lnTo>
                    <a:lnTo>
                      <a:pt x="8116" y="739022"/>
                    </a:lnTo>
                    <a:lnTo>
                      <a:pt x="8116" y="629447"/>
                    </a:lnTo>
                    <a:lnTo>
                      <a:pt x="7872" y="629690"/>
                    </a:lnTo>
                    <a:lnTo>
                      <a:pt x="7872" y="629690"/>
                    </a:lnTo>
                    <a:lnTo>
                      <a:pt x="7385" y="629853"/>
                    </a:lnTo>
                    <a:lnTo>
                      <a:pt x="7020" y="630096"/>
                    </a:lnTo>
                    <a:lnTo>
                      <a:pt x="6695" y="630461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695" y="631679"/>
                    </a:lnTo>
                    <a:lnTo>
                      <a:pt x="7020" y="632044"/>
                    </a:lnTo>
                    <a:lnTo>
                      <a:pt x="7385" y="632288"/>
                    </a:lnTo>
                    <a:lnTo>
                      <a:pt x="7872" y="632450"/>
                    </a:lnTo>
                    <a:lnTo>
                      <a:pt x="7872" y="632450"/>
                    </a:lnTo>
                    <a:lnTo>
                      <a:pt x="8116" y="632693"/>
                    </a:lnTo>
                    <a:lnTo>
                      <a:pt x="8116" y="735775"/>
                    </a:lnTo>
                    <a:lnTo>
                      <a:pt x="7872" y="736018"/>
                    </a:lnTo>
                    <a:close/>
                    <a:moveTo>
                      <a:pt x="0" y="608993"/>
                    </a:move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3"/>
                    </a:lnTo>
                    <a:lnTo>
                      <a:pt x="8116" y="759476"/>
                    </a:lnTo>
                    <a:lnTo>
                      <a:pt x="7872" y="759719"/>
                    </a:lnTo>
                    <a:lnTo>
                      <a:pt x="243" y="759719"/>
                    </a:lnTo>
                    <a:lnTo>
                      <a:pt x="0" y="759476"/>
                    </a:lnTo>
                    <a:close/>
                    <a:moveTo>
                      <a:pt x="7872" y="127269"/>
                    </a:moveTo>
                    <a:lnTo>
                      <a:pt x="7385" y="127432"/>
                    </a:lnTo>
                    <a:lnTo>
                      <a:pt x="7020" y="127675"/>
                    </a:lnTo>
                    <a:lnTo>
                      <a:pt x="6695" y="128040"/>
                    </a:lnTo>
                    <a:lnTo>
                      <a:pt x="6574" y="128406"/>
                    </a:lnTo>
                    <a:lnTo>
                      <a:pt x="6574" y="128893"/>
                    </a:lnTo>
                    <a:lnTo>
                      <a:pt x="6695" y="129258"/>
                    </a:lnTo>
                    <a:lnTo>
                      <a:pt x="7020" y="129623"/>
                    </a:lnTo>
                    <a:lnTo>
                      <a:pt x="7385" y="129867"/>
                    </a:lnTo>
                    <a:lnTo>
                      <a:pt x="7872" y="130029"/>
                    </a:lnTo>
                    <a:lnTo>
                      <a:pt x="7872" y="130029"/>
                    </a:lnTo>
                    <a:lnTo>
                      <a:pt x="8116" y="130272"/>
                    </a:lnTo>
                    <a:lnTo>
                      <a:pt x="8116" y="20698"/>
                    </a:lnTo>
                    <a:lnTo>
                      <a:pt x="7872" y="20941"/>
                    </a:lnTo>
                    <a:lnTo>
                      <a:pt x="7872" y="20941"/>
                    </a:lnTo>
                    <a:lnTo>
                      <a:pt x="7385" y="21103"/>
                    </a:lnTo>
                    <a:lnTo>
                      <a:pt x="7020" y="21347"/>
                    </a:lnTo>
                    <a:lnTo>
                      <a:pt x="6695" y="21712"/>
                    </a:lnTo>
                    <a:lnTo>
                      <a:pt x="6574" y="22077"/>
                    </a:lnTo>
                    <a:lnTo>
                      <a:pt x="6574" y="22564"/>
                    </a:lnTo>
                    <a:lnTo>
                      <a:pt x="6695" y="22930"/>
                    </a:lnTo>
                    <a:lnTo>
                      <a:pt x="7020" y="23295"/>
                    </a:lnTo>
                    <a:lnTo>
                      <a:pt x="7385" y="23538"/>
                    </a:lnTo>
                    <a:lnTo>
                      <a:pt x="7872" y="23701"/>
                    </a:lnTo>
                    <a:lnTo>
                      <a:pt x="7872" y="23701"/>
                    </a:lnTo>
                    <a:lnTo>
                      <a:pt x="8116" y="23944"/>
                    </a:lnTo>
                    <a:lnTo>
                      <a:pt x="8116" y="127026"/>
                    </a:lnTo>
                    <a:lnTo>
                      <a:pt x="7872" y="127269"/>
                    </a:lnTo>
                    <a:close/>
                    <a:moveTo>
                      <a:pt x="0" y="244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150726"/>
                    </a:lnTo>
                    <a:lnTo>
                      <a:pt x="7872" y="150970"/>
                    </a:lnTo>
                    <a:lnTo>
                      <a:pt x="243" y="150970"/>
                    </a:lnTo>
                    <a:lnTo>
                      <a:pt x="0" y="15072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3" name="墙_WR_Door_R1">
                <a:extLst>
                  <a:ext uri="{FF2B5EF4-FFF2-40B4-BE49-F238E27FC236}">
                    <a16:creationId xmlns:a16="http://schemas.microsoft.com/office/drawing/2014/main" id="{3B47E218-2946-B5BE-8EC9-0A82724E2852}"/>
                  </a:ext>
                </a:extLst>
              </p:cNvPr>
              <p:cNvSpPr/>
              <p:nvPr/>
            </p:nvSpPr>
            <p:spPr>
              <a:xfrm>
                <a:off x="684796" y="4175153"/>
                <a:ext cx="8116" cy="759719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719">
                    <a:moveTo>
                      <a:pt x="7872" y="735856"/>
                    </a:moveTo>
                    <a:lnTo>
                      <a:pt x="7426" y="736018"/>
                    </a:lnTo>
                    <a:lnTo>
                      <a:pt x="7020" y="736302"/>
                    </a:lnTo>
                    <a:lnTo>
                      <a:pt x="6736" y="736667"/>
                    </a:lnTo>
                    <a:lnTo>
                      <a:pt x="6574" y="737154"/>
                    </a:lnTo>
                    <a:lnTo>
                      <a:pt x="6574" y="737641"/>
                    </a:lnTo>
                    <a:lnTo>
                      <a:pt x="6736" y="738128"/>
                    </a:lnTo>
                    <a:lnTo>
                      <a:pt x="7020" y="738494"/>
                    </a:lnTo>
                    <a:lnTo>
                      <a:pt x="7426" y="738778"/>
                    </a:lnTo>
                    <a:lnTo>
                      <a:pt x="7872" y="738940"/>
                    </a:lnTo>
                    <a:lnTo>
                      <a:pt x="7872" y="738940"/>
                    </a:lnTo>
                    <a:lnTo>
                      <a:pt x="8116" y="739184"/>
                    </a:lnTo>
                    <a:lnTo>
                      <a:pt x="8116" y="629284"/>
                    </a:lnTo>
                    <a:lnTo>
                      <a:pt x="7872" y="629528"/>
                    </a:lnTo>
                    <a:lnTo>
                      <a:pt x="7872" y="629528"/>
                    </a:lnTo>
                    <a:lnTo>
                      <a:pt x="7426" y="629690"/>
                    </a:lnTo>
                    <a:lnTo>
                      <a:pt x="7020" y="629974"/>
                    </a:lnTo>
                    <a:lnTo>
                      <a:pt x="6736" y="630339"/>
                    </a:lnTo>
                    <a:lnTo>
                      <a:pt x="6574" y="630826"/>
                    </a:lnTo>
                    <a:lnTo>
                      <a:pt x="6574" y="631313"/>
                    </a:lnTo>
                    <a:lnTo>
                      <a:pt x="6736" y="631800"/>
                    </a:lnTo>
                    <a:lnTo>
                      <a:pt x="7020" y="632166"/>
                    </a:lnTo>
                    <a:lnTo>
                      <a:pt x="7426" y="632450"/>
                    </a:lnTo>
                    <a:lnTo>
                      <a:pt x="7872" y="632612"/>
                    </a:lnTo>
                    <a:lnTo>
                      <a:pt x="7872" y="632612"/>
                    </a:lnTo>
                    <a:lnTo>
                      <a:pt x="8116" y="632855"/>
                    </a:lnTo>
                    <a:lnTo>
                      <a:pt x="8116" y="735612"/>
                    </a:lnTo>
                    <a:lnTo>
                      <a:pt x="7872" y="735856"/>
                    </a:lnTo>
                    <a:close/>
                    <a:moveTo>
                      <a:pt x="0" y="608992"/>
                    </a:move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2"/>
                    </a:lnTo>
                    <a:lnTo>
                      <a:pt x="8116" y="759475"/>
                    </a:lnTo>
                    <a:lnTo>
                      <a:pt x="7872" y="759719"/>
                    </a:lnTo>
                    <a:lnTo>
                      <a:pt x="243" y="759719"/>
                    </a:lnTo>
                    <a:lnTo>
                      <a:pt x="0" y="759475"/>
                    </a:lnTo>
                    <a:close/>
                    <a:moveTo>
                      <a:pt x="7872" y="127107"/>
                    </a:moveTo>
                    <a:lnTo>
                      <a:pt x="7426" y="127269"/>
                    </a:lnTo>
                    <a:lnTo>
                      <a:pt x="7020" y="127553"/>
                    </a:lnTo>
                    <a:lnTo>
                      <a:pt x="6736" y="127918"/>
                    </a:lnTo>
                    <a:lnTo>
                      <a:pt x="6574" y="128405"/>
                    </a:lnTo>
                    <a:lnTo>
                      <a:pt x="6574" y="128892"/>
                    </a:lnTo>
                    <a:lnTo>
                      <a:pt x="6736" y="129379"/>
                    </a:lnTo>
                    <a:lnTo>
                      <a:pt x="7020" y="129745"/>
                    </a:lnTo>
                    <a:lnTo>
                      <a:pt x="7426" y="130029"/>
                    </a:lnTo>
                    <a:lnTo>
                      <a:pt x="7872" y="130191"/>
                    </a:lnTo>
                    <a:lnTo>
                      <a:pt x="7872" y="130191"/>
                    </a:lnTo>
                    <a:lnTo>
                      <a:pt x="8116" y="130434"/>
                    </a:lnTo>
                    <a:lnTo>
                      <a:pt x="8116" y="20535"/>
                    </a:lnTo>
                    <a:lnTo>
                      <a:pt x="7872" y="20778"/>
                    </a:lnTo>
                    <a:lnTo>
                      <a:pt x="7872" y="20778"/>
                    </a:lnTo>
                    <a:lnTo>
                      <a:pt x="7426" y="20941"/>
                    </a:lnTo>
                    <a:lnTo>
                      <a:pt x="7020" y="21225"/>
                    </a:lnTo>
                    <a:lnTo>
                      <a:pt x="6736" y="21590"/>
                    </a:lnTo>
                    <a:lnTo>
                      <a:pt x="6574" y="22077"/>
                    </a:lnTo>
                    <a:lnTo>
                      <a:pt x="6574" y="22564"/>
                    </a:lnTo>
                    <a:lnTo>
                      <a:pt x="6736" y="23051"/>
                    </a:lnTo>
                    <a:lnTo>
                      <a:pt x="7020" y="23416"/>
                    </a:lnTo>
                    <a:lnTo>
                      <a:pt x="7426" y="23700"/>
                    </a:lnTo>
                    <a:lnTo>
                      <a:pt x="7872" y="23863"/>
                    </a:lnTo>
                    <a:lnTo>
                      <a:pt x="7872" y="23863"/>
                    </a:lnTo>
                    <a:lnTo>
                      <a:pt x="8116" y="24106"/>
                    </a:lnTo>
                    <a:lnTo>
                      <a:pt x="8116" y="126863"/>
                    </a:lnTo>
                    <a:lnTo>
                      <a:pt x="7872" y="127107"/>
                    </a:lnTo>
                    <a:close/>
                    <a:moveTo>
                      <a:pt x="0" y="243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3"/>
                    </a:lnTo>
                    <a:lnTo>
                      <a:pt x="8116" y="150726"/>
                    </a:lnTo>
                    <a:lnTo>
                      <a:pt x="7872" y="150970"/>
                    </a:lnTo>
                    <a:lnTo>
                      <a:pt x="243" y="150970"/>
                    </a:lnTo>
                    <a:lnTo>
                      <a:pt x="0" y="15072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4" name="墙_WR_Door_R2">
                <a:extLst>
                  <a:ext uri="{FF2B5EF4-FFF2-40B4-BE49-F238E27FC236}">
                    <a16:creationId xmlns:a16="http://schemas.microsoft.com/office/drawing/2014/main" id="{5A91B1BD-0427-302F-9F91-EDAAAF7F67AC}"/>
                  </a:ext>
                </a:extLst>
              </p:cNvPr>
              <p:cNvSpPr/>
              <p:nvPr/>
            </p:nvSpPr>
            <p:spPr>
              <a:xfrm>
                <a:off x="684796" y="4023574"/>
                <a:ext cx="8116" cy="759110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110">
                    <a:moveTo>
                      <a:pt x="7872" y="735247"/>
                    </a:moveTo>
                    <a:lnTo>
                      <a:pt x="7426" y="735410"/>
                    </a:lnTo>
                    <a:lnTo>
                      <a:pt x="7020" y="735694"/>
                    </a:lnTo>
                    <a:lnTo>
                      <a:pt x="6736" y="736059"/>
                    </a:lnTo>
                    <a:lnTo>
                      <a:pt x="6574" y="736546"/>
                    </a:lnTo>
                    <a:lnTo>
                      <a:pt x="6574" y="737033"/>
                    </a:lnTo>
                    <a:lnTo>
                      <a:pt x="6736" y="737520"/>
                    </a:lnTo>
                    <a:lnTo>
                      <a:pt x="7020" y="737885"/>
                    </a:lnTo>
                    <a:lnTo>
                      <a:pt x="7426" y="738169"/>
                    </a:lnTo>
                    <a:lnTo>
                      <a:pt x="7872" y="738332"/>
                    </a:lnTo>
                    <a:lnTo>
                      <a:pt x="7872" y="738332"/>
                    </a:lnTo>
                    <a:lnTo>
                      <a:pt x="8116" y="738575"/>
                    </a:lnTo>
                    <a:lnTo>
                      <a:pt x="8116" y="758867"/>
                    </a:lnTo>
                    <a:lnTo>
                      <a:pt x="7872" y="759110"/>
                    </a:lnTo>
                    <a:lnTo>
                      <a:pt x="243" y="759110"/>
                    </a:lnTo>
                    <a:lnTo>
                      <a:pt x="0" y="758867"/>
                    </a:lnTo>
                    <a:lnTo>
                      <a:pt x="0" y="608993"/>
                    </a:ln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3"/>
                    </a:lnTo>
                    <a:lnTo>
                      <a:pt x="8116" y="629285"/>
                    </a:lnTo>
                    <a:lnTo>
                      <a:pt x="7872" y="629528"/>
                    </a:lnTo>
                    <a:lnTo>
                      <a:pt x="7872" y="629528"/>
                    </a:lnTo>
                    <a:lnTo>
                      <a:pt x="7426" y="629690"/>
                    </a:lnTo>
                    <a:lnTo>
                      <a:pt x="7020" y="629974"/>
                    </a:lnTo>
                    <a:lnTo>
                      <a:pt x="6736" y="630340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736" y="631801"/>
                    </a:lnTo>
                    <a:lnTo>
                      <a:pt x="7020" y="632166"/>
                    </a:lnTo>
                    <a:lnTo>
                      <a:pt x="7426" y="632450"/>
                    </a:lnTo>
                    <a:lnTo>
                      <a:pt x="7872" y="632612"/>
                    </a:lnTo>
                    <a:lnTo>
                      <a:pt x="7872" y="632612"/>
                    </a:lnTo>
                    <a:lnTo>
                      <a:pt x="8116" y="632856"/>
                    </a:lnTo>
                    <a:lnTo>
                      <a:pt x="8116" y="735004"/>
                    </a:lnTo>
                    <a:lnTo>
                      <a:pt x="7872" y="735247"/>
                    </a:lnTo>
                    <a:close/>
                    <a:moveTo>
                      <a:pt x="7872" y="126498"/>
                    </a:moveTo>
                    <a:lnTo>
                      <a:pt x="7426" y="126661"/>
                    </a:lnTo>
                    <a:lnTo>
                      <a:pt x="7020" y="126945"/>
                    </a:lnTo>
                    <a:lnTo>
                      <a:pt x="6736" y="127310"/>
                    </a:lnTo>
                    <a:lnTo>
                      <a:pt x="6574" y="127797"/>
                    </a:lnTo>
                    <a:lnTo>
                      <a:pt x="6574" y="128284"/>
                    </a:lnTo>
                    <a:lnTo>
                      <a:pt x="6736" y="128771"/>
                    </a:lnTo>
                    <a:lnTo>
                      <a:pt x="7020" y="129136"/>
                    </a:lnTo>
                    <a:lnTo>
                      <a:pt x="7426" y="129420"/>
                    </a:lnTo>
                    <a:lnTo>
                      <a:pt x="7872" y="129583"/>
                    </a:lnTo>
                    <a:lnTo>
                      <a:pt x="7872" y="129583"/>
                    </a:lnTo>
                    <a:lnTo>
                      <a:pt x="8116" y="129826"/>
                    </a:lnTo>
                    <a:lnTo>
                      <a:pt x="8116" y="150118"/>
                    </a:lnTo>
                    <a:lnTo>
                      <a:pt x="7872" y="150361"/>
                    </a:lnTo>
                    <a:lnTo>
                      <a:pt x="243" y="150361"/>
                    </a:lnTo>
                    <a:lnTo>
                      <a:pt x="0" y="150118"/>
                    </a:lnTo>
                    <a:lnTo>
                      <a:pt x="0" y="244"/>
                    </a:ln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20535"/>
                    </a:lnTo>
                    <a:lnTo>
                      <a:pt x="7872" y="20779"/>
                    </a:lnTo>
                    <a:lnTo>
                      <a:pt x="7872" y="20779"/>
                    </a:lnTo>
                    <a:lnTo>
                      <a:pt x="7426" y="20941"/>
                    </a:lnTo>
                    <a:lnTo>
                      <a:pt x="7020" y="21225"/>
                    </a:lnTo>
                    <a:lnTo>
                      <a:pt x="6736" y="21591"/>
                    </a:lnTo>
                    <a:lnTo>
                      <a:pt x="6574" y="22078"/>
                    </a:lnTo>
                    <a:lnTo>
                      <a:pt x="6574" y="22565"/>
                    </a:lnTo>
                    <a:lnTo>
                      <a:pt x="6736" y="23052"/>
                    </a:lnTo>
                    <a:lnTo>
                      <a:pt x="7020" y="23417"/>
                    </a:lnTo>
                    <a:lnTo>
                      <a:pt x="7426" y="23701"/>
                    </a:lnTo>
                    <a:lnTo>
                      <a:pt x="7872" y="23863"/>
                    </a:lnTo>
                    <a:lnTo>
                      <a:pt x="7872" y="23863"/>
                    </a:lnTo>
                    <a:lnTo>
                      <a:pt x="8116" y="24107"/>
                    </a:lnTo>
                    <a:lnTo>
                      <a:pt x="8116" y="126255"/>
                    </a:lnTo>
                    <a:lnTo>
                      <a:pt x="7872" y="1264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205" name="房间名（沿用施工图）">
              <a:extLst>
                <a:ext uri="{FF2B5EF4-FFF2-40B4-BE49-F238E27FC236}">
                  <a16:creationId xmlns:a16="http://schemas.microsoft.com/office/drawing/2014/main" id="{D1738153-8C4A-8113-61DF-94565F8B3F32}"/>
                </a:ext>
              </a:extLst>
            </p:cNvPr>
            <p:cNvGrpSpPr/>
            <p:nvPr/>
          </p:nvGrpSpPr>
          <p:grpSpPr>
            <a:xfrm>
              <a:off x="1023096" y="1776807"/>
              <a:ext cx="2852368" cy="3609507"/>
              <a:chOff x="1023096" y="1776807"/>
              <a:chExt cx="2852368" cy="3609507"/>
            </a:xfrm>
          </p:grpSpPr>
          <p:sp>
            <p:nvSpPr>
              <p:cNvPr id="206" name="TextBox 205">
                <a:extLst>
                  <a:ext uri="{FF2B5EF4-FFF2-40B4-BE49-F238E27FC236}">
                    <a16:creationId xmlns:a16="http://schemas.microsoft.com/office/drawing/2014/main" id="{884533F9-0A93-A468-ED5E-1B24646D5FE7}"/>
                  </a:ext>
                </a:extLst>
              </p:cNvPr>
              <p:cNvSpPr txBox="1"/>
              <p:nvPr/>
            </p:nvSpPr>
            <p:spPr>
              <a:xfrm rot="16200000">
                <a:off x="1397825" y="2723710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07" name="TextBox 206">
                <a:extLst>
                  <a:ext uri="{FF2B5EF4-FFF2-40B4-BE49-F238E27FC236}">
                    <a16:creationId xmlns:a16="http://schemas.microsoft.com/office/drawing/2014/main" id="{9D13E5C1-1AD8-8D35-C036-9BD48014EC07}"/>
                  </a:ext>
                </a:extLst>
              </p:cNvPr>
              <p:cNvSpPr txBox="1"/>
              <p:nvPr/>
            </p:nvSpPr>
            <p:spPr>
              <a:xfrm rot="16200000">
                <a:off x="1554812" y="3422893"/>
                <a:ext cx="205184" cy="123111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lang="zh-CN" altLang="en-US" sz="700" b="0" dirty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电梯</a:t>
                </a:r>
                <a:endParaRPr sz="700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208" name="TextBox 207">
                <a:extLst>
                  <a:ext uri="{FF2B5EF4-FFF2-40B4-BE49-F238E27FC236}">
                    <a16:creationId xmlns:a16="http://schemas.microsoft.com/office/drawing/2014/main" id="{19648BD0-9FB4-0DE1-DE15-F1303EB4671C}"/>
                  </a:ext>
                </a:extLst>
              </p:cNvPr>
              <p:cNvSpPr txBox="1"/>
              <p:nvPr/>
            </p:nvSpPr>
            <p:spPr>
              <a:xfrm rot="16200000">
                <a:off x="2148144" y="4779155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09" name="TextBox 208">
                <a:extLst>
                  <a:ext uri="{FF2B5EF4-FFF2-40B4-BE49-F238E27FC236}">
                    <a16:creationId xmlns:a16="http://schemas.microsoft.com/office/drawing/2014/main" id="{BC4C0928-225E-06B5-A7E3-864CF1A86834}"/>
                  </a:ext>
                </a:extLst>
              </p:cNvPr>
              <p:cNvSpPr txBox="1"/>
              <p:nvPr/>
            </p:nvSpPr>
            <p:spPr>
              <a:xfrm rot="16200000">
                <a:off x="3427795" y="3101350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楼梯</a:t>
                </a:r>
              </a:p>
            </p:txBody>
          </p:sp>
          <p:sp>
            <p:nvSpPr>
              <p:cNvPr id="210" name="TextBox 209">
                <a:extLst>
                  <a:ext uri="{FF2B5EF4-FFF2-40B4-BE49-F238E27FC236}">
                    <a16:creationId xmlns:a16="http://schemas.microsoft.com/office/drawing/2014/main" id="{AF153BF8-E5B6-7393-0FAC-BEEECAC2B357}"/>
                  </a:ext>
                </a:extLst>
              </p:cNvPr>
              <p:cNvSpPr txBox="1"/>
              <p:nvPr/>
            </p:nvSpPr>
            <p:spPr>
              <a:xfrm rot="16200000">
                <a:off x="2407563" y="3053585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3</a:t>
                </a:r>
              </a:p>
            </p:txBody>
          </p:sp>
          <p:sp>
            <p:nvSpPr>
              <p:cNvPr id="211" name="TextBox 210">
                <a:extLst>
                  <a:ext uri="{FF2B5EF4-FFF2-40B4-BE49-F238E27FC236}">
                    <a16:creationId xmlns:a16="http://schemas.microsoft.com/office/drawing/2014/main" id="{3A7BDC2A-C873-485F-5B46-686E50E3C720}"/>
                  </a:ext>
                </a:extLst>
              </p:cNvPr>
              <p:cNvSpPr txBox="1"/>
              <p:nvPr/>
            </p:nvSpPr>
            <p:spPr>
              <a:xfrm rot="16200000">
                <a:off x="2471315" y="3595029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走廊</a:t>
                </a:r>
              </a:p>
            </p:txBody>
          </p:sp>
          <p:sp>
            <p:nvSpPr>
              <p:cNvPr id="212" name="TextBox 211">
                <a:extLst>
                  <a:ext uri="{FF2B5EF4-FFF2-40B4-BE49-F238E27FC236}">
                    <a16:creationId xmlns:a16="http://schemas.microsoft.com/office/drawing/2014/main" id="{928E4D91-DBD8-1323-9359-0723EC626DD0}"/>
                  </a:ext>
                </a:extLst>
              </p:cNvPr>
              <p:cNvSpPr txBox="1"/>
              <p:nvPr/>
            </p:nvSpPr>
            <p:spPr>
              <a:xfrm rot="16200000">
                <a:off x="1023096" y="4053428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主卧</a:t>
                </a:r>
              </a:p>
            </p:txBody>
          </p:sp>
          <p:sp>
            <p:nvSpPr>
              <p:cNvPr id="213" name="TextBox 212">
                <a:extLst>
                  <a:ext uri="{FF2B5EF4-FFF2-40B4-BE49-F238E27FC236}">
                    <a16:creationId xmlns:a16="http://schemas.microsoft.com/office/drawing/2014/main" id="{3C74AF60-6656-B738-C6C0-E6AEEAC8D916}"/>
                  </a:ext>
                </a:extLst>
              </p:cNvPr>
              <p:cNvSpPr txBox="1"/>
              <p:nvPr/>
            </p:nvSpPr>
            <p:spPr>
              <a:xfrm rot="16200000">
                <a:off x="3130877" y="4653573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2</a:t>
                </a:r>
              </a:p>
            </p:txBody>
          </p:sp>
          <p:sp>
            <p:nvSpPr>
              <p:cNvPr id="214" name="TextBox 213">
                <a:extLst>
                  <a:ext uri="{FF2B5EF4-FFF2-40B4-BE49-F238E27FC236}">
                    <a16:creationId xmlns:a16="http://schemas.microsoft.com/office/drawing/2014/main" id="{E39EBB9E-2E0A-33BE-F9C2-8B321C726230}"/>
                  </a:ext>
                </a:extLst>
              </p:cNvPr>
              <p:cNvSpPr txBox="1"/>
              <p:nvPr/>
            </p:nvSpPr>
            <p:spPr>
              <a:xfrm rot="16200000">
                <a:off x="2148143" y="4165248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衣帽间</a:t>
                </a:r>
              </a:p>
            </p:txBody>
          </p:sp>
          <p:sp>
            <p:nvSpPr>
              <p:cNvPr id="215" name="TextBox 214">
                <a:extLst>
                  <a:ext uri="{FF2B5EF4-FFF2-40B4-BE49-F238E27FC236}">
                    <a16:creationId xmlns:a16="http://schemas.microsoft.com/office/drawing/2014/main" id="{7199CEA7-87A6-FE71-5DBB-4099D2135179}"/>
                  </a:ext>
                </a:extLst>
              </p:cNvPr>
              <p:cNvSpPr txBox="1"/>
              <p:nvPr/>
            </p:nvSpPr>
            <p:spPr>
              <a:xfrm rot="16200000">
                <a:off x="2160572" y="5276917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盥洗室</a:t>
                </a:r>
              </a:p>
            </p:txBody>
          </p:sp>
          <p:sp>
            <p:nvSpPr>
              <p:cNvPr id="216" name="TextBox 215">
                <a:extLst>
                  <a:ext uri="{FF2B5EF4-FFF2-40B4-BE49-F238E27FC236}">
                    <a16:creationId xmlns:a16="http://schemas.microsoft.com/office/drawing/2014/main" id="{9ACEE2B8-536D-4151-110B-BC734151A8D4}"/>
                  </a:ext>
                </a:extLst>
              </p:cNvPr>
              <p:cNvSpPr txBox="1"/>
              <p:nvPr/>
            </p:nvSpPr>
            <p:spPr>
              <a:xfrm rot="16200000">
                <a:off x="3113654" y="1182157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17" name="TextBox 216">
                <a:extLst>
                  <a:ext uri="{FF2B5EF4-FFF2-40B4-BE49-F238E27FC236}">
                    <a16:creationId xmlns:a16="http://schemas.microsoft.com/office/drawing/2014/main" id="{6C4DB1A3-501C-ADC8-C056-FAD276649683}"/>
                  </a:ext>
                </a:extLst>
              </p:cNvPr>
              <p:cNvSpPr txBox="1"/>
              <p:nvPr/>
            </p:nvSpPr>
            <p:spPr>
              <a:xfrm rot="16200000">
                <a:off x="3070677" y="1786947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书房</a:t>
                </a:r>
              </a:p>
            </p:txBody>
          </p:sp>
        </p:grpSp>
      </p:grpSp>
      <p:sp>
        <p:nvSpPr>
          <p:cNvPr id="411" name="Rectangle 410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" name="TextBox 411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二层照明总平面（索引图）</a:t>
            </a:r>
          </a:p>
        </p:txBody>
      </p:sp>
      <p:sp>
        <p:nvSpPr>
          <p:cNvPr id="413" name="TextBox 412"/>
          <p:cNvSpPr txBox="1"/>
          <p:nvPr/>
        </p:nvSpPr>
        <p:spPr>
          <a:xfrm>
            <a:off x="250000" y="470000"/>
            <a:ext cx="80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808080"/>
                </a:solidFill>
                <a:latin typeface="Microsoft YaHei"/>
              </a:rPr>
              <a:t>FIRST FLOOR LIGHTING — KEY PLAN</a:t>
            </a:r>
          </a:p>
        </p:txBody>
      </p:sp>
      <p:sp>
        <p:nvSpPr>
          <p:cNvPr id="414" name="Rectangle 413"/>
          <p:cNvSpPr/>
          <p:nvPr/>
        </p:nvSpPr>
        <p:spPr>
          <a:xfrm>
            <a:off x="8650000" y="5100000"/>
            <a:ext cx="3442000" cy="16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" name="TextBox 414"/>
          <p:cNvSpPr txBox="1"/>
          <p:nvPr/>
        </p:nvSpPr>
        <p:spPr>
          <a:xfrm>
            <a:off x="8710000" y="51000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项目</a:t>
            </a:r>
          </a:p>
        </p:txBody>
      </p:sp>
      <p:sp>
        <p:nvSpPr>
          <p:cNvPr id="416" name="TextBox 415"/>
          <p:cNvSpPr txBox="1"/>
          <p:nvPr/>
        </p:nvSpPr>
        <p:spPr>
          <a:xfrm>
            <a:off x="9250000" y="51000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 · 二层照明</a:t>
            </a:r>
          </a:p>
        </p:txBody>
      </p:sp>
      <p:cxnSp>
        <p:nvCxnSpPr>
          <p:cNvPr id="417" name="Connector 416"/>
          <p:cNvCxnSpPr/>
          <p:nvPr/>
        </p:nvCxnSpPr>
        <p:spPr>
          <a:xfrm>
            <a:off x="8650000" y="54316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8" name="TextBox 417"/>
          <p:cNvSpPr txBox="1"/>
          <p:nvPr/>
        </p:nvSpPr>
        <p:spPr>
          <a:xfrm>
            <a:off x="8710000" y="54316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419" name="TextBox 418"/>
          <p:cNvSpPr txBox="1"/>
          <p:nvPr/>
        </p:nvSpPr>
        <p:spPr>
          <a:xfrm>
            <a:off x="9250000" y="54316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二层照明总平面（索引图）</a:t>
            </a:r>
          </a:p>
        </p:txBody>
      </p:sp>
      <p:cxnSp>
        <p:nvCxnSpPr>
          <p:cNvPr id="420" name="Connector 419"/>
          <p:cNvCxnSpPr/>
          <p:nvPr/>
        </p:nvCxnSpPr>
        <p:spPr>
          <a:xfrm>
            <a:off x="8650000" y="57632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1" name="TextBox 420"/>
          <p:cNvSpPr txBox="1"/>
          <p:nvPr/>
        </p:nvSpPr>
        <p:spPr>
          <a:xfrm>
            <a:off x="8710000" y="57632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422" name="TextBox 421"/>
          <p:cNvSpPr txBox="1"/>
          <p:nvPr/>
        </p:nvSpPr>
        <p:spPr>
          <a:xfrm>
            <a:off x="9250000" y="57632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E-FF-00</a:t>
            </a:r>
          </a:p>
        </p:txBody>
      </p:sp>
      <p:cxnSp>
        <p:nvCxnSpPr>
          <p:cNvPr id="423" name="Connector 422"/>
          <p:cNvCxnSpPr/>
          <p:nvPr/>
        </p:nvCxnSpPr>
        <p:spPr>
          <a:xfrm>
            <a:off x="8650000" y="60948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4" name="TextBox 423"/>
          <p:cNvSpPr txBox="1"/>
          <p:nvPr/>
        </p:nvSpPr>
        <p:spPr>
          <a:xfrm>
            <a:off x="8710000" y="60948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版本</a:t>
            </a:r>
          </a:p>
        </p:txBody>
      </p:sp>
      <p:sp>
        <p:nvSpPr>
          <p:cNvPr id="425" name="TextBox 424"/>
          <p:cNvSpPr txBox="1"/>
          <p:nvPr/>
        </p:nvSpPr>
        <p:spPr>
          <a:xfrm>
            <a:off x="9250000" y="60948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Rev G · 2026-10-03（照明 4 路：一层前区 / 一层后区 / 二层 / 户外）</a:t>
            </a:r>
          </a:p>
        </p:txBody>
      </p:sp>
      <p:cxnSp>
        <p:nvCxnSpPr>
          <p:cNvPr id="426" name="Connector 425"/>
          <p:cNvCxnSpPr/>
          <p:nvPr/>
        </p:nvCxnSpPr>
        <p:spPr>
          <a:xfrm>
            <a:off x="8650000" y="64264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7" name="TextBox 426"/>
          <p:cNvSpPr txBox="1"/>
          <p:nvPr/>
        </p:nvSpPr>
        <p:spPr>
          <a:xfrm>
            <a:off x="8710000" y="64264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依据</a:t>
            </a:r>
          </a:p>
        </p:txBody>
      </p:sp>
      <p:sp>
        <p:nvSpPr>
          <p:cNvPr id="428" name="TextBox 427"/>
          <p:cNvSpPr txBox="1"/>
          <p:nvPr/>
        </p:nvSpPr>
        <p:spPr>
          <a:xfrm>
            <a:off x="9250000" y="64264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PPT v6 第 6 页按键标注；Blender v37</a:t>
            </a:r>
          </a:p>
        </p:txBody>
      </p:sp>
      <p:cxnSp>
        <p:nvCxnSpPr>
          <p:cNvPr id="429" name="Connector 428"/>
          <p:cNvCxnSpPr/>
          <p:nvPr/>
        </p:nvCxnSpPr>
        <p:spPr>
          <a:xfrm>
            <a:off x="9190000" y="5100000"/>
            <a:ext cx="0" cy="16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0" name="Rectangle 429"/>
          <p:cNvSpPr/>
          <p:nvPr/>
        </p:nvSpPr>
        <p:spPr>
          <a:xfrm>
            <a:off x="1629230" y="1843461"/>
            <a:ext cx="2699999" cy="3946153"/>
          </a:xfrm>
          <a:prstGeom prst="rect">
            <a:avLst/>
          </a:prstGeom>
          <a:noFill/>
          <a:ln w="15875">
            <a:solidFill>
              <a:srgbClr val="C00000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1" name="TextBox 430"/>
          <p:cNvSpPr txBox="1"/>
          <p:nvPr/>
        </p:nvSpPr>
        <p:spPr>
          <a:xfrm>
            <a:off x="1669230" y="1873461"/>
            <a:ext cx="24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C00000"/>
                </a:solidFill>
                <a:latin typeface="Microsoft YaHei"/>
              </a:rPr>
              <a:t>E-FF-01 放大图：主卧 · 盥洗室 · 西卫 · 衣帽间 · 卧室2</a:t>
            </a:r>
          </a:p>
        </p:txBody>
      </p:sp>
      <p:sp>
        <p:nvSpPr>
          <p:cNvPr id="432" name="Rectangle 431"/>
          <p:cNvSpPr/>
          <p:nvPr/>
        </p:nvSpPr>
        <p:spPr>
          <a:xfrm>
            <a:off x="3623076" y="1843461"/>
            <a:ext cx="3323076" cy="3946153"/>
          </a:xfrm>
          <a:prstGeom prst="rect">
            <a:avLst/>
          </a:prstGeom>
          <a:noFill/>
          <a:ln w="15875">
            <a:solidFill>
              <a:srgbClr val="C00000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3" name="TextBox 432"/>
          <p:cNvSpPr txBox="1"/>
          <p:nvPr/>
        </p:nvSpPr>
        <p:spPr>
          <a:xfrm>
            <a:off x="3663076" y="1873461"/>
            <a:ext cx="24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C00000"/>
                </a:solidFill>
                <a:latin typeface="Microsoft YaHei"/>
              </a:rPr>
              <a:t>E-FF-02 放大图：走廊 · 北卫 · 卧室3 · 楼梯 · 书房 · 后卫</a:t>
            </a:r>
          </a:p>
        </p:txBody>
      </p:sp>
      <p:sp>
        <p:nvSpPr>
          <p:cNvPr id="434" name="Oval 433"/>
          <p:cNvSpPr/>
          <p:nvPr/>
        </p:nvSpPr>
        <p:spPr>
          <a:xfrm>
            <a:off x="4562348" y="5418629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35" name="Connector 434"/>
          <p:cNvCxnSpPr/>
          <p:nvPr/>
        </p:nvCxnSpPr>
        <p:spPr>
          <a:xfrm>
            <a:off x="4572896" y="5429177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6" name="Connector 435"/>
          <p:cNvCxnSpPr/>
          <p:nvPr/>
        </p:nvCxnSpPr>
        <p:spPr>
          <a:xfrm flipV="1">
            <a:off x="4572896" y="5429177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7" name="Oval 436"/>
          <p:cNvSpPr/>
          <p:nvPr/>
        </p:nvSpPr>
        <p:spPr>
          <a:xfrm>
            <a:off x="3839233" y="4473315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38" name="Connector 437"/>
          <p:cNvCxnSpPr/>
          <p:nvPr/>
        </p:nvCxnSpPr>
        <p:spPr>
          <a:xfrm>
            <a:off x="3849781" y="4483863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9" name="Connector 438"/>
          <p:cNvCxnSpPr/>
          <p:nvPr/>
        </p:nvCxnSpPr>
        <p:spPr>
          <a:xfrm flipV="1">
            <a:off x="3849781" y="4483863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0" name="Oval 439"/>
          <p:cNvSpPr/>
          <p:nvPr/>
        </p:nvSpPr>
        <p:spPr>
          <a:xfrm>
            <a:off x="2966028" y="2802236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41" name="Connector 440"/>
          <p:cNvCxnSpPr/>
          <p:nvPr/>
        </p:nvCxnSpPr>
        <p:spPr>
          <a:xfrm>
            <a:off x="2976576" y="2812784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2" name="Connector 441"/>
          <p:cNvCxnSpPr/>
          <p:nvPr/>
        </p:nvCxnSpPr>
        <p:spPr>
          <a:xfrm flipV="1">
            <a:off x="2976576" y="2812784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3" name="Oval 442"/>
          <p:cNvSpPr/>
          <p:nvPr/>
        </p:nvSpPr>
        <p:spPr>
          <a:xfrm>
            <a:off x="2493495" y="4933640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44" name="Connector 443"/>
          <p:cNvCxnSpPr/>
          <p:nvPr/>
        </p:nvCxnSpPr>
        <p:spPr>
          <a:xfrm>
            <a:off x="2504043" y="4944188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5" name="Connector 444"/>
          <p:cNvCxnSpPr/>
          <p:nvPr/>
        </p:nvCxnSpPr>
        <p:spPr>
          <a:xfrm flipV="1">
            <a:off x="2504043" y="4944188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6" name="Oval 445"/>
          <p:cNvSpPr/>
          <p:nvPr/>
        </p:nvSpPr>
        <p:spPr>
          <a:xfrm>
            <a:off x="4627887" y="4184309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47" name="Connector 446"/>
          <p:cNvCxnSpPr/>
          <p:nvPr/>
        </p:nvCxnSpPr>
        <p:spPr>
          <a:xfrm>
            <a:off x="4638435" y="4194857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8" name="Connector 447"/>
          <p:cNvCxnSpPr/>
          <p:nvPr/>
        </p:nvCxnSpPr>
        <p:spPr>
          <a:xfrm flipV="1">
            <a:off x="4638435" y="4194857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9" name="Oval 448"/>
          <p:cNvSpPr/>
          <p:nvPr/>
        </p:nvSpPr>
        <p:spPr>
          <a:xfrm>
            <a:off x="5828767" y="4903997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50" name="Connector 449"/>
          <p:cNvCxnSpPr/>
          <p:nvPr/>
        </p:nvCxnSpPr>
        <p:spPr>
          <a:xfrm>
            <a:off x="5839315" y="4914545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1" name="Connector 450"/>
          <p:cNvCxnSpPr/>
          <p:nvPr/>
        </p:nvCxnSpPr>
        <p:spPr>
          <a:xfrm flipV="1">
            <a:off x="5839315" y="4914545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2" name="Oval 451"/>
          <p:cNvSpPr/>
          <p:nvPr/>
        </p:nvSpPr>
        <p:spPr>
          <a:xfrm>
            <a:off x="4774024" y="2982960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3" name="Oval 452"/>
          <p:cNvSpPr/>
          <p:nvPr/>
        </p:nvSpPr>
        <p:spPr>
          <a:xfrm>
            <a:off x="4790524" y="2999460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4" name="Oval 453"/>
          <p:cNvSpPr/>
          <p:nvPr/>
        </p:nvSpPr>
        <p:spPr>
          <a:xfrm>
            <a:off x="6517008" y="4983298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5" name="Oval 454"/>
          <p:cNvSpPr/>
          <p:nvPr/>
        </p:nvSpPr>
        <p:spPr>
          <a:xfrm>
            <a:off x="6533508" y="4999798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6" name="Oval 455"/>
          <p:cNvSpPr/>
          <p:nvPr/>
        </p:nvSpPr>
        <p:spPr>
          <a:xfrm>
            <a:off x="2021504" y="3916815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7" name="Oval 456"/>
          <p:cNvSpPr/>
          <p:nvPr/>
        </p:nvSpPr>
        <p:spPr>
          <a:xfrm>
            <a:off x="2038004" y="3933315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8" name="Oval 457"/>
          <p:cNvSpPr/>
          <p:nvPr/>
        </p:nvSpPr>
        <p:spPr>
          <a:xfrm>
            <a:off x="3208075" y="3697461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9" name="Oval 458"/>
          <p:cNvSpPr/>
          <p:nvPr/>
        </p:nvSpPr>
        <p:spPr>
          <a:xfrm>
            <a:off x="3224575" y="3713961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0" name="Oval 459"/>
          <p:cNvSpPr/>
          <p:nvPr/>
        </p:nvSpPr>
        <p:spPr>
          <a:xfrm>
            <a:off x="3311397" y="4578059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1" name="Oval 460"/>
          <p:cNvSpPr/>
          <p:nvPr/>
        </p:nvSpPr>
        <p:spPr>
          <a:xfrm>
            <a:off x="3327897" y="4594559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2" name="Oval 461"/>
          <p:cNvSpPr/>
          <p:nvPr/>
        </p:nvSpPr>
        <p:spPr>
          <a:xfrm>
            <a:off x="3333786" y="5263753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3" name="Oval 462"/>
          <p:cNvSpPr/>
          <p:nvPr/>
        </p:nvSpPr>
        <p:spPr>
          <a:xfrm>
            <a:off x="3350286" y="5280253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4" name="Oval 463"/>
          <p:cNvSpPr/>
          <p:nvPr/>
        </p:nvSpPr>
        <p:spPr>
          <a:xfrm>
            <a:off x="4113781" y="2288777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65" name="Connector 464"/>
          <p:cNvCxnSpPr/>
          <p:nvPr/>
        </p:nvCxnSpPr>
        <p:spPr>
          <a:xfrm>
            <a:off x="4124329" y="2299325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6" name="Connector 465"/>
          <p:cNvCxnSpPr/>
          <p:nvPr/>
        </p:nvCxnSpPr>
        <p:spPr>
          <a:xfrm flipV="1">
            <a:off x="4124329" y="2299325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7" name="Oval 466"/>
          <p:cNvSpPr/>
          <p:nvPr/>
        </p:nvSpPr>
        <p:spPr>
          <a:xfrm>
            <a:off x="2571035" y="3917548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8" name="Oval 467"/>
          <p:cNvSpPr/>
          <p:nvPr/>
        </p:nvSpPr>
        <p:spPr>
          <a:xfrm>
            <a:off x="2587535" y="3934048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9" name="Oval 468"/>
          <p:cNvSpPr/>
          <p:nvPr/>
        </p:nvSpPr>
        <p:spPr>
          <a:xfrm>
            <a:off x="3209459" y="4012126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0" name="Oval 469"/>
          <p:cNvSpPr/>
          <p:nvPr/>
        </p:nvSpPr>
        <p:spPr>
          <a:xfrm>
            <a:off x="3225959" y="4028626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1" name="Oval 470"/>
          <p:cNvSpPr/>
          <p:nvPr/>
        </p:nvSpPr>
        <p:spPr>
          <a:xfrm>
            <a:off x="3826166" y="3453277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2" name="Connector 471"/>
          <p:cNvCxnSpPr/>
          <p:nvPr/>
        </p:nvCxnSpPr>
        <p:spPr>
          <a:xfrm>
            <a:off x="3836714" y="3463825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3" name="Connector 472"/>
          <p:cNvCxnSpPr/>
          <p:nvPr/>
        </p:nvCxnSpPr>
        <p:spPr>
          <a:xfrm flipV="1">
            <a:off x="3836714" y="3463825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4" name="Oval 473"/>
          <p:cNvSpPr/>
          <p:nvPr/>
        </p:nvSpPr>
        <p:spPr>
          <a:xfrm>
            <a:off x="1927269" y="4363807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5" name="Connector 474"/>
          <p:cNvCxnSpPr/>
          <p:nvPr/>
        </p:nvCxnSpPr>
        <p:spPr>
          <a:xfrm flipV="1">
            <a:off x="1940769" y="4317556"/>
            <a:ext cx="50137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6" name="Connector 475"/>
          <p:cNvCxnSpPr/>
          <p:nvPr/>
        </p:nvCxnSpPr>
        <p:spPr>
          <a:xfrm>
            <a:off x="1990906" y="4317556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7" name="TextBox 476"/>
          <p:cNvSpPr txBox="1"/>
          <p:nvPr/>
        </p:nvSpPr>
        <p:spPr>
          <a:xfrm>
            <a:off x="1690769" y="4407307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S1</a:t>
            </a:r>
          </a:p>
        </p:txBody>
      </p:sp>
      <p:sp>
        <p:nvSpPr>
          <p:cNvPr id="478" name="Oval 477"/>
          <p:cNvSpPr/>
          <p:nvPr/>
        </p:nvSpPr>
        <p:spPr>
          <a:xfrm>
            <a:off x="2226346" y="3906884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9" name="Connector 478"/>
          <p:cNvCxnSpPr/>
          <p:nvPr/>
        </p:nvCxnSpPr>
        <p:spPr>
          <a:xfrm flipV="1">
            <a:off x="2239846" y="3860633"/>
            <a:ext cx="50137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0" name="Connector 479"/>
          <p:cNvCxnSpPr/>
          <p:nvPr/>
        </p:nvCxnSpPr>
        <p:spPr>
          <a:xfrm>
            <a:off x="2289983" y="3860633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1" name="TextBox 480"/>
          <p:cNvSpPr txBox="1"/>
          <p:nvPr/>
        </p:nvSpPr>
        <p:spPr>
          <a:xfrm>
            <a:off x="1989846" y="3950384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S2</a:t>
            </a:r>
          </a:p>
        </p:txBody>
      </p:sp>
      <p:sp>
        <p:nvSpPr>
          <p:cNvPr id="482" name="Oval 481"/>
          <p:cNvSpPr/>
          <p:nvPr/>
        </p:nvSpPr>
        <p:spPr>
          <a:xfrm>
            <a:off x="2803730" y="3441653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83" name="Connector 482"/>
          <p:cNvCxnSpPr/>
          <p:nvPr/>
        </p:nvCxnSpPr>
        <p:spPr>
          <a:xfrm flipV="1">
            <a:off x="2817230" y="3395402"/>
            <a:ext cx="50138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4" name="Connector 483"/>
          <p:cNvCxnSpPr/>
          <p:nvPr/>
        </p:nvCxnSpPr>
        <p:spPr>
          <a:xfrm>
            <a:off x="2867368" y="3395402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5" name="TextBox 484"/>
          <p:cNvSpPr txBox="1"/>
          <p:nvPr/>
        </p:nvSpPr>
        <p:spPr>
          <a:xfrm>
            <a:off x="2567230" y="3485153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S3</a:t>
            </a:r>
          </a:p>
        </p:txBody>
      </p:sp>
      <p:sp>
        <p:nvSpPr>
          <p:cNvPr id="486" name="Oval 485"/>
          <p:cNvSpPr/>
          <p:nvPr/>
        </p:nvSpPr>
        <p:spPr>
          <a:xfrm>
            <a:off x="3563884" y="3138423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87" name="Connector 486"/>
          <p:cNvCxnSpPr/>
          <p:nvPr/>
        </p:nvCxnSpPr>
        <p:spPr>
          <a:xfrm flipV="1">
            <a:off x="3577384" y="3092171"/>
            <a:ext cx="50138" cy="5975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8" name="Connector 487"/>
          <p:cNvCxnSpPr/>
          <p:nvPr/>
        </p:nvCxnSpPr>
        <p:spPr>
          <a:xfrm>
            <a:off x="3627522" y="3092171"/>
            <a:ext cx="14937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9" name="Connector 488"/>
          <p:cNvCxnSpPr/>
          <p:nvPr/>
        </p:nvCxnSpPr>
        <p:spPr>
          <a:xfrm>
            <a:off x="3618998" y="3102329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0" name="TextBox 489"/>
          <p:cNvSpPr txBox="1"/>
          <p:nvPr/>
        </p:nvSpPr>
        <p:spPr>
          <a:xfrm>
            <a:off x="3327384" y="3181923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S4</a:t>
            </a:r>
          </a:p>
        </p:txBody>
      </p:sp>
      <p:sp>
        <p:nvSpPr>
          <p:cNvPr id="491" name="Oval 490"/>
          <p:cNvSpPr/>
          <p:nvPr/>
        </p:nvSpPr>
        <p:spPr>
          <a:xfrm>
            <a:off x="3410192" y="4409500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92" name="Connector 491"/>
          <p:cNvCxnSpPr/>
          <p:nvPr/>
        </p:nvCxnSpPr>
        <p:spPr>
          <a:xfrm flipV="1">
            <a:off x="3423692" y="4363248"/>
            <a:ext cx="50137" cy="5975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3" name="Connector 492"/>
          <p:cNvCxnSpPr/>
          <p:nvPr/>
        </p:nvCxnSpPr>
        <p:spPr>
          <a:xfrm>
            <a:off x="3473829" y="4363248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4" name="TextBox 493"/>
          <p:cNvSpPr txBox="1"/>
          <p:nvPr/>
        </p:nvSpPr>
        <p:spPr>
          <a:xfrm>
            <a:off x="3173692" y="4453000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S5</a:t>
            </a:r>
          </a:p>
        </p:txBody>
      </p:sp>
      <p:sp>
        <p:nvSpPr>
          <p:cNvPr id="495" name="Oval 494"/>
          <p:cNvSpPr/>
          <p:nvPr/>
        </p:nvSpPr>
        <p:spPr>
          <a:xfrm>
            <a:off x="2031115" y="5630730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96" name="Connector 495"/>
          <p:cNvCxnSpPr/>
          <p:nvPr/>
        </p:nvCxnSpPr>
        <p:spPr>
          <a:xfrm flipV="1">
            <a:off x="2044615" y="5584479"/>
            <a:ext cx="50137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7" name="Connector 496"/>
          <p:cNvCxnSpPr/>
          <p:nvPr/>
        </p:nvCxnSpPr>
        <p:spPr>
          <a:xfrm>
            <a:off x="2094752" y="5584479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8" name="Connector 497"/>
          <p:cNvCxnSpPr/>
          <p:nvPr/>
        </p:nvCxnSpPr>
        <p:spPr>
          <a:xfrm>
            <a:off x="2086229" y="5594637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9" name="TextBox 498"/>
          <p:cNvSpPr txBox="1"/>
          <p:nvPr/>
        </p:nvSpPr>
        <p:spPr>
          <a:xfrm>
            <a:off x="1794615" y="5674230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S6</a:t>
            </a:r>
          </a:p>
        </p:txBody>
      </p:sp>
      <p:sp>
        <p:nvSpPr>
          <p:cNvPr id="500" name="Oval 499"/>
          <p:cNvSpPr/>
          <p:nvPr/>
        </p:nvSpPr>
        <p:spPr>
          <a:xfrm>
            <a:off x="3555576" y="4953653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01" name="Connector 500"/>
          <p:cNvCxnSpPr/>
          <p:nvPr/>
        </p:nvCxnSpPr>
        <p:spPr>
          <a:xfrm flipV="1">
            <a:off x="3569076" y="4907402"/>
            <a:ext cx="50138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2" name="Connector 501"/>
          <p:cNvCxnSpPr/>
          <p:nvPr/>
        </p:nvCxnSpPr>
        <p:spPr>
          <a:xfrm>
            <a:off x="3619214" y="4907402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3" name="Connector 502"/>
          <p:cNvCxnSpPr/>
          <p:nvPr/>
        </p:nvCxnSpPr>
        <p:spPr>
          <a:xfrm>
            <a:off x="3610690" y="4917560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4" name="TextBox 503"/>
          <p:cNvSpPr txBox="1"/>
          <p:nvPr/>
        </p:nvSpPr>
        <p:spPr>
          <a:xfrm>
            <a:off x="3319076" y="4997153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S7</a:t>
            </a:r>
          </a:p>
        </p:txBody>
      </p:sp>
      <p:sp>
        <p:nvSpPr>
          <p:cNvPr id="505" name="Oval 504"/>
          <p:cNvSpPr/>
          <p:nvPr/>
        </p:nvSpPr>
        <p:spPr>
          <a:xfrm>
            <a:off x="4016653" y="3611961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06" name="Connector 505"/>
          <p:cNvCxnSpPr/>
          <p:nvPr/>
        </p:nvCxnSpPr>
        <p:spPr>
          <a:xfrm flipV="1">
            <a:off x="4030153" y="3565710"/>
            <a:ext cx="50138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7" name="Connector 506"/>
          <p:cNvCxnSpPr/>
          <p:nvPr/>
        </p:nvCxnSpPr>
        <p:spPr>
          <a:xfrm>
            <a:off x="4080291" y="3565710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8" name="TextBox 507"/>
          <p:cNvSpPr txBox="1"/>
          <p:nvPr/>
        </p:nvSpPr>
        <p:spPr>
          <a:xfrm>
            <a:off x="3780153" y="3655461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S8</a:t>
            </a:r>
          </a:p>
        </p:txBody>
      </p:sp>
      <p:sp>
        <p:nvSpPr>
          <p:cNvPr id="509" name="Oval 508"/>
          <p:cNvSpPr/>
          <p:nvPr/>
        </p:nvSpPr>
        <p:spPr>
          <a:xfrm>
            <a:off x="4506807" y="2515346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10" name="Connector 509"/>
          <p:cNvCxnSpPr/>
          <p:nvPr/>
        </p:nvCxnSpPr>
        <p:spPr>
          <a:xfrm flipV="1">
            <a:off x="4520307" y="2469094"/>
            <a:ext cx="50138" cy="5975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1" name="Connector 510"/>
          <p:cNvCxnSpPr/>
          <p:nvPr/>
        </p:nvCxnSpPr>
        <p:spPr>
          <a:xfrm>
            <a:off x="4570445" y="2469094"/>
            <a:ext cx="14937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2" name="TextBox 511"/>
          <p:cNvSpPr txBox="1"/>
          <p:nvPr/>
        </p:nvSpPr>
        <p:spPr>
          <a:xfrm>
            <a:off x="4270307" y="2558846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S9</a:t>
            </a:r>
          </a:p>
        </p:txBody>
      </p:sp>
      <p:sp>
        <p:nvSpPr>
          <p:cNvPr id="513" name="Oval 512"/>
          <p:cNvSpPr/>
          <p:nvPr/>
        </p:nvSpPr>
        <p:spPr>
          <a:xfrm>
            <a:off x="4162038" y="3931807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14" name="Connector 513"/>
          <p:cNvCxnSpPr/>
          <p:nvPr/>
        </p:nvCxnSpPr>
        <p:spPr>
          <a:xfrm flipV="1">
            <a:off x="4175538" y="3885556"/>
            <a:ext cx="50137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5" name="Connector 514"/>
          <p:cNvCxnSpPr/>
          <p:nvPr/>
        </p:nvCxnSpPr>
        <p:spPr>
          <a:xfrm>
            <a:off x="4225675" y="3885556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6" name="TextBox 515"/>
          <p:cNvSpPr txBox="1"/>
          <p:nvPr/>
        </p:nvSpPr>
        <p:spPr>
          <a:xfrm>
            <a:off x="3925538" y="3975307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S10</a:t>
            </a:r>
          </a:p>
        </p:txBody>
      </p:sp>
      <p:sp>
        <p:nvSpPr>
          <p:cNvPr id="517" name="Oval 516"/>
          <p:cNvSpPr/>
          <p:nvPr/>
        </p:nvSpPr>
        <p:spPr>
          <a:xfrm>
            <a:off x="4274192" y="4995192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18" name="Connector 517"/>
          <p:cNvCxnSpPr/>
          <p:nvPr/>
        </p:nvCxnSpPr>
        <p:spPr>
          <a:xfrm flipV="1">
            <a:off x="4287692" y="4948940"/>
            <a:ext cx="50137" cy="5975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9" name="Connector 518"/>
          <p:cNvCxnSpPr/>
          <p:nvPr/>
        </p:nvCxnSpPr>
        <p:spPr>
          <a:xfrm>
            <a:off x="4337829" y="4948940"/>
            <a:ext cx="14938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0" name="Connector 519"/>
          <p:cNvCxnSpPr/>
          <p:nvPr/>
        </p:nvCxnSpPr>
        <p:spPr>
          <a:xfrm>
            <a:off x="4329306" y="4959098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1" name="TextBox 520"/>
          <p:cNvSpPr txBox="1"/>
          <p:nvPr/>
        </p:nvSpPr>
        <p:spPr>
          <a:xfrm>
            <a:off x="4037692" y="5038692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S11</a:t>
            </a:r>
          </a:p>
        </p:txBody>
      </p:sp>
      <p:sp>
        <p:nvSpPr>
          <p:cNvPr id="522" name="Oval 521"/>
          <p:cNvSpPr/>
          <p:nvPr/>
        </p:nvSpPr>
        <p:spPr>
          <a:xfrm>
            <a:off x="4855730" y="4970269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23" name="Connector 522"/>
          <p:cNvCxnSpPr/>
          <p:nvPr/>
        </p:nvCxnSpPr>
        <p:spPr>
          <a:xfrm flipV="1">
            <a:off x="4869230" y="4924017"/>
            <a:ext cx="50138" cy="5975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4" name="Connector 523"/>
          <p:cNvCxnSpPr/>
          <p:nvPr/>
        </p:nvCxnSpPr>
        <p:spPr>
          <a:xfrm>
            <a:off x="4919368" y="4924017"/>
            <a:ext cx="14938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5" name="TextBox 524"/>
          <p:cNvSpPr txBox="1"/>
          <p:nvPr/>
        </p:nvSpPr>
        <p:spPr>
          <a:xfrm>
            <a:off x="4619230" y="5013769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S12</a:t>
            </a:r>
          </a:p>
        </p:txBody>
      </p:sp>
      <p:sp>
        <p:nvSpPr>
          <p:cNvPr id="526" name="Oval 525"/>
          <p:cNvSpPr/>
          <p:nvPr/>
        </p:nvSpPr>
        <p:spPr>
          <a:xfrm>
            <a:off x="5279423" y="4874730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27" name="Connector 526"/>
          <p:cNvCxnSpPr/>
          <p:nvPr/>
        </p:nvCxnSpPr>
        <p:spPr>
          <a:xfrm flipV="1">
            <a:off x="5292923" y="4828479"/>
            <a:ext cx="50137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8" name="Connector 527"/>
          <p:cNvCxnSpPr/>
          <p:nvPr/>
        </p:nvCxnSpPr>
        <p:spPr>
          <a:xfrm>
            <a:off x="5343060" y="4828479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9" name="TextBox 528"/>
          <p:cNvSpPr txBox="1"/>
          <p:nvPr/>
        </p:nvSpPr>
        <p:spPr>
          <a:xfrm>
            <a:off x="5042923" y="4918230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S13</a:t>
            </a:r>
          </a:p>
        </p:txBody>
      </p:sp>
      <p:sp>
        <p:nvSpPr>
          <p:cNvPr id="530" name="Oval 529"/>
          <p:cNvSpPr/>
          <p:nvPr/>
        </p:nvSpPr>
        <p:spPr>
          <a:xfrm>
            <a:off x="6126807" y="4480115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1" name="Connector 530"/>
          <p:cNvCxnSpPr/>
          <p:nvPr/>
        </p:nvCxnSpPr>
        <p:spPr>
          <a:xfrm flipV="1">
            <a:off x="6140307" y="4433863"/>
            <a:ext cx="50138" cy="5975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2" name="Connector 531"/>
          <p:cNvCxnSpPr/>
          <p:nvPr/>
        </p:nvCxnSpPr>
        <p:spPr>
          <a:xfrm>
            <a:off x="6190445" y="4433863"/>
            <a:ext cx="14937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3" name="TextBox 532"/>
          <p:cNvSpPr txBox="1"/>
          <p:nvPr/>
        </p:nvSpPr>
        <p:spPr>
          <a:xfrm>
            <a:off x="5890307" y="4523615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S14</a:t>
            </a:r>
          </a:p>
        </p:txBody>
      </p:sp>
      <p:sp>
        <p:nvSpPr>
          <p:cNvPr id="534" name="Oval 533"/>
          <p:cNvSpPr/>
          <p:nvPr/>
        </p:nvSpPr>
        <p:spPr>
          <a:xfrm>
            <a:off x="8766000" y="328000"/>
            <a:ext cx="144000" cy="14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5" name="Connector 534"/>
          <p:cNvCxnSpPr/>
          <p:nvPr/>
        </p:nvCxnSpPr>
        <p:spPr>
          <a:xfrm>
            <a:off x="8787096" y="349096"/>
            <a:ext cx="101808" cy="10180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6" name="Connector 535"/>
          <p:cNvCxnSpPr/>
          <p:nvPr/>
        </p:nvCxnSpPr>
        <p:spPr>
          <a:xfrm flipV="1">
            <a:off x="8787096" y="349096"/>
            <a:ext cx="101808" cy="10180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7" name="TextBox 536"/>
          <p:cNvSpPr txBox="1"/>
          <p:nvPr/>
        </p:nvSpPr>
        <p:spPr>
          <a:xfrm>
            <a:off x="8982000" y="334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吊灯 / 吸顶主灯</a:t>
            </a:r>
          </a:p>
        </p:txBody>
      </p:sp>
      <p:sp>
        <p:nvSpPr>
          <p:cNvPr id="538" name="Oval 537"/>
          <p:cNvSpPr/>
          <p:nvPr/>
        </p:nvSpPr>
        <p:spPr>
          <a:xfrm>
            <a:off x="8766000" y="502000"/>
            <a:ext cx="144000" cy="14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9" name="Connector 538"/>
          <p:cNvCxnSpPr/>
          <p:nvPr/>
        </p:nvCxnSpPr>
        <p:spPr>
          <a:xfrm>
            <a:off x="8787096" y="523096"/>
            <a:ext cx="101808" cy="10180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0" name="Connector 539"/>
          <p:cNvCxnSpPr/>
          <p:nvPr/>
        </p:nvCxnSpPr>
        <p:spPr>
          <a:xfrm flipV="1">
            <a:off x="8787096" y="523096"/>
            <a:ext cx="101808" cy="10180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1" name="TextBox 540"/>
          <p:cNvSpPr txBox="1"/>
          <p:nvPr/>
        </p:nvSpPr>
        <p:spPr>
          <a:xfrm>
            <a:off x="8982000" y="508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主灯位（产品待选）</a:t>
            </a:r>
          </a:p>
        </p:txBody>
      </p:sp>
      <p:sp>
        <p:nvSpPr>
          <p:cNvPr id="542" name="Oval 541"/>
          <p:cNvSpPr/>
          <p:nvPr/>
        </p:nvSpPr>
        <p:spPr>
          <a:xfrm>
            <a:off x="8790000" y="700000"/>
            <a:ext cx="96000" cy="96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3" name="Oval 542"/>
          <p:cNvSpPr/>
          <p:nvPr/>
        </p:nvSpPr>
        <p:spPr>
          <a:xfrm>
            <a:off x="8823000" y="733000"/>
            <a:ext cx="30000" cy="30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4" name="TextBox 543"/>
          <p:cNvSpPr txBox="1"/>
          <p:nvPr/>
        </p:nvSpPr>
        <p:spPr>
          <a:xfrm>
            <a:off x="8982000" y="682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嵌入式筒灯 GU10</a:t>
            </a:r>
          </a:p>
        </p:txBody>
      </p:sp>
      <p:sp>
        <p:nvSpPr>
          <p:cNvPr id="2" name="Freeform 1"/>
          <p:cNvSpPr/>
          <p:nvPr/>
        </p:nvSpPr>
        <p:spPr>
          <a:xfrm>
            <a:off x="8778000" y="862000"/>
            <a:ext cx="120000" cy="60000"/>
          </a:xfrm>
          <a:custGeom>
            <a:avLst/>
            <a:gdLst/>
            <a:ahLst/>
            <a:cxnLst/>
            <a:rect l="l" t="t" r="r" b="b"/>
            <a:pathLst>
              <a:path w="120000" h="60000">
                <a:moveTo>
                  <a:pt x="120000" y="60000"/>
                </a:moveTo>
                <a:lnTo>
                  <a:pt x="118847" y="48294"/>
                </a:lnTo>
                <a:lnTo>
                  <a:pt x="115432" y="37038"/>
                </a:lnTo>
                <a:lnTo>
                  <a:pt x="109888" y="26665"/>
                </a:lnTo>
                <a:lnTo>
                  <a:pt x="102426" y="17573"/>
                </a:lnTo>
                <a:lnTo>
                  <a:pt x="93334" y="10111"/>
                </a:lnTo>
                <a:lnTo>
                  <a:pt x="82961" y="4567"/>
                </a:lnTo>
                <a:lnTo>
                  <a:pt x="71705" y="1152"/>
                </a:lnTo>
                <a:lnTo>
                  <a:pt x="60000" y="0"/>
                </a:lnTo>
                <a:lnTo>
                  <a:pt x="48294" y="1152"/>
                </a:lnTo>
                <a:lnTo>
                  <a:pt x="37038" y="4567"/>
                </a:lnTo>
                <a:lnTo>
                  <a:pt x="26665" y="10111"/>
                </a:lnTo>
                <a:lnTo>
                  <a:pt x="17573" y="17573"/>
                </a:lnTo>
                <a:lnTo>
                  <a:pt x="10111" y="26665"/>
                </a:lnTo>
                <a:lnTo>
                  <a:pt x="4567" y="37038"/>
                </a:lnTo>
                <a:lnTo>
                  <a:pt x="1152" y="48294"/>
                </a:lnTo>
                <a:lnTo>
                  <a:pt x="0" y="60000"/>
                </a:lnTo>
                <a:lnTo>
                  <a:pt x="120000" y="60000"/>
                </a:lnTo>
                <a:close/>
              </a:path>
            </a:pathLst>
          </a:custGeom>
          <a:solidFill>
            <a:srgbClr val="1A1A1A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45" name="Connector 544"/>
          <p:cNvCxnSpPr/>
          <p:nvPr/>
        </p:nvCxnSpPr>
        <p:spPr>
          <a:xfrm>
            <a:off x="8760000" y="922000"/>
            <a:ext cx="156000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6" name="TextBox 545"/>
          <p:cNvSpPr txBox="1"/>
          <p:nvPr/>
        </p:nvSpPr>
        <p:spPr>
          <a:xfrm>
            <a:off x="8982000" y="856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壁灯 / 户外墙灯</a:t>
            </a:r>
          </a:p>
        </p:txBody>
      </p:sp>
      <p:sp>
        <p:nvSpPr>
          <p:cNvPr id="547" name="Oval 546"/>
          <p:cNvSpPr/>
          <p:nvPr/>
        </p:nvSpPr>
        <p:spPr>
          <a:xfrm>
            <a:off x="8796000" y="1054000"/>
            <a:ext cx="84000" cy="8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8814000" y="1069000"/>
            <a:ext cx="48000" cy="45000"/>
          </a:xfrm>
          <a:custGeom>
            <a:avLst/>
            <a:gdLst/>
            <a:ahLst/>
            <a:cxnLst/>
            <a:rect l="l" t="t" r="r" b="b"/>
            <a:pathLst>
              <a:path w="48000" h="45000">
                <a:moveTo>
                  <a:pt x="24000" y="0"/>
                </a:moveTo>
                <a:lnTo>
                  <a:pt x="0" y="45000"/>
                </a:lnTo>
                <a:lnTo>
                  <a:pt x="48000" y="45000"/>
                </a:lnTo>
                <a:lnTo>
                  <a:pt x="24000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8" name="TextBox 547"/>
          <p:cNvSpPr txBox="1"/>
          <p:nvPr/>
        </p:nvSpPr>
        <p:spPr>
          <a:xfrm>
            <a:off x="8982000" y="1030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围栏地灯（户外）</a:t>
            </a:r>
          </a:p>
        </p:txBody>
      </p:sp>
      <p:sp>
        <p:nvSpPr>
          <p:cNvPr id="549" name="Oval 548"/>
          <p:cNvSpPr/>
          <p:nvPr/>
        </p:nvSpPr>
        <p:spPr>
          <a:xfrm>
            <a:off x="8763000" y="1291000"/>
            <a:ext cx="54000" cy="54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50" name="Connector 549"/>
          <p:cNvCxnSpPr/>
          <p:nvPr/>
        </p:nvCxnSpPr>
        <p:spPr>
          <a:xfrm flipV="1">
            <a:off x="8790000" y="1198497"/>
            <a:ext cx="100274" cy="119503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1" name="Connector 550"/>
          <p:cNvCxnSpPr/>
          <p:nvPr/>
        </p:nvCxnSpPr>
        <p:spPr>
          <a:xfrm>
            <a:off x="8890274" y="1198497"/>
            <a:ext cx="29876" cy="2506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2" name="Connector 551"/>
          <p:cNvCxnSpPr/>
          <p:nvPr/>
        </p:nvCxnSpPr>
        <p:spPr>
          <a:xfrm>
            <a:off x="8873228" y="1218812"/>
            <a:ext cx="29875" cy="25069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3" name="TextBox 552"/>
          <p:cNvSpPr txBox="1"/>
          <p:nvPr/>
        </p:nvSpPr>
        <p:spPr>
          <a:xfrm>
            <a:off x="8982000" y="1204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开关（短划数 = 联数），S# = 开关编号</a:t>
            </a:r>
          </a:p>
        </p:txBody>
      </p:sp>
      <p:sp>
        <p:nvSpPr>
          <p:cNvPr id="554" name="Rectangle 553"/>
          <p:cNvSpPr/>
          <p:nvPr/>
        </p:nvSpPr>
        <p:spPr>
          <a:xfrm>
            <a:off x="8736000" y="1393000"/>
            <a:ext cx="204000" cy="102000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5" name="TextBox 554"/>
          <p:cNvSpPr txBox="1"/>
          <p:nvPr/>
        </p:nvSpPr>
        <p:spPr>
          <a:xfrm>
            <a:off x="8736000" y="1393000"/>
            <a:ext cx="204000" cy="10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556" name="TextBox 555"/>
          <p:cNvSpPr txBox="1"/>
          <p:nvPr/>
        </p:nvSpPr>
        <p:spPr>
          <a:xfrm>
            <a:off x="8982000" y="1378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FCU 带保险丝开关</a:t>
            </a:r>
          </a:p>
        </p:txBody>
      </p:sp>
      <p:sp>
        <p:nvSpPr>
          <p:cNvPr id="4" name="Freeform 3"/>
          <p:cNvSpPr/>
          <p:nvPr/>
        </p:nvSpPr>
        <p:spPr>
          <a:xfrm>
            <a:off x="8742000" y="1648000"/>
            <a:ext cx="192000" cy="33600"/>
          </a:xfrm>
          <a:custGeom>
            <a:avLst/>
            <a:gdLst/>
            <a:ahLst/>
            <a:cxnLst/>
            <a:rect l="l" t="t" r="r" b="b"/>
            <a:pathLst>
              <a:path w="192000" h="33600">
                <a:moveTo>
                  <a:pt x="0" y="0"/>
                </a:moveTo>
                <a:lnTo>
                  <a:pt x="12000" y="7875"/>
                </a:lnTo>
                <a:lnTo>
                  <a:pt x="24000" y="14700"/>
                </a:lnTo>
                <a:lnTo>
                  <a:pt x="36000" y="20475"/>
                </a:lnTo>
                <a:lnTo>
                  <a:pt x="48000" y="25200"/>
                </a:lnTo>
                <a:lnTo>
                  <a:pt x="60000" y="28875"/>
                </a:lnTo>
                <a:lnTo>
                  <a:pt x="72000" y="31500"/>
                </a:lnTo>
                <a:lnTo>
                  <a:pt x="84000" y="33075"/>
                </a:lnTo>
                <a:lnTo>
                  <a:pt x="96000" y="33600"/>
                </a:lnTo>
                <a:lnTo>
                  <a:pt x="108000" y="33075"/>
                </a:lnTo>
                <a:lnTo>
                  <a:pt x="120000" y="31500"/>
                </a:lnTo>
                <a:lnTo>
                  <a:pt x="132000" y="28875"/>
                </a:lnTo>
                <a:lnTo>
                  <a:pt x="144000" y="25200"/>
                </a:lnTo>
                <a:lnTo>
                  <a:pt x="156000" y="20475"/>
                </a:lnTo>
                <a:lnTo>
                  <a:pt x="168000" y="14700"/>
                </a:lnTo>
                <a:lnTo>
                  <a:pt x="180000" y="7875"/>
                </a:lnTo>
                <a:lnTo>
                  <a:pt x="19200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7" name="TextBox 556"/>
          <p:cNvSpPr txBox="1"/>
          <p:nvPr/>
        </p:nvSpPr>
        <p:spPr>
          <a:xfrm>
            <a:off x="8982000" y="1552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开关线（只画到最近一盏灯）</a:t>
            </a:r>
          </a:p>
        </p:txBody>
      </p:sp>
      <p:cxnSp>
        <p:nvCxnSpPr>
          <p:cNvPr id="558" name="Connector 557"/>
          <p:cNvCxnSpPr/>
          <p:nvPr/>
        </p:nvCxnSpPr>
        <p:spPr>
          <a:xfrm>
            <a:off x="8742000" y="1792000"/>
            <a:ext cx="192000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9" name="TextBox 558"/>
          <p:cNvSpPr txBox="1"/>
          <p:nvPr/>
        </p:nvSpPr>
        <p:spPr>
          <a:xfrm>
            <a:off x="8982000" y="1726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双控 / 三控联络线 3C+E</a:t>
            </a:r>
          </a:p>
        </p:txBody>
      </p:sp>
      <p:sp>
        <p:nvSpPr>
          <p:cNvPr id="560" name="TextBox 559"/>
          <p:cNvSpPr txBox="1"/>
          <p:nvPr/>
        </p:nvSpPr>
        <p:spPr>
          <a:xfrm>
            <a:off x="8808000" y="1893999"/>
            <a:ext cx="12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a</a:t>
            </a:r>
          </a:p>
        </p:txBody>
      </p:sp>
      <p:sp>
        <p:nvSpPr>
          <p:cNvPr id="561" name="TextBox 560"/>
          <p:cNvSpPr txBox="1"/>
          <p:nvPr/>
        </p:nvSpPr>
        <p:spPr>
          <a:xfrm>
            <a:off x="8982000" y="1899999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a–u 回路字母（灯旁字母 = 控制它的键）</a:t>
            </a:r>
          </a:p>
        </p:txBody>
      </p:sp>
      <p:sp>
        <p:nvSpPr>
          <p:cNvPr id="562" name="TextBox 561"/>
          <p:cNvSpPr txBox="1"/>
          <p:nvPr/>
        </p:nvSpPr>
        <p:spPr>
          <a:xfrm>
            <a:off x="8730000" y="3450000"/>
            <a:ext cx="3300000" cy="15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说明：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1. 本图只表示位置与编号，接线见 E-FF-01~02 放大图。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2. 开关面板逐键功能见 E-FF-04 开关面板表；回路见 E-FF-05。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3. 开关中心离地 1200 mm，设在门开启侧（锁侧），距门框 150 mm。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4. 楼梯吊灯 F06 三控：一层 S6（楼梯底）、二层 S12（楼梯顶）为两路开关，S11 键 2 为中途开关。</a:t>
            </a:r>
          </a:p>
        </p:txBody>
      </p:sp>
      <p:sp>
        <p:nvSpPr>
          <p:cNvPr id="563" name="Rectangle 562"/>
          <p:cNvSpPr/>
          <p:nvPr/>
        </p:nvSpPr>
        <p:spPr>
          <a:xfrm>
            <a:off x="400000" y="6480000"/>
            <a:ext cx="437000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4" name="Rectangle 563"/>
          <p:cNvSpPr/>
          <p:nvPr/>
        </p:nvSpPr>
        <p:spPr>
          <a:xfrm>
            <a:off x="837000" y="6480000"/>
            <a:ext cx="437000" cy="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5" name="Rectangle 564"/>
          <p:cNvSpPr/>
          <p:nvPr/>
        </p:nvSpPr>
        <p:spPr>
          <a:xfrm>
            <a:off x="1274000" y="6480000"/>
            <a:ext cx="437000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6" name="TextBox 565"/>
          <p:cNvSpPr txBox="1"/>
          <p:nvPr/>
        </p:nvSpPr>
        <p:spPr>
          <a:xfrm>
            <a:off x="1751000" y="6440000"/>
            <a:ext cx="30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" b="0">
                <a:solidFill>
                  <a:srgbClr val="1A1A1A"/>
                </a:solidFill>
                <a:latin typeface="Microsoft YaHei"/>
              </a:rPr>
              <a:t>3 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10" name="二层平面（横向）"/>
          <p:cNvGrpSpPr/>
          <p:nvPr/>
        </p:nvGrpSpPr>
        <p:grpSpPr>
          <a:xfrm rot="5400000">
            <a:off x="3421468" y="-19904"/>
            <a:ext cx="5753380" cy="7590686"/>
            <a:chOff x="356311" y="926340"/>
            <a:chExt cx="3635855" cy="4796943"/>
          </a:xfrm>
        </p:grpSpPr>
        <p:grpSp>
          <p:nvGrpSpPr>
            <p:cNvPr id="6" name="墙体（Blender 1.2 m 剖切，已锁定）">
              <a:extLst>
                <a:ext uri="{FF2B5EF4-FFF2-40B4-BE49-F238E27FC236}">
                  <a16:creationId xmlns:a16="http://schemas.microsoft.com/office/drawing/2014/main" id="{F8B5F234-FA8A-924F-BCB9-E3B494015B5B}"/>
                </a:ext>
              </a:extLst>
            </p:cNvPr>
            <p:cNvGrpSpPr>
              <a:grpSpLocks noGrp="1" noRot="1" noMove="1" noResize="1"/>
            </p:cNvGrpSpPr>
            <p:nvPr/>
          </p:nvGrpSpPr>
          <p:grpSpPr>
            <a:xfrm>
              <a:off x="356311" y="926340"/>
              <a:ext cx="3635855" cy="4796943"/>
              <a:chOff x="356311" y="926340"/>
              <a:chExt cx="3635855" cy="4796943"/>
            </a:xfrm>
          </p:grpSpPr>
          <p:sp>
            <p:nvSpPr>
              <p:cNvPr id="5" name="墙_GF_Wall_Shell">
                <a:extLst>
                  <a:ext uri="{FF2B5EF4-FFF2-40B4-BE49-F238E27FC236}">
                    <a16:creationId xmlns:a16="http://schemas.microsoft.com/office/drawing/2014/main" id="{36090254-C9EF-9A5F-197B-A425633E0A8F}"/>
                  </a:ext>
                </a:extLst>
              </p:cNvPr>
              <p:cNvSpPr/>
              <p:nvPr/>
            </p:nvSpPr>
            <p:spPr>
              <a:xfrm>
                <a:off x="2603764" y="4099465"/>
                <a:ext cx="49507" cy="415573"/>
              </a:xfrm>
              <a:custGeom>
                <a:avLst/>
                <a:gdLst/>
                <a:ahLst/>
                <a:cxnLst/>
                <a:rect l="l" t="t" r="r" b="b"/>
                <a:pathLst>
                  <a:path w="49507" h="415573">
                    <a:moveTo>
                      <a:pt x="49507" y="76297"/>
                    </a:moveTo>
                    <a:lnTo>
                      <a:pt x="49507" y="0"/>
                    </a:lnTo>
                    <a:lnTo>
                      <a:pt x="0" y="0"/>
                    </a:lnTo>
                    <a:lnTo>
                      <a:pt x="0" y="76297"/>
                    </a:lnTo>
                    <a:close/>
                    <a:moveTo>
                      <a:pt x="49507" y="415573"/>
                    </a:moveTo>
                    <a:lnTo>
                      <a:pt x="49507" y="353886"/>
                    </a:lnTo>
                    <a:lnTo>
                      <a:pt x="0" y="353886"/>
                    </a:lnTo>
                    <a:lnTo>
                      <a:pt x="0" y="41557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墙_FF_Wall_Shell">
                <a:extLst>
                  <a:ext uri="{FF2B5EF4-FFF2-40B4-BE49-F238E27FC236}">
                    <a16:creationId xmlns:a16="http://schemas.microsoft.com/office/drawing/2014/main" id="{D6149830-E1C6-E65A-A4FE-0F7ADADC412D}"/>
                  </a:ext>
                </a:extLst>
              </p:cNvPr>
              <p:cNvSpPr/>
              <p:nvPr/>
            </p:nvSpPr>
            <p:spPr>
              <a:xfrm>
                <a:off x="356311" y="926340"/>
                <a:ext cx="3635855" cy="4796943"/>
              </a:xfrm>
              <a:custGeom>
                <a:avLst/>
                <a:gdLst/>
                <a:ahLst/>
                <a:cxnLst/>
                <a:rect l="l" t="t" r="r" b="b"/>
                <a:pathLst>
                  <a:path w="3635855" h="4796943">
                    <a:moveTo>
                      <a:pt x="1498370" y="4271390"/>
                    </a:moveTo>
                    <a:lnTo>
                      <a:pt x="1498370" y="4222690"/>
                    </a:lnTo>
                    <a:lnTo>
                      <a:pt x="1509529" y="4222690"/>
                    </a:lnTo>
                    <a:lnTo>
                      <a:pt x="1509529" y="3735690"/>
                    </a:lnTo>
                    <a:lnTo>
                      <a:pt x="1509529" y="2997075"/>
                    </a:lnTo>
                    <a:lnTo>
                      <a:pt x="1032932" y="2997075"/>
                    </a:lnTo>
                    <a:lnTo>
                      <a:pt x="1032932" y="2972644"/>
                    </a:lnTo>
                    <a:lnTo>
                      <a:pt x="1533876" y="2972644"/>
                    </a:lnTo>
                    <a:lnTo>
                      <a:pt x="1533876" y="2972725"/>
                    </a:lnTo>
                    <a:lnTo>
                      <a:pt x="2272409" y="2972725"/>
                    </a:lnTo>
                    <a:lnTo>
                      <a:pt x="2820222" y="2972725"/>
                    </a:lnTo>
                    <a:lnTo>
                      <a:pt x="2915217" y="2972725"/>
                    </a:lnTo>
                    <a:lnTo>
                      <a:pt x="2915217" y="3021425"/>
                    </a:lnTo>
                    <a:lnTo>
                      <a:pt x="2820222" y="3021425"/>
                    </a:lnTo>
                    <a:lnTo>
                      <a:pt x="2296757" y="3021425"/>
                    </a:lnTo>
                    <a:lnTo>
                      <a:pt x="2296757" y="3183880"/>
                    </a:lnTo>
                    <a:lnTo>
                      <a:pt x="2248062" y="3183880"/>
                    </a:lnTo>
                    <a:lnTo>
                      <a:pt x="2248062" y="3021425"/>
                    </a:lnTo>
                    <a:lnTo>
                      <a:pt x="1558224" y="3021425"/>
                    </a:lnTo>
                    <a:lnTo>
                      <a:pt x="1558224" y="3711340"/>
                    </a:lnTo>
                    <a:lnTo>
                      <a:pt x="2248062" y="3711340"/>
                    </a:lnTo>
                    <a:lnTo>
                      <a:pt x="2248062" y="3588251"/>
                    </a:lnTo>
                    <a:lnTo>
                      <a:pt x="2296757" y="3588251"/>
                    </a:lnTo>
                    <a:lnTo>
                      <a:pt x="2296757" y="3735690"/>
                    </a:lnTo>
                    <a:lnTo>
                      <a:pt x="2296757" y="4247040"/>
                    </a:lnTo>
                    <a:lnTo>
                      <a:pt x="2248062" y="4247040"/>
                    </a:lnTo>
                    <a:lnTo>
                      <a:pt x="2248062" y="3760040"/>
                    </a:lnTo>
                    <a:lnTo>
                      <a:pt x="1558224" y="3760040"/>
                    </a:lnTo>
                    <a:lnTo>
                      <a:pt x="1558224" y="4222690"/>
                    </a:lnTo>
                    <a:lnTo>
                      <a:pt x="1947739" y="4222690"/>
                    </a:lnTo>
                    <a:lnTo>
                      <a:pt x="1947739" y="4271390"/>
                    </a:lnTo>
                    <a:lnTo>
                      <a:pt x="1558224" y="4271390"/>
                    </a:lnTo>
                    <a:lnTo>
                      <a:pt x="1558224" y="4502714"/>
                    </a:lnTo>
                    <a:lnTo>
                      <a:pt x="1558224" y="4703601"/>
                    </a:lnTo>
                    <a:lnTo>
                      <a:pt x="1893607" y="4703601"/>
                    </a:lnTo>
                    <a:lnTo>
                      <a:pt x="1893607" y="4750272"/>
                    </a:lnTo>
                    <a:lnTo>
                      <a:pt x="1893607" y="4796943"/>
                    </a:lnTo>
                    <a:lnTo>
                      <a:pt x="1533876" y="4796943"/>
                    </a:lnTo>
                    <a:lnTo>
                      <a:pt x="1533876" y="4750272"/>
                    </a:lnTo>
                    <a:lnTo>
                      <a:pt x="1522717" y="4750272"/>
                    </a:lnTo>
                    <a:lnTo>
                      <a:pt x="1487211" y="4750272"/>
                    </a:lnTo>
                    <a:lnTo>
                      <a:pt x="1487211" y="4549385"/>
                    </a:lnTo>
                    <a:lnTo>
                      <a:pt x="256458" y="4549385"/>
                    </a:lnTo>
                    <a:lnTo>
                      <a:pt x="46666" y="4549385"/>
                    </a:lnTo>
                    <a:lnTo>
                      <a:pt x="46666" y="4502714"/>
                    </a:lnTo>
                    <a:lnTo>
                      <a:pt x="0" y="4502714"/>
                    </a:lnTo>
                    <a:lnTo>
                      <a:pt x="0" y="1523902"/>
                    </a:lnTo>
                    <a:lnTo>
                      <a:pt x="46666" y="1523902"/>
                    </a:lnTo>
                    <a:lnTo>
                      <a:pt x="46666" y="1477231"/>
                    </a:lnTo>
                    <a:lnTo>
                      <a:pt x="700673" y="1477231"/>
                    </a:lnTo>
                    <a:lnTo>
                      <a:pt x="764341" y="1477231"/>
                    </a:lnTo>
                    <a:lnTo>
                      <a:pt x="1533876" y="1477231"/>
                    </a:lnTo>
                    <a:lnTo>
                      <a:pt x="1638772" y="1477231"/>
                    </a:lnTo>
                    <a:lnTo>
                      <a:pt x="1638772" y="1523902"/>
                    </a:lnTo>
                    <a:lnTo>
                      <a:pt x="1638772" y="1570573"/>
                    </a:lnTo>
                    <a:lnTo>
                      <a:pt x="1558224" y="1570573"/>
                    </a:lnTo>
                    <a:lnTo>
                      <a:pt x="1558224" y="2215400"/>
                    </a:lnTo>
                    <a:lnTo>
                      <a:pt x="1558224" y="2546600"/>
                    </a:lnTo>
                    <a:lnTo>
                      <a:pt x="1985234" y="2546600"/>
                    </a:lnTo>
                    <a:lnTo>
                      <a:pt x="1985234" y="2595300"/>
                    </a:lnTo>
                    <a:lnTo>
                      <a:pt x="1533876" y="2595300"/>
                    </a:lnTo>
                    <a:lnTo>
                      <a:pt x="1533876" y="2570950"/>
                    </a:lnTo>
                    <a:lnTo>
                      <a:pt x="1509529" y="2570950"/>
                    </a:lnTo>
                    <a:lnTo>
                      <a:pt x="1509529" y="2239994"/>
                    </a:lnTo>
                    <a:lnTo>
                      <a:pt x="1057847" y="2239994"/>
                    </a:lnTo>
                    <a:lnTo>
                      <a:pt x="1057847" y="2570950"/>
                    </a:lnTo>
                    <a:lnTo>
                      <a:pt x="1008016" y="2570950"/>
                    </a:lnTo>
                    <a:lnTo>
                      <a:pt x="1008016" y="2239994"/>
                    </a:lnTo>
                    <a:lnTo>
                      <a:pt x="692395" y="2239994"/>
                    </a:lnTo>
                    <a:lnTo>
                      <a:pt x="692395" y="2190847"/>
                    </a:lnTo>
                    <a:lnTo>
                      <a:pt x="667480" y="2190847"/>
                    </a:lnTo>
                    <a:lnTo>
                      <a:pt x="667480" y="2141701"/>
                    </a:lnTo>
                    <a:lnTo>
                      <a:pt x="717310" y="2141701"/>
                    </a:lnTo>
                    <a:lnTo>
                      <a:pt x="717310" y="2190847"/>
                    </a:lnTo>
                    <a:lnTo>
                      <a:pt x="1032932" y="2190847"/>
                    </a:lnTo>
                    <a:lnTo>
                      <a:pt x="1509529" y="2190847"/>
                    </a:lnTo>
                    <a:lnTo>
                      <a:pt x="1509529" y="1570573"/>
                    </a:lnTo>
                    <a:lnTo>
                      <a:pt x="764341" y="1570573"/>
                    </a:lnTo>
                    <a:lnTo>
                      <a:pt x="717310" y="1570573"/>
                    </a:lnTo>
                    <a:lnTo>
                      <a:pt x="717310" y="1854940"/>
                    </a:lnTo>
                    <a:lnTo>
                      <a:pt x="667480" y="1854940"/>
                    </a:lnTo>
                    <a:lnTo>
                      <a:pt x="667480" y="1570573"/>
                    </a:lnTo>
                    <a:lnTo>
                      <a:pt x="93331" y="1570573"/>
                    </a:lnTo>
                    <a:lnTo>
                      <a:pt x="93331" y="4456043"/>
                    </a:lnTo>
                    <a:lnTo>
                      <a:pt x="256458" y="4456043"/>
                    </a:lnTo>
                    <a:lnTo>
                      <a:pt x="1509529" y="4456043"/>
                    </a:lnTo>
                    <a:lnTo>
                      <a:pt x="1509529" y="4271390"/>
                    </a:lnTo>
                    <a:close/>
                    <a:moveTo>
                      <a:pt x="2296757" y="4583881"/>
                    </a:moveTo>
                    <a:lnTo>
                      <a:pt x="2296757" y="4673164"/>
                    </a:lnTo>
                    <a:lnTo>
                      <a:pt x="2464428" y="4673164"/>
                    </a:lnTo>
                    <a:lnTo>
                      <a:pt x="2464428" y="4697514"/>
                    </a:lnTo>
                    <a:lnTo>
                      <a:pt x="2488978" y="4697514"/>
                    </a:lnTo>
                    <a:lnTo>
                      <a:pt x="2488978" y="4703601"/>
                    </a:lnTo>
                    <a:lnTo>
                      <a:pt x="2610674" y="4703601"/>
                    </a:lnTo>
                    <a:lnTo>
                      <a:pt x="2610674" y="4750272"/>
                    </a:lnTo>
                    <a:lnTo>
                      <a:pt x="2610674" y="4796943"/>
                    </a:lnTo>
                    <a:lnTo>
                      <a:pt x="2464428" y="4796943"/>
                    </a:lnTo>
                    <a:lnTo>
                      <a:pt x="2306090" y="4796943"/>
                    </a:lnTo>
                    <a:lnTo>
                      <a:pt x="2306090" y="4750272"/>
                    </a:lnTo>
                    <a:lnTo>
                      <a:pt x="2306090" y="4721864"/>
                    </a:lnTo>
                    <a:lnTo>
                      <a:pt x="2272409" y="4721864"/>
                    </a:lnTo>
                    <a:lnTo>
                      <a:pt x="2272409" y="4697514"/>
                    </a:lnTo>
                    <a:lnTo>
                      <a:pt x="2248062" y="4697514"/>
                    </a:lnTo>
                    <a:lnTo>
                      <a:pt x="2248062" y="4583881"/>
                    </a:lnTo>
                    <a:close/>
                    <a:moveTo>
                      <a:pt x="3535828" y="582370"/>
                    </a:moveTo>
                    <a:lnTo>
                      <a:pt x="3535828" y="533670"/>
                    </a:lnTo>
                    <a:lnTo>
                      <a:pt x="3538466" y="533670"/>
                    </a:lnTo>
                    <a:lnTo>
                      <a:pt x="3538466" y="93342"/>
                    </a:lnTo>
                    <a:lnTo>
                      <a:pt x="3221505" y="93342"/>
                    </a:lnTo>
                    <a:lnTo>
                      <a:pt x="2319075" y="93342"/>
                    </a:lnTo>
                    <a:lnTo>
                      <a:pt x="2319075" y="682611"/>
                    </a:lnTo>
                    <a:lnTo>
                      <a:pt x="2272409" y="682611"/>
                    </a:lnTo>
                    <a:lnTo>
                      <a:pt x="2225663" y="682611"/>
                    </a:lnTo>
                    <a:lnTo>
                      <a:pt x="2225663" y="46671"/>
                    </a:lnTo>
                    <a:lnTo>
                      <a:pt x="2272409" y="46671"/>
                    </a:lnTo>
                    <a:lnTo>
                      <a:pt x="2272409" y="0"/>
                    </a:lnTo>
                    <a:lnTo>
                      <a:pt x="3221505" y="0"/>
                    </a:lnTo>
                    <a:lnTo>
                      <a:pt x="3587161" y="0"/>
                    </a:lnTo>
                    <a:lnTo>
                      <a:pt x="3587161" y="46671"/>
                    </a:lnTo>
                    <a:lnTo>
                      <a:pt x="3635855" y="46671"/>
                    </a:lnTo>
                    <a:lnTo>
                      <a:pt x="3635855" y="558020"/>
                    </a:lnTo>
                    <a:lnTo>
                      <a:pt x="3635855" y="1174886"/>
                    </a:lnTo>
                    <a:lnTo>
                      <a:pt x="3635855" y="1523902"/>
                    </a:lnTo>
                    <a:lnTo>
                      <a:pt x="3635855" y="2497901"/>
                    </a:lnTo>
                    <a:lnTo>
                      <a:pt x="3635855" y="2997075"/>
                    </a:lnTo>
                    <a:lnTo>
                      <a:pt x="3635855" y="4750272"/>
                    </a:lnTo>
                    <a:lnTo>
                      <a:pt x="3587161" y="4750272"/>
                    </a:lnTo>
                    <a:lnTo>
                      <a:pt x="3587161" y="4796943"/>
                    </a:lnTo>
                    <a:lnTo>
                      <a:pt x="3027093" y="4796943"/>
                    </a:lnTo>
                    <a:lnTo>
                      <a:pt x="3027093" y="4750272"/>
                    </a:lnTo>
                    <a:lnTo>
                      <a:pt x="3027093" y="4703601"/>
                    </a:lnTo>
                    <a:lnTo>
                      <a:pt x="3538466" y="4703601"/>
                    </a:lnTo>
                    <a:lnTo>
                      <a:pt x="3538466" y="3021425"/>
                    </a:lnTo>
                    <a:lnTo>
                      <a:pt x="3331433" y="3021425"/>
                    </a:lnTo>
                    <a:lnTo>
                      <a:pt x="3332042" y="3001174"/>
                    </a:lnTo>
                    <a:lnTo>
                      <a:pt x="3333178" y="2972725"/>
                    </a:lnTo>
                    <a:lnTo>
                      <a:pt x="3538466" y="2972725"/>
                    </a:lnTo>
                    <a:lnTo>
                      <a:pt x="3538466" y="2497901"/>
                    </a:lnTo>
                    <a:lnTo>
                      <a:pt x="3538466" y="1548252"/>
                    </a:lnTo>
                    <a:lnTo>
                      <a:pt x="3166197" y="1548252"/>
                    </a:lnTo>
                    <a:lnTo>
                      <a:pt x="3166197" y="1499552"/>
                    </a:lnTo>
                    <a:lnTo>
                      <a:pt x="3166197" y="1499065"/>
                    </a:lnTo>
                    <a:lnTo>
                      <a:pt x="3217245" y="1499065"/>
                    </a:lnTo>
                    <a:lnTo>
                      <a:pt x="3217245" y="1499552"/>
                    </a:lnTo>
                    <a:lnTo>
                      <a:pt x="3538466" y="1499552"/>
                    </a:lnTo>
                    <a:lnTo>
                      <a:pt x="3538466" y="1491435"/>
                    </a:lnTo>
                    <a:lnTo>
                      <a:pt x="3538466" y="1174886"/>
                    </a:lnTo>
                    <a:lnTo>
                      <a:pt x="3538466" y="582370"/>
                    </a:lnTo>
                    <a:close/>
                    <a:moveTo>
                      <a:pt x="2795875" y="2558775"/>
                    </a:moveTo>
                    <a:lnTo>
                      <a:pt x="2795875" y="2530367"/>
                    </a:lnTo>
                    <a:lnTo>
                      <a:pt x="2456231" y="2530367"/>
                    </a:lnTo>
                    <a:lnTo>
                      <a:pt x="2456231" y="2570950"/>
                    </a:lnTo>
                    <a:lnTo>
                      <a:pt x="2431640" y="2570950"/>
                    </a:lnTo>
                    <a:lnTo>
                      <a:pt x="2431640" y="2595300"/>
                    </a:lnTo>
                    <a:lnTo>
                      <a:pt x="2362291" y="2595300"/>
                    </a:lnTo>
                    <a:lnTo>
                      <a:pt x="2361074" y="2546600"/>
                    </a:lnTo>
                    <a:lnTo>
                      <a:pt x="2407050" y="2546600"/>
                    </a:lnTo>
                    <a:lnTo>
                      <a:pt x="2407050" y="2506017"/>
                    </a:lnTo>
                    <a:lnTo>
                      <a:pt x="2431640" y="2506017"/>
                    </a:lnTo>
                    <a:lnTo>
                      <a:pt x="2431640" y="2481667"/>
                    </a:lnTo>
                    <a:lnTo>
                      <a:pt x="2795875" y="2481667"/>
                    </a:lnTo>
                    <a:lnTo>
                      <a:pt x="2795875" y="1548252"/>
                    </a:lnTo>
                    <a:lnTo>
                      <a:pt x="2272409" y="1548252"/>
                    </a:lnTo>
                    <a:lnTo>
                      <a:pt x="2272409" y="1570573"/>
                    </a:lnTo>
                    <a:lnTo>
                      <a:pt x="2052229" y="1570573"/>
                    </a:lnTo>
                    <a:lnTo>
                      <a:pt x="2052229" y="1523902"/>
                    </a:lnTo>
                    <a:lnTo>
                      <a:pt x="2052229" y="1477231"/>
                    </a:lnTo>
                    <a:lnTo>
                      <a:pt x="2225663" y="1477231"/>
                    </a:lnTo>
                    <a:lnTo>
                      <a:pt x="2225663" y="1441112"/>
                    </a:lnTo>
                    <a:lnTo>
                      <a:pt x="2272409" y="1441112"/>
                    </a:lnTo>
                    <a:lnTo>
                      <a:pt x="2319075" y="1441112"/>
                    </a:lnTo>
                    <a:lnTo>
                      <a:pt x="2319075" y="1499552"/>
                    </a:lnTo>
                    <a:lnTo>
                      <a:pt x="2828338" y="1499552"/>
                    </a:lnTo>
                    <a:lnTo>
                      <a:pt x="2828338" y="1523902"/>
                    </a:lnTo>
                    <a:lnTo>
                      <a:pt x="2844570" y="1523902"/>
                    </a:lnTo>
                    <a:lnTo>
                      <a:pt x="2844570" y="2506017"/>
                    </a:lnTo>
                    <a:lnTo>
                      <a:pt x="2844570" y="2558775"/>
                    </a:lnTo>
                    <a:close/>
                    <a:moveTo>
                      <a:pt x="2272409" y="1090878"/>
                    </a:moveTo>
                    <a:lnTo>
                      <a:pt x="2225663" y="1090878"/>
                    </a:lnTo>
                    <a:lnTo>
                      <a:pt x="2225663" y="1174886"/>
                    </a:lnTo>
                    <a:lnTo>
                      <a:pt x="2225663" y="1247936"/>
                    </a:lnTo>
                    <a:lnTo>
                      <a:pt x="2272409" y="1247936"/>
                    </a:lnTo>
                    <a:lnTo>
                      <a:pt x="2319075" y="1247936"/>
                    </a:lnTo>
                    <a:lnTo>
                      <a:pt x="2319075" y="1174886"/>
                    </a:lnTo>
                    <a:lnTo>
                      <a:pt x="2319075" y="109087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墙_Wall_FF_MasterBath_DoorInfill">
                <a:extLst>
                  <a:ext uri="{FF2B5EF4-FFF2-40B4-BE49-F238E27FC236}">
                    <a16:creationId xmlns:a16="http://schemas.microsoft.com/office/drawing/2014/main" id="{D4065AA6-F08C-A92B-989C-F38B0ADEAD7B}"/>
                  </a:ext>
                </a:extLst>
              </p:cNvPr>
              <p:cNvSpPr/>
              <p:nvPr/>
            </p:nvSpPr>
            <p:spPr>
              <a:xfrm>
                <a:off x="2303888" y="5148949"/>
                <a:ext cx="348977" cy="361191"/>
              </a:xfrm>
              <a:custGeom>
                <a:avLst/>
                <a:gdLst/>
                <a:ahLst/>
                <a:cxnLst/>
                <a:rect l="l" t="t" r="r" b="b"/>
                <a:pathLst>
                  <a:path w="348977" h="361191">
                    <a:moveTo>
                      <a:pt x="0" y="48699"/>
                    </a:moveTo>
                    <a:lnTo>
                      <a:pt x="0" y="0"/>
                    </a:lnTo>
                    <a:lnTo>
                      <a:pt x="23535" y="0"/>
                    </a:lnTo>
                    <a:lnTo>
                      <a:pt x="23535" y="48699"/>
                    </a:lnTo>
                    <a:close/>
                    <a:moveTo>
                      <a:pt x="348977" y="333594"/>
                    </a:moveTo>
                    <a:lnTo>
                      <a:pt x="348977" y="361191"/>
                    </a:lnTo>
                    <a:lnTo>
                      <a:pt x="300282" y="361191"/>
                    </a:lnTo>
                    <a:lnTo>
                      <a:pt x="300282" y="33359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墙_Wall_FF_Corridor_NorthEnd_Infill">
                <a:extLst>
                  <a:ext uri="{FF2B5EF4-FFF2-40B4-BE49-F238E27FC236}">
                    <a16:creationId xmlns:a16="http://schemas.microsoft.com/office/drawing/2014/main" id="{6FE94703-347E-5AA9-EBCD-A4BA6C8C610F}"/>
                  </a:ext>
                </a:extLst>
              </p:cNvPr>
              <p:cNvSpPr/>
              <p:nvPr/>
            </p:nvSpPr>
            <p:spPr>
              <a:xfrm>
                <a:off x="1865637" y="3497615"/>
                <a:ext cx="48695" cy="23944"/>
              </a:xfrm>
              <a:custGeom>
                <a:avLst/>
                <a:gdLst/>
                <a:ahLst/>
                <a:cxnLst/>
                <a:rect l="l" t="t" r="r" b="b"/>
                <a:pathLst>
                  <a:path w="48695" h="23944">
                    <a:moveTo>
                      <a:pt x="48695" y="0"/>
                    </a:moveTo>
                    <a:lnTo>
                      <a:pt x="48695" y="23944"/>
                    </a:lnTo>
                    <a:lnTo>
                      <a:pt x="0" y="2394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墙_Wall_FF_Study_North_FlushInfill">
                <a:extLst>
                  <a:ext uri="{FF2B5EF4-FFF2-40B4-BE49-F238E27FC236}">
                    <a16:creationId xmlns:a16="http://schemas.microsoft.com/office/drawing/2014/main" id="{6CBA934C-8B14-5DE7-5288-2C5C4A954CC4}"/>
                  </a:ext>
                </a:extLst>
              </p:cNvPr>
              <p:cNvSpPr/>
              <p:nvPr/>
            </p:nvSpPr>
            <p:spPr>
              <a:xfrm>
                <a:off x="2628517" y="2474511"/>
                <a:ext cx="523466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523466" h="22321">
                    <a:moveTo>
                      <a:pt x="523466" y="0"/>
                    </a:moveTo>
                    <a:lnTo>
                      <a:pt x="523466" y="22321"/>
                    </a:lnTo>
                    <a:lnTo>
                      <a:pt x="0" y="2232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墙_Wall_FF_NarrowWindow_LowerInfill">
                <a:extLst>
                  <a:ext uri="{FF2B5EF4-FFF2-40B4-BE49-F238E27FC236}">
                    <a16:creationId xmlns:a16="http://schemas.microsoft.com/office/drawing/2014/main" id="{5AAA951F-7EA2-9F88-1DFF-E488B9075678}"/>
                  </a:ext>
                </a:extLst>
              </p:cNvPr>
              <p:cNvSpPr/>
              <p:nvPr/>
            </p:nvSpPr>
            <p:spPr>
              <a:xfrm>
                <a:off x="2581852" y="2174195"/>
                <a:ext cx="93331" cy="193176"/>
              </a:xfrm>
              <a:custGeom>
                <a:avLst/>
                <a:gdLst/>
                <a:ahLst/>
                <a:cxnLst/>
                <a:rect l="l" t="t" r="r" b="b"/>
                <a:pathLst>
                  <a:path w="93331" h="193176">
                    <a:moveTo>
                      <a:pt x="93331" y="0"/>
                    </a:moveTo>
                    <a:lnTo>
                      <a:pt x="93331" y="193176"/>
                    </a:lnTo>
                    <a:lnTo>
                      <a:pt x="0" y="19317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" name="墙_V35_Partition_Study_Bath">
                <a:extLst>
                  <a:ext uri="{FF2B5EF4-FFF2-40B4-BE49-F238E27FC236}">
                    <a16:creationId xmlns:a16="http://schemas.microsoft.com/office/drawing/2014/main" id="{D106B129-B0A9-2A70-E4C2-3EE326CDF4EE}"/>
                  </a:ext>
                </a:extLst>
              </p:cNvPr>
              <p:cNvSpPr/>
              <p:nvPr/>
            </p:nvSpPr>
            <p:spPr>
              <a:xfrm>
                <a:off x="2673154" y="1425027"/>
                <a:ext cx="1225478" cy="44642"/>
              </a:xfrm>
              <a:custGeom>
                <a:avLst/>
                <a:gdLst/>
                <a:ahLst/>
                <a:cxnLst/>
                <a:rect l="l" t="t" r="r" b="b"/>
                <a:pathLst>
                  <a:path w="1225478" h="44642">
                    <a:moveTo>
                      <a:pt x="1225478" y="0"/>
                    </a:moveTo>
                    <a:lnTo>
                      <a:pt x="1225478" y="44642"/>
                    </a:lnTo>
                    <a:lnTo>
                      <a:pt x="409845" y="44642"/>
                    </a:lnTo>
                    <a:lnTo>
                      <a:pt x="409845" y="0"/>
                    </a:lnTo>
                    <a:close/>
                    <a:moveTo>
                      <a:pt x="142026" y="0"/>
                    </a:moveTo>
                    <a:lnTo>
                      <a:pt x="142026" y="44642"/>
                    </a:lnTo>
                    <a:lnTo>
                      <a:pt x="0" y="446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" name="墙_V35_DoorLeaf_Bath245">
                <a:extLst>
                  <a:ext uri="{FF2B5EF4-FFF2-40B4-BE49-F238E27FC236}">
                    <a16:creationId xmlns:a16="http://schemas.microsoft.com/office/drawing/2014/main" id="{74B8227F-0476-BA74-FCC2-02FF628D3440}"/>
                  </a:ext>
                </a:extLst>
              </p:cNvPr>
              <p:cNvSpPr/>
              <p:nvPr/>
            </p:nvSpPr>
            <p:spPr>
              <a:xfrm>
                <a:off x="3066768" y="1473727"/>
                <a:ext cx="16231" cy="259733"/>
              </a:xfrm>
              <a:custGeom>
                <a:avLst/>
                <a:gdLst/>
                <a:ahLst/>
                <a:cxnLst/>
                <a:rect l="l" t="t" r="r" b="b"/>
                <a:pathLst>
                  <a:path w="16231" h="259733">
                    <a:moveTo>
                      <a:pt x="16231" y="0"/>
                    </a:moveTo>
                    <a:lnTo>
                      <a:pt x="16231" y="259733"/>
                    </a:lnTo>
                    <a:lnTo>
                      <a:pt x="0" y="25973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墙_Landing_Guard">
                <a:extLst>
                  <a:ext uri="{FF2B5EF4-FFF2-40B4-BE49-F238E27FC236}">
                    <a16:creationId xmlns:a16="http://schemas.microsoft.com/office/drawing/2014/main" id="{0F12960E-200E-E42B-CF0F-19FB66E17FDB}"/>
                  </a:ext>
                </a:extLst>
              </p:cNvPr>
              <p:cNvSpPr/>
              <p:nvPr/>
            </p:nvSpPr>
            <p:spPr>
              <a:xfrm>
                <a:off x="3522508" y="3016257"/>
                <a:ext cx="21263" cy="197437"/>
              </a:xfrm>
              <a:custGeom>
                <a:avLst/>
                <a:gdLst/>
                <a:ahLst/>
                <a:cxnLst/>
                <a:rect l="l" t="t" r="r" b="b"/>
                <a:pathLst>
                  <a:path w="21263" h="197437">
                    <a:moveTo>
                      <a:pt x="18138" y="28895"/>
                    </a:moveTo>
                    <a:lnTo>
                      <a:pt x="14689" y="7508"/>
                    </a:lnTo>
                    <a:lnTo>
                      <a:pt x="10631" y="0"/>
                    </a:lnTo>
                    <a:lnTo>
                      <a:pt x="6573" y="7508"/>
                    </a:lnTo>
                    <a:lnTo>
                      <a:pt x="3124" y="28895"/>
                    </a:lnTo>
                    <a:lnTo>
                      <a:pt x="811" y="60915"/>
                    </a:lnTo>
                    <a:lnTo>
                      <a:pt x="0" y="98698"/>
                    </a:lnTo>
                    <a:lnTo>
                      <a:pt x="811" y="136481"/>
                    </a:lnTo>
                    <a:lnTo>
                      <a:pt x="3124" y="168502"/>
                    </a:lnTo>
                    <a:lnTo>
                      <a:pt x="6573" y="189889"/>
                    </a:lnTo>
                    <a:lnTo>
                      <a:pt x="10631" y="197437"/>
                    </a:lnTo>
                    <a:lnTo>
                      <a:pt x="14689" y="189889"/>
                    </a:lnTo>
                    <a:lnTo>
                      <a:pt x="18138" y="168502"/>
                    </a:lnTo>
                    <a:lnTo>
                      <a:pt x="20451" y="136481"/>
                    </a:lnTo>
                    <a:lnTo>
                      <a:pt x="21263" y="98698"/>
                    </a:lnTo>
                    <a:lnTo>
                      <a:pt x="20451" y="6091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墙_Landing_Baluster.009">
                <a:extLst>
                  <a:ext uri="{FF2B5EF4-FFF2-40B4-BE49-F238E27FC236}">
                    <a16:creationId xmlns:a16="http://schemas.microsoft.com/office/drawing/2014/main" id="{FC76F062-C556-7052-B8F8-1C522EE46B32}"/>
                  </a:ext>
                </a:extLst>
              </p:cNvPr>
              <p:cNvSpPr/>
              <p:nvPr/>
            </p:nvSpPr>
            <p:spPr>
              <a:xfrm>
                <a:off x="3528879" y="3506422"/>
                <a:ext cx="8521" cy="8116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6">
                    <a:moveTo>
                      <a:pt x="7263" y="6939"/>
                    </a:moveTo>
                    <a:lnTo>
                      <a:pt x="5883" y="7832"/>
                    </a:lnTo>
                    <a:lnTo>
                      <a:pt x="4260" y="8116"/>
                    </a:lnTo>
                    <a:lnTo>
                      <a:pt x="2637" y="7832"/>
                    </a:lnTo>
                    <a:lnTo>
                      <a:pt x="1257" y="6939"/>
                    </a:lnTo>
                    <a:lnTo>
                      <a:pt x="324" y="5600"/>
                    </a:lnTo>
                    <a:lnTo>
                      <a:pt x="0" y="4058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8"/>
                    </a:lnTo>
                    <a:lnTo>
                      <a:pt x="8196" y="560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墙_Landing_Baluster.010">
                <a:extLst>
                  <a:ext uri="{FF2B5EF4-FFF2-40B4-BE49-F238E27FC236}">
                    <a16:creationId xmlns:a16="http://schemas.microsoft.com/office/drawing/2014/main" id="{AB2B220B-D5E3-118B-AD32-9B7C25BAA328}"/>
                  </a:ext>
                </a:extLst>
              </p:cNvPr>
              <p:cNvSpPr/>
              <p:nvPr/>
            </p:nvSpPr>
            <p:spPr>
              <a:xfrm>
                <a:off x="3528879" y="3470911"/>
                <a:ext cx="8521" cy="811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7">
                    <a:moveTo>
                      <a:pt x="7263" y="6940"/>
                    </a:moveTo>
                    <a:lnTo>
                      <a:pt x="5883" y="7792"/>
                    </a:lnTo>
                    <a:lnTo>
                      <a:pt x="4260" y="8117"/>
                    </a:lnTo>
                    <a:lnTo>
                      <a:pt x="2637" y="7792"/>
                    </a:lnTo>
                    <a:lnTo>
                      <a:pt x="1257" y="6940"/>
                    </a:lnTo>
                    <a:lnTo>
                      <a:pt x="324" y="5601"/>
                    </a:lnTo>
                    <a:lnTo>
                      <a:pt x="0" y="4059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9"/>
                    </a:lnTo>
                    <a:lnTo>
                      <a:pt x="8196" y="560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墙_Landing_Baluster.011">
                <a:extLst>
                  <a:ext uri="{FF2B5EF4-FFF2-40B4-BE49-F238E27FC236}">
                    <a16:creationId xmlns:a16="http://schemas.microsoft.com/office/drawing/2014/main" id="{3280A4AE-87A8-5BA7-914A-F1E2CDE4CD46}"/>
                  </a:ext>
                </a:extLst>
              </p:cNvPr>
              <p:cNvSpPr/>
              <p:nvPr/>
            </p:nvSpPr>
            <p:spPr>
              <a:xfrm>
                <a:off x="3528879" y="3435401"/>
                <a:ext cx="8521" cy="811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7">
                    <a:moveTo>
                      <a:pt x="7263" y="6940"/>
                    </a:moveTo>
                    <a:lnTo>
                      <a:pt x="5883" y="7792"/>
                    </a:lnTo>
                    <a:lnTo>
                      <a:pt x="4260" y="8117"/>
                    </a:lnTo>
                    <a:lnTo>
                      <a:pt x="2637" y="7792"/>
                    </a:lnTo>
                    <a:lnTo>
                      <a:pt x="1257" y="6940"/>
                    </a:lnTo>
                    <a:lnTo>
                      <a:pt x="324" y="5600"/>
                    </a:lnTo>
                    <a:lnTo>
                      <a:pt x="0" y="4058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8"/>
                    </a:lnTo>
                    <a:lnTo>
                      <a:pt x="8196" y="560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墙_Landing_Baluster.012">
                <a:extLst>
                  <a:ext uri="{FF2B5EF4-FFF2-40B4-BE49-F238E27FC236}">
                    <a16:creationId xmlns:a16="http://schemas.microsoft.com/office/drawing/2014/main" id="{D48B5122-8658-CEE7-DDD5-B243AA759C14}"/>
                  </a:ext>
                </a:extLst>
              </p:cNvPr>
              <p:cNvSpPr/>
              <p:nvPr/>
            </p:nvSpPr>
            <p:spPr>
              <a:xfrm>
                <a:off x="3528879" y="3399809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6981"/>
                    </a:moveTo>
                    <a:lnTo>
                      <a:pt x="5883" y="7874"/>
                    </a:lnTo>
                    <a:lnTo>
                      <a:pt x="4260" y="8198"/>
                    </a:lnTo>
                    <a:lnTo>
                      <a:pt x="2637" y="7874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7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7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墙_Landing_Baluster.013">
                <a:extLst>
                  <a:ext uri="{FF2B5EF4-FFF2-40B4-BE49-F238E27FC236}">
                    <a16:creationId xmlns:a16="http://schemas.microsoft.com/office/drawing/2014/main" id="{50B6F500-57D4-B827-7DD9-10FC08FC6BCC}"/>
                  </a:ext>
                </a:extLst>
              </p:cNvPr>
              <p:cNvSpPr/>
              <p:nvPr/>
            </p:nvSpPr>
            <p:spPr>
              <a:xfrm>
                <a:off x="3528879" y="3363974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6981"/>
                    </a:moveTo>
                    <a:lnTo>
                      <a:pt x="5883" y="7874"/>
                    </a:lnTo>
                    <a:lnTo>
                      <a:pt x="4260" y="8198"/>
                    </a:lnTo>
                    <a:lnTo>
                      <a:pt x="2637" y="7874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7"/>
                    </a:lnTo>
                    <a:lnTo>
                      <a:pt x="1257" y="1177"/>
                    </a:lnTo>
                    <a:lnTo>
                      <a:pt x="2637" y="284"/>
                    </a:lnTo>
                    <a:lnTo>
                      <a:pt x="4260" y="0"/>
                    </a:lnTo>
                    <a:lnTo>
                      <a:pt x="5883" y="284"/>
                    </a:lnTo>
                    <a:lnTo>
                      <a:pt x="7263" y="1177"/>
                    </a:lnTo>
                    <a:lnTo>
                      <a:pt x="8196" y="2517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墙_Landing_Baluster.014">
                <a:extLst>
                  <a:ext uri="{FF2B5EF4-FFF2-40B4-BE49-F238E27FC236}">
                    <a16:creationId xmlns:a16="http://schemas.microsoft.com/office/drawing/2014/main" id="{20D9CF46-D1C9-06BA-5733-504801C88AC0}"/>
                  </a:ext>
                </a:extLst>
              </p:cNvPr>
              <p:cNvSpPr/>
              <p:nvPr/>
            </p:nvSpPr>
            <p:spPr>
              <a:xfrm>
                <a:off x="3528879" y="3328139"/>
                <a:ext cx="8521" cy="815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58">
                    <a:moveTo>
                      <a:pt x="7263" y="6981"/>
                    </a:moveTo>
                    <a:lnTo>
                      <a:pt x="5883" y="7873"/>
                    </a:lnTo>
                    <a:lnTo>
                      <a:pt x="4260" y="8158"/>
                    </a:lnTo>
                    <a:lnTo>
                      <a:pt x="2637" y="7873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284"/>
                    </a:lnTo>
                    <a:lnTo>
                      <a:pt x="4260" y="0"/>
                    </a:lnTo>
                    <a:lnTo>
                      <a:pt x="5883" y="284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墙_Landing_Baluster.015">
                <a:extLst>
                  <a:ext uri="{FF2B5EF4-FFF2-40B4-BE49-F238E27FC236}">
                    <a16:creationId xmlns:a16="http://schemas.microsoft.com/office/drawing/2014/main" id="{4D35CEA2-D85D-5EB4-49CB-62FAECD9C892}"/>
                  </a:ext>
                </a:extLst>
              </p:cNvPr>
              <p:cNvSpPr/>
              <p:nvPr/>
            </p:nvSpPr>
            <p:spPr>
              <a:xfrm>
                <a:off x="3528879" y="3292264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7021"/>
                    </a:moveTo>
                    <a:lnTo>
                      <a:pt x="5883" y="7913"/>
                    </a:lnTo>
                    <a:lnTo>
                      <a:pt x="4260" y="8198"/>
                    </a:lnTo>
                    <a:lnTo>
                      <a:pt x="2637" y="7913"/>
                    </a:lnTo>
                    <a:lnTo>
                      <a:pt x="1257" y="7021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5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5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墙_Landing_Baluster.016">
                <a:extLst>
                  <a:ext uri="{FF2B5EF4-FFF2-40B4-BE49-F238E27FC236}">
                    <a16:creationId xmlns:a16="http://schemas.microsoft.com/office/drawing/2014/main" id="{EBC5A500-DCAB-11F1-B9BF-83F493C6B333}"/>
                  </a:ext>
                </a:extLst>
              </p:cNvPr>
              <p:cNvSpPr/>
              <p:nvPr/>
            </p:nvSpPr>
            <p:spPr>
              <a:xfrm>
                <a:off x="3528879" y="3256429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7021"/>
                    </a:moveTo>
                    <a:lnTo>
                      <a:pt x="5883" y="7873"/>
                    </a:lnTo>
                    <a:lnTo>
                      <a:pt x="4260" y="8198"/>
                    </a:lnTo>
                    <a:lnTo>
                      <a:pt x="2637" y="7873"/>
                    </a:lnTo>
                    <a:lnTo>
                      <a:pt x="1257" y="7021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5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5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墙_Landing_Baluster.017">
                <a:extLst>
                  <a:ext uri="{FF2B5EF4-FFF2-40B4-BE49-F238E27FC236}">
                    <a16:creationId xmlns:a16="http://schemas.microsoft.com/office/drawing/2014/main" id="{FDA16E81-991B-020E-2BEA-D0FFCC95F7F8}"/>
                  </a:ext>
                </a:extLst>
              </p:cNvPr>
              <p:cNvSpPr/>
              <p:nvPr/>
            </p:nvSpPr>
            <p:spPr>
              <a:xfrm>
                <a:off x="3528879" y="3220594"/>
                <a:ext cx="8521" cy="819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7">
                    <a:moveTo>
                      <a:pt x="7263" y="6980"/>
                    </a:moveTo>
                    <a:lnTo>
                      <a:pt x="5883" y="7873"/>
                    </a:lnTo>
                    <a:lnTo>
                      <a:pt x="4260" y="8197"/>
                    </a:lnTo>
                    <a:lnTo>
                      <a:pt x="2637" y="7873"/>
                    </a:lnTo>
                    <a:lnTo>
                      <a:pt x="1257" y="6980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墙_Landing_Baluster.018">
                <a:extLst>
                  <a:ext uri="{FF2B5EF4-FFF2-40B4-BE49-F238E27FC236}">
                    <a16:creationId xmlns:a16="http://schemas.microsoft.com/office/drawing/2014/main" id="{9837DC46-5458-0980-BC4B-FEB40C2EF57E}"/>
                  </a:ext>
                </a:extLst>
              </p:cNvPr>
              <p:cNvSpPr/>
              <p:nvPr/>
            </p:nvSpPr>
            <p:spPr>
              <a:xfrm>
                <a:off x="3528879" y="3184759"/>
                <a:ext cx="8521" cy="819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7">
                    <a:moveTo>
                      <a:pt x="7263" y="6980"/>
                    </a:moveTo>
                    <a:lnTo>
                      <a:pt x="5883" y="7873"/>
                    </a:lnTo>
                    <a:lnTo>
                      <a:pt x="4260" y="8197"/>
                    </a:lnTo>
                    <a:lnTo>
                      <a:pt x="2637" y="7873"/>
                    </a:lnTo>
                    <a:lnTo>
                      <a:pt x="1257" y="6980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墙_Lift_Guide_Duo_-1">
                <a:extLst>
                  <a:ext uri="{FF2B5EF4-FFF2-40B4-BE49-F238E27FC236}">
                    <a16:creationId xmlns:a16="http://schemas.microsoft.com/office/drawing/2014/main" id="{564FDBC6-D875-3E4A-BE94-F34E95887F6D}"/>
                  </a:ext>
                </a:extLst>
              </p:cNvPr>
              <p:cNvSpPr/>
              <p:nvPr/>
            </p:nvSpPr>
            <p:spPr>
              <a:xfrm>
                <a:off x="1418054" y="3333334"/>
                <a:ext cx="24956" cy="56817"/>
              </a:xfrm>
              <a:custGeom>
                <a:avLst/>
                <a:gdLst/>
                <a:ahLst/>
                <a:cxnLst/>
                <a:rect l="l" t="t" r="r" b="b"/>
                <a:pathLst>
                  <a:path w="24956" h="56817">
                    <a:moveTo>
                      <a:pt x="0" y="0"/>
                    </a:moveTo>
                    <a:lnTo>
                      <a:pt x="24956" y="0"/>
                    </a:lnTo>
                    <a:lnTo>
                      <a:pt x="24956" y="56817"/>
                    </a:lnTo>
                    <a:lnTo>
                      <a:pt x="0" y="568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墙_Lift_Guide_Duo_1">
                <a:extLst>
                  <a:ext uri="{FF2B5EF4-FFF2-40B4-BE49-F238E27FC236}">
                    <a16:creationId xmlns:a16="http://schemas.microsoft.com/office/drawing/2014/main" id="{41B18154-8CBF-3D4E-CAD4-36024E7E5524}"/>
                  </a:ext>
                </a:extLst>
              </p:cNvPr>
              <p:cNvSpPr/>
              <p:nvPr/>
            </p:nvSpPr>
            <p:spPr>
              <a:xfrm>
                <a:off x="1817957" y="3333334"/>
                <a:ext cx="24956" cy="56817"/>
              </a:xfrm>
              <a:custGeom>
                <a:avLst/>
                <a:gdLst/>
                <a:ahLst/>
                <a:cxnLst/>
                <a:rect l="l" t="t" r="r" b="b"/>
                <a:pathLst>
                  <a:path w="24956" h="56817">
                    <a:moveTo>
                      <a:pt x="0" y="0"/>
                    </a:moveTo>
                    <a:lnTo>
                      <a:pt x="24956" y="0"/>
                    </a:lnTo>
                    <a:lnTo>
                      <a:pt x="24956" y="56817"/>
                    </a:lnTo>
                    <a:lnTo>
                      <a:pt x="0" y="568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墙_FrameJamb.028">
                <a:extLst>
                  <a:ext uri="{FF2B5EF4-FFF2-40B4-BE49-F238E27FC236}">
                    <a16:creationId xmlns:a16="http://schemas.microsoft.com/office/drawing/2014/main" id="{50AC45B7-5F8C-0778-5E05-59E59BB191ED}"/>
                  </a:ext>
                </a:extLst>
              </p:cNvPr>
              <p:cNvSpPr/>
              <p:nvPr/>
            </p:nvSpPr>
            <p:spPr>
              <a:xfrm>
                <a:off x="2341545" y="3467868"/>
                <a:ext cx="12336" cy="58845"/>
              </a:xfrm>
              <a:custGeom>
                <a:avLst/>
                <a:gdLst/>
                <a:ahLst/>
                <a:cxnLst/>
                <a:rect l="l" t="t" r="r" b="b"/>
                <a:pathLst>
                  <a:path w="12336" h="58845">
                    <a:moveTo>
                      <a:pt x="0" y="0"/>
                    </a:moveTo>
                    <a:lnTo>
                      <a:pt x="12336" y="0"/>
                    </a:lnTo>
                    <a:lnTo>
                      <a:pt x="12336" y="58845"/>
                    </a:lnTo>
                    <a:lnTo>
                      <a:pt x="0" y="58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墙_FrameJamb.029">
                <a:extLst>
                  <a:ext uri="{FF2B5EF4-FFF2-40B4-BE49-F238E27FC236}">
                    <a16:creationId xmlns:a16="http://schemas.microsoft.com/office/drawing/2014/main" id="{A438263E-0007-5606-6BDE-5A90C2873A43}"/>
                  </a:ext>
                </a:extLst>
              </p:cNvPr>
              <p:cNvSpPr/>
              <p:nvPr/>
            </p:nvSpPr>
            <p:spPr>
              <a:xfrm>
                <a:off x="2714220" y="3467868"/>
                <a:ext cx="12295" cy="58845"/>
              </a:xfrm>
              <a:custGeom>
                <a:avLst/>
                <a:gdLst/>
                <a:ahLst/>
                <a:cxnLst/>
                <a:rect l="l" t="t" r="r" b="b"/>
                <a:pathLst>
                  <a:path w="12295" h="58845">
                    <a:moveTo>
                      <a:pt x="0" y="0"/>
                    </a:moveTo>
                    <a:lnTo>
                      <a:pt x="12295" y="0"/>
                    </a:lnTo>
                    <a:lnTo>
                      <a:pt x="12295" y="58845"/>
                    </a:lnTo>
                    <a:lnTo>
                      <a:pt x="0" y="58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墙_DoorLeaf.009">
                <a:extLst>
                  <a:ext uri="{FF2B5EF4-FFF2-40B4-BE49-F238E27FC236}">
                    <a16:creationId xmlns:a16="http://schemas.microsoft.com/office/drawing/2014/main" id="{9C35A2A1-1583-DF5A-9A84-FD36ED700446}"/>
                  </a:ext>
                </a:extLst>
              </p:cNvPr>
              <p:cNvSpPr/>
              <p:nvPr/>
            </p:nvSpPr>
            <p:spPr>
              <a:xfrm>
                <a:off x="2657978" y="3144459"/>
                <a:ext cx="63100" cy="353602"/>
              </a:xfrm>
              <a:custGeom>
                <a:avLst/>
                <a:gdLst/>
                <a:ahLst/>
                <a:cxnLst/>
                <a:rect l="l" t="t" r="r" b="b"/>
                <a:pathLst>
                  <a:path w="63100" h="353602">
                    <a:moveTo>
                      <a:pt x="63059" y="350883"/>
                    </a:moveTo>
                    <a:lnTo>
                      <a:pt x="63100" y="350234"/>
                    </a:lnTo>
                    <a:lnTo>
                      <a:pt x="14080" y="1380"/>
                    </a:lnTo>
                    <a:lnTo>
                      <a:pt x="13878" y="772"/>
                    </a:lnTo>
                    <a:lnTo>
                      <a:pt x="13431" y="285"/>
                    </a:lnTo>
                    <a:lnTo>
                      <a:pt x="12863" y="41"/>
                    </a:lnTo>
                    <a:lnTo>
                      <a:pt x="12214" y="0"/>
                    </a:lnTo>
                    <a:lnTo>
                      <a:pt x="1379" y="1543"/>
                    </a:lnTo>
                    <a:lnTo>
                      <a:pt x="771" y="1746"/>
                    </a:lnTo>
                    <a:lnTo>
                      <a:pt x="324" y="2151"/>
                    </a:lnTo>
                    <a:lnTo>
                      <a:pt x="40" y="2720"/>
                    </a:lnTo>
                    <a:lnTo>
                      <a:pt x="0" y="3369"/>
                    </a:lnTo>
                    <a:lnTo>
                      <a:pt x="48897" y="352223"/>
                    </a:lnTo>
                    <a:lnTo>
                      <a:pt x="49100" y="352831"/>
                    </a:lnTo>
                    <a:lnTo>
                      <a:pt x="49546" y="353278"/>
                    </a:lnTo>
                    <a:lnTo>
                      <a:pt x="50114" y="353562"/>
                    </a:lnTo>
                    <a:lnTo>
                      <a:pt x="50723" y="353602"/>
                    </a:lnTo>
                    <a:lnTo>
                      <a:pt x="61720" y="352060"/>
                    </a:lnTo>
                    <a:lnTo>
                      <a:pt x="62329" y="351857"/>
                    </a:lnTo>
                    <a:lnTo>
                      <a:pt x="62816" y="35145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墙_FrameJamb.048">
                <a:extLst>
                  <a:ext uri="{FF2B5EF4-FFF2-40B4-BE49-F238E27FC236}">
                    <a16:creationId xmlns:a16="http://schemas.microsoft.com/office/drawing/2014/main" id="{61347552-9D9E-D8B2-48AB-D3A17E293165}"/>
                  </a:ext>
                </a:extLst>
              </p:cNvPr>
              <p:cNvSpPr/>
              <p:nvPr/>
            </p:nvSpPr>
            <p:spPr>
              <a:xfrm>
                <a:off x="3271528" y="3893992"/>
                <a:ext cx="12782" cy="58846"/>
              </a:xfrm>
              <a:custGeom>
                <a:avLst/>
                <a:gdLst/>
                <a:ahLst/>
                <a:cxnLst/>
                <a:rect l="l" t="t" r="r" b="b"/>
                <a:pathLst>
                  <a:path w="12782" h="58846">
                    <a:moveTo>
                      <a:pt x="0" y="0"/>
                    </a:moveTo>
                    <a:lnTo>
                      <a:pt x="12782" y="0"/>
                    </a:lnTo>
                    <a:lnTo>
                      <a:pt x="12782" y="58846"/>
                    </a:lnTo>
                    <a:lnTo>
                      <a:pt x="0" y="5884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墙_FrameJamb.049">
                <a:extLst>
                  <a:ext uri="{FF2B5EF4-FFF2-40B4-BE49-F238E27FC236}">
                    <a16:creationId xmlns:a16="http://schemas.microsoft.com/office/drawing/2014/main" id="{8FB9C7B6-262F-8A83-8211-7F96E286D476}"/>
                  </a:ext>
                </a:extLst>
              </p:cNvPr>
              <p:cNvSpPr/>
              <p:nvPr/>
            </p:nvSpPr>
            <p:spPr>
              <a:xfrm>
                <a:off x="3684133" y="3893992"/>
                <a:ext cx="12782" cy="58846"/>
              </a:xfrm>
              <a:custGeom>
                <a:avLst/>
                <a:gdLst/>
                <a:ahLst/>
                <a:cxnLst/>
                <a:rect l="l" t="t" r="r" b="b"/>
                <a:pathLst>
                  <a:path w="12782" h="58846">
                    <a:moveTo>
                      <a:pt x="0" y="0"/>
                    </a:moveTo>
                    <a:lnTo>
                      <a:pt x="12782" y="0"/>
                    </a:lnTo>
                    <a:lnTo>
                      <a:pt x="12782" y="58846"/>
                    </a:lnTo>
                    <a:lnTo>
                      <a:pt x="0" y="5884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墙_PassageJamb_FF">
                <a:extLst>
                  <a:ext uri="{FF2B5EF4-FFF2-40B4-BE49-F238E27FC236}">
                    <a16:creationId xmlns:a16="http://schemas.microsoft.com/office/drawing/2014/main" id="{95BE67ED-2EE8-B999-8A11-AA1B0E2FDFCE}"/>
                  </a:ext>
                </a:extLst>
              </p:cNvPr>
              <p:cNvSpPr/>
              <p:nvPr/>
            </p:nvSpPr>
            <p:spPr>
              <a:xfrm>
                <a:off x="1358078" y="3884455"/>
                <a:ext cx="62289" cy="14610"/>
              </a:xfrm>
              <a:custGeom>
                <a:avLst/>
                <a:gdLst/>
                <a:ahLst/>
                <a:cxnLst/>
                <a:rect l="l" t="t" r="r" b="b"/>
                <a:pathLst>
                  <a:path w="62289" h="14610">
                    <a:moveTo>
                      <a:pt x="0" y="0"/>
                    </a:moveTo>
                    <a:lnTo>
                      <a:pt x="62289" y="0"/>
                    </a:lnTo>
                    <a:lnTo>
                      <a:pt x="62289" y="14610"/>
                    </a:lnTo>
                    <a:lnTo>
                      <a:pt x="0" y="1461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墙_PassageJamb_FF.001">
                <a:extLst>
                  <a:ext uri="{FF2B5EF4-FFF2-40B4-BE49-F238E27FC236}">
                    <a16:creationId xmlns:a16="http://schemas.microsoft.com/office/drawing/2014/main" id="{A2448B4C-2F7B-81CB-6E88-325D4146DA3B}"/>
                  </a:ext>
                </a:extLst>
              </p:cNvPr>
              <p:cNvSpPr/>
              <p:nvPr/>
            </p:nvSpPr>
            <p:spPr>
              <a:xfrm>
                <a:off x="1358078" y="3497290"/>
                <a:ext cx="62289" cy="14610"/>
              </a:xfrm>
              <a:custGeom>
                <a:avLst/>
                <a:gdLst/>
                <a:ahLst/>
                <a:cxnLst/>
                <a:rect l="l" t="t" r="r" b="b"/>
                <a:pathLst>
                  <a:path w="62289" h="14610">
                    <a:moveTo>
                      <a:pt x="0" y="0"/>
                    </a:moveTo>
                    <a:lnTo>
                      <a:pt x="62289" y="0"/>
                    </a:lnTo>
                    <a:lnTo>
                      <a:pt x="62289" y="14610"/>
                    </a:lnTo>
                    <a:lnTo>
                      <a:pt x="0" y="1461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墙_PassageLeaf_FF">
                <a:extLst>
                  <a:ext uri="{FF2B5EF4-FFF2-40B4-BE49-F238E27FC236}">
                    <a16:creationId xmlns:a16="http://schemas.microsoft.com/office/drawing/2014/main" id="{048201CB-B9C3-0E08-C58D-00A51C01A423}"/>
                  </a:ext>
                </a:extLst>
              </p:cNvPr>
              <p:cNvSpPr/>
              <p:nvPr/>
            </p:nvSpPr>
            <p:spPr>
              <a:xfrm>
                <a:off x="1010684" y="3504879"/>
                <a:ext cx="379573" cy="65908"/>
              </a:xfrm>
              <a:custGeom>
                <a:avLst/>
                <a:gdLst/>
                <a:ahLst/>
                <a:cxnLst/>
                <a:rect l="l" t="t" r="r" b="b"/>
                <a:pathLst>
                  <a:path w="379573" h="65908">
                    <a:moveTo>
                      <a:pt x="379573" y="14042"/>
                    </a:moveTo>
                    <a:lnTo>
                      <a:pt x="2029" y="65908"/>
                    </a:lnTo>
                    <a:lnTo>
                      <a:pt x="0" y="51825"/>
                    </a:lnTo>
                    <a:lnTo>
                      <a:pt x="37754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5" name="墙_DoorLeaf.014">
                <a:extLst>
                  <a:ext uri="{FF2B5EF4-FFF2-40B4-BE49-F238E27FC236}">
                    <a16:creationId xmlns:a16="http://schemas.microsoft.com/office/drawing/2014/main" id="{6C07DE54-F5AF-8906-D8D7-C9F9F8D9767C}"/>
                  </a:ext>
                </a:extLst>
              </p:cNvPr>
              <p:cNvSpPr/>
              <p:nvPr/>
            </p:nvSpPr>
            <p:spPr>
              <a:xfrm>
                <a:off x="3621966" y="3922644"/>
                <a:ext cx="69309" cy="381726"/>
              </a:xfrm>
              <a:custGeom>
                <a:avLst/>
                <a:gdLst/>
                <a:ahLst/>
                <a:cxnLst/>
                <a:rect l="l" t="t" r="r" b="b"/>
                <a:pathLst>
                  <a:path w="69309" h="381726">
                    <a:moveTo>
                      <a:pt x="0" y="378966"/>
                    </a:moveTo>
                    <a:lnTo>
                      <a:pt x="0" y="378317"/>
                    </a:lnTo>
                    <a:lnTo>
                      <a:pt x="54579" y="1380"/>
                    </a:lnTo>
                    <a:lnTo>
                      <a:pt x="54781" y="811"/>
                    </a:lnTo>
                    <a:lnTo>
                      <a:pt x="55228" y="324"/>
                    </a:lnTo>
                    <a:lnTo>
                      <a:pt x="55796" y="40"/>
                    </a:lnTo>
                    <a:lnTo>
                      <a:pt x="56405" y="0"/>
                    </a:lnTo>
                    <a:lnTo>
                      <a:pt x="67929" y="1542"/>
                    </a:lnTo>
                    <a:lnTo>
                      <a:pt x="68538" y="1745"/>
                    </a:lnTo>
                    <a:lnTo>
                      <a:pt x="69025" y="2191"/>
                    </a:lnTo>
                    <a:lnTo>
                      <a:pt x="69268" y="2759"/>
                    </a:lnTo>
                    <a:lnTo>
                      <a:pt x="69309" y="3368"/>
                    </a:lnTo>
                    <a:lnTo>
                      <a:pt x="14730" y="380346"/>
                    </a:lnTo>
                    <a:lnTo>
                      <a:pt x="14527" y="380955"/>
                    </a:lnTo>
                    <a:lnTo>
                      <a:pt x="14081" y="381401"/>
                    </a:lnTo>
                    <a:lnTo>
                      <a:pt x="13513" y="381685"/>
                    </a:lnTo>
                    <a:lnTo>
                      <a:pt x="12904" y="381726"/>
                    </a:lnTo>
                    <a:lnTo>
                      <a:pt x="1339" y="380143"/>
                    </a:lnTo>
                    <a:lnTo>
                      <a:pt x="771" y="379940"/>
                    </a:lnTo>
                    <a:lnTo>
                      <a:pt x="284" y="37953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墙_WD_07_10_Study 1 Window_LowerL">
                <a:extLst>
                  <a:ext uri="{FF2B5EF4-FFF2-40B4-BE49-F238E27FC236}">
                    <a16:creationId xmlns:a16="http://schemas.microsoft.com/office/drawing/2014/main" id="{591EB3B5-EFD6-7660-C059-2E9786DFE4DF}"/>
                  </a:ext>
                </a:extLst>
              </p:cNvPr>
              <p:cNvSpPr/>
              <p:nvPr/>
            </p:nvSpPr>
            <p:spPr>
              <a:xfrm>
                <a:off x="2369422" y="2435023"/>
                <a:ext cx="12985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8">
                    <a:moveTo>
                      <a:pt x="12985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墙_WD_07_10_Study 1 Window_LowerR">
                <a:extLst>
                  <a:ext uri="{FF2B5EF4-FFF2-40B4-BE49-F238E27FC236}">
                    <a16:creationId xmlns:a16="http://schemas.microsoft.com/office/drawing/2014/main" id="{B0519F38-3D5F-242A-FBD8-0971BC6C8FED}"/>
                  </a:ext>
                </a:extLst>
              </p:cNvPr>
              <p:cNvSpPr/>
              <p:nvPr/>
            </p:nvSpPr>
            <p:spPr>
              <a:xfrm>
                <a:off x="2021257" y="2435023"/>
                <a:ext cx="12985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8">
                    <a:moveTo>
                      <a:pt x="12985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墙_WD_07_10_Study 1 Window_OuterL">
                <a:extLst>
                  <a:ext uri="{FF2B5EF4-FFF2-40B4-BE49-F238E27FC236}">
                    <a16:creationId xmlns:a16="http://schemas.microsoft.com/office/drawing/2014/main" id="{20189F94-87D1-02E2-F809-8CA75EE3F88B}"/>
                  </a:ext>
                </a:extLst>
              </p:cNvPr>
              <p:cNvSpPr/>
              <p:nvPr/>
            </p:nvSpPr>
            <p:spPr>
              <a:xfrm>
                <a:off x="2382407" y="2435023"/>
                <a:ext cx="22319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8">
                    <a:moveTo>
                      <a:pt x="22319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墙_WD_07_10_Study 1 Window_OuterR">
                <a:extLst>
                  <a:ext uri="{FF2B5EF4-FFF2-40B4-BE49-F238E27FC236}">
                    <a16:creationId xmlns:a16="http://schemas.microsoft.com/office/drawing/2014/main" id="{25928827-797C-291F-FE17-F39E1C7C5BEC}"/>
                  </a:ext>
                </a:extLst>
              </p:cNvPr>
              <p:cNvSpPr/>
              <p:nvPr/>
            </p:nvSpPr>
            <p:spPr>
              <a:xfrm>
                <a:off x="1998938" y="2435023"/>
                <a:ext cx="22319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8">
                    <a:moveTo>
                      <a:pt x="22319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墙_WD_08_11_Study 2 Window_LowerL">
                <a:extLst>
                  <a:ext uri="{FF2B5EF4-FFF2-40B4-BE49-F238E27FC236}">
                    <a16:creationId xmlns:a16="http://schemas.microsoft.com/office/drawing/2014/main" id="{CE3A3607-AA29-9FD6-A5EA-734AAC9970D1}"/>
                  </a:ext>
                </a:extLst>
              </p:cNvPr>
              <p:cNvSpPr/>
              <p:nvPr/>
            </p:nvSpPr>
            <p:spPr>
              <a:xfrm>
                <a:off x="2613503" y="1980693"/>
                <a:ext cx="30434" cy="12987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12987">
                    <a:moveTo>
                      <a:pt x="0" y="12987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1298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墙_WD_08_11_Study 2 Window_LowerR">
                <a:extLst>
                  <a:ext uri="{FF2B5EF4-FFF2-40B4-BE49-F238E27FC236}">
                    <a16:creationId xmlns:a16="http://schemas.microsoft.com/office/drawing/2014/main" id="{F03CBD16-A156-CEE8-03BB-86824C36C006}"/>
                  </a:ext>
                </a:extLst>
              </p:cNvPr>
              <p:cNvSpPr/>
              <p:nvPr/>
            </p:nvSpPr>
            <p:spPr>
              <a:xfrm>
                <a:off x="2613503" y="1632489"/>
                <a:ext cx="30434" cy="12987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12987">
                    <a:moveTo>
                      <a:pt x="0" y="12987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1298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墙_WD_08_11_Study 2 Window_OuterL">
                <a:extLst>
                  <a:ext uri="{FF2B5EF4-FFF2-40B4-BE49-F238E27FC236}">
                    <a16:creationId xmlns:a16="http://schemas.microsoft.com/office/drawing/2014/main" id="{E2723628-ABF1-042F-2A6B-CD59543C163B}"/>
                  </a:ext>
                </a:extLst>
              </p:cNvPr>
              <p:cNvSpPr/>
              <p:nvPr/>
            </p:nvSpPr>
            <p:spPr>
              <a:xfrm>
                <a:off x="2613503" y="1993680"/>
                <a:ext cx="30434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22321">
                    <a:moveTo>
                      <a:pt x="0" y="22321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2232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" name="墙_WD_08_11_Study 2 Window_OuterR">
                <a:extLst>
                  <a:ext uri="{FF2B5EF4-FFF2-40B4-BE49-F238E27FC236}">
                    <a16:creationId xmlns:a16="http://schemas.microsoft.com/office/drawing/2014/main" id="{10E5ABEA-3BA4-49F0-9420-A8F55A34A2EA}"/>
                  </a:ext>
                </a:extLst>
              </p:cNvPr>
              <p:cNvSpPr/>
              <p:nvPr/>
            </p:nvSpPr>
            <p:spPr>
              <a:xfrm>
                <a:off x="2613503" y="1610168"/>
                <a:ext cx="30434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22321">
                    <a:moveTo>
                      <a:pt x="0" y="22321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2232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墙_WD_10_16_Bedroom Window (Clear)_LowerL">
                <a:extLst>
                  <a:ext uri="{FF2B5EF4-FFF2-40B4-BE49-F238E27FC236}">
                    <a16:creationId xmlns:a16="http://schemas.microsoft.com/office/drawing/2014/main" id="{37A3642F-8FE4-75EA-FFD9-7AF985DB95E9}"/>
                  </a:ext>
                </a:extLst>
              </p:cNvPr>
              <p:cNvSpPr/>
              <p:nvPr/>
            </p:nvSpPr>
            <p:spPr>
              <a:xfrm>
                <a:off x="2991900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0" y="0"/>
                    </a:moveTo>
                    <a:lnTo>
                      <a:pt x="12985" y="0"/>
                    </a:lnTo>
                    <a:lnTo>
                      <a:pt x="12985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" name="墙_WD_10_16_Bedroom Window (Clear)_LowerR">
                <a:extLst>
                  <a:ext uri="{FF2B5EF4-FFF2-40B4-BE49-F238E27FC236}">
                    <a16:creationId xmlns:a16="http://schemas.microsoft.com/office/drawing/2014/main" id="{44909E44-6CAA-86FE-FC5F-7A5AADBE1564}"/>
                  </a:ext>
                </a:extLst>
              </p:cNvPr>
              <p:cNvSpPr/>
              <p:nvPr/>
            </p:nvSpPr>
            <p:spPr>
              <a:xfrm>
                <a:off x="3340066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0" y="0"/>
                    </a:moveTo>
                    <a:lnTo>
                      <a:pt x="12985" y="0"/>
                    </a:lnTo>
                    <a:lnTo>
                      <a:pt x="12985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墙_WD_10_16_Bedroom Window (Clear)_OuterL">
                <a:extLst>
                  <a:ext uri="{FF2B5EF4-FFF2-40B4-BE49-F238E27FC236}">
                    <a16:creationId xmlns:a16="http://schemas.microsoft.com/office/drawing/2014/main" id="{F29628AB-BADE-87E1-ED01-75076D39F776}"/>
                  </a:ext>
                </a:extLst>
              </p:cNvPr>
              <p:cNvSpPr/>
              <p:nvPr/>
            </p:nvSpPr>
            <p:spPr>
              <a:xfrm>
                <a:off x="2969582" y="5661394"/>
                <a:ext cx="22318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8" h="30437">
                    <a:moveTo>
                      <a:pt x="0" y="0"/>
                    </a:moveTo>
                    <a:lnTo>
                      <a:pt x="22318" y="0"/>
                    </a:lnTo>
                    <a:lnTo>
                      <a:pt x="22318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" name="墙_WD_10_16_Bedroom Window (Clear)_OuterR">
                <a:extLst>
                  <a:ext uri="{FF2B5EF4-FFF2-40B4-BE49-F238E27FC236}">
                    <a16:creationId xmlns:a16="http://schemas.microsoft.com/office/drawing/2014/main" id="{3686FCC6-081E-5FD7-6462-C52FED4035E8}"/>
                  </a:ext>
                </a:extLst>
              </p:cNvPr>
              <p:cNvSpPr/>
              <p:nvPr/>
            </p:nvSpPr>
            <p:spPr>
              <a:xfrm>
                <a:off x="3353051" y="5661394"/>
                <a:ext cx="22318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8" h="30437">
                    <a:moveTo>
                      <a:pt x="0" y="0"/>
                    </a:moveTo>
                    <a:lnTo>
                      <a:pt x="22318" y="0"/>
                    </a:lnTo>
                    <a:lnTo>
                      <a:pt x="22318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墙_WD_11_17_Bedroom Window (Frosted)_LowerL">
                <a:extLst>
                  <a:ext uri="{FF2B5EF4-FFF2-40B4-BE49-F238E27FC236}">
                    <a16:creationId xmlns:a16="http://schemas.microsoft.com/office/drawing/2014/main" id="{9493DBD5-C5C4-A764-C26B-CFCAD7D835AA}"/>
                  </a:ext>
                </a:extLst>
              </p:cNvPr>
              <p:cNvSpPr/>
              <p:nvPr/>
            </p:nvSpPr>
            <p:spPr>
              <a:xfrm>
                <a:off x="2624216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12985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9" name="墙_WD_11_17_Bedroom Window (Frosted)_LowerR">
                <a:extLst>
                  <a:ext uri="{FF2B5EF4-FFF2-40B4-BE49-F238E27FC236}">
                    <a16:creationId xmlns:a16="http://schemas.microsoft.com/office/drawing/2014/main" id="{5F409CA0-F231-CA73-665A-958DF21040D3}"/>
                  </a:ext>
                </a:extLst>
              </p:cNvPr>
              <p:cNvSpPr/>
              <p:nvPr/>
            </p:nvSpPr>
            <p:spPr>
              <a:xfrm>
                <a:off x="2276051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12985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" name="墙_WD_11_17_Bedroom Window (Frosted)_OuterL">
                <a:extLst>
                  <a:ext uri="{FF2B5EF4-FFF2-40B4-BE49-F238E27FC236}">
                    <a16:creationId xmlns:a16="http://schemas.microsoft.com/office/drawing/2014/main" id="{6DFDFE20-8618-6B48-FF93-B587331D39C4}"/>
                  </a:ext>
                </a:extLst>
              </p:cNvPr>
              <p:cNvSpPr/>
              <p:nvPr/>
            </p:nvSpPr>
            <p:spPr>
              <a:xfrm>
                <a:off x="2637201" y="5661394"/>
                <a:ext cx="22319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7">
                    <a:moveTo>
                      <a:pt x="22319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1" name="墙_WD_11_17_Bedroom Window (Frosted)_OuterR">
                <a:extLst>
                  <a:ext uri="{FF2B5EF4-FFF2-40B4-BE49-F238E27FC236}">
                    <a16:creationId xmlns:a16="http://schemas.microsoft.com/office/drawing/2014/main" id="{29361968-058A-29EB-204E-E23D4FB62547}"/>
                  </a:ext>
                </a:extLst>
              </p:cNvPr>
              <p:cNvSpPr/>
              <p:nvPr/>
            </p:nvSpPr>
            <p:spPr>
              <a:xfrm>
                <a:off x="2253732" y="5661394"/>
                <a:ext cx="22319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7">
                    <a:moveTo>
                      <a:pt x="22319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2" name="墙_Bifold slim jamb">
                <a:extLst>
                  <a:ext uri="{FF2B5EF4-FFF2-40B4-BE49-F238E27FC236}">
                    <a16:creationId xmlns:a16="http://schemas.microsoft.com/office/drawing/2014/main" id="{E3CECA8B-8BD2-A84F-A52D-A1F27A050CBD}"/>
                  </a:ext>
                </a:extLst>
              </p:cNvPr>
              <p:cNvSpPr/>
              <p:nvPr/>
            </p:nvSpPr>
            <p:spPr>
              <a:xfrm>
                <a:off x="2596988" y="4515931"/>
                <a:ext cx="52752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2752" h="12175">
                    <a:moveTo>
                      <a:pt x="406" y="40"/>
                    </a:moveTo>
                    <a:lnTo>
                      <a:pt x="608" y="0"/>
                    </a:lnTo>
                    <a:lnTo>
                      <a:pt x="52143" y="0"/>
                    </a:lnTo>
                    <a:lnTo>
                      <a:pt x="52387" y="40"/>
                    </a:lnTo>
                    <a:lnTo>
                      <a:pt x="52590" y="203"/>
                    </a:lnTo>
                    <a:lnTo>
                      <a:pt x="52712" y="365"/>
                    </a:lnTo>
                    <a:lnTo>
                      <a:pt x="52752" y="608"/>
                    </a:lnTo>
                    <a:lnTo>
                      <a:pt x="52752" y="11566"/>
                    </a:lnTo>
                    <a:lnTo>
                      <a:pt x="52712" y="11809"/>
                    </a:lnTo>
                    <a:lnTo>
                      <a:pt x="52590" y="12012"/>
                    </a:lnTo>
                    <a:lnTo>
                      <a:pt x="52387" y="12134"/>
                    </a:lnTo>
                    <a:lnTo>
                      <a:pt x="52143" y="12175"/>
                    </a:lnTo>
                    <a:lnTo>
                      <a:pt x="608" y="12175"/>
                    </a:lnTo>
                    <a:lnTo>
                      <a:pt x="406" y="12134"/>
                    </a:lnTo>
                    <a:lnTo>
                      <a:pt x="203" y="12012"/>
                    </a:lnTo>
                    <a:lnTo>
                      <a:pt x="40" y="11809"/>
                    </a:lnTo>
                    <a:lnTo>
                      <a:pt x="0" y="11566"/>
                    </a:lnTo>
                    <a:lnTo>
                      <a:pt x="0" y="608"/>
                    </a:lnTo>
                    <a:lnTo>
                      <a:pt x="40" y="365"/>
                    </a:lnTo>
                    <a:lnTo>
                      <a:pt x="203" y="20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墙_Bifold slim jamb.001">
                <a:extLst>
                  <a:ext uri="{FF2B5EF4-FFF2-40B4-BE49-F238E27FC236}">
                    <a16:creationId xmlns:a16="http://schemas.microsoft.com/office/drawing/2014/main" id="{D93DE9E4-AB95-D456-556B-77C3B5038CC8}"/>
                  </a:ext>
                </a:extLst>
              </p:cNvPr>
              <p:cNvSpPr/>
              <p:nvPr/>
            </p:nvSpPr>
            <p:spPr>
              <a:xfrm>
                <a:off x="2596988" y="4097923"/>
                <a:ext cx="52752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2752" h="12175">
                    <a:moveTo>
                      <a:pt x="406" y="40"/>
                    </a:moveTo>
                    <a:lnTo>
                      <a:pt x="608" y="0"/>
                    </a:lnTo>
                    <a:lnTo>
                      <a:pt x="52143" y="0"/>
                    </a:lnTo>
                    <a:lnTo>
                      <a:pt x="52387" y="40"/>
                    </a:lnTo>
                    <a:lnTo>
                      <a:pt x="52590" y="203"/>
                    </a:lnTo>
                    <a:lnTo>
                      <a:pt x="52712" y="365"/>
                    </a:lnTo>
                    <a:lnTo>
                      <a:pt x="52752" y="609"/>
                    </a:lnTo>
                    <a:lnTo>
                      <a:pt x="52752" y="11566"/>
                    </a:lnTo>
                    <a:lnTo>
                      <a:pt x="52712" y="11810"/>
                    </a:lnTo>
                    <a:lnTo>
                      <a:pt x="52590" y="12013"/>
                    </a:lnTo>
                    <a:lnTo>
                      <a:pt x="52387" y="12134"/>
                    </a:lnTo>
                    <a:lnTo>
                      <a:pt x="52143" y="12175"/>
                    </a:lnTo>
                    <a:lnTo>
                      <a:pt x="608" y="12175"/>
                    </a:lnTo>
                    <a:lnTo>
                      <a:pt x="406" y="12134"/>
                    </a:lnTo>
                    <a:lnTo>
                      <a:pt x="203" y="12013"/>
                    </a:lnTo>
                    <a:lnTo>
                      <a:pt x="40" y="11810"/>
                    </a:lnTo>
                    <a:lnTo>
                      <a:pt x="0" y="11566"/>
                    </a:lnTo>
                    <a:lnTo>
                      <a:pt x="0" y="609"/>
                    </a:lnTo>
                    <a:lnTo>
                      <a:pt x="40" y="365"/>
                    </a:lnTo>
                    <a:lnTo>
                      <a:pt x="203" y="20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4" name="墙_Rear215 jamb">
                <a:extLst>
                  <a:ext uri="{FF2B5EF4-FFF2-40B4-BE49-F238E27FC236}">
                    <a16:creationId xmlns:a16="http://schemas.microsoft.com/office/drawing/2014/main" id="{707112ED-273C-161D-D8E0-A9F5B1D9152A}"/>
                  </a:ext>
                </a:extLst>
              </p:cNvPr>
              <p:cNvSpPr/>
              <p:nvPr/>
            </p:nvSpPr>
            <p:spPr>
              <a:xfrm>
                <a:off x="3184649" y="2421834"/>
                <a:ext cx="12174" cy="56816"/>
              </a:xfrm>
              <a:custGeom>
                <a:avLst/>
                <a:gdLst/>
                <a:ahLst/>
                <a:cxnLst/>
                <a:rect l="l" t="t" r="r" b="b"/>
                <a:pathLst>
                  <a:path w="12174" h="56816">
                    <a:moveTo>
                      <a:pt x="1502" y="203"/>
                    </a:moveTo>
                    <a:lnTo>
                      <a:pt x="2435" y="0"/>
                    </a:lnTo>
                    <a:lnTo>
                      <a:pt x="9739" y="0"/>
                    </a:lnTo>
                    <a:lnTo>
                      <a:pt x="10672" y="203"/>
                    </a:lnTo>
                    <a:lnTo>
                      <a:pt x="11443" y="730"/>
                    </a:lnTo>
                    <a:lnTo>
                      <a:pt x="11971" y="1501"/>
                    </a:lnTo>
                    <a:lnTo>
                      <a:pt x="12174" y="2435"/>
                    </a:lnTo>
                    <a:lnTo>
                      <a:pt x="12174" y="54381"/>
                    </a:lnTo>
                    <a:lnTo>
                      <a:pt x="11971" y="55315"/>
                    </a:lnTo>
                    <a:lnTo>
                      <a:pt x="11443" y="56126"/>
                    </a:lnTo>
                    <a:lnTo>
                      <a:pt x="10672" y="56654"/>
                    </a:lnTo>
                    <a:lnTo>
                      <a:pt x="9739" y="56816"/>
                    </a:lnTo>
                    <a:lnTo>
                      <a:pt x="2435" y="56816"/>
                    </a:lnTo>
                    <a:lnTo>
                      <a:pt x="1502" y="56654"/>
                    </a:lnTo>
                    <a:lnTo>
                      <a:pt x="690" y="56126"/>
                    </a:lnTo>
                    <a:lnTo>
                      <a:pt x="162" y="55315"/>
                    </a:lnTo>
                    <a:lnTo>
                      <a:pt x="0" y="54381"/>
                    </a:lnTo>
                    <a:lnTo>
                      <a:pt x="0" y="2435"/>
                    </a:lnTo>
                    <a:lnTo>
                      <a:pt x="162" y="1501"/>
                    </a:lnTo>
                    <a:lnTo>
                      <a:pt x="690" y="73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墙_Rear215 jamb.001">
                <a:extLst>
                  <a:ext uri="{FF2B5EF4-FFF2-40B4-BE49-F238E27FC236}">
                    <a16:creationId xmlns:a16="http://schemas.microsoft.com/office/drawing/2014/main" id="{0598CAED-4677-23A1-A4E5-A5FE2A50932A}"/>
                  </a:ext>
                </a:extLst>
              </p:cNvPr>
              <p:cNvSpPr/>
              <p:nvPr/>
            </p:nvSpPr>
            <p:spPr>
              <a:xfrm>
                <a:off x="3509725" y="2421834"/>
                <a:ext cx="12783" cy="56816"/>
              </a:xfrm>
              <a:custGeom>
                <a:avLst/>
                <a:gdLst/>
                <a:ahLst/>
                <a:cxnLst/>
                <a:rect l="l" t="t" r="r" b="b"/>
                <a:pathLst>
                  <a:path w="12783" h="56816">
                    <a:moveTo>
                      <a:pt x="1502" y="203"/>
                    </a:moveTo>
                    <a:lnTo>
                      <a:pt x="2435" y="0"/>
                    </a:lnTo>
                    <a:lnTo>
                      <a:pt x="10348" y="0"/>
                    </a:lnTo>
                    <a:lnTo>
                      <a:pt x="11281" y="203"/>
                    </a:lnTo>
                    <a:lnTo>
                      <a:pt x="12052" y="730"/>
                    </a:lnTo>
                    <a:lnTo>
                      <a:pt x="12580" y="1501"/>
                    </a:lnTo>
                    <a:lnTo>
                      <a:pt x="12783" y="2435"/>
                    </a:lnTo>
                    <a:lnTo>
                      <a:pt x="12783" y="54381"/>
                    </a:lnTo>
                    <a:lnTo>
                      <a:pt x="12580" y="55315"/>
                    </a:lnTo>
                    <a:lnTo>
                      <a:pt x="12052" y="56126"/>
                    </a:lnTo>
                    <a:lnTo>
                      <a:pt x="11281" y="56654"/>
                    </a:lnTo>
                    <a:lnTo>
                      <a:pt x="10348" y="56816"/>
                    </a:lnTo>
                    <a:lnTo>
                      <a:pt x="2435" y="56816"/>
                    </a:lnTo>
                    <a:lnTo>
                      <a:pt x="1502" y="56654"/>
                    </a:lnTo>
                    <a:lnTo>
                      <a:pt x="731" y="56126"/>
                    </a:lnTo>
                    <a:lnTo>
                      <a:pt x="203" y="55315"/>
                    </a:lnTo>
                    <a:lnTo>
                      <a:pt x="0" y="54381"/>
                    </a:lnTo>
                    <a:lnTo>
                      <a:pt x="0" y="2435"/>
                    </a:lnTo>
                    <a:lnTo>
                      <a:pt x="203" y="1501"/>
                    </a:lnTo>
                    <a:lnTo>
                      <a:pt x="731" y="73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墙_DoorLeaf_Rear215">
                <a:extLst>
                  <a:ext uri="{FF2B5EF4-FFF2-40B4-BE49-F238E27FC236}">
                    <a16:creationId xmlns:a16="http://schemas.microsoft.com/office/drawing/2014/main" id="{4E5F1EAF-A1D2-FB19-98E4-51A8733FBF90}"/>
                  </a:ext>
                </a:extLst>
              </p:cNvPr>
              <p:cNvSpPr/>
              <p:nvPr/>
            </p:nvSpPr>
            <p:spPr>
              <a:xfrm>
                <a:off x="3460057" y="2172612"/>
                <a:ext cx="55390" cy="278158"/>
              </a:xfrm>
              <a:custGeom>
                <a:avLst/>
                <a:gdLst/>
                <a:ahLst/>
                <a:cxnLst/>
                <a:rect l="l" t="t" r="r" b="b"/>
                <a:pathLst>
                  <a:path w="55390" h="278158">
                    <a:moveTo>
                      <a:pt x="55309" y="274708"/>
                    </a:moveTo>
                    <a:lnTo>
                      <a:pt x="55390" y="273450"/>
                    </a:lnTo>
                    <a:lnTo>
                      <a:pt x="14568" y="2759"/>
                    </a:lnTo>
                    <a:lnTo>
                      <a:pt x="14121" y="1542"/>
                    </a:lnTo>
                    <a:lnTo>
                      <a:pt x="13269" y="609"/>
                    </a:lnTo>
                    <a:lnTo>
                      <a:pt x="12133" y="40"/>
                    </a:lnTo>
                    <a:lnTo>
                      <a:pt x="10875" y="0"/>
                    </a:lnTo>
                    <a:lnTo>
                      <a:pt x="2719" y="1096"/>
                    </a:lnTo>
                    <a:lnTo>
                      <a:pt x="1501" y="1501"/>
                    </a:lnTo>
                    <a:lnTo>
                      <a:pt x="568" y="2354"/>
                    </a:lnTo>
                    <a:lnTo>
                      <a:pt x="41" y="3449"/>
                    </a:lnTo>
                    <a:lnTo>
                      <a:pt x="0" y="4748"/>
                    </a:lnTo>
                    <a:lnTo>
                      <a:pt x="41309" y="275398"/>
                    </a:lnTo>
                    <a:lnTo>
                      <a:pt x="41756" y="276615"/>
                    </a:lnTo>
                    <a:lnTo>
                      <a:pt x="42608" y="277549"/>
                    </a:lnTo>
                    <a:lnTo>
                      <a:pt x="43744" y="278117"/>
                    </a:lnTo>
                    <a:lnTo>
                      <a:pt x="45002" y="278158"/>
                    </a:lnTo>
                    <a:lnTo>
                      <a:pt x="52631" y="277102"/>
                    </a:lnTo>
                    <a:lnTo>
                      <a:pt x="53848" y="276697"/>
                    </a:lnTo>
                    <a:lnTo>
                      <a:pt x="54781" y="275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墙_Room199_Jamb">
                <a:extLst>
                  <a:ext uri="{FF2B5EF4-FFF2-40B4-BE49-F238E27FC236}">
                    <a16:creationId xmlns:a16="http://schemas.microsoft.com/office/drawing/2014/main" id="{008EFFD3-7398-E747-9F1B-9FF9B0554E2F}"/>
                  </a:ext>
                </a:extLst>
              </p:cNvPr>
              <p:cNvSpPr/>
              <p:nvPr/>
            </p:nvSpPr>
            <p:spPr>
              <a:xfrm>
                <a:off x="1040793" y="3071166"/>
                <a:ext cx="56810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6810" h="12175">
                    <a:moveTo>
                      <a:pt x="0" y="0"/>
                    </a:moveTo>
                    <a:lnTo>
                      <a:pt x="56810" y="0"/>
                    </a:lnTo>
                    <a:lnTo>
                      <a:pt x="56810" y="12175"/>
                    </a:lnTo>
                    <a:lnTo>
                      <a:pt x="0" y="1217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墙_Room199_Jamb.001">
                <a:extLst>
                  <a:ext uri="{FF2B5EF4-FFF2-40B4-BE49-F238E27FC236}">
                    <a16:creationId xmlns:a16="http://schemas.microsoft.com/office/drawing/2014/main" id="{55A8A80A-CBC6-F300-4DDE-E94AA5F070EB}"/>
                  </a:ext>
                </a:extLst>
              </p:cNvPr>
              <p:cNvSpPr/>
              <p:nvPr/>
            </p:nvSpPr>
            <p:spPr>
              <a:xfrm>
                <a:off x="1040793" y="2799258"/>
                <a:ext cx="56810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6810" h="12175">
                    <a:moveTo>
                      <a:pt x="0" y="0"/>
                    </a:moveTo>
                    <a:lnTo>
                      <a:pt x="56810" y="0"/>
                    </a:lnTo>
                    <a:lnTo>
                      <a:pt x="56810" y="12175"/>
                    </a:lnTo>
                    <a:lnTo>
                      <a:pt x="0" y="1217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9" name="墙_DoorLeaf_Room199">
                <a:extLst>
                  <a:ext uri="{FF2B5EF4-FFF2-40B4-BE49-F238E27FC236}">
                    <a16:creationId xmlns:a16="http://schemas.microsoft.com/office/drawing/2014/main" id="{EC6A3079-8DDB-20F1-94AA-2750F920CB82}"/>
                  </a:ext>
                </a:extLst>
              </p:cNvPr>
              <p:cNvSpPr/>
              <p:nvPr/>
            </p:nvSpPr>
            <p:spPr>
              <a:xfrm>
                <a:off x="784457" y="2786271"/>
                <a:ext cx="265263" cy="51095"/>
              </a:xfrm>
              <a:custGeom>
                <a:avLst/>
                <a:gdLst/>
                <a:ahLst/>
                <a:cxnLst/>
                <a:rect l="l" t="t" r="r" b="b"/>
                <a:pathLst>
                  <a:path w="265263" h="51095">
                    <a:moveTo>
                      <a:pt x="265263" y="14610"/>
                    </a:moveTo>
                    <a:lnTo>
                      <a:pt x="2070" y="51095"/>
                    </a:lnTo>
                    <a:lnTo>
                      <a:pt x="0" y="36485"/>
                    </a:lnTo>
                    <a:lnTo>
                      <a:pt x="26319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墙_WR_Carcass">
                <a:extLst>
                  <a:ext uri="{FF2B5EF4-FFF2-40B4-BE49-F238E27FC236}">
                    <a16:creationId xmlns:a16="http://schemas.microsoft.com/office/drawing/2014/main" id="{9F08FDF2-8D7F-AA06-11AA-B4C47E2235CE}"/>
                  </a:ext>
                </a:extLst>
              </p:cNvPr>
              <p:cNvSpPr/>
              <p:nvPr/>
            </p:nvSpPr>
            <p:spPr>
              <a:xfrm>
                <a:off x="449439" y="4022357"/>
                <a:ext cx="235357" cy="1217498"/>
              </a:xfrm>
              <a:custGeom>
                <a:avLst/>
                <a:gdLst/>
                <a:ahLst/>
                <a:cxnLst/>
                <a:rect l="l" t="t" r="r" b="b"/>
                <a:pathLst>
                  <a:path w="235357" h="1217498">
                    <a:moveTo>
                      <a:pt x="244" y="608992"/>
                    </a:moveTo>
                    <a:lnTo>
                      <a:pt x="0" y="609561"/>
                    </a:lnTo>
                    <a:lnTo>
                      <a:pt x="0" y="1216686"/>
                    </a:lnTo>
                    <a:lnTo>
                      <a:pt x="244" y="1217255"/>
                    </a:lnTo>
                    <a:lnTo>
                      <a:pt x="812" y="1217498"/>
                    </a:lnTo>
                    <a:lnTo>
                      <a:pt x="234545" y="1217498"/>
                    </a:lnTo>
                    <a:lnTo>
                      <a:pt x="235113" y="1217255"/>
                    </a:lnTo>
                    <a:lnTo>
                      <a:pt x="235357" y="1216686"/>
                    </a:lnTo>
                    <a:lnTo>
                      <a:pt x="235357" y="609561"/>
                    </a:lnTo>
                    <a:lnTo>
                      <a:pt x="235113" y="608992"/>
                    </a:lnTo>
                    <a:lnTo>
                      <a:pt x="234545" y="608749"/>
                    </a:lnTo>
                    <a:lnTo>
                      <a:pt x="812" y="608749"/>
                    </a:lnTo>
                    <a:close/>
                    <a:moveTo>
                      <a:pt x="244" y="243"/>
                    </a:moveTo>
                    <a:lnTo>
                      <a:pt x="0" y="811"/>
                    </a:lnTo>
                    <a:lnTo>
                      <a:pt x="0" y="607937"/>
                    </a:lnTo>
                    <a:lnTo>
                      <a:pt x="244" y="608505"/>
                    </a:lnTo>
                    <a:lnTo>
                      <a:pt x="812" y="608749"/>
                    </a:lnTo>
                    <a:lnTo>
                      <a:pt x="234545" y="608749"/>
                    </a:lnTo>
                    <a:lnTo>
                      <a:pt x="235113" y="608505"/>
                    </a:lnTo>
                    <a:lnTo>
                      <a:pt x="235357" y="607937"/>
                    </a:lnTo>
                    <a:lnTo>
                      <a:pt x="235357" y="811"/>
                    </a:lnTo>
                    <a:lnTo>
                      <a:pt x="235113" y="243"/>
                    </a:lnTo>
                    <a:lnTo>
                      <a:pt x="234545" y="0"/>
                    </a:lnTo>
                    <a:lnTo>
                      <a:pt x="812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1" name="墙_WR_Door_L1">
                <a:extLst>
                  <a:ext uri="{FF2B5EF4-FFF2-40B4-BE49-F238E27FC236}">
                    <a16:creationId xmlns:a16="http://schemas.microsoft.com/office/drawing/2014/main" id="{77B18D4A-5E44-E47B-6339-E0F4924957E0}"/>
                  </a:ext>
                </a:extLst>
              </p:cNvPr>
              <p:cNvSpPr/>
              <p:nvPr/>
            </p:nvSpPr>
            <p:spPr>
              <a:xfrm>
                <a:off x="684796" y="4479527"/>
                <a:ext cx="8116" cy="759111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111">
                    <a:moveTo>
                      <a:pt x="7872" y="735410"/>
                    </a:moveTo>
                    <a:lnTo>
                      <a:pt x="7385" y="735572"/>
                    </a:lnTo>
                    <a:lnTo>
                      <a:pt x="7020" y="735816"/>
                    </a:lnTo>
                    <a:lnTo>
                      <a:pt x="6695" y="736181"/>
                    </a:lnTo>
                    <a:lnTo>
                      <a:pt x="6574" y="736546"/>
                    </a:lnTo>
                    <a:lnTo>
                      <a:pt x="6574" y="737033"/>
                    </a:lnTo>
                    <a:lnTo>
                      <a:pt x="6695" y="737398"/>
                    </a:lnTo>
                    <a:lnTo>
                      <a:pt x="7020" y="737764"/>
                    </a:lnTo>
                    <a:lnTo>
                      <a:pt x="7385" y="738007"/>
                    </a:lnTo>
                    <a:lnTo>
                      <a:pt x="7872" y="738170"/>
                    </a:lnTo>
                    <a:lnTo>
                      <a:pt x="7872" y="738170"/>
                    </a:lnTo>
                    <a:lnTo>
                      <a:pt x="8116" y="738413"/>
                    </a:lnTo>
                    <a:lnTo>
                      <a:pt x="8116" y="629447"/>
                    </a:lnTo>
                    <a:lnTo>
                      <a:pt x="7872" y="629690"/>
                    </a:lnTo>
                    <a:lnTo>
                      <a:pt x="7872" y="629690"/>
                    </a:lnTo>
                    <a:lnTo>
                      <a:pt x="7385" y="629853"/>
                    </a:lnTo>
                    <a:lnTo>
                      <a:pt x="7020" y="630096"/>
                    </a:lnTo>
                    <a:lnTo>
                      <a:pt x="6695" y="630462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695" y="631679"/>
                    </a:lnTo>
                    <a:lnTo>
                      <a:pt x="7020" y="632044"/>
                    </a:lnTo>
                    <a:lnTo>
                      <a:pt x="7385" y="632288"/>
                    </a:lnTo>
                    <a:lnTo>
                      <a:pt x="7872" y="632450"/>
                    </a:lnTo>
                    <a:lnTo>
                      <a:pt x="7872" y="632450"/>
                    </a:lnTo>
                    <a:lnTo>
                      <a:pt x="8116" y="632694"/>
                    </a:lnTo>
                    <a:lnTo>
                      <a:pt x="8116" y="735166"/>
                    </a:lnTo>
                    <a:lnTo>
                      <a:pt x="7872" y="735410"/>
                    </a:lnTo>
                    <a:close/>
                    <a:moveTo>
                      <a:pt x="0" y="608993"/>
                    </a:moveTo>
                    <a:lnTo>
                      <a:pt x="243" y="608750"/>
                    </a:lnTo>
                    <a:lnTo>
                      <a:pt x="7872" y="608750"/>
                    </a:lnTo>
                    <a:lnTo>
                      <a:pt x="8116" y="608993"/>
                    </a:lnTo>
                    <a:lnTo>
                      <a:pt x="8116" y="758867"/>
                    </a:lnTo>
                    <a:lnTo>
                      <a:pt x="7872" y="759111"/>
                    </a:lnTo>
                    <a:lnTo>
                      <a:pt x="243" y="759111"/>
                    </a:lnTo>
                    <a:lnTo>
                      <a:pt x="0" y="758867"/>
                    </a:lnTo>
                    <a:close/>
                    <a:moveTo>
                      <a:pt x="7872" y="126661"/>
                    </a:moveTo>
                    <a:lnTo>
                      <a:pt x="7385" y="126823"/>
                    </a:lnTo>
                    <a:lnTo>
                      <a:pt x="7020" y="127067"/>
                    </a:lnTo>
                    <a:lnTo>
                      <a:pt x="6695" y="127432"/>
                    </a:lnTo>
                    <a:lnTo>
                      <a:pt x="6574" y="127797"/>
                    </a:lnTo>
                    <a:lnTo>
                      <a:pt x="6574" y="128284"/>
                    </a:lnTo>
                    <a:lnTo>
                      <a:pt x="6695" y="128649"/>
                    </a:lnTo>
                    <a:lnTo>
                      <a:pt x="7020" y="129015"/>
                    </a:lnTo>
                    <a:lnTo>
                      <a:pt x="7385" y="129258"/>
                    </a:lnTo>
                    <a:lnTo>
                      <a:pt x="7872" y="129420"/>
                    </a:lnTo>
                    <a:lnTo>
                      <a:pt x="7872" y="129420"/>
                    </a:lnTo>
                    <a:lnTo>
                      <a:pt x="8116" y="129664"/>
                    </a:lnTo>
                    <a:lnTo>
                      <a:pt x="8116" y="20698"/>
                    </a:lnTo>
                    <a:lnTo>
                      <a:pt x="7872" y="20941"/>
                    </a:lnTo>
                    <a:lnTo>
                      <a:pt x="7872" y="20941"/>
                    </a:lnTo>
                    <a:lnTo>
                      <a:pt x="7385" y="21104"/>
                    </a:lnTo>
                    <a:lnTo>
                      <a:pt x="7020" y="21347"/>
                    </a:lnTo>
                    <a:lnTo>
                      <a:pt x="6695" y="21712"/>
                    </a:lnTo>
                    <a:lnTo>
                      <a:pt x="6574" y="22078"/>
                    </a:lnTo>
                    <a:lnTo>
                      <a:pt x="6574" y="22565"/>
                    </a:lnTo>
                    <a:lnTo>
                      <a:pt x="6695" y="22930"/>
                    </a:lnTo>
                    <a:lnTo>
                      <a:pt x="7020" y="23295"/>
                    </a:lnTo>
                    <a:lnTo>
                      <a:pt x="7385" y="23539"/>
                    </a:lnTo>
                    <a:lnTo>
                      <a:pt x="7872" y="23701"/>
                    </a:lnTo>
                    <a:lnTo>
                      <a:pt x="7872" y="23701"/>
                    </a:lnTo>
                    <a:lnTo>
                      <a:pt x="8116" y="23945"/>
                    </a:lnTo>
                    <a:lnTo>
                      <a:pt x="8116" y="126417"/>
                    </a:lnTo>
                    <a:lnTo>
                      <a:pt x="7872" y="126661"/>
                    </a:lnTo>
                    <a:close/>
                    <a:moveTo>
                      <a:pt x="0" y="244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150118"/>
                    </a:lnTo>
                    <a:lnTo>
                      <a:pt x="7872" y="150361"/>
                    </a:lnTo>
                    <a:lnTo>
                      <a:pt x="243" y="150361"/>
                    </a:lnTo>
                    <a:lnTo>
                      <a:pt x="0" y="15011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墙_WR_Door_L2">
                <a:extLst>
                  <a:ext uri="{FF2B5EF4-FFF2-40B4-BE49-F238E27FC236}">
                    <a16:creationId xmlns:a16="http://schemas.microsoft.com/office/drawing/2014/main" id="{B7272506-954C-8AE7-A98E-96AE115F1C24}"/>
                  </a:ext>
                </a:extLst>
              </p:cNvPr>
              <p:cNvSpPr/>
              <p:nvPr/>
            </p:nvSpPr>
            <p:spPr>
              <a:xfrm>
                <a:off x="684796" y="4327340"/>
                <a:ext cx="8116" cy="759719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719">
                    <a:moveTo>
                      <a:pt x="7872" y="736018"/>
                    </a:moveTo>
                    <a:lnTo>
                      <a:pt x="7385" y="736181"/>
                    </a:lnTo>
                    <a:lnTo>
                      <a:pt x="7020" y="736424"/>
                    </a:lnTo>
                    <a:lnTo>
                      <a:pt x="6695" y="736789"/>
                    </a:lnTo>
                    <a:lnTo>
                      <a:pt x="6574" y="737155"/>
                    </a:lnTo>
                    <a:lnTo>
                      <a:pt x="6574" y="737642"/>
                    </a:lnTo>
                    <a:lnTo>
                      <a:pt x="6695" y="738007"/>
                    </a:lnTo>
                    <a:lnTo>
                      <a:pt x="7020" y="738372"/>
                    </a:lnTo>
                    <a:lnTo>
                      <a:pt x="7385" y="738616"/>
                    </a:lnTo>
                    <a:lnTo>
                      <a:pt x="7872" y="738778"/>
                    </a:lnTo>
                    <a:lnTo>
                      <a:pt x="7872" y="738778"/>
                    </a:lnTo>
                    <a:lnTo>
                      <a:pt x="8116" y="739022"/>
                    </a:lnTo>
                    <a:lnTo>
                      <a:pt x="8116" y="629447"/>
                    </a:lnTo>
                    <a:lnTo>
                      <a:pt x="7872" y="629690"/>
                    </a:lnTo>
                    <a:lnTo>
                      <a:pt x="7872" y="629690"/>
                    </a:lnTo>
                    <a:lnTo>
                      <a:pt x="7385" y="629853"/>
                    </a:lnTo>
                    <a:lnTo>
                      <a:pt x="7020" y="630096"/>
                    </a:lnTo>
                    <a:lnTo>
                      <a:pt x="6695" y="630461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695" y="631679"/>
                    </a:lnTo>
                    <a:lnTo>
                      <a:pt x="7020" y="632044"/>
                    </a:lnTo>
                    <a:lnTo>
                      <a:pt x="7385" y="632288"/>
                    </a:lnTo>
                    <a:lnTo>
                      <a:pt x="7872" y="632450"/>
                    </a:lnTo>
                    <a:lnTo>
                      <a:pt x="7872" y="632450"/>
                    </a:lnTo>
                    <a:lnTo>
                      <a:pt x="8116" y="632693"/>
                    </a:lnTo>
                    <a:lnTo>
                      <a:pt x="8116" y="735775"/>
                    </a:lnTo>
                    <a:lnTo>
                      <a:pt x="7872" y="736018"/>
                    </a:lnTo>
                    <a:close/>
                    <a:moveTo>
                      <a:pt x="0" y="608993"/>
                    </a:move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3"/>
                    </a:lnTo>
                    <a:lnTo>
                      <a:pt x="8116" y="759476"/>
                    </a:lnTo>
                    <a:lnTo>
                      <a:pt x="7872" y="759719"/>
                    </a:lnTo>
                    <a:lnTo>
                      <a:pt x="243" y="759719"/>
                    </a:lnTo>
                    <a:lnTo>
                      <a:pt x="0" y="759476"/>
                    </a:lnTo>
                    <a:close/>
                    <a:moveTo>
                      <a:pt x="7872" y="127269"/>
                    </a:moveTo>
                    <a:lnTo>
                      <a:pt x="7385" y="127432"/>
                    </a:lnTo>
                    <a:lnTo>
                      <a:pt x="7020" y="127675"/>
                    </a:lnTo>
                    <a:lnTo>
                      <a:pt x="6695" y="128040"/>
                    </a:lnTo>
                    <a:lnTo>
                      <a:pt x="6574" y="128406"/>
                    </a:lnTo>
                    <a:lnTo>
                      <a:pt x="6574" y="128893"/>
                    </a:lnTo>
                    <a:lnTo>
                      <a:pt x="6695" y="129258"/>
                    </a:lnTo>
                    <a:lnTo>
                      <a:pt x="7020" y="129623"/>
                    </a:lnTo>
                    <a:lnTo>
                      <a:pt x="7385" y="129867"/>
                    </a:lnTo>
                    <a:lnTo>
                      <a:pt x="7872" y="130029"/>
                    </a:lnTo>
                    <a:lnTo>
                      <a:pt x="7872" y="130029"/>
                    </a:lnTo>
                    <a:lnTo>
                      <a:pt x="8116" y="130272"/>
                    </a:lnTo>
                    <a:lnTo>
                      <a:pt x="8116" y="20698"/>
                    </a:lnTo>
                    <a:lnTo>
                      <a:pt x="7872" y="20941"/>
                    </a:lnTo>
                    <a:lnTo>
                      <a:pt x="7872" y="20941"/>
                    </a:lnTo>
                    <a:lnTo>
                      <a:pt x="7385" y="21103"/>
                    </a:lnTo>
                    <a:lnTo>
                      <a:pt x="7020" y="21347"/>
                    </a:lnTo>
                    <a:lnTo>
                      <a:pt x="6695" y="21712"/>
                    </a:lnTo>
                    <a:lnTo>
                      <a:pt x="6574" y="22077"/>
                    </a:lnTo>
                    <a:lnTo>
                      <a:pt x="6574" y="22564"/>
                    </a:lnTo>
                    <a:lnTo>
                      <a:pt x="6695" y="22930"/>
                    </a:lnTo>
                    <a:lnTo>
                      <a:pt x="7020" y="23295"/>
                    </a:lnTo>
                    <a:lnTo>
                      <a:pt x="7385" y="23538"/>
                    </a:lnTo>
                    <a:lnTo>
                      <a:pt x="7872" y="23701"/>
                    </a:lnTo>
                    <a:lnTo>
                      <a:pt x="7872" y="23701"/>
                    </a:lnTo>
                    <a:lnTo>
                      <a:pt x="8116" y="23944"/>
                    </a:lnTo>
                    <a:lnTo>
                      <a:pt x="8116" y="127026"/>
                    </a:lnTo>
                    <a:lnTo>
                      <a:pt x="7872" y="127269"/>
                    </a:lnTo>
                    <a:close/>
                    <a:moveTo>
                      <a:pt x="0" y="244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150726"/>
                    </a:lnTo>
                    <a:lnTo>
                      <a:pt x="7872" y="150970"/>
                    </a:lnTo>
                    <a:lnTo>
                      <a:pt x="243" y="150970"/>
                    </a:lnTo>
                    <a:lnTo>
                      <a:pt x="0" y="15072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3" name="墙_WR_Door_R1">
                <a:extLst>
                  <a:ext uri="{FF2B5EF4-FFF2-40B4-BE49-F238E27FC236}">
                    <a16:creationId xmlns:a16="http://schemas.microsoft.com/office/drawing/2014/main" id="{3B47E218-2946-B5BE-8EC9-0A82724E2852}"/>
                  </a:ext>
                </a:extLst>
              </p:cNvPr>
              <p:cNvSpPr/>
              <p:nvPr/>
            </p:nvSpPr>
            <p:spPr>
              <a:xfrm>
                <a:off x="684796" y="4175153"/>
                <a:ext cx="8116" cy="759719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719">
                    <a:moveTo>
                      <a:pt x="7872" y="735856"/>
                    </a:moveTo>
                    <a:lnTo>
                      <a:pt x="7426" y="736018"/>
                    </a:lnTo>
                    <a:lnTo>
                      <a:pt x="7020" y="736302"/>
                    </a:lnTo>
                    <a:lnTo>
                      <a:pt x="6736" y="736667"/>
                    </a:lnTo>
                    <a:lnTo>
                      <a:pt x="6574" y="737154"/>
                    </a:lnTo>
                    <a:lnTo>
                      <a:pt x="6574" y="737641"/>
                    </a:lnTo>
                    <a:lnTo>
                      <a:pt x="6736" y="738128"/>
                    </a:lnTo>
                    <a:lnTo>
                      <a:pt x="7020" y="738494"/>
                    </a:lnTo>
                    <a:lnTo>
                      <a:pt x="7426" y="738778"/>
                    </a:lnTo>
                    <a:lnTo>
                      <a:pt x="7872" y="738940"/>
                    </a:lnTo>
                    <a:lnTo>
                      <a:pt x="7872" y="738940"/>
                    </a:lnTo>
                    <a:lnTo>
                      <a:pt x="8116" y="739184"/>
                    </a:lnTo>
                    <a:lnTo>
                      <a:pt x="8116" y="629284"/>
                    </a:lnTo>
                    <a:lnTo>
                      <a:pt x="7872" y="629528"/>
                    </a:lnTo>
                    <a:lnTo>
                      <a:pt x="7872" y="629528"/>
                    </a:lnTo>
                    <a:lnTo>
                      <a:pt x="7426" y="629690"/>
                    </a:lnTo>
                    <a:lnTo>
                      <a:pt x="7020" y="629974"/>
                    </a:lnTo>
                    <a:lnTo>
                      <a:pt x="6736" y="630339"/>
                    </a:lnTo>
                    <a:lnTo>
                      <a:pt x="6574" y="630826"/>
                    </a:lnTo>
                    <a:lnTo>
                      <a:pt x="6574" y="631313"/>
                    </a:lnTo>
                    <a:lnTo>
                      <a:pt x="6736" y="631800"/>
                    </a:lnTo>
                    <a:lnTo>
                      <a:pt x="7020" y="632166"/>
                    </a:lnTo>
                    <a:lnTo>
                      <a:pt x="7426" y="632450"/>
                    </a:lnTo>
                    <a:lnTo>
                      <a:pt x="7872" y="632612"/>
                    </a:lnTo>
                    <a:lnTo>
                      <a:pt x="7872" y="632612"/>
                    </a:lnTo>
                    <a:lnTo>
                      <a:pt x="8116" y="632855"/>
                    </a:lnTo>
                    <a:lnTo>
                      <a:pt x="8116" y="735612"/>
                    </a:lnTo>
                    <a:lnTo>
                      <a:pt x="7872" y="735856"/>
                    </a:lnTo>
                    <a:close/>
                    <a:moveTo>
                      <a:pt x="0" y="608992"/>
                    </a:move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2"/>
                    </a:lnTo>
                    <a:lnTo>
                      <a:pt x="8116" y="759475"/>
                    </a:lnTo>
                    <a:lnTo>
                      <a:pt x="7872" y="759719"/>
                    </a:lnTo>
                    <a:lnTo>
                      <a:pt x="243" y="759719"/>
                    </a:lnTo>
                    <a:lnTo>
                      <a:pt x="0" y="759475"/>
                    </a:lnTo>
                    <a:close/>
                    <a:moveTo>
                      <a:pt x="7872" y="127107"/>
                    </a:moveTo>
                    <a:lnTo>
                      <a:pt x="7426" y="127269"/>
                    </a:lnTo>
                    <a:lnTo>
                      <a:pt x="7020" y="127553"/>
                    </a:lnTo>
                    <a:lnTo>
                      <a:pt x="6736" y="127918"/>
                    </a:lnTo>
                    <a:lnTo>
                      <a:pt x="6574" y="128405"/>
                    </a:lnTo>
                    <a:lnTo>
                      <a:pt x="6574" y="128892"/>
                    </a:lnTo>
                    <a:lnTo>
                      <a:pt x="6736" y="129379"/>
                    </a:lnTo>
                    <a:lnTo>
                      <a:pt x="7020" y="129745"/>
                    </a:lnTo>
                    <a:lnTo>
                      <a:pt x="7426" y="130029"/>
                    </a:lnTo>
                    <a:lnTo>
                      <a:pt x="7872" y="130191"/>
                    </a:lnTo>
                    <a:lnTo>
                      <a:pt x="7872" y="130191"/>
                    </a:lnTo>
                    <a:lnTo>
                      <a:pt x="8116" y="130434"/>
                    </a:lnTo>
                    <a:lnTo>
                      <a:pt x="8116" y="20535"/>
                    </a:lnTo>
                    <a:lnTo>
                      <a:pt x="7872" y="20778"/>
                    </a:lnTo>
                    <a:lnTo>
                      <a:pt x="7872" y="20778"/>
                    </a:lnTo>
                    <a:lnTo>
                      <a:pt x="7426" y="20941"/>
                    </a:lnTo>
                    <a:lnTo>
                      <a:pt x="7020" y="21225"/>
                    </a:lnTo>
                    <a:lnTo>
                      <a:pt x="6736" y="21590"/>
                    </a:lnTo>
                    <a:lnTo>
                      <a:pt x="6574" y="22077"/>
                    </a:lnTo>
                    <a:lnTo>
                      <a:pt x="6574" y="22564"/>
                    </a:lnTo>
                    <a:lnTo>
                      <a:pt x="6736" y="23051"/>
                    </a:lnTo>
                    <a:lnTo>
                      <a:pt x="7020" y="23416"/>
                    </a:lnTo>
                    <a:lnTo>
                      <a:pt x="7426" y="23700"/>
                    </a:lnTo>
                    <a:lnTo>
                      <a:pt x="7872" y="23863"/>
                    </a:lnTo>
                    <a:lnTo>
                      <a:pt x="7872" y="23863"/>
                    </a:lnTo>
                    <a:lnTo>
                      <a:pt x="8116" y="24106"/>
                    </a:lnTo>
                    <a:lnTo>
                      <a:pt x="8116" y="126863"/>
                    </a:lnTo>
                    <a:lnTo>
                      <a:pt x="7872" y="127107"/>
                    </a:lnTo>
                    <a:close/>
                    <a:moveTo>
                      <a:pt x="0" y="243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3"/>
                    </a:lnTo>
                    <a:lnTo>
                      <a:pt x="8116" y="150726"/>
                    </a:lnTo>
                    <a:lnTo>
                      <a:pt x="7872" y="150970"/>
                    </a:lnTo>
                    <a:lnTo>
                      <a:pt x="243" y="150970"/>
                    </a:lnTo>
                    <a:lnTo>
                      <a:pt x="0" y="15072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4" name="墙_WR_Door_R2">
                <a:extLst>
                  <a:ext uri="{FF2B5EF4-FFF2-40B4-BE49-F238E27FC236}">
                    <a16:creationId xmlns:a16="http://schemas.microsoft.com/office/drawing/2014/main" id="{5A91B1BD-0427-302F-9F91-EDAAAF7F67AC}"/>
                  </a:ext>
                </a:extLst>
              </p:cNvPr>
              <p:cNvSpPr/>
              <p:nvPr/>
            </p:nvSpPr>
            <p:spPr>
              <a:xfrm>
                <a:off x="684796" y="4023574"/>
                <a:ext cx="8116" cy="759110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110">
                    <a:moveTo>
                      <a:pt x="7872" y="735247"/>
                    </a:moveTo>
                    <a:lnTo>
                      <a:pt x="7426" y="735410"/>
                    </a:lnTo>
                    <a:lnTo>
                      <a:pt x="7020" y="735694"/>
                    </a:lnTo>
                    <a:lnTo>
                      <a:pt x="6736" y="736059"/>
                    </a:lnTo>
                    <a:lnTo>
                      <a:pt x="6574" y="736546"/>
                    </a:lnTo>
                    <a:lnTo>
                      <a:pt x="6574" y="737033"/>
                    </a:lnTo>
                    <a:lnTo>
                      <a:pt x="6736" y="737520"/>
                    </a:lnTo>
                    <a:lnTo>
                      <a:pt x="7020" y="737885"/>
                    </a:lnTo>
                    <a:lnTo>
                      <a:pt x="7426" y="738169"/>
                    </a:lnTo>
                    <a:lnTo>
                      <a:pt x="7872" y="738332"/>
                    </a:lnTo>
                    <a:lnTo>
                      <a:pt x="7872" y="738332"/>
                    </a:lnTo>
                    <a:lnTo>
                      <a:pt x="8116" y="738575"/>
                    </a:lnTo>
                    <a:lnTo>
                      <a:pt x="8116" y="758867"/>
                    </a:lnTo>
                    <a:lnTo>
                      <a:pt x="7872" y="759110"/>
                    </a:lnTo>
                    <a:lnTo>
                      <a:pt x="243" y="759110"/>
                    </a:lnTo>
                    <a:lnTo>
                      <a:pt x="0" y="758867"/>
                    </a:lnTo>
                    <a:lnTo>
                      <a:pt x="0" y="608993"/>
                    </a:ln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3"/>
                    </a:lnTo>
                    <a:lnTo>
                      <a:pt x="8116" y="629285"/>
                    </a:lnTo>
                    <a:lnTo>
                      <a:pt x="7872" y="629528"/>
                    </a:lnTo>
                    <a:lnTo>
                      <a:pt x="7872" y="629528"/>
                    </a:lnTo>
                    <a:lnTo>
                      <a:pt x="7426" y="629690"/>
                    </a:lnTo>
                    <a:lnTo>
                      <a:pt x="7020" y="629974"/>
                    </a:lnTo>
                    <a:lnTo>
                      <a:pt x="6736" y="630340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736" y="631801"/>
                    </a:lnTo>
                    <a:lnTo>
                      <a:pt x="7020" y="632166"/>
                    </a:lnTo>
                    <a:lnTo>
                      <a:pt x="7426" y="632450"/>
                    </a:lnTo>
                    <a:lnTo>
                      <a:pt x="7872" y="632612"/>
                    </a:lnTo>
                    <a:lnTo>
                      <a:pt x="7872" y="632612"/>
                    </a:lnTo>
                    <a:lnTo>
                      <a:pt x="8116" y="632856"/>
                    </a:lnTo>
                    <a:lnTo>
                      <a:pt x="8116" y="735004"/>
                    </a:lnTo>
                    <a:lnTo>
                      <a:pt x="7872" y="735247"/>
                    </a:lnTo>
                    <a:close/>
                    <a:moveTo>
                      <a:pt x="7872" y="126498"/>
                    </a:moveTo>
                    <a:lnTo>
                      <a:pt x="7426" y="126661"/>
                    </a:lnTo>
                    <a:lnTo>
                      <a:pt x="7020" y="126945"/>
                    </a:lnTo>
                    <a:lnTo>
                      <a:pt x="6736" y="127310"/>
                    </a:lnTo>
                    <a:lnTo>
                      <a:pt x="6574" y="127797"/>
                    </a:lnTo>
                    <a:lnTo>
                      <a:pt x="6574" y="128284"/>
                    </a:lnTo>
                    <a:lnTo>
                      <a:pt x="6736" y="128771"/>
                    </a:lnTo>
                    <a:lnTo>
                      <a:pt x="7020" y="129136"/>
                    </a:lnTo>
                    <a:lnTo>
                      <a:pt x="7426" y="129420"/>
                    </a:lnTo>
                    <a:lnTo>
                      <a:pt x="7872" y="129583"/>
                    </a:lnTo>
                    <a:lnTo>
                      <a:pt x="7872" y="129583"/>
                    </a:lnTo>
                    <a:lnTo>
                      <a:pt x="8116" y="129826"/>
                    </a:lnTo>
                    <a:lnTo>
                      <a:pt x="8116" y="150118"/>
                    </a:lnTo>
                    <a:lnTo>
                      <a:pt x="7872" y="150361"/>
                    </a:lnTo>
                    <a:lnTo>
                      <a:pt x="243" y="150361"/>
                    </a:lnTo>
                    <a:lnTo>
                      <a:pt x="0" y="150118"/>
                    </a:lnTo>
                    <a:lnTo>
                      <a:pt x="0" y="244"/>
                    </a:ln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20535"/>
                    </a:lnTo>
                    <a:lnTo>
                      <a:pt x="7872" y="20779"/>
                    </a:lnTo>
                    <a:lnTo>
                      <a:pt x="7872" y="20779"/>
                    </a:lnTo>
                    <a:lnTo>
                      <a:pt x="7426" y="20941"/>
                    </a:lnTo>
                    <a:lnTo>
                      <a:pt x="7020" y="21225"/>
                    </a:lnTo>
                    <a:lnTo>
                      <a:pt x="6736" y="21591"/>
                    </a:lnTo>
                    <a:lnTo>
                      <a:pt x="6574" y="22078"/>
                    </a:lnTo>
                    <a:lnTo>
                      <a:pt x="6574" y="22565"/>
                    </a:lnTo>
                    <a:lnTo>
                      <a:pt x="6736" y="23052"/>
                    </a:lnTo>
                    <a:lnTo>
                      <a:pt x="7020" y="23417"/>
                    </a:lnTo>
                    <a:lnTo>
                      <a:pt x="7426" y="23701"/>
                    </a:lnTo>
                    <a:lnTo>
                      <a:pt x="7872" y="23863"/>
                    </a:lnTo>
                    <a:lnTo>
                      <a:pt x="7872" y="23863"/>
                    </a:lnTo>
                    <a:lnTo>
                      <a:pt x="8116" y="24107"/>
                    </a:lnTo>
                    <a:lnTo>
                      <a:pt x="8116" y="126255"/>
                    </a:lnTo>
                    <a:lnTo>
                      <a:pt x="7872" y="1264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205" name="房间名（沿用施工图）">
              <a:extLst>
                <a:ext uri="{FF2B5EF4-FFF2-40B4-BE49-F238E27FC236}">
                  <a16:creationId xmlns:a16="http://schemas.microsoft.com/office/drawing/2014/main" id="{D1738153-8C4A-8113-61DF-94565F8B3F32}"/>
                </a:ext>
              </a:extLst>
            </p:cNvPr>
            <p:cNvGrpSpPr/>
            <p:nvPr/>
          </p:nvGrpSpPr>
          <p:grpSpPr>
            <a:xfrm>
              <a:off x="1023096" y="1776807"/>
              <a:ext cx="2852368" cy="3609507"/>
              <a:chOff x="1023096" y="1776807"/>
              <a:chExt cx="2852368" cy="3609507"/>
            </a:xfrm>
          </p:grpSpPr>
          <p:sp>
            <p:nvSpPr>
              <p:cNvPr id="206" name="TextBox 205">
                <a:extLst>
                  <a:ext uri="{FF2B5EF4-FFF2-40B4-BE49-F238E27FC236}">
                    <a16:creationId xmlns:a16="http://schemas.microsoft.com/office/drawing/2014/main" id="{884533F9-0A93-A468-ED5E-1B24646D5FE7}"/>
                  </a:ext>
                </a:extLst>
              </p:cNvPr>
              <p:cNvSpPr txBox="1"/>
              <p:nvPr/>
            </p:nvSpPr>
            <p:spPr>
              <a:xfrm rot="16200000">
                <a:off x="1397825" y="2723710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07" name="TextBox 206">
                <a:extLst>
                  <a:ext uri="{FF2B5EF4-FFF2-40B4-BE49-F238E27FC236}">
                    <a16:creationId xmlns:a16="http://schemas.microsoft.com/office/drawing/2014/main" id="{9D13E5C1-1AD8-8D35-C036-9BD48014EC07}"/>
                  </a:ext>
                </a:extLst>
              </p:cNvPr>
              <p:cNvSpPr txBox="1"/>
              <p:nvPr/>
            </p:nvSpPr>
            <p:spPr>
              <a:xfrm rot="16200000">
                <a:off x="1554812" y="3422893"/>
                <a:ext cx="205184" cy="123111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lang="zh-CN" altLang="en-US" sz="801" b="0" dirty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电梯</a:t>
                </a:r>
                <a:endParaRPr sz="801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208" name="TextBox 207">
                <a:extLst>
                  <a:ext uri="{FF2B5EF4-FFF2-40B4-BE49-F238E27FC236}">
                    <a16:creationId xmlns:a16="http://schemas.microsoft.com/office/drawing/2014/main" id="{19648BD0-9FB4-0DE1-DE15-F1303EB4671C}"/>
                  </a:ext>
                </a:extLst>
              </p:cNvPr>
              <p:cNvSpPr txBox="1"/>
              <p:nvPr/>
            </p:nvSpPr>
            <p:spPr>
              <a:xfrm rot="16200000">
                <a:off x="2148144" y="4779155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09" name="TextBox 208">
                <a:extLst>
                  <a:ext uri="{FF2B5EF4-FFF2-40B4-BE49-F238E27FC236}">
                    <a16:creationId xmlns:a16="http://schemas.microsoft.com/office/drawing/2014/main" id="{BC4C0928-225E-06B5-A7E3-864CF1A86834}"/>
                  </a:ext>
                </a:extLst>
              </p:cNvPr>
              <p:cNvSpPr txBox="1"/>
              <p:nvPr/>
            </p:nvSpPr>
            <p:spPr>
              <a:xfrm rot="16200000">
                <a:off x="3427795" y="3101350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楼梯</a:t>
                </a:r>
              </a:p>
            </p:txBody>
          </p:sp>
          <p:sp>
            <p:nvSpPr>
              <p:cNvPr id="210" name="TextBox 209">
                <a:extLst>
                  <a:ext uri="{FF2B5EF4-FFF2-40B4-BE49-F238E27FC236}">
                    <a16:creationId xmlns:a16="http://schemas.microsoft.com/office/drawing/2014/main" id="{AF153BF8-E5B6-7393-0FAC-BEEECAC2B357}"/>
                  </a:ext>
                </a:extLst>
              </p:cNvPr>
              <p:cNvSpPr txBox="1"/>
              <p:nvPr/>
            </p:nvSpPr>
            <p:spPr>
              <a:xfrm rot="16200000">
                <a:off x="2407563" y="3053585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3</a:t>
                </a:r>
              </a:p>
            </p:txBody>
          </p:sp>
          <p:sp>
            <p:nvSpPr>
              <p:cNvPr id="211" name="TextBox 210">
                <a:extLst>
                  <a:ext uri="{FF2B5EF4-FFF2-40B4-BE49-F238E27FC236}">
                    <a16:creationId xmlns:a16="http://schemas.microsoft.com/office/drawing/2014/main" id="{3A7BDC2A-C873-485F-5B46-686E50E3C720}"/>
                  </a:ext>
                </a:extLst>
              </p:cNvPr>
              <p:cNvSpPr txBox="1"/>
              <p:nvPr/>
            </p:nvSpPr>
            <p:spPr>
              <a:xfrm rot="16200000">
                <a:off x="2471315" y="3595029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走廊</a:t>
                </a:r>
              </a:p>
            </p:txBody>
          </p:sp>
          <p:sp>
            <p:nvSpPr>
              <p:cNvPr id="212" name="TextBox 211">
                <a:extLst>
                  <a:ext uri="{FF2B5EF4-FFF2-40B4-BE49-F238E27FC236}">
                    <a16:creationId xmlns:a16="http://schemas.microsoft.com/office/drawing/2014/main" id="{928E4D91-DBD8-1323-9359-0723EC626DD0}"/>
                  </a:ext>
                </a:extLst>
              </p:cNvPr>
              <p:cNvSpPr txBox="1"/>
              <p:nvPr/>
            </p:nvSpPr>
            <p:spPr>
              <a:xfrm rot="16200000">
                <a:off x="1023096" y="4053428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主卧</a:t>
                </a:r>
              </a:p>
            </p:txBody>
          </p:sp>
          <p:sp>
            <p:nvSpPr>
              <p:cNvPr id="213" name="TextBox 212">
                <a:extLst>
                  <a:ext uri="{FF2B5EF4-FFF2-40B4-BE49-F238E27FC236}">
                    <a16:creationId xmlns:a16="http://schemas.microsoft.com/office/drawing/2014/main" id="{3C74AF60-6656-B738-C6C0-E6AEEAC8D916}"/>
                  </a:ext>
                </a:extLst>
              </p:cNvPr>
              <p:cNvSpPr txBox="1"/>
              <p:nvPr/>
            </p:nvSpPr>
            <p:spPr>
              <a:xfrm rot="16200000">
                <a:off x="3130877" y="4653573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2</a:t>
                </a:r>
              </a:p>
            </p:txBody>
          </p:sp>
          <p:sp>
            <p:nvSpPr>
              <p:cNvPr id="214" name="TextBox 213">
                <a:extLst>
                  <a:ext uri="{FF2B5EF4-FFF2-40B4-BE49-F238E27FC236}">
                    <a16:creationId xmlns:a16="http://schemas.microsoft.com/office/drawing/2014/main" id="{E39EBB9E-2E0A-33BE-F9C2-8B321C726230}"/>
                  </a:ext>
                </a:extLst>
              </p:cNvPr>
              <p:cNvSpPr txBox="1"/>
              <p:nvPr/>
            </p:nvSpPr>
            <p:spPr>
              <a:xfrm rot="16200000">
                <a:off x="2148143" y="4165248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衣帽间</a:t>
                </a:r>
              </a:p>
            </p:txBody>
          </p:sp>
          <p:sp>
            <p:nvSpPr>
              <p:cNvPr id="215" name="TextBox 214">
                <a:extLst>
                  <a:ext uri="{FF2B5EF4-FFF2-40B4-BE49-F238E27FC236}">
                    <a16:creationId xmlns:a16="http://schemas.microsoft.com/office/drawing/2014/main" id="{7199CEA7-87A6-FE71-5DBB-4099D2135179}"/>
                  </a:ext>
                </a:extLst>
              </p:cNvPr>
              <p:cNvSpPr txBox="1"/>
              <p:nvPr/>
            </p:nvSpPr>
            <p:spPr>
              <a:xfrm rot="16200000">
                <a:off x="2160572" y="5276917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盥洗室</a:t>
                </a:r>
              </a:p>
            </p:txBody>
          </p:sp>
          <p:sp>
            <p:nvSpPr>
              <p:cNvPr id="216" name="TextBox 215">
                <a:extLst>
                  <a:ext uri="{FF2B5EF4-FFF2-40B4-BE49-F238E27FC236}">
                    <a16:creationId xmlns:a16="http://schemas.microsoft.com/office/drawing/2014/main" id="{9ACEE2B8-536D-4151-110B-BC734151A8D4}"/>
                  </a:ext>
                </a:extLst>
              </p:cNvPr>
              <p:cNvSpPr txBox="1"/>
              <p:nvPr/>
            </p:nvSpPr>
            <p:spPr>
              <a:xfrm rot="16200000">
                <a:off x="3113654" y="1182157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17" name="TextBox 216">
                <a:extLst>
                  <a:ext uri="{FF2B5EF4-FFF2-40B4-BE49-F238E27FC236}">
                    <a16:creationId xmlns:a16="http://schemas.microsoft.com/office/drawing/2014/main" id="{6C4DB1A3-501C-ADC8-C056-FAD276649683}"/>
                  </a:ext>
                </a:extLst>
              </p:cNvPr>
              <p:cNvSpPr txBox="1"/>
              <p:nvPr/>
            </p:nvSpPr>
            <p:spPr>
              <a:xfrm rot="16200000">
                <a:off x="3070677" y="1786947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书房</a:t>
                </a:r>
              </a:p>
            </p:txBody>
          </p:sp>
        </p:grpSp>
      </p:grpSp>
      <p:sp>
        <p:nvSpPr>
          <p:cNvPr id="411" name="Rectangle 410"/>
          <p:cNvSpPr/>
          <p:nvPr/>
        </p:nvSpPr>
        <p:spPr>
          <a:xfrm>
            <a:off x="0" y="0"/>
            <a:ext cx="12192000" cy="8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" name="Rectangle 411"/>
          <p:cNvSpPr/>
          <p:nvPr/>
        </p:nvSpPr>
        <p:spPr>
          <a:xfrm>
            <a:off x="0" y="6650000"/>
            <a:ext cx="12192000" cy="20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" name="Rectangle 412"/>
          <p:cNvSpPr/>
          <p:nvPr/>
        </p:nvSpPr>
        <p:spPr>
          <a:xfrm>
            <a:off x="0" y="850000"/>
            <a:ext cx="300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" name="Rectangle 413"/>
          <p:cNvSpPr/>
          <p:nvPr/>
        </p:nvSpPr>
        <p:spPr>
          <a:xfrm>
            <a:off x="8450000" y="850000"/>
            <a:ext cx="3742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" name="Rectangle 414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6" name="TextBox 415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二层照明放大图 1：主卧 · 盥洗室 · 西卫 · 衣帽间 · 卧室2</a:t>
            </a:r>
          </a:p>
        </p:txBody>
      </p:sp>
      <p:sp>
        <p:nvSpPr>
          <p:cNvPr id="417" name="TextBox 416"/>
          <p:cNvSpPr txBox="1"/>
          <p:nvPr/>
        </p:nvSpPr>
        <p:spPr>
          <a:xfrm>
            <a:off x="250000" y="470000"/>
            <a:ext cx="80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808080"/>
                </a:solidFill>
                <a:latin typeface="Microsoft YaHei"/>
              </a:rPr>
              <a:t>FIRST FLOOR LIGHTING &amp; SWITCHING — ZONE 1</a:t>
            </a:r>
          </a:p>
        </p:txBody>
      </p:sp>
      <p:sp>
        <p:nvSpPr>
          <p:cNvPr id="418" name="Rectangle 417"/>
          <p:cNvSpPr/>
          <p:nvPr/>
        </p:nvSpPr>
        <p:spPr>
          <a:xfrm>
            <a:off x="8650000" y="5100000"/>
            <a:ext cx="3442000" cy="16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9" name="TextBox 418"/>
          <p:cNvSpPr txBox="1"/>
          <p:nvPr/>
        </p:nvSpPr>
        <p:spPr>
          <a:xfrm>
            <a:off x="8710000" y="51000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项目</a:t>
            </a:r>
          </a:p>
        </p:txBody>
      </p:sp>
      <p:sp>
        <p:nvSpPr>
          <p:cNvPr id="420" name="TextBox 419"/>
          <p:cNvSpPr txBox="1"/>
          <p:nvPr/>
        </p:nvSpPr>
        <p:spPr>
          <a:xfrm>
            <a:off x="9250000" y="51000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 · 二层照明</a:t>
            </a:r>
          </a:p>
        </p:txBody>
      </p:sp>
      <p:cxnSp>
        <p:nvCxnSpPr>
          <p:cNvPr id="421" name="Connector 420"/>
          <p:cNvCxnSpPr/>
          <p:nvPr/>
        </p:nvCxnSpPr>
        <p:spPr>
          <a:xfrm>
            <a:off x="8650000" y="54316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2" name="TextBox 421"/>
          <p:cNvSpPr txBox="1"/>
          <p:nvPr/>
        </p:nvSpPr>
        <p:spPr>
          <a:xfrm>
            <a:off x="8710000" y="54316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423" name="TextBox 422"/>
          <p:cNvSpPr txBox="1"/>
          <p:nvPr/>
        </p:nvSpPr>
        <p:spPr>
          <a:xfrm>
            <a:off x="9250000" y="54316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二层照明放大图 1：主卧 · 盥洗室 · 西卫 · 衣帽间 · 卧室2</a:t>
            </a:r>
          </a:p>
        </p:txBody>
      </p:sp>
      <p:cxnSp>
        <p:nvCxnSpPr>
          <p:cNvPr id="424" name="Connector 423"/>
          <p:cNvCxnSpPr/>
          <p:nvPr/>
        </p:nvCxnSpPr>
        <p:spPr>
          <a:xfrm>
            <a:off x="8650000" y="57632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5" name="TextBox 424"/>
          <p:cNvSpPr txBox="1"/>
          <p:nvPr/>
        </p:nvSpPr>
        <p:spPr>
          <a:xfrm>
            <a:off x="8710000" y="57632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426" name="TextBox 425"/>
          <p:cNvSpPr txBox="1"/>
          <p:nvPr/>
        </p:nvSpPr>
        <p:spPr>
          <a:xfrm>
            <a:off x="9250000" y="57632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E-FF-01</a:t>
            </a:r>
          </a:p>
        </p:txBody>
      </p:sp>
      <p:cxnSp>
        <p:nvCxnSpPr>
          <p:cNvPr id="427" name="Connector 426"/>
          <p:cNvCxnSpPr/>
          <p:nvPr/>
        </p:nvCxnSpPr>
        <p:spPr>
          <a:xfrm>
            <a:off x="8650000" y="60948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8" name="TextBox 427"/>
          <p:cNvSpPr txBox="1"/>
          <p:nvPr/>
        </p:nvSpPr>
        <p:spPr>
          <a:xfrm>
            <a:off x="8710000" y="60948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版本</a:t>
            </a:r>
          </a:p>
        </p:txBody>
      </p:sp>
      <p:sp>
        <p:nvSpPr>
          <p:cNvPr id="429" name="TextBox 428"/>
          <p:cNvSpPr txBox="1"/>
          <p:nvPr/>
        </p:nvSpPr>
        <p:spPr>
          <a:xfrm>
            <a:off x="9250000" y="60948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Rev G · 2026-10-03（照明 4 路：一层前区 / 一层后区 / 二层 / 户外）</a:t>
            </a:r>
          </a:p>
        </p:txBody>
      </p:sp>
      <p:cxnSp>
        <p:nvCxnSpPr>
          <p:cNvPr id="430" name="Connector 429"/>
          <p:cNvCxnSpPr/>
          <p:nvPr/>
        </p:nvCxnSpPr>
        <p:spPr>
          <a:xfrm>
            <a:off x="8650000" y="64264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1" name="TextBox 430"/>
          <p:cNvSpPr txBox="1"/>
          <p:nvPr/>
        </p:nvSpPr>
        <p:spPr>
          <a:xfrm>
            <a:off x="8710000" y="64264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依据</a:t>
            </a:r>
          </a:p>
        </p:txBody>
      </p:sp>
      <p:sp>
        <p:nvSpPr>
          <p:cNvPr id="432" name="TextBox 431"/>
          <p:cNvSpPr txBox="1"/>
          <p:nvPr/>
        </p:nvSpPr>
        <p:spPr>
          <a:xfrm>
            <a:off x="9250000" y="64264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PPT v6 第 6 页按键标注；Blender v37</a:t>
            </a:r>
          </a:p>
        </p:txBody>
      </p:sp>
      <p:cxnSp>
        <p:nvCxnSpPr>
          <p:cNvPr id="433" name="Connector 432"/>
          <p:cNvCxnSpPr/>
          <p:nvPr/>
        </p:nvCxnSpPr>
        <p:spPr>
          <a:xfrm>
            <a:off x="9190000" y="5100000"/>
            <a:ext cx="0" cy="16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4" name="Connector 433"/>
          <p:cNvCxnSpPr/>
          <p:nvPr/>
        </p:nvCxnSpPr>
        <p:spPr>
          <a:xfrm flipV="1">
            <a:off x="4136894" y="2773157"/>
            <a:ext cx="1117263" cy="445685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5" name="Oval 434"/>
          <p:cNvSpPr/>
          <p:nvPr/>
        </p:nvSpPr>
        <p:spPr>
          <a:xfrm>
            <a:off x="4427936" y="2992852"/>
            <a:ext cx="200000" cy="14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6" name="TextBox 435"/>
          <p:cNvSpPr txBox="1"/>
          <p:nvPr/>
        </p:nvSpPr>
        <p:spPr>
          <a:xfrm>
            <a:off x="4427936" y="2992852"/>
            <a:ext cx="200000" cy="1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00" b="1">
                <a:solidFill>
                  <a:srgbClr val="C00000"/>
                </a:solidFill>
                <a:latin typeface="Microsoft YaHei"/>
              </a:rPr>
              <a:t>W1</a:t>
            </a:r>
          </a:p>
        </p:txBody>
      </p:sp>
      <p:cxnSp>
        <p:nvCxnSpPr>
          <p:cNvPr id="437" name="Connector 436"/>
          <p:cNvCxnSpPr/>
          <p:nvPr/>
        </p:nvCxnSpPr>
        <p:spPr>
          <a:xfrm flipV="1">
            <a:off x="3001315" y="5441157"/>
            <a:ext cx="2240632" cy="995158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8" name="Oval 437"/>
          <p:cNvSpPr/>
          <p:nvPr/>
        </p:nvSpPr>
        <p:spPr>
          <a:xfrm>
            <a:off x="3685536" y="6018010"/>
            <a:ext cx="200000" cy="14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9" name="TextBox 438"/>
          <p:cNvSpPr txBox="1"/>
          <p:nvPr/>
        </p:nvSpPr>
        <p:spPr>
          <a:xfrm>
            <a:off x="3685536" y="6018010"/>
            <a:ext cx="200000" cy="1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00" b="1">
                <a:solidFill>
                  <a:srgbClr val="C00000"/>
                </a:solidFill>
                <a:latin typeface="Microsoft YaHei"/>
              </a:rPr>
              <a:t>W2</a:t>
            </a:r>
          </a:p>
        </p:txBody>
      </p:sp>
      <p:sp>
        <p:nvSpPr>
          <p:cNvPr id="2" name="Freeform 1"/>
          <p:cNvSpPr/>
          <p:nvPr/>
        </p:nvSpPr>
        <p:spPr>
          <a:xfrm>
            <a:off x="4136894" y="2312106"/>
            <a:ext cx="277332" cy="906736"/>
          </a:xfrm>
          <a:custGeom>
            <a:avLst/>
            <a:gdLst/>
            <a:ahLst/>
            <a:cxnLst/>
            <a:rect l="l" t="t" r="r" b="b"/>
            <a:pathLst>
              <a:path w="277332" h="906736">
                <a:moveTo>
                  <a:pt x="0" y="906736"/>
                </a:moveTo>
                <a:lnTo>
                  <a:pt x="38228" y="856431"/>
                </a:lnTo>
                <a:lnTo>
                  <a:pt x="73622" y="805277"/>
                </a:lnTo>
                <a:lnTo>
                  <a:pt x="106182" y="753274"/>
                </a:lnTo>
                <a:lnTo>
                  <a:pt x="135909" y="700423"/>
                </a:lnTo>
                <a:lnTo>
                  <a:pt x="162802" y="646722"/>
                </a:lnTo>
                <a:lnTo>
                  <a:pt x="186862" y="592173"/>
                </a:lnTo>
                <a:lnTo>
                  <a:pt x="208088" y="536776"/>
                </a:lnTo>
                <a:lnTo>
                  <a:pt x="226481" y="480529"/>
                </a:lnTo>
                <a:lnTo>
                  <a:pt x="242040" y="423434"/>
                </a:lnTo>
                <a:lnTo>
                  <a:pt x="254765" y="365489"/>
                </a:lnTo>
                <a:lnTo>
                  <a:pt x="264657" y="306696"/>
                </a:lnTo>
                <a:lnTo>
                  <a:pt x="271716" y="247055"/>
                </a:lnTo>
                <a:lnTo>
                  <a:pt x="275940" y="186564"/>
                </a:lnTo>
                <a:lnTo>
                  <a:pt x="277332" y="125225"/>
                </a:lnTo>
                <a:lnTo>
                  <a:pt x="275890" y="63037"/>
                </a:lnTo>
                <a:lnTo>
                  <a:pt x="271614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4408508" y="2312106"/>
            <a:ext cx="845649" cy="461051"/>
          </a:xfrm>
          <a:custGeom>
            <a:avLst/>
            <a:gdLst/>
            <a:ahLst/>
            <a:cxnLst/>
            <a:rect l="l" t="t" r="r" b="b"/>
            <a:pathLst>
              <a:path w="845649" h="461051">
                <a:moveTo>
                  <a:pt x="845649" y="461051"/>
                </a:moveTo>
                <a:lnTo>
                  <a:pt x="803602" y="412416"/>
                </a:lnTo>
                <a:lnTo>
                  <a:pt x="760114" y="366423"/>
                </a:lnTo>
                <a:lnTo>
                  <a:pt x="715185" y="323072"/>
                </a:lnTo>
                <a:lnTo>
                  <a:pt x="668816" y="282365"/>
                </a:lnTo>
                <a:lnTo>
                  <a:pt x="621006" y="244300"/>
                </a:lnTo>
                <a:lnTo>
                  <a:pt x="571754" y="208877"/>
                </a:lnTo>
                <a:lnTo>
                  <a:pt x="521062" y="176098"/>
                </a:lnTo>
                <a:lnTo>
                  <a:pt x="468930" y="145961"/>
                </a:lnTo>
                <a:lnTo>
                  <a:pt x="415356" y="118466"/>
                </a:lnTo>
                <a:lnTo>
                  <a:pt x="360342" y="93614"/>
                </a:lnTo>
                <a:lnTo>
                  <a:pt x="303887" y="71405"/>
                </a:lnTo>
                <a:lnTo>
                  <a:pt x="245991" y="51839"/>
                </a:lnTo>
                <a:lnTo>
                  <a:pt x="186654" y="34915"/>
                </a:lnTo>
                <a:lnTo>
                  <a:pt x="125877" y="20634"/>
                </a:lnTo>
                <a:lnTo>
                  <a:pt x="63659" y="8996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5254157" y="1557430"/>
            <a:ext cx="841301" cy="1215727"/>
          </a:xfrm>
          <a:custGeom>
            <a:avLst/>
            <a:gdLst/>
            <a:ahLst/>
            <a:cxnLst/>
            <a:rect l="l" t="t" r="r" b="b"/>
            <a:pathLst>
              <a:path w="841301" h="1215727">
                <a:moveTo>
                  <a:pt x="0" y="1215727"/>
                </a:moveTo>
                <a:lnTo>
                  <a:pt x="81075" y="1159462"/>
                </a:lnTo>
                <a:lnTo>
                  <a:pt x="158351" y="1100568"/>
                </a:lnTo>
                <a:lnTo>
                  <a:pt x="231828" y="1039045"/>
                </a:lnTo>
                <a:lnTo>
                  <a:pt x="301505" y="974893"/>
                </a:lnTo>
                <a:lnTo>
                  <a:pt x="367383" y="908112"/>
                </a:lnTo>
                <a:lnTo>
                  <a:pt x="429462" y="838702"/>
                </a:lnTo>
                <a:lnTo>
                  <a:pt x="487742" y="766662"/>
                </a:lnTo>
                <a:lnTo>
                  <a:pt x="542223" y="691994"/>
                </a:lnTo>
                <a:lnTo>
                  <a:pt x="592905" y="614696"/>
                </a:lnTo>
                <a:lnTo>
                  <a:pt x="639788" y="534770"/>
                </a:lnTo>
                <a:lnTo>
                  <a:pt x="682871" y="452214"/>
                </a:lnTo>
                <a:lnTo>
                  <a:pt x="722155" y="367030"/>
                </a:lnTo>
                <a:lnTo>
                  <a:pt x="757640" y="279216"/>
                </a:lnTo>
                <a:lnTo>
                  <a:pt x="789326" y="188773"/>
                </a:lnTo>
                <a:lnTo>
                  <a:pt x="817213" y="95701"/>
                </a:lnTo>
                <a:lnTo>
                  <a:pt x="841301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Freeform 64"/>
          <p:cNvSpPr/>
          <p:nvPr/>
        </p:nvSpPr>
        <p:spPr>
          <a:xfrm>
            <a:off x="4748661" y="4072747"/>
            <a:ext cx="279602" cy="568621"/>
          </a:xfrm>
          <a:custGeom>
            <a:avLst/>
            <a:gdLst/>
            <a:ahLst/>
            <a:cxnLst/>
            <a:rect l="l" t="t" r="r" b="b"/>
            <a:pathLst>
              <a:path w="279602" h="568621">
                <a:moveTo>
                  <a:pt x="279602" y="568621"/>
                </a:moveTo>
                <a:lnTo>
                  <a:pt x="275454" y="526529"/>
                </a:lnTo>
                <a:lnTo>
                  <a:pt x="269529" y="485311"/>
                </a:lnTo>
                <a:lnTo>
                  <a:pt x="261827" y="444966"/>
                </a:lnTo>
                <a:lnTo>
                  <a:pt x="252348" y="405495"/>
                </a:lnTo>
                <a:lnTo>
                  <a:pt x="241092" y="366898"/>
                </a:lnTo>
                <a:lnTo>
                  <a:pt x="228059" y="329175"/>
                </a:lnTo>
                <a:lnTo>
                  <a:pt x="213249" y="292326"/>
                </a:lnTo>
                <a:lnTo>
                  <a:pt x="196663" y="256350"/>
                </a:lnTo>
                <a:lnTo>
                  <a:pt x="178299" y="221248"/>
                </a:lnTo>
                <a:lnTo>
                  <a:pt x="158159" y="187020"/>
                </a:lnTo>
                <a:lnTo>
                  <a:pt x="136241" y="153666"/>
                </a:lnTo>
                <a:lnTo>
                  <a:pt x="112547" y="121185"/>
                </a:lnTo>
                <a:lnTo>
                  <a:pt x="87075" y="89578"/>
                </a:lnTo>
                <a:lnTo>
                  <a:pt x="59827" y="58845"/>
                </a:lnTo>
                <a:lnTo>
                  <a:pt x="30802" y="28985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Freeform 65"/>
          <p:cNvSpPr/>
          <p:nvPr/>
        </p:nvSpPr>
        <p:spPr>
          <a:xfrm>
            <a:off x="4746627" y="3610257"/>
            <a:ext cx="35704" cy="462490"/>
          </a:xfrm>
          <a:custGeom>
            <a:avLst/>
            <a:gdLst/>
            <a:ahLst/>
            <a:cxnLst/>
            <a:rect l="l" t="t" r="r" b="b"/>
            <a:pathLst>
              <a:path w="35704" h="462490">
                <a:moveTo>
                  <a:pt x="2034" y="462490"/>
                </a:moveTo>
                <a:lnTo>
                  <a:pt x="10036" y="433548"/>
                </a:lnTo>
                <a:lnTo>
                  <a:pt x="16955" y="404612"/>
                </a:lnTo>
                <a:lnTo>
                  <a:pt x="22790" y="375680"/>
                </a:lnTo>
                <a:lnTo>
                  <a:pt x="27540" y="346753"/>
                </a:lnTo>
                <a:lnTo>
                  <a:pt x="31207" y="317831"/>
                </a:lnTo>
                <a:lnTo>
                  <a:pt x="33790" y="288913"/>
                </a:lnTo>
                <a:lnTo>
                  <a:pt x="35289" y="260000"/>
                </a:lnTo>
                <a:lnTo>
                  <a:pt x="35704" y="231092"/>
                </a:lnTo>
                <a:lnTo>
                  <a:pt x="35035" y="202189"/>
                </a:lnTo>
                <a:lnTo>
                  <a:pt x="33282" y="173291"/>
                </a:lnTo>
                <a:lnTo>
                  <a:pt x="30445" y="144397"/>
                </a:lnTo>
                <a:lnTo>
                  <a:pt x="26524" y="115508"/>
                </a:lnTo>
                <a:lnTo>
                  <a:pt x="21519" y="86624"/>
                </a:lnTo>
                <a:lnTo>
                  <a:pt x="15430" y="57744"/>
                </a:lnTo>
                <a:lnTo>
                  <a:pt x="8257" y="28870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Freeform 66"/>
          <p:cNvSpPr/>
          <p:nvPr/>
        </p:nvSpPr>
        <p:spPr>
          <a:xfrm>
            <a:off x="2848684" y="3932660"/>
            <a:ext cx="164169" cy="641550"/>
          </a:xfrm>
          <a:custGeom>
            <a:avLst/>
            <a:gdLst/>
            <a:ahLst/>
            <a:cxnLst/>
            <a:rect l="l" t="t" r="r" b="b"/>
            <a:pathLst>
              <a:path w="164169" h="641550">
                <a:moveTo>
                  <a:pt x="0" y="641550"/>
                </a:moveTo>
                <a:lnTo>
                  <a:pt x="24657" y="605061"/>
                </a:lnTo>
                <a:lnTo>
                  <a:pt x="47310" y="568091"/>
                </a:lnTo>
                <a:lnTo>
                  <a:pt x="67958" y="530640"/>
                </a:lnTo>
                <a:lnTo>
                  <a:pt x="86601" y="492708"/>
                </a:lnTo>
                <a:lnTo>
                  <a:pt x="103239" y="454295"/>
                </a:lnTo>
                <a:lnTo>
                  <a:pt x="117872" y="415400"/>
                </a:lnTo>
                <a:lnTo>
                  <a:pt x="130500" y="376025"/>
                </a:lnTo>
                <a:lnTo>
                  <a:pt x="141124" y="336169"/>
                </a:lnTo>
                <a:lnTo>
                  <a:pt x="149743" y="295831"/>
                </a:lnTo>
                <a:lnTo>
                  <a:pt x="156357" y="255013"/>
                </a:lnTo>
                <a:lnTo>
                  <a:pt x="160966" y="213713"/>
                </a:lnTo>
                <a:lnTo>
                  <a:pt x="163570" y="171933"/>
                </a:lnTo>
                <a:lnTo>
                  <a:pt x="164169" y="129671"/>
                </a:lnTo>
                <a:lnTo>
                  <a:pt x="162764" y="86928"/>
                </a:lnTo>
                <a:lnTo>
                  <a:pt x="159353" y="43705"/>
                </a:lnTo>
                <a:lnTo>
                  <a:pt x="153938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Freeform 67"/>
          <p:cNvSpPr/>
          <p:nvPr/>
        </p:nvSpPr>
        <p:spPr>
          <a:xfrm>
            <a:off x="3288263" y="3902631"/>
            <a:ext cx="522051" cy="68887"/>
          </a:xfrm>
          <a:custGeom>
            <a:avLst/>
            <a:gdLst/>
            <a:ahLst/>
            <a:cxnLst/>
            <a:rect l="l" t="t" r="r" b="b"/>
            <a:pathLst>
              <a:path w="522051" h="68887">
                <a:moveTo>
                  <a:pt x="0" y="0"/>
                </a:moveTo>
                <a:lnTo>
                  <a:pt x="31899" y="14180"/>
                </a:lnTo>
                <a:lnTo>
                  <a:pt x="63895" y="26728"/>
                </a:lnTo>
                <a:lnTo>
                  <a:pt x="95989" y="37645"/>
                </a:lnTo>
                <a:lnTo>
                  <a:pt x="128180" y="46931"/>
                </a:lnTo>
                <a:lnTo>
                  <a:pt x="160468" y="54585"/>
                </a:lnTo>
                <a:lnTo>
                  <a:pt x="192853" y="60607"/>
                </a:lnTo>
                <a:lnTo>
                  <a:pt x="225335" y="64999"/>
                </a:lnTo>
                <a:lnTo>
                  <a:pt x="257915" y="67758"/>
                </a:lnTo>
                <a:lnTo>
                  <a:pt x="290592" y="68887"/>
                </a:lnTo>
                <a:lnTo>
                  <a:pt x="323366" y="68384"/>
                </a:lnTo>
                <a:lnTo>
                  <a:pt x="356237" y="66250"/>
                </a:lnTo>
                <a:lnTo>
                  <a:pt x="389205" y="62484"/>
                </a:lnTo>
                <a:lnTo>
                  <a:pt x="422271" y="57087"/>
                </a:lnTo>
                <a:lnTo>
                  <a:pt x="455434" y="50058"/>
                </a:lnTo>
                <a:lnTo>
                  <a:pt x="488694" y="41398"/>
                </a:lnTo>
                <a:lnTo>
                  <a:pt x="522051" y="31107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Freeform 68"/>
          <p:cNvSpPr/>
          <p:nvPr/>
        </p:nvSpPr>
        <p:spPr>
          <a:xfrm>
            <a:off x="3001315" y="5444812"/>
            <a:ext cx="712671" cy="991503"/>
          </a:xfrm>
          <a:custGeom>
            <a:avLst/>
            <a:gdLst/>
            <a:ahLst/>
            <a:cxnLst/>
            <a:rect l="l" t="t" r="r" b="b"/>
            <a:pathLst>
              <a:path w="712671" h="991503">
                <a:moveTo>
                  <a:pt x="0" y="991503"/>
                </a:moveTo>
                <a:lnTo>
                  <a:pt x="67781" y="946238"/>
                </a:lnTo>
                <a:lnTo>
                  <a:pt x="132462" y="898745"/>
                </a:lnTo>
                <a:lnTo>
                  <a:pt x="194046" y="849025"/>
                </a:lnTo>
                <a:lnTo>
                  <a:pt x="252531" y="797078"/>
                </a:lnTo>
                <a:lnTo>
                  <a:pt x="307917" y="742904"/>
                </a:lnTo>
                <a:lnTo>
                  <a:pt x="360205" y="686502"/>
                </a:lnTo>
                <a:lnTo>
                  <a:pt x="409395" y="627874"/>
                </a:lnTo>
                <a:lnTo>
                  <a:pt x="455486" y="567019"/>
                </a:lnTo>
                <a:lnTo>
                  <a:pt x="498479" y="503936"/>
                </a:lnTo>
                <a:lnTo>
                  <a:pt x="538373" y="438626"/>
                </a:lnTo>
                <a:lnTo>
                  <a:pt x="575169" y="371090"/>
                </a:lnTo>
                <a:lnTo>
                  <a:pt x="608866" y="301326"/>
                </a:lnTo>
                <a:lnTo>
                  <a:pt x="639465" y="229335"/>
                </a:lnTo>
                <a:lnTo>
                  <a:pt x="666965" y="155117"/>
                </a:lnTo>
                <a:lnTo>
                  <a:pt x="691367" y="78672"/>
                </a:lnTo>
                <a:lnTo>
                  <a:pt x="712671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Freeform 69"/>
          <p:cNvSpPr/>
          <p:nvPr/>
        </p:nvSpPr>
        <p:spPr>
          <a:xfrm>
            <a:off x="3713986" y="5290188"/>
            <a:ext cx="1527961" cy="154624"/>
          </a:xfrm>
          <a:custGeom>
            <a:avLst/>
            <a:gdLst/>
            <a:ahLst/>
            <a:cxnLst/>
            <a:rect l="l" t="t" r="r" b="b"/>
            <a:pathLst>
              <a:path w="1527961" h="154624">
                <a:moveTo>
                  <a:pt x="1527961" y="150969"/>
                </a:moveTo>
                <a:lnTo>
                  <a:pt x="1432378" y="115386"/>
                </a:lnTo>
                <a:lnTo>
                  <a:pt x="1336806" y="84578"/>
                </a:lnTo>
                <a:lnTo>
                  <a:pt x="1241245" y="58544"/>
                </a:lnTo>
                <a:lnTo>
                  <a:pt x="1145696" y="37286"/>
                </a:lnTo>
                <a:lnTo>
                  <a:pt x="1050159" y="20802"/>
                </a:lnTo>
                <a:lnTo>
                  <a:pt x="954633" y="9093"/>
                </a:lnTo>
                <a:lnTo>
                  <a:pt x="859118" y="2159"/>
                </a:lnTo>
                <a:lnTo>
                  <a:pt x="763615" y="0"/>
                </a:lnTo>
                <a:lnTo>
                  <a:pt x="668123" y="2616"/>
                </a:lnTo>
                <a:lnTo>
                  <a:pt x="572643" y="10007"/>
                </a:lnTo>
                <a:lnTo>
                  <a:pt x="477174" y="22173"/>
                </a:lnTo>
                <a:lnTo>
                  <a:pt x="381716" y="39113"/>
                </a:lnTo>
                <a:lnTo>
                  <a:pt x="286270" y="60828"/>
                </a:lnTo>
                <a:lnTo>
                  <a:pt x="190835" y="87319"/>
                </a:lnTo>
                <a:lnTo>
                  <a:pt x="95412" y="118584"/>
                </a:lnTo>
                <a:lnTo>
                  <a:pt x="0" y="154624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Freeform 70"/>
          <p:cNvSpPr/>
          <p:nvPr/>
        </p:nvSpPr>
        <p:spPr>
          <a:xfrm>
            <a:off x="3001315" y="5912370"/>
            <a:ext cx="1930080" cy="543320"/>
          </a:xfrm>
          <a:custGeom>
            <a:avLst/>
            <a:gdLst/>
            <a:ahLst/>
            <a:cxnLst/>
            <a:rect l="l" t="t" r="r" b="b"/>
            <a:pathLst>
              <a:path w="1930080" h="543320">
                <a:moveTo>
                  <a:pt x="0" y="523945"/>
                </a:moveTo>
                <a:lnTo>
                  <a:pt x="132910" y="536435"/>
                </a:lnTo>
                <a:lnTo>
                  <a:pt x="264183" y="542893"/>
                </a:lnTo>
                <a:lnTo>
                  <a:pt x="393818" y="543320"/>
                </a:lnTo>
                <a:lnTo>
                  <a:pt x="521816" y="537715"/>
                </a:lnTo>
                <a:lnTo>
                  <a:pt x="648177" y="526079"/>
                </a:lnTo>
                <a:lnTo>
                  <a:pt x="772900" y="508411"/>
                </a:lnTo>
                <a:lnTo>
                  <a:pt x="895986" y="484711"/>
                </a:lnTo>
                <a:lnTo>
                  <a:pt x="1017435" y="454981"/>
                </a:lnTo>
                <a:lnTo>
                  <a:pt x="1137246" y="419218"/>
                </a:lnTo>
                <a:lnTo>
                  <a:pt x="1255420" y="377424"/>
                </a:lnTo>
                <a:lnTo>
                  <a:pt x="1371956" y="329599"/>
                </a:lnTo>
                <a:lnTo>
                  <a:pt x="1486856" y="275742"/>
                </a:lnTo>
                <a:lnTo>
                  <a:pt x="1600118" y="215854"/>
                </a:lnTo>
                <a:lnTo>
                  <a:pt x="1711742" y="149934"/>
                </a:lnTo>
                <a:lnTo>
                  <a:pt x="1821730" y="77983"/>
                </a:lnTo>
                <a:lnTo>
                  <a:pt x="193008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Freeform 71"/>
          <p:cNvSpPr/>
          <p:nvPr/>
        </p:nvSpPr>
        <p:spPr>
          <a:xfrm>
            <a:off x="4931395" y="5441157"/>
            <a:ext cx="310552" cy="471213"/>
          </a:xfrm>
          <a:custGeom>
            <a:avLst/>
            <a:gdLst/>
            <a:ahLst/>
            <a:cxnLst/>
            <a:rect l="l" t="t" r="r" b="b"/>
            <a:pathLst>
              <a:path w="310552" h="471213">
                <a:moveTo>
                  <a:pt x="310552" y="0"/>
                </a:moveTo>
                <a:lnTo>
                  <a:pt x="280098" y="22173"/>
                </a:lnTo>
                <a:lnTo>
                  <a:pt x="251117" y="45315"/>
                </a:lnTo>
                <a:lnTo>
                  <a:pt x="223609" y="69428"/>
                </a:lnTo>
                <a:lnTo>
                  <a:pt x="197573" y="94512"/>
                </a:lnTo>
                <a:lnTo>
                  <a:pt x="173009" y="120566"/>
                </a:lnTo>
                <a:lnTo>
                  <a:pt x="149919" y="147591"/>
                </a:lnTo>
                <a:lnTo>
                  <a:pt x="128300" y="175586"/>
                </a:lnTo>
                <a:lnTo>
                  <a:pt x="108155" y="204552"/>
                </a:lnTo>
                <a:lnTo>
                  <a:pt x="89481" y="234488"/>
                </a:lnTo>
                <a:lnTo>
                  <a:pt x="72281" y="265394"/>
                </a:lnTo>
                <a:lnTo>
                  <a:pt x="56552" y="297271"/>
                </a:lnTo>
                <a:lnTo>
                  <a:pt x="42297" y="330118"/>
                </a:lnTo>
                <a:lnTo>
                  <a:pt x="29514" y="363936"/>
                </a:lnTo>
                <a:lnTo>
                  <a:pt x="18203" y="398725"/>
                </a:lnTo>
                <a:lnTo>
                  <a:pt x="8365" y="434484"/>
                </a:lnTo>
                <a:lnTo>
                  <a:pt x="0" y="471213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Freeform 72"/>
          <p:cNvSpPr/>
          <p:nvPr/>
        </p:nvSpPr>
        <p:spPr>
          <a:xfrm>
            <a:off x="4898489" y="4904547"/>
            <a:ext cx="92915" cy="1007823"/>
          </a:xfrm>
          <a:custGeom>
            <a:avLst/>
            <a:gdLst/>
            <a:ahLst/>
            <a:cxnLst/>
            <a:rect l="l" t="t" r="r" b="b"/>
            <a:pathLst>
              <a:path w="92915" h="1007823">
                <a:moveTo>
                  <a:pt x="32906" y="1007823"/>
                </a:moveTo>
                <a:lnTo>
                  <a:pt x="48565" y="944256"/>
                </a:lnTo>
                <a:lnTo>
                  <a:pt x="61862" y="880765"/>
                </a:lnTo>
                <a:lnTo>
                  <a:pt x="72797" y="817352"/>
                </a:lnTo>
                <a:lnTo>
                  <a:pt x="81369" y="754016"/>
                </a:lnTo>
                <a:lnTo>
                  <a:pt x="87580" y="690757"/>
                </a:lnTo>
                <a:lnTo>
                  <a:pt x="91429" y="627576"/>
                </a:lnTo>
                <a:lnTo>
                  <a:pt x="92915" y="564471"/>
                </a:lnTo>
                <a:lnTo>
                  <a:pt x="92039" y="501443"/>
                </a:lnTo>
                <a:lnTo>
                  <a:pt x="88802" y="438493"/>
                </a:lnTo>
                <a:lnTo>
                  <a:pt x="83202" y="375620"/>
                </a:lnTo>
                <a:lnTo>
                  <a:pt x="75240" y="312824"/>
                </a:lnTo>
                <a:lnTo>
                  <a:pt x="64916" y="250105"/>
                </a:lnTo>
                <a:lnTo>
                  <a:pt x="52230" y="187463"/>
                </a:lnTo>
                <a:lnTo>
                  <a:pt x="37182" y="124898"/>
                </a:lnTo>
                <a:lnTo>
                  <a:pt x="19772" y="62410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0" name="Oval 439"/>
          <p:cNvSpPr/>
          <p:nvPr/>
        </p:nvSpPr>
        <p:spPr>
          <a:xfrm>
            <a:off x="4323725" y="2227323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41" name="Connector 440"/>
          <p:cNvCxnSpPr/>
          <p:nvPr/>
        </p:nvCxnSpPr>
        <p:spPr>
          <a:xfrm>
            <a:off x="4348566" y="2252164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2" name="Connector 441"/>
          <p:cNvCxnSpPr/>
          <p:nvPr/>
        </p:nvCxnSpPr>
        <p:spPr>
          <a:xfrm flipV="1">
            <a:off x="4348566" y="2252164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3" name="TextBox 442"/>
          <p:cNvSpPr txBox="1"/>
          <p:nvPr/>
        </p:nvSpPr>
        <p:spPr>
          <a:xfrm>
            <a:off x="4493291" y="2142539"/>
            <a:ext cx="141305" cy="113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a</a:t>
            </a:r>
          </a:p>
        </p:txBody>
      </p:sp>
      <p:sp>
        <p:nvSpPr>
          <p:cNvPr id="444" name="Oval 443"/>
          <p:cNvSpPr/>
          <p:nvPr/>
        </p:nvSpPr>
        <p:spPr>
          <a:xfrm>
            <a:off x="3629203" y="5360029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45" name="Connector 444"/>
          <p:cNvCxnSpPr/>
          <p:nvPr/>
        </p:nvCxnSpPr>
        <p:spPr>
          <a:xfrm>
            <a:off x="3654044" y="5384870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6" name="Connector 445"/>
          <p:cNvCxnSpPr/>
          <p:nvPr/>
        </p:nvCxnSpPr>
        <p:spPr>
          <a:xfrm flipV="1">
            <a:off x="3654044" y="5384870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7" name="TextBox 446"/>
          <p:cNvSpPr txBox="1"/>
          <p:nvPr/>
        </p:nvSpPr>
        <p:spPr>
          <a:xfrm>
            <a:off x="3798769" y="5275245"/>
            <a:ext cx="141305" cy="113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448" name="Oval 447"/>
          <p:cNvSpPr/>
          <p:nvPr/>
        </p:nvSpPr>
        <p:spPr>
          <a:xfrm>
            <a:off x="2946100" y="3876138"/>
            <a:ext cx="113044" cy="1130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9" name="Oval 448"/>
          <p:cNvSpPr/>
          <p:nvPr/>
        </p:nvSpPr>
        <p:spPr>
          <a:xfrm>
            <a:off x="2984959" y="3914997"/>
            <a:ext cx="35326" cy="3532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0" name="TextBox 449"/>
          <p:cNvSpPr txBox="1"/>
          <p:nvPr/>
        </p:nvSpPr>
        <p:spPr>
          <a:xfrm>
            <a:off x="3087405" y="3763094"/>
            <a:ext cx="141305" cy="113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g</a:t>
            </a:r>
          </a:p>
        </p:txBody>
      </p:sp>
      <p:sp>
        <p:nvSpPr>
          <p:cNvPr id="451" name="Oval 450"/>
          <p:cNvSpPr/>
          <p:nvPr/>
        </p:nvSpPr>
        <p:spPr>
          <a:xfrm>
            <a:off x="4690105" y="3553735"/>
            <a:ext cx="113044" cy="1130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2" name="Oval 451"/>
          <p:cNvSpPr/>
          <p:nvPr/>
        </p:nvSpPr>
        <p:spPr>
          <a:xfrm>
            <a:off x="4728964" y="3592594"/>
            <a:ext cx="35326" cy="3532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3" name="TextBox 452"/>
          <p:cNvSpPr txBox="1"/>
          <p:nvPr/>
        </p:nvSpPr>
        <p:spPr>
          <a:xfrm>
            <a:off x="4831410" y="3440691"/>
            <a:ext cx="141305" cy="113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454" name="Oval 453"/>
          <p:cNvSpPr/>
          <p:nvPr/>
        </p:nvSpPr>
        <p:spPr>
          <a:xfrm>
            <a:off x="4841967" y="4848025"/>
            <a:ext cx="113044" cy="1130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5" name="Oval 454"/>
          <p:cNvSpPr/>
          <p:nvPr/>
        </p:nvSpPr>
        <p:spPr>
          <a:xfrm>
            <a:off x="4880826" y="4886884"/>
            <a:ext cx="35326" cy="3532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6" name="TextBox 455"/>
          <p:cNvSpPr txBox="1"/>
          <p:nvPr/>
        </p:nvSpPr>
        <p:spPr>
          <a:xfrm>
            <a:off x="4983272" y="4734981"/>
            <a:ext cx="141305" cy="113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j</a:t>
            </a:r>
          </a:p>
        </p:txBody>
      </p:sp>
      <p:sp>
        <p:nvSpPr>
          <p:cNvPr id="457" name="Oval 456"/>
          <p:cNvSpPr/>
          <p:nvPr/>
        </p:nvSpPr>
        <p:spPr>
          <a:xfrm>
            <a:off x="4874873" y="5855848"/>
            <a:ext cx="113044" cy="1130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8" name="Oval 457"/>
          <p:cNvSpPr/>
          <p:nvPr/>
        </p:nvSpPr>
        <p:spPr>
          <a:xfrm>
            <a:off x="4913732" y="5894707"/>
            <a:ext cx="35326" cy="3532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9" name="TextBox 458"/>
          <p:cNvSpPr txBox="1"/>
          <p:nvPr/>
        </p:nvSpPr>
        <p:spPr>
          <a:xfrm>
            <a:off x="5016178" y="5742804"/>
            <a:ext cx="141305" cy="113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j</a:t>
            </a:r>
          </a:p>
        </p:txBody>
      </p:sp>
      <p:sp>
        <p:nvSpPr>
          <p:cNvPr id="460" name="Oval 459"/>
          <p:cNvSpPr/>
          <p:nvPr/>
        </p:nvSpPr>
        <p:spPr>
          <a:xfrm>
            <a:off x="6010675" y="1472647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61" name="Connector 460"/>
          <p:cNvCxnSpPr/>
          <p:nvPr/>
        </p:nvCxnSpPr>
        <p:spPr>
          <a:xfrm>
            <a:off x="6035516" y="1497489"/>
            <a:ext cx="119884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2" name="Connector 461"/>
          <p:cNvCxnSpPr/>
          <p:nvPr/>
        </p:nvCxnSpPr>
        <p:spPr>
          <a:xfrm flipV="1">
            <a:off x="6035516" y="1497489"/>
            <a:ext cx="119884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3" name="TextBox 462"/>
          <p:cNvSpPr txBox="1"/>
          <p:nvPr/>
        </p:nvSpPr>
        <p:spPr>
          <a:xfrm>
            <a:off x="6180241" y="1387864"/>
            <a:ext cx="141305" cy="113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b</a:t>
            </a:r>
          </a:p>
        </p:txBody>
      </p:sp>
      <p:sp>
        <p:nvSpPr>
          <p:cNvPr id="464" name="Oval 463"/>
          <p:cNvSpPr/>
          <p:nvPr/>
        </p:nvSpPr>
        <p:spPr>
          <a:xfrm>
            <a:off x="3753792" y="3877215"/>
            <a:ext cx="113044" cy="1130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5" name="Oval 464"/>
          <p:cNvSpPr/>
          <p:nvPr/>
        </p:nvSpPr>
        <p:spPr>
          <a:xfrm>
            <a:off x="3792651" y="3916074"/>
            <a:ext cx="35326" cy="3532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6" name="TextBox 465"/>
          <p:cNvSpPr txBox="1"/>
          <p:nvPr/>
        </p:nvSpPr>
        <p:spPr>
          <a:xfrm>
            <a:off x="3895097" y="3764171"/>
            <a:ext cx="141305" cy="113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467" name="Oval 466"/>
          <p:cNvSpPr/>
          <p:nvPr/>
        </p:nvSpPr>
        <p:spPr>
          <a:xfrm>
            <a:off x="4692139" y="4016225"/>
            <a:ext cx="113044" cy="1130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8" name="Oval 467"/>
          <p:cNvSpPr/>
          <p:nvPr/>
        </p:nvSpPr>
        <p:spPr>
          <a:xfrm>
            <a:off x="4730997" y="4055084"/>
            <a:ext cx="35326" cy="3532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9" name="TextBox 468"/>
          <p:cNvSpPr txBox="1"/>
          <p:nvPr/>
        </p:nvSpPr>
        <p:spPr>
          <a:xfrm>
            <a:off x="4833444" y="3903180"/>
            <a:ext cx="141305" cy="113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470" name="Oval 469"/>
          <p:cNvSpPr/>
          <p:nvPr/>
        </p:nvSpPr>
        <p:spPr>
          <a:xfrm>
            <a:off x="2823249" y="4548775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1" name="Connector 470"/>
          <p:cNvCxnSpPr/>
          <p:nvPr/>
        </p:nvCxnSpPr>
        <p:spPr>
          <a:xfrm flipV="1">
            <a:off x="2848684" y="4461634"/>
            <a:ext cx="94462" cy="11257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2" name="Connector 471"/>
          <p:cNvCxnSpPr/>
          <p:nvPr/>
        </p:nvCxnSpPr>
        <p:spPr>
          <a:xfrm>
            <a:off x="2943146" y="4461634"/>
            <a:ext cx="28144" cy="236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3" name="Rounded Rectangle 472"/>
          <p:cNvSpPr/>
          <p:nvPr/>
        </p:nvSpPr>
        <p:spPr>
          <a:xfrm>
            <a:off x="2957277" y="4329153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4" name="TextBox 473"/>
          <p:cNvSpPr txBox="1"/>
          <p:nvPr/>
        </p:nvSpPr>
        <p:spPr>
          <a:xfrm>
            <a:off x="2957277" y="4329153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S1</a:t>
            </a:r>
          </a:p>
        </p:txBody>
      </p:sp>
      <p:sp>
        <p:nvSpPr>
          <p:cNvPr id="475" name="Oval 474"/>
          <p:cNvSpPr/>
          <p:nvPr/>
        </p:nvSpPr>
        <p:spPr>
          <a:xfrm>
            <a:off x="3262828" y="3877196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6" name="Connector 475"/>
          <p:cNvCxnSpPr/>
          <p:nvPr/>
        </p:nvCxnSpPr>
        <p:spPr>
          <a:xfrm flipV="1">
            <a:off x="3288263" y="3790055"/>
            <a:ext cx="94462" cy="11257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7" name="Connector 476"/>
          <p:cNvCxnSpPr/>
          <p:nvPr/>
        </p:nvCxnSpPr>
        <p:spPr>
          <a:xfrm>
            <a:off x="3382725" y="3790055"/>
            <a:ext cx="28144" cy="236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8" name="Rounded Rectangle 477"/>
          <p:cNvSpPr/>
          <p:nvPr/>
        </p:nvSpPr>
        <p:spPr>
          <a:xfrm>
            <a:off x="3396856" y="3657574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9" name="TextBox 478"/>
          <p:cNvSpPr txBox="1"/>
          <p:nvPr/>
        </p:nvSpPr>
        <p:spPr>
          <a:xfrm>
            <a:off x="3396856" y="3657574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S2</a:t>
            </a:r>
          </a:p>
        </p:txBody>
      </p:sp>
      <p:sp>
        <p:nvSpPr>
          <p:cNvPr id="480" name="Oval 479"/>
          <p:cNvSpPr/>
          <p:nvPr/>
        </p:nvSpPr>
        <p:spPr>
          <a:xfrm>
            <a:off x="4111459" y="3193407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81" name="Connector 480"/>
          <p:cNvCxnSpPr/>
          <p:nvPr/>
        </p:nvCxnSpPr>
        <p:spPr>
          <a:xfrm flipV="1">
            <a:off x="4136894" y="3106266"/>
            <a:ext cx="94463" cy="11257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2" name="Connector 481"/>
          <p:cNvCxnSpPr/>
          <p:nvPr/>
        </p:nvCxnSpPr>
        <p:spPr>
          <a:xfrm>
            <a:off x="4231357" y="3106266"/>
            <a:ext cx="28144" cy="2361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3" name="Rounded Rectangle 482"/>
          <p:cNvSpPr/>
          <p:nvPr/>
        </p:nvSpPr>
        <p:spPr>
          <a:xfrm>
            <a:off x="4245487" y="2973784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4" name="TextBox 483"/>
          <p:cNvSpPr txBox="1"/>
          <p:nvPr/>
        </p:nvSpPr>
        <p:spPr>
          <a:xfrm>
            <a:off x="4245487" y="2973784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S3</a:t>
            </a:r>
          </a:p>
        </p:txBody>
      </p:sp>
      <p:sp>
        <p:nvSpPr>
          <p:cNvPr id="485" name="Oval 484"/>
          <p:cNvSpPr/>
          <p:nvPr/>
        </p:nvSpPr>
        <p:spPr>
          <a:xfrm>
            <a:off x="5228722" y="2747722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86" name="Connector 485"/>
          <p:cNvCxnSpPr/>
          <p:nvPr/>
        </p:nvCxnSpPr>
        <p:spPr>
          <a:xfrm flipV="1">
            <a:off x="5254157" y="2660581"/>
            <a:ext cx="94463" cy="11257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7" name="Connector 486"/>
          <p:cNvCxnSpPr/>
          <p:nvPr/>
        </p:nvCxnSpPr>
        <p:spPr>
          <a:xfrm>
            <a:off x="5348620" y="2660581"/>
            <a:ext cx="28144" cy="236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8" name="Connector 487"/>
          <p:cNvCxnSpPr/>
          <p:nvPr/>
        </p:nvCxnSpPr>
        <p:spPr>
          <a:xfrm>
            <a:off x="5332561" y="2679719"/>
            <a:ext cx="28144" cy="236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9" name="Rounded Rectangle 488"/>
          <p:cNvSpPr/>
          <p:nvPr/>
        </p:nvSpPr>
        <p:spPr>
          <a:xfrm>
            <a:off x="5362750" y="2528100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0" name="TextBox 489"/>
          <p:cNvSpPr txBox="1"/>
          <p:nvPr/>
        </p:nvSpPr>
        <p:spPr>
          <a:xfrm>
            <a:off x="5362750" y="2528100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S4</a:t>
            </a:r>
          </a:p>
        </p:txBody>
      </p:sp>
      <p:sp>
        <p:nvSpPr>
          <p:cNvPr id="491" name="Oval 490"/>
          <p:cNvSpPr/>
          <p:nvPr/>
        </p:nvSpPr>
        <p:spPr>
          <a:xfrm>
            <a:off x="5002828" y="4615933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92" name="Connector 491"/>
          <p:cNvCxnSpPr/>
          <p:nvPr/>
        </p:nvCxnSpPr>
        <p:spPr>
          <a:xfrm flipV="1">
            <a:off x="5028263" y="4528792"/>
            <a:ext cx="94462" cy="11257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3" name="Connector 492"/>
          <p:cNvCxnSpPr/>
          <p:nvPr/>
        </p:nvCxnSpPr>
        <p:spPr>
          <a:xfrm>
            <a:off x="5122725" y="4528792"/>
            <a:ext cx="28144" cy="236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4" name="Rounded Rectangle 493"/>
          <p:cNvSpPr/>
          <p:nvPr/>
        </p:nvSpPr>
        <p:spPr>
          <a:xfrm>
            <a:off x="5136856" y="4396311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5" name="TextBox 494"/>
          <p:cNvSpPr txBox="1"/>
          <p:nvPr/>
        </p:nvSpPr>
        <p:spPr>
          <a:xfrm>
            <a:off x="5136856" y="4396311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S5</a:t>
            </a:r>
          </a:p>
        </p:txBody>
      </p:sp>
      <p:sp>
        <p:nvSpPr>
          <p:cNvPr id="496" name="Oval 495"/>
          <p:cNvSpPr/>
          <p:nvPr/>
        </p:nvSpPr>
        <p:spPr>
          <a:xfrm>
            <a:off x="2975880" y="6410880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97" name="Connector 496"/>
          <p:cNvCxnSpPr/>
          <p:nvPr/>
        </p:nvCxnSpPr>
        <p:spPr>
          <a:xfrm flipV="1">
            <a:off x="3001315" y="6323739"/>
            <a:ext cx="94463" cy="11257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8" name="Connector 497"/>
          <p:cNvCxnSpPr/>
          <p:nvPr/>
        </p:nvCxnSpPr>
        <p:spPr>
          <a:xfrm>
            <a:off x="3095778" y="6323739"/>
            <a:ext cx="28144" cy="236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9" name="Connector 498"/>
          <p:cNvCxnSpPr/>
          <p:nvPr/>
        </p:nvCxnSpPr>
        <p:spPr>
          <a:xfrm>
            <a:off x="3079719" y="6342877"/>
            <a:ext cx="28144" cy="236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0" name="Rounded Rectangle 499"/>
          <p:cNvSpPr/>
          <p:nvPr/>
        </p:nvSpPr>
        <p:spPr>
          <a:xfrm>
            <a:off x="3109908" y="6191258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1" name="TextBox 500"/>
          <p:cNvSpPr txBox="1"/>
          <p:nvPr/>
        </p:nvSpPr>
        <p:spPr>
          <a:xfrm>
            <a:off x="3109908" y="6191258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S6</a:t>
            </a:r>
          </a:p>
        </p:txBody>
      </p:sp>
      <p:sp>
        <p:nvSpPr>
          <p:cNvPr id="502" name="Oval 501"/>
          <p:cNvSpPr/>
          <p:nvPr/>
        </p:nvSpPr>
        <p:spPr>
          <a:xfrm>
            <a:off x="5216512" y="5415722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03" name="Connector 502"/>
          <p:cNvCxnSpPr/>
          <p:nvPr/>
        </p:nvCxnSpPr>
        <p:spPr>
          <a:xfrm flipV="1">
            <a:off x="5241947" y="5328581"/>
            <a:ext cx="94462" cy="11257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4" name="Connector 503"/>
          <p:cNvCxnSpPr/>
          <p:nvPr/>
        </p:nvCxnSpPr>
        <p:spPr>
          <a:xfrm>
            <a:off x="5336409" y="5328581"/>
            <a:ext cx="28144" cy="236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5" name="Connector 504"/>
          <p:cNvCxnSpPr/>
          <p:nvPr/>
        </p:nvCxnSpPr>
        <p:spPr>
          <a:xfrm>
            <a:off x="5320351" y="5347719"/>
            <a:ext cx="28144" cy="236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6" name="Rounded Rectangle 505"/>
          <p:cNvSpPr/>
          <p:nvPr/>
        </p:nvSpPr>
        <p:spPr>
          <a:xfrm>
            <a:off x="5350540" y="5196100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7" name="TextBox 506"/>
          <p:cNvSpPr txBox="1"/>
          <p:nvPr/>
        </p:nvSpPr>
        <p:spPr>
          <a:xfrm>
            <a:off x="5350540" y="5196100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S7</a:t>
            </a:r>
          </a:p>
        </p:txBody>
      </p:sp>
      <p:sp>
        <p:nvSpPr>
          <p:cNvPr id="508" name="TextBox 507"/>
          <p:cNvSpPr txBox="1"/>
          <p:nvPr/>
        </p:nvSpPr>
        <p:spPr>
          <a:xfrm>
            <a:off x="8730000" y="400000"/>
            <a:ext cx="33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1A1A1A"/>
                </a:solidFill>
                <a:latin typeface="Microsoft YaHei"/>
              </a:rPr>
              <a:t>本图开关（从左到右逐键）</a:t>
            </a:r>
          </a:p>
        </p:txBody>
      </p:sp>
      <p:sp>
        <p:nvSpPr>
          <p:cNvPr id="509" name="TextBox 508"/>
          <p:cNvSpPr txBox="1"/>
          <p:nvPr/>
        </p:nvSpPr>
        <p:spPr>
          <a:xfrm>
            <a:off x="8730000" y="6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  1 联 · 盥洗室门旁</a:t>
            </a:r>
          </a:p>
        </p:txBody>
      </p:sp>
      <p:sp>
        <p:nvSpPr>
          <p:cNvPr id="510" name="TextBox 509"/>
          <p:cNvSpPr txBox="1"/>
          <p:nvPr/>
        </p:nvSpPr>
        <p:spPr>
          <a:xfrm>
            <a:off x="8980000" y="79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键1=g</a:t>
            </a:r>
          </a:p>
        </p:txBody>
      </p:sp>
      <p:sp>
        <p:nvSpPr>
          <p:cNvPr id="511" name="TextBox 510"/>
          <p:cNvSpPr txBox="1"/>
          <p:nvPr/>
        </p:nvSpPr>
        <p:spPr>
          <a:xfrm>
            <a:off x="8730000" y="995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S2  1 联 · 西卫生间门外</a:t>
            </a:r>
          </a:p>
        </p:txBody>
      </p:sp>
      <p:sp>
        <p:nvSpPr>
          <p:cNvPr id="512" name="TextBox 511"/>
          <p:cNvSpPr txBox="1"/>
          <p:nvPr/>
        </p:nvSpPr>
        <p:spPr>
          <a:xfrm>
            <a:off x="8980000" y="116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键1=h</a:t>
            </a:r>
          </a:p>
        </p:txBody>
      </p:sp>
      <p:sp>
        <p:nvSpPr>
          <p:cNvPr id="513" name="TextBox 512"/>
          <p:cNvSpPr txBox="1"/>
          <p:nvPr/>
        </p:nvSpPr>
        <p:spPr>
          <a:xfrm>
            <a:off x="8730000" y="136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S3  1 联 · 主卧门旁</a:t>
            </a:r>
          </a:p>
        </p:txBody>
      </p:sp>
      <p:sp>
        <p:nvSpPr>
          <p:cNvPr id="514" name="TextBox 513"/>
          <p:cNvSpPr txBox="1"/>
          <p:nvPr/>
        </p:nvSpPr>
        <p:spPr>
          <a:xfrm>
            <a:off x="8980000" y="152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键1=a</a:t>
            </a:r>
          </a:p>
        </p:txBody>
      </p:sp>
      <p:sp>
        <p:nvSpPr>
          <p:cNvPr id="515" name="TextBox 514"/>
          <p:cNvSpPr txBox="1"/>
          <p:nvPr/>
        </p:nvSpPr>
        <p:spPr>
          <a:xfrm>
            <a:off x="8730000" y="1725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S4  2 联 · 主卧东墙 · 床头侧</a:t>
            </a:r>
          </a:p>
        </p:txBody>
      </p:sp>
      <p:sp>
        <p:nvSpPr>
          <p:cNvPr id="516" name="TextBox 515"/>
          <p:cNvSpPr txBox="1"/>
          <p:nvPr/>
        </p:nvSpPr>
        <p:spPr>
          <a:xfrm>
            <a:off x="8980000" y="18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键1=a  键2=b</a:t>
            </a:r>
          </a:p>
        </p:txBody>
      </p:sp>
      <p:sp>
        <p:nvSpPr>
          <p:cNvPr id="517" name="TextBox 516"/>
          <p:cNvSpPr txBox="1"/>
          <p:nvPr/>
        </p:nvSpPr>
        <p:spPr>
          <a:xfrm>
            <a:off x="8730000" y="209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S5  1 联 · 衣帽间门旁</a:t>
            </a:r>
          </a:p>
        </p:txBody>
      </p:sp>
      <p:sp>
        <p:nvSpPr>
          <p:cNvPr id="518" name="TextBox 517"/>
          <p:cNvSpPr txBox="1"/>
          <p:nvPr/>
        </p:nvSpPr>
        <p:spPr>
          <a:xfrm>
            <a:off x="8980000" y="225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键1=f</a:t>
            </a:r>
          </a:p>
        </p:txBody>
      </p:sp>
      <p:sp>
        <p:nvSpPr>
          <p:cNvPr id="519" name="TextBox 518"/>
          <p:cNvSpPr txBox="1"/>
          <p:nvPr/>
        </p:nvSpPr>
        <p:spPr>
          <a:xfrm>
            <a:off x="8730000" y="2455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S6  2 联 · 卧室2 门旁</a:t>
            </a:r>
          </a:p>
        </p:txBody>
      </p:sp>
      <p:sp>
        <p:nvSpPr>
          <p:cNvPr id="520" name="TextBox 519"/>
          <p:cNvSpPr txBox="1"/>
          <p:nvPr/>
        </p:nvSpPr>
        <p:spPr>
          <a:xfrm>
            <a:off x="8980000" y="262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键1=i  键2=j</a:t>
            </a:r>
          </a:p>
        </p:txBody>
      </p:sp>
      <p:sp>
        <p:nvSpPr>
          <p:cNvPr id="521" name="TextBox 520"/>
          <p:cNvSpPr txBox="1"/>
          <p:nvPr/>
        </p:nvSpPr>
        <p:spPr>
          <a:xfrm>
            <a:off x="8730000" y="282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S7  2 联 · 卧室2 床头侧</a:t>
            </a:r>
          </a:p>
        </p:txBody>
      </p:sp>
      <p:sp>
        <p:nvSpPr>
          <p:cNvPr id="522" name="TextBox 521"/>
          <p:cNvSpPr txBox="1"/>
          <p:nvPr/>
        </p:nvSpPr>
        <p:spPr>
          <a:xfrm>
            <a:off x="8980000" y="298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键1=i  键2=j</a:t>
            </a:r>
          </a:p>
        </p:txBody>
      </p:sp>
      <p:sp>
        <p:nvSpPr>
          <p:cNvPr id="523" name="TextBox 522"/>
          <p:cNvSpPr txBox="1"/>
          <p:nvPr/>
        </p:nvSpPr>
        <p:spPr>
          <a:xfrm>
            <a:off x="8730000" y="3245000"/>
            <a:ext cx="3300000" cy="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C00000"/>
                </a:solidFill>
                <a:latin typeface="Microsoft YaHei"/>
              </a:rPr>
              <a:t>双控联络线（红粗线）</a:t>
            </a:r>
          </a:p>
        </p:txBody>
      </p:sp>
      <p:sp>
        <p:nvSpPr>
          <p:cNvPr id="524" name="TextBox 523"/>
          <p:cNvSpPr txBox="1"/>
          <p:nvPr/>
        </p:nvSpPr>
        <p:spPr>
          <a:xfrm>
            <a:off x="8730000" y="3435000"/>
            <a:ext cx="3300000" cy="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C00000"/>
                </a:solidFill>
                <a:latin typeface="Microsoft YaHei"/>
              </a:rPr>
              <a:t>· W1：S3 ↔ S4  3C+E  回路 a</a:t>
            </a:r>
          </a:p>
        </p:txBody>
      </p:sp>
      <p:sp>
        <p:nvSpPr>
          <p:cNvPr id="525" name="TextBox 524"/>
          <p:cNvSpPr txBox="1"/>
          <p:nvPr/>
        </p:nvSpPr>
        <p:spPr>
          <a:xfrm>
            <a:off x="8730000" y="3605000"/>
            <a:ext cx="3300000" cy="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C00000"/>
                </a:solidFill>
                <a:latin typeface="Microsoft YaHei"/>
              </a:rPr>
              <a:t>· W2：S6 ↔ S7  3C+E  回路 i j</a:t>
            </a:r>
          </a:p>
        </p:txBody>
      </p:sp>
      <p:sp>
        <p:nvSpPr>
          <p:cNvPr id="526" name="TextBox 525"/>
          <p:cNvSpPr txBox="1"/>
          <p:nvPr/>
        </p:nvSpPr>
        <p:spPr>
          <a:xfrm>
            <a:off x="8730000" y="3775000"/>
            <a:ext cx="33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C00000"/>
                </a:solidFill>
                <a:latin typeface="Microsoft YaHei"/>
              </a:rPr>
              <a:t>红线只表示连接关系，实际走线沿墙 / 吊顶内，现场定。</a:t>
            </a:r>
          </a:p>
        </p:txBody>
      </p:sp>
      <p:sp>
        <p:nvSpPr>
          <p:cNvPr id="527" name="Rectangle 526"/>
          <p:cNvSpPr/>
          <p:nvPr/>
        </p:nvSpPr>
        <p:spPr>
          <a:xfrm>
            <a:off x="399999" y="6540000"/>
            <a:ext cx="642296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8" name="Rectangle 527"/>
          <p:cNvSpPr/>
          <p:nvPr/>
        </p:nvSpPr>
        <p:spPr>
          <a:xfrm>
            <a:off x="1042296" y="6540000"/>
            <a:ext cx="642296" cy="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9" name="TextBox 528"/>
          <p:cNvSpPr txBox="1"/>
          <p:nvPr/>
        </p:nvSpPr>
        <p:spPr>
          <a:xfrm>
            <a:off x="1724593" y="6500000"/>
            <a:ext cx="30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" b="0">
                <a:solidFill>
                  <a:srgbClr val="1A1A1A"/>
                </a:solidFill>
                <a:latin typeface="Microsoft YaHei"/>
              </a:rPr>
              <a:t>2 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10" name="二层平面（横向）"/>
          <p:cNvGrpSpPr/>
          <p:nvPr/>
        </p:nvGrpSpPr>
        <p:grpSpPr>
          <a:xfrm rot="5400000">
            <a:off x="33047" y="-19904"/>
            <a:ext cx="5753380" cy="7590686"/>
            <a:chOff x="356311" y="926340"/>
            <a:chExt cx="3635855" cy="4796943"/>
          </a:xfrm>
        </p:grpSpPr>
        <p:grpSp>
          <p:nvGrpSpPr>
            <p:cNvPr id="6" name="墙体（Blender 1.2 m 剖切，已锁定）">
              <a:extLst>
                <a:ext uri="{FF2B5EF4-FFF2-40B4-BE49-F238E27FC236}">
                  <a16:creationId xmlns:a16="http://schemas.microsoft.com/office/drawing/2014/main" id="{F8B5F234-FA8A-924F-BCB9-E3B494015B5B}"/>
                </a:ext>
              </a:extLst>
            </p:cNvPr>
            <p:cNvGrpSpPr>
              <a:grpSpLocks noGrp="1" noRot="1" noMove="1" noResize="1"/>
            </p:cNvGrpSpPr>
            <p:nvPr/>
          </p:nvGrpSpPr>
          <p:grpSpPr>
            <a:xfrm>
              <a:off x="356311" y="926340"/>
              <a:ext cx="3635855" cy="4796943"/>
              <a:chOff x="356311" y="926340"/>
              <a:chExt cx="3635855" cy="4796943"/>
            </a:xfrm>
          </p:grpSpPr>
          <p:sp>
            <p:nvSpPr>
              <p:cNvPr id="5" name="墙_GF_Wall_Shell">
                <a:extLst>
                  <a:ext uri="{FF2B5EF4-FFF2-40B4-BE49-F238E27FC236}">
                    <a16:creationId xmlns:a16="http://schemas.microsoft.com/office/drawing/2014/main" id="{36090254-C9EF-9A5F-197B-A425633E0A8F}"/>
                  </a:ext>
                </a:extLst>
              </p:cNvPr>
              <p:cNvSpPr/>
              <p:nvPr/>
            </p:nvSpPr>
            <p:spPr>
              <a:xfrm>
                <a:off x="2603764" y="4099465"/>
                <a:ext cx="49507" cy="415573"/>
              </a:xfrm>
              <a:custGeom>
                <a:avLst/>
                <a:gdLst/>
                <a:ahLst/>
                <a:cxnLst/>
                <a:rect l="l" t="t" r="r" b="b"/>
                <a:pathLst>
                  <a:path w="49507" h="415573">
                    <a:moveTo>
                      <a:pt x="49507" y="76297"/>
                    </a:moveTo>
                    <a:lnTo>
                      <a:pt x="49507" y="0"/>
                    </a:lnTo>
                    <a:lnTo>
                      <a:pt x="0" y="0"/>
                    </a:lnTo>
                    <a:lnTo>
                      <a:pt x="0" y="76297"/>
                    </a:lnTo>
                    <a:close/>
                    <a:moveTo>
                      <a:pt x="49507" y="415573"/>
                    </a:moveTo>
                    <a:lnTo>
                      <a:pt x="49507" y="353886"/>
                    </a:lnTo>
                    <a:lnTo>
                      <a:pt x="0" y="353886"/>
                    </a:lnTo>
                    <a:lnTo>
                      <a:pt x="0" y="41557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墙_FF_Wall_Shell">
                <a:extLst>
                  <a:ext uri="{FF2B5EF4-FFF2-40B4-BE49-F238E27FC236}">
                    <a16:creationId xmlns:a16="http://schemas.microsoft.com/office/drawing/2014/main" id="{D6149830-E1C6-E65A-A4FE-0F7ADADC412D}"/>
                  </a:ext>
                </a:extLst>
              </p:cNvPr>
              <p:cNvSpPr/>
              <p:nvPr/>
            </p:nvSpPr>
            <p:spPr>
              <a:xfrm>
                <a:off x="356311" y="926340"/>
                <a:ext cx="3635855" cy="4796943"/>
              </a:xfrm>
              <a:custGeom>
                <a:avLst/>
                <a:gdLst/>
                <a:ahLst/>
                <a:cxnLst/>
                <a:rect l="l" t="t" r="r" b="b"/>
                <a:pathLst>
                  <a:path w="3635855" h="4796943">
                    <a:moveTo>
                      <a:pt x="1498370" y="4271390"/>
                    </a:moveTo>
                    <a:lnTo>
                      <a:pt x="1498370" y="4222690"/>
                    </a:lnTo>
                    <a:lnTo>
                      <a:pt x="1509529" y="4222690"/>
                    </a:lnTo>
                    <a:lnTo>
                      <a:pt x="1509529" y="3735690"/>
                    </a:lnTo>
                    <a:lnTo>
                      <a:pt x="1509529" y="2997075"/>
                    </a:lnTo>
                    <a:lnTo>
                      <a:pt x="1032932" y="2997075"/>
                    </a:lnTo>
                    <a:lnTo>
                      <a:pt x="1032932" y="2972644"/>
                    </a:lnTo>
                    <a:lnTo>
                      <a:pt x="1533876" y="2972644"/>
                    </a:lnTo>
                    <a:lnTo>
                      <a:pt x="1533876" y="2972725"/>
                    </a:lnTo>
                    <a:lnTo>
                      <a:pt x="2272409" y="2972725"/>
                    </a:lnTo>
                    <a:lnTo>
                      <a:pt x="2820222" y="2972725"/>
                    </a:lnTo>
                    <a:lnTo>
                      <a:pt x="2915217" y="2972725"/>
                    </a:lnTo>
                    <a:lnTo>
                      <a:pt x="2915217" y="3021425"/>
                    </a:lnTo>
                    <a:lnTo>
                      <a:pt x="2820222" y="3021425"/>
                    </a:lnTo>
                    <a:lnTo>
                      <a:pt x="2296757" y="3021425"/>
                    </a:lnTo>
                    <a:lnTo>
                      <a:pt x="2296757" y="3183880"/>
                    </a:lnTo>
                    <a:lnTo>
                      <a:pt x="2248062" y="3183880"/>
                    </a:lnTo>
                    <a:lnTo>
                      <a:pt x="2248062" y="3021425"/>
                    </a:lnTo>
                    <a:lnTo>
                      <a:pt x="1558224" y="3021425"/>
                    </a:lnTo>
                    <a:lnTo>
                      <a:pt x="1558224" y="3711340"/>
                    </a:lnTo>
                    <a:lnTo>
                      <a:pt x="2248062" y="3711340"/>
                    </a:lnTo>
                    <a:lnTo>
                      <a:pt x="2248062" y="3588251"/>
                    </a:lnTo>
                    <a:lnTo>
                      <a:pt x="2296757" y="3588251"/>
                    </a:lnTo>
                    <a:lnTo>
                      <a:pt x="2296757" y="3735690"/>
                    </a:lnTo>
                    <a:lnTo>
                      <a:pt x="2296757" y="4247040"/>
                    </a:lnTo>
                    <a:lnTo>
                      <a:pt x="2248062" y="4247040"/>
                    </a:lnTo>
                    <a:lnTo>
                      <a:pt x="2248062" y="3760040"/>
                    </a:lnTo>
                    <a:lnTo>
                      <a:pt x="1558224" y="3760040"/>
                    </a:lnTo>
                    <a:lnTo>
                      <a:pt x="1558224" y="4222690"/>
                    </a:lnTo>
                    <a:lnTo>
                      <a:pt x="1947739" y="4222690"/>
                    </a:lnTo>
                    <a:lnTo>
                      <a:pt x="1947739" y="4271390"/>
                    </a:lnTo>
                    <a:lnTo>
                      <a:pt x="1558224" y="4271390"/>
                    </a:lnTo>
                    <a:lnTo>
                      <a:pt x="1558224" y="4502714"/>
                    </a:lnTo>
                    <a:lnTo>
                      <a:pt x="1558224" y="4703601"/>
                    </a:lnTo>
                    <a:lnTo>
                      <a:pt x="1893607" y="4703601"/>
                    </a:lnTo>
                    <a:lnTo>
                      <a:pt x="1893607" y="4750272"/>
                    </a:lnTo>
                    <a:lnTo>
                      <a:pt x="1893607" y="4796943"/>
                    </a:lnTo>
                    <a:lnTo>
                      <a:pt x="1533876" y="4796943"/>
                    </a:lnTo>
                    <a:lnTo>
                      <a:pt x="1533876" y="4750272"/>
                    </a:lnTo>
                    <a:lnTo>
                      <a:pt x="1522717" y="4750272"/>
                    </a:lnTo>
                    <a:lnTo>
                      <a:pt x="1487211" y="4750272"/>
                    </a:lnTo>
                    <a:lnTo>
                      <a:pt x="1487211" y="4549385"/>
                    </a:lnTo>
                    <a:lnTo>
                      <a:pt x="256458" y="4549385"/>
                    </a:lnTo>
                    <a:lnTo>
                      <a:pt x="46666" y="4549385"/>
                    </a:lnTo>
                    <a:lnTo>
                      <a:pt x="46666" y="4502714"/>
                    </a:lnTo>
                    <a:lnTo>
                      <a:pt x="0" y="4502714"/>
                    </a:lnTo>
                    <a:lnTo>
                      <a:pt x="0" y="1523902"/>
                    </a:lnTo>
                    <a:lnTo>
                      <a:pt x="46666" y="1523902"/>
                    </a:lnTo>
                    <a:lnTo>
                      <a:pt x="46666" y="1477231"/>
                    </a:lnTo>
                    <a:lnTo>
                      <a:pt x="700673" y="1477231"/>
                    </a:lnTo>
                    <a:lnTo>
                      <a:pt x="764341" y="1477231"/>
                    </a:lnTo>
                    <a:lnTo>
                      <a:pt x="1533876" y="1477231"/>
                    </a:lnTo>
                    <a:lnTo>
                      <a:pt x="1638772" y="1477231"/>
                    </a:lnTo>
                    <a:lnTo>
                      <a:pt x="1638772" y="1523902"/>
                    </a:lnTo>
                    <a:lnTo>
                      <a:pt x="1638772" y="1570573"/>
                    </a:lnTo>
                    <a:lnTo>
                      <a:pt x="1558224" y="1570573"/>
                    </a:lnTo>
                    <a:lnTo>
                      <a:pt x="1558224" y="2215400"/>
                    </a:lnTo>
                    <a:lnTo>
                      <a:pt x="1558224" y="2546600"/>
                    </a:lnTo>
                    <a:lnTo>
                      <a:pt x="1985234" y="2546600"/>
                    </a:lnTo>
                    <a:lnTo>
                      <a:pt x="1985234" y="2595300"/>
                    </a:lnTo>
                    <a:lnTo>
                      <a:pt x="1533876" y="2595300"/>
                    </a:lnTo>
                    <a:lnTo>
                      <a:pt x="1533876" y="2570950"/>
                    </a:lnTo>
                    <a:lnTo>
                      <a:pt x="1509529" y="2570950"/>
                    </a:lnTo>
                    <a:lnTo>
                      <a:pt x="1509529" y="2239994"/>
                    </a:lnTo>
                    <a:lnTo>
                      <a:pt x="1057847" y="2239994"/>
                    </a:lnTo>
                    <a:lnTo>
                      <a:pt x="1057847" y="2570950"/>
                    </a:lnTo>
                    <a:lnTo>
                      <a:pt x="1008016" y="2570950"/>
                    </a:lnTo>
                    <a:lnTo>
                      <a:pt x="1008016" y="2239994"/>
                    </a:lnTo>
                    <a:lnTo>
                      <a:pt x="692395" y="2239994"/>
                    </a:lnTo>
                    <a:lnTo>
                      <a:pt x="692395" y="2190847"/>
                    </a:lnTo>
                    <a:lnTo>
                      <a:pt x="667480" y="2190847"/>
                    </a:lnTo>
                    <a:lnTo>
                      <a:pt x="667480" y="2141701"/>
                    </a:lnTo>
                    <a:lnTo>
                      <a:pt x="717310" y="2141701"/>
                    </a:lnTo>
                    <a:lnTo>
                      <a:pt x="717310" y="2190847"/>
                    </a:lnTo>
                    <a:lnTo>
                      <a:pt x="1032932" y="2190847"/>
                    </a:lnTo>
                    <a:lnTo>
                      <a:pt x="1509529" y="2190847"/>
                    </a:lnTo>
                    <a:lnTo>
                      <a:pt x="1509529" y="1570573"/>
                    </a:lnTo>
                    <a:lnTo>
                      <a:pt x="764341" y="1570573"/>
                    </a:lnTo>
                    <a:lnTo>
                      <a:pt x="717310" y="1570573"/>
                    </a:lnTo>
                    <a:lnTo>
                      <a:pt x="717310" y="1854940"/>
                    </a:lnTo>
                    <a:lnTo>
                      <a:pt x="667480" y="1854940"/>
                    </a:lnTo>
                    <a:lnTo>
                      <a:pt x="667480" y="1570573"/>
                    </a:lnTo>
                    <a:lnTo>
                      <a:pt x="93331" y="1570573"/>
                    </a:lnTo>
                    <a:lnTo>
                      <a:pt x="93331" y="4456043"/>
                    </a:lnTo>
                    <a:lnTo>
                      <a:pt x="256458" y="4456043"/>
                    </a:lnTo>
                    <a:lnTo>
                      <a:pt x="1509529" y="4456043"/>
                    </a:lnTo>
                    <a:lnTo>
                      <a:pt x="1509529" y="4271390"/>
                    </a:lnTo>
                    <a:close/>
                    <a:moveTo>
                      <a:pt x="2296757" y="4583881"/>
                    </a:moveTo>
                    <a:lnTo>
                      <a:pt x="2296757" y="4673164"/>
                    </a:lnTo>
                    <a:lnTo>
                      <a:pt x="2464428" y="4673164"/>
                    </a:lnTo>
                    <a:lnTo>
                      <a:pt x="2464428" y="4697514"/>
                    </a:lnTo>
                    <a:lnTo>
                      <a:pt x="2488978" y="4697514"/>
                    </a:lnTo>
                    <a:lnTo>
                      <a:pt x="2488978" y="4703601"/>
                    </a:lnTo>
                    <a:lnTo>
                      <a:pt x="2610674" y="4703601"/>
                    </a:lnTo>
                    <a:lnTo>
                      <a:pt x="2610674" y="4750272"/>
                    </a:lnTo>
                    <a:lnTo>
                      <a:pt x="2610674" y="4796943"/>
                    </a:lnTo>
                    <a:lnTo>
                      <a:pt x="2464428" y="4796943"/>
                    </a:lnTo>
                    <a:lnTo>
                      <a:pt x="2306090" y="4796943"/>
                    </a:lnTo>
                    <a:lnTo>
                      <a:pt x="2306090" y="4750272"/>
                    </a:lnTo>
                    <a:lnTo>
                      <a:pt x="2306090" y="4721864"/>
                    </a:lnTo>
                    <a:lnTo>
                      <a:pt x="2272409" y="4721864"/>
                    </a:lnTo>
                    <a:lnTo>
                      <a:pt x="2272409" y="4697514"/>
                    </a:lnTo>
                    <a:lnTo>
                      <a:pt x="2248062" y="4697514"/>
                    </a:lnTo>
                    <a:lnTo>
                      <a:pt x="2248062" y="4583881"/>
                    </a:lnTo>
                    <a:close/>
                    <a:moveTo>
                      <a:pt x="3535828" y="582370"/>
                    </a:moveTo>
                    <a:lnTo>
                      <a:pt x="3535828" y="533670"/>
                    </a:lnTo>
                    <a:lnTo>
                      <a:pt x="3538466" y="533670"/>
                    </a:lnTo>
                    <a:lnTo>
                      <a:pt x="3538466" y="93342"/>
                    </a:lnTo>
                    <a:lnTo>
                      <a:pt x="3221505" y="93342"/>
                    </a:lnTo>
                    <a:lnTo>
                      <a:pt x="2319075" y="93342"/>
                    </a:lnTo>
                    <a:lnTo>
                      <a:pt x="2319075" y="682611"/>
                    </a:lnTo>
                    <a:lnTo>
                      <a:pt x="2272409" y="682611"/>
                    </a:lnTo>
                    <a:lnTo>
                      <a:pt x="2225663" y="682611"/>
                    </a:lnTo>
                    <a:lnTo>
                      <a:pt x="2225663" y="46671"/>
                    </a:lnTo>
                    <a:lnTo>
                      <a:pt x="2272409" y="46671"/>
                    </a:lnTo>
                    <a:lnTo>
                      <a:pt x="2272409" y="0"/>
                    </a:lnTo>
                    <a:lnTo>
                      <a:pt x="3221505" y="0"/>
                    </a:lnTo>
                    <a:lnTo>
                      <a:pt x="3587161" y="0"/>
                    </a:lnTo>
                    <a:lnTo>
                      <a:pt x="3587161" y="46671"/>
                    </a:lnTo>
                    <a:lnTo>
                      <a:pt x="3635855" y="46671"/>
                    </a:lnTo>
                    <a:lnTo>
                      <a:pt x="3635855" y="558020"/>
                    </a:lnTo>
                    <a:lnTo>
                      <a:pt x="3635855" y="1174886"/>
                    </a:lnTo>
                    <a:lnTo>
                      <a:pt x="3635855" y="1523902"/>
                    </a:lnTo>
                    <a:lnTo>
                      <a:pt x="3635855" y="2497901"/>
                    </a:lnTo>
                    <a:lnTo>
                      <a:pt x="3635855" y="2997075"/>
                    </a:lnTo>
                    <a:lnTo>
                      <a:pt x="3635855" y="4750272"/>
                    </a:lnTo>
                    <a:lnTo>
                      <a:pt x="3587161" y="4750272"/>
                    </a:lnTo>
                    <a:lnTo>
                      <a:pt x="3587161" y="4796943"/>
                    </a:lnTo>
                    <a:lnTo>
                      <a:pt x="3027093" y="4796943"/>
                    </a:lnTo>
                    <a:lnTo>
                      <a:pt x="3027093" y="4750272"/>
                    </a:lnTo>
                    <a:lnTo>
                      <a:pt x="3027093" y="4703601"/>
                    </a:lnTo>
                    <a:lnTo>
                      <a:pt x="3538466" y="4703601"/>
                    </a:lnTo>
                    <a:lnTo>
                      <a:pt x="3538466" y="3021425"/>
                    </a:lnTo>
                    <a:lnTo>
                      <a:pt x="3331433" y="3021425"/>
                    </a:lnTo>
                    <a:lnTo>
                      <a:pt x="3332042" y="3001174"/>
                    </a:lnTo>
                    <a:lnTo>
                      <a:pt x="3333178" y="2972725"/>
                    </a:lnTo>
                    <a:lnTo>
                      <a:pt x="3538466" y="2972725"/>
                    </a:lnTo>
                    <a:lnTo>
                      <a:pt x="3538466" y="2497901"/>
                    </a:lnTo>
                    <a:lnTo>
                      <a:pt x="3538466" y="1548252"/>
                    </a:lnTo>
                    <a:lnTo>
                      <a:pt x="3166197" y="1548252"/>
                    </a:lnTo>
                    <a:lnTo>
                      <a:pt x="3166197" y="1499552"/>
                    </a:lnTo>
                    <a:lnTo>
                      <a:pt x="3166197" y="1499065"/>
                    </a:lnTo>
                    <a:lnTo>
                      <a:pt x="3217245" y="1499065"/>
                    </a:lnTo>
                    <a:lnTo>
                      <a:pt x="3217245" y="1499552"/>
                    </a:lnTo>
                    <a:lnTo>
                      <a:pt x="3538466" y="1499552"/>
                    </a:lnTo>
                    <a:lnTo>
                      <a:pt x="3538466" y="1491435"/>
                    </a:lnTo>
                    <a:lnTo>
                      <a:pt x="3538466" y="1174886"/>
                    </a:lnTo>
                    <a:lnTo>
                      <a:pt x="3538466" y="582370"/>
                    </a:lnTo>
                    <a:close/>
                    <a:moveTo>
                      <a:pt x="2795875" y="2558775"/>
                    </a:moveTo>
                    <a:lnTo>
                      <a:pt x="2795875" y="2530367"/>
                    </a:lnTo>
                    <a:lnTo>
                      <a:pt x="2456231" y="2530367"/>
                    </a:lnTo>
                    <a:lnTo>
                      <a:pt x="2456231" y="2570950"/>
                    </a:lnTo>
                    <a:lnTo>
                      <a:pt x="2431640" y="2570950"/>
                    </a:lnTo>
                    <a:lnTo>
                      <a:pt x="2431640" y="2595300"/>
                    </a:lnTo>
                    <a:lnTo>
                      <a:pt x="2362291" y="2595300"/>
                    </a:lnTo>
                    <a:lnTo>
                      <a:pt x="2361074" y="2546600"/>
                    </a:lnTo>
                    <a:lnTo>
                      <a:pt x="2407050" y="2546600"/>
                    </a:lnTo>
                    <a:lnTo>
                      <a:pt x="2407050" y="2506017"/>
                    </a:lnTo>
                    <a:lnTo>
                      <a:pt x="2431640" y="2506017"/>
                    </a:lnTo>
                    <a:lnTo>
                      <a:pt x="2431640" y="2481667"/>
                    </a:lnTo>
                    <a:lnTo>
                      <a:pt x="2795875" y="2481667"/>
                    </a:lnTo>
                    <a:lnTo>
                      <a:pt x="2795875" y="1548252"/>
                    </a:lnTo>
                    <a:lnTo>
                      <a:pt x="2272409" y="1548252"/>
                    </a:lnTo>
                    <a:lnTo>
                      <a:pt x="2272409" y="1570573"/>
                    </a:lnTo>
                    <a:lnTo>
                      <a:pt x="2052229" y="1570573"/>
                    </a:lnTo>
                    <a:lnTo>
                      <a:pt x="2052229" y="1523902"/>
                    </a:lnTo>
                    <a:lnTo>
                      <a:pt x="2052229" y="1477231"/>
                    </a:lnTo>
                    <a:lnTo>
                      <a:pt x="2225663" y="1477231"/>
                    </a:lnTo>
                    <a:lnTo>
                      <a:pt x="2225663" y="1441112"/>
                    </a:lnTo>
                    <a:lnTo>
                      <a:pt x="2272409" y="1441112"/>
                    </a:lnTo>
                    <a:lnTo>
                      <a:pt x="2319075" y="1441112"/>
                    </a:lnTo>
                    <a:lnTo>
                      <a:pt x="2319075" y="1499552"/>
                    </a:lnTo>
                    <a:lnTo>
                      <a:pt x="2828338" y="1499552"/>
                    </a:lnTo>
                    <a:lnTo>
                      <a:pt x="2828338" y="1523902"/>
                    </a:lnTo>
                    <a:lnTo>
                      <a:pt x="2844570" y="1523902"/>
                    </a:lnTo>
                    <a:lnTo>
                      <a:pt x="2844570" y="2506017"/>
                    </a:lnTo>
                    <a:lnTo>
                      <a:pt x="2844570" y="2558775"/>
                    </a:lnTo>
                    <a:close/>
                    <a:moveTo>
                      <a:pt x="2272409" y="1090878"/>
                    </a:moveTo>
                    <a:lnTo>
                      <a:pt x="2225663" y="1090878"/>
                    </a:lnTo>
                    <a:lnTo>
                      <a:pt x="2225663" y="1174886"/>
                    </a:lnTo>
                    <a:lnTo>
                      <a:pt x="2225663" y="1247936"/>
                    </a:lnTo>
                    <a:lnTo>
                      <a:pt x="2272409" y="1247936"/>
                    </a:lnTo>
                    <a:lnTo>
                      <a:pt x="2319075" y="1247936"/>
                    </a:lnTo>
                    <a:lnTo>
                      <a:pt x="2319075" y="1174886"/>
                    </a:lnTo>
                    <a:lnTo>
                      <a:pt x="2319075" y="109087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墙_Wall_FF_MasterBath_DoorInfill">
                <a:extLst>
                  <a:ext uri="{FF2B5EF4-FFF2-40B4-BE49-F238E27FC236}">
                    <a16:creationId xmlns:a16="http://schemas.microsoft.com/office/drawing/2014/main" id="{D4065AA6-F08C-A92B-989C-F38B0ADEAD7B}"/>
                  </a:ext>
                </a:extLst>
              </p:cNvPr>
              <p:cNvSpPr/>
              <p:nvPr/>
            </p:nvSpPr>
            <p:spPr>
              <a:xfrm>
                <a:off x="2303888" y="5148949"/>
                <a:ext cx="348977" cy="361191"/>
              </a:xfrm>
              <a:custGeom>
                <a:avLst/>
                <a:gdLst/>
                <a:ahLst/>
                <a:cxnLst/>
                <a:rect l="l" t="t" r="r" b="b"/>
                <a:pathLst>
                  <a:path w="348977" h="361191">
                    <a:moveTo>
                      <a:pt x="0" y="48699"/>
                    </a:moveTo>
                    <a:lnTo>
                      <a:pt x="0" y="0"/>
                    </a:lnTo>
                    <a:lnTo>
                      <a:pt x="23535" y="0"/>
                    </a:lnTo>
                    <a:lnTo>
                      <a:pt x="23535" y="48699"/>
                    </a:lnTo>
                    <a:close/>
                    <a:moveTo>
                      <a:pt x="348977" y="333594"/>
                    </a:moveTo>
                    <a:lnTo>
                      <a:pt x="348977" y="361191"/>
                    </a:lnTo>
                    <a:lnTo>
                      <a:pt x="300282" y="361191"/>
                    </a:lnTo>
                    <a:lnTo>
                      <a:pt x="300282" y="33359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墙_Wall_FF_Corridor_NorthEnd_Infill">
                <a:extLst>
                  <a:ext uri="{FF2B5EF4-FFF2-40B4-BE49-F238E27FC236}">
                    <a16:creationId xmlns:a16="http://schemas.microsoft.com/office/drawing/2014/main" id="{6FE94703-347E-5AA9-EBCD-A4BA6C8C610F}"/>
                  </a:ext>
                </a:extLst>
              </p:cNvPr>
              <p:cNvSpPr/>
              <p:nvPr/>
            </p:nvSpPr>
            <p:spPr>
              <a:xfrm>
                <a:off x="1865637" y="3497615"/>
                <a:ext cx="48695" cy="23944"/>
              </a:xfrm>
              <a:custGeom>
                <a:avLst/>
                <a:gdLst/>
                <a:ahLst/>
                <a:cxnLst/>
                <a:rect l="l" t="t" r="r" b="b"/>
                <a:pathLst>
                  <a:path w="48695" h="23944">
                    <a:moveTo>
                      <a:pt x="48695" y="0"/>
                    </a:moveTo>
                    <a:lnTo>
                      <a:pt x="48695" y="23944"/>
                    </a:lnTo>
                    <a:lnTo>
                      <a:pt x="0" y="2394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墙_Wall_FF_Study_North_FlushInfill">
                <a:extLst>
                  <a:ext uri="{FF2B5EF4-FFF2-40B4-BE49-F238E27FC236}">
                    <a16:creationId xmlns:a16="http://schemas.microsoft.com/office/drawing/2014/main" id="{6CBA934C-8B14-5DE7-5288-2C5C4A954CC4}"/>
                  </a:ext>
                </a:extLst>
              </p:cNvPr>
              <p:cNvSpPr/>
              <p:nvPr/>
            </p:nvSpPr>
            <p:spPr>
              <a:xfrm>
                <a:off x="2628517" y="2474511"/>
                <a:ext cx="523466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523466" h="22321">
                    <a:moveTo>
                      <a:pt x="523466" y="0"/>
                    </a:moveTo>
                    <a:lnTo>
                      <a:pt x="523466" y="22321"/>
                    </a:lnTo>
                    <a:lnTo>
                      <a:pt x="0" y="2232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墙_Wall_FF_NarrowWindow_LowerInfill">
                <a:extLst>
                  <a:ext uri="{FF2B5EF4-FFF2-40B4-BE49-F238E27FC236}">
                    <a16:creationId xmlns:a16="http://schemas.microsoft.com/office/drawing/2014/main" id="{5AAA951F-7EA2-9F88-1DFF-E488B9075678}"/>
                  </a:ext>
                </a:extLst>
              </p:cNvPr>
              <p:cNvSpPr/>
              <p:nvPr/>
            </p:nvSpPr>
            <p:spPr>
              <a:xfrm>
                <a:off x="2581852" y="2174195"/>
                <a:ext cx="93331" cy="193176"/>
              </a:xfrm>
              <a:custGeom>
                <a:avLst/>
                <a:gdLst/>
                <a:ahLst/>
                <a:cxnLst/>
                <a:rect l="l" t="t" r="r" b="b"/>
                <a:pathLst>
                  <a:path w="93331" h="193176">
                    <a:moveTo>
                      <a:pt x="93331" y="0"/>
                    </a:moveTo>
                    <a:lnTo>
                      <a:pt x="93331" y="193176"/>
                    </a:lnTo>
                    <a:lnTo>
                      <a:pt x="0" y="19317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" name="墙_V35_Partition_Study_Bath">
                <a:extLst>
                  <a:ext uri="{FF2B5EF4-FFF2-40B4-BE49-F238E27FC236}">
                    <a16:creationId xmlns:a16="http://schemas.microsoft.com/office/drawing/2014/main" id="{D106B129-B0A9-2A70-E4C2-3EE326CDF4EE}"/>
                  </a:ext>
                </a:extLst>
              </p:cNvPr>
              <p:cNvSpPr/>
              <p:nvPr/>
            </p:nvSpPr>
            <p:spPr>
              <a:xfrm>
                <a:off x="2673154" y="1425027"/>
                <a:ext cx="1225478" cy="44642"/>
              </a:xfrm>
              <a:custGeom>
                <a:avLst/>
                <a:gdLst/>
                <a:ahLst/>
                <a:cxnLst/>
                <a:rect l="l" t="t" r="r" b="b"/>
                <a:pathLst>
                  <a:path w="1225478" h="44642">
                    <a:moveTo>
                      <a:pt x="1225478" y="0"/>
                    </a:moveTo>
                    <a:lnTo>
                      <a:pt x="1225478" y="44642"/>
                    </a:lnTo>
                    <a:lnTo>
                      <a:pt x="409845" y="44642"/>
                    </a:lnTo>
                    <a:lnTo>
                      <a:pt x="409845" y="0"/>
                    </a:lnTo>
                    <a:close/>
                    <a:moveTo>
                      <a:pt x="142026" y="0"/>
                    </a:moveTo>
                    <a:lnTo>
                      <a:pt x="142026" y="44642"/>
                    </a:lnTo>
                    <a:lnTo>
                      <a:pt x="0" y="446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" name="墙_V35_DoorLeaf_Bath245">
                <a:extLst>
                  <a:ext uri="{FF2B5EF4-FFF2-40B4-BE49-F238E27FC236}">
                    <a16:creationId xmlns:a16="http://schemas.microsoft.com/office/drawing/2014/main" id="{74B8227F-0476-BA74-FCC2-02FF628D3440}"/>
                  </a:ext>
                </a:extLst>
              </p:cNvPr>
              <p:cNvSpPr/>
              <p:nvPr/>
            </p:nvSpPr>
            <p:spPr>
              <a:xfrm>
                <a:off x="3066768" y="1473727"/>
                <a:ext cx="16231" cy="259733"/>
              </a:xfrm>
              <a:custGeom>
                <a:avLst/>
                <a:gdLst/>
                <a:ahLst/>
                <a:cxnLst/>
                <a:rect l="l" t="t" r="r" b="b"/>
                <a:pathLst>
                  <a:path w="16231" h="259733">
                    <a:moveTo>
                      <a:pt x="16231" y="0"/>
                    </a:moveTo>
                    <a:lnTo>
                      <a:pt x="16231" y="259733"/>
                    </a:lnTo>
                    <a:lnTo>
                      <a:pt x="0" y="25973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墙_Landing_Guard">
                <a:extLst>
                  <a:ext uri="{FF2B5EF4-FFF2-40B4-BE49-F238E27FC236}">
                    <a16:creationId xmlns:a16="http://schemas.microsoft.com/office/drawing/2014/main" id="{0F12960E-200E-E42B-CF0F-19FB66E17FDB}"/>
                  </a:ext>
                </a:extLst>
              </p:cNvPr>
              <p:cNvSpPr/>
              <p:nvPr/>
            </p:nvSpPr>
            <p:spPr>
              <a:xfrm>
                <a:off x="3522508" y="3016257"/>
                <a:ext cx="21263" cy="197437"/>
              </a:xfrm>
              <a:custGeom>
                <a:avLst/>
                <a:gdLst/>
                <a:ahLst/>
                <a:cxnLst/>
                <a:rect l="l" t="t" r="r" b="b"/>
                <a:pathLst>
                  <a:path w="21263" h="197437">
                    <a:moveTo>
                      <a:pt x="18138" y="28895"/>
                    </a:moveTo>
                    <a:lnTo>
                      <a:pt x="14689" y="7508"/>
                    </a:lnTo>
                    <a:lnTo>
                      <a:pt x="10631" y="0"/>
                    </a:lnTo>
                    <a:lnTo>
                      <a:pt x="6573" y="7508"/>
                    </a:lnTo>
                    <a:lnTo>
                      <a:pt x="3124" y="28895"/>
                    </a:lnTo>
                    <a:lnTo>
                      <a:pt x="811" y="60915"/>
                    </a:lnTo>
                    <a:lnTo>
                      <a:pt x="0" y="98698"/>
                    </a:lnTo>
                    <a:lnTo>
                      <a:pt x="811" y="136481"/>
                    </a:lnTo>
                    <a:lnTo>
                      <a:pt x="3124" y="168502"/>
                    </a:lnTo>
                    <a:lnTo>
                      <a:pt x="6573" y="189889"/>
                    </a:lnTo>
                    <a:lnTo>
                      <a:pt x="10631" y="197437"/>
                    </a:lnTo>
                    <a:lnTo>
                      <a:pt x="14689" y="189889"/>
                    </a:lnTo>
                    <a:lnTo>
                      <a:pt x="18138" y="168502"/>
                    </a:lnTo>
                    <a:lnTo>
                      <a:pt x="20451" y="136481"/>
                    </a:lnTo>
                    <a:lnTo>
                      <a:pt x="21263" y="98698"/>
                    </a:lnTo>
                    <a:lnTo>
                      <a:pt x="20451" y="6091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墙_Landing_Baluster.009">
                <a:extLst>
                  <a:ext uri="{FF2B5EF4-FFF2-40B4-BE49-F238E27FC236}">
                    <a16:creationId xmlns:a16="http://schemas.microsoft.com/office/drawing/2014/main" id="{FC76F062-C556-7052-B8F8-1C522EE46B32}"/>
                  </a:ext>
                </a:extLst>
              </p:cNvPr>
              <p:cNvSpPr/>
              <p:nvPr/>
            </p:nvSpPr>
            <p:spPr>
              <a:xfrm>
                <a:off x="3528879" y="3506422"/>
                <a:ext cx="8521" cy="8116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6">
                    <a:moveTo>
                      <a:pt x="7263" y="6939"/>
                    </a:moveTo>
                    <a:lnTo>
                      <a:pt x="5883" y="7832"/>
                    </a:lnTo>
                    <a:lnTo>
                      <a:pt x="4260" y="8116"/>
                    </a:lnTo>
                    <a:lnTo>
                      <a:pt x="2637" y="7832"/>
                    </a:lnTo>
                    <a:lnTo>
                      <a:pt x="1257" y="6939"/>
                    </a:lnTo>
                    <a:lnTo>
                      <a:pt x="324" y="5600"/>
                    </a:lnTo>
                    <a:lnTo>
                      <a:pt x="0" y="4058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8"/>
                    </a:lnTo>
                    <a:lnTo>
                      <a:pt x="8196" y="560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墙_Landing_Baluster.010">
                <a:extLst>
                  <a:ext uri="{FF2B5EF4-FFF2-40B4-BE49-F238E27FC236}">
                    <a16:creationId xmlns:a16="http://schemas.microsoft.com/office/drawing/2014/main" id="{AB2B220B-D5E3-118B-AD32-9B7C25BAA328}"/>
                  </a:ext>
                </a:extLst>
              </p:cNvPr>
              <p:cNvSpPr/>
              <p:nvPr/>
            </p:nvSpPr>
            <p:spPr>
              <a:xfrm>
                <a:off x="3528879" y="3470911"/>
                <a:ext cx="8521" cy="811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7">
                    <a:moveTo>
                      <a:pt x="7263" y="6940"/>
                    </a:moveTo>
                    <a:lnTo>
                      <a:pt x="5883" y="7792"/>
                    </a:lnTo>
                    <a:lnTo>
                      <a:pt x="4260" y="8117"/>
                    </a:lnTo>
                    <a:lnTo>
                      <a:pt x="2637" y="7792"/>
                    </a:lnTo>
                    <a:lnTo>
                      <a:pt x="1257" y="6940"/>
                    </a:lnTo>
                    <a:lnTo>
                      <a:pt x="324" y="5601"/>
                    </a:lnTo>
                    <a:lnTo>
                      <a:pt x="0" y="4059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9"/>
                    </a:lnTo>
                    <a:lnTo>
                      <a:pt x="8196" y="560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墙_Landing_Baluster.011">
                <a:extLst>
                  <a:ext uri="{FF2B5EF4-FFF2-40B4-BE49-F238E27FC236}">
                    <a16:creationId xmlns:a16="http://schemas.microsoft.com/office/drawing/2014/main" id="{3280A4AE-87A8-5BA7-914A-F1E2CDE4CD46}"/>
                  </a:ext>
                </a:extLst>
              </p:cNvPr>
              <p:cNvSpPr/>
              <p:nvPr/>
            </p:nvSpPr>
            <p:spPr>
              <a:xfrm>
                <a:off x="3528879" y="3435401"/>
                <a:ext cx="8521" cy="811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7">
                    <a:moveTo>
                      <a:pt x="7263" y="6940"/>
                    </a:moveTo>
                    <a:lnTo>
                      <a:pt x="5883" y="7792"/>
                    </a:lnTo>
                    <a:lnTo>
                      <a:pt x="4260" y="8117"/>
                    </a:lnTo>
                    <a:lnTo>
                      <a:pt x="2637" y="7792"/>
                    </a:lnTo>
                    <a:lnTo>
                      <a:pt x="1257" y="6940"/>
                    </a:lnTo>
                    <a:lnTo>
                      <a:pt x="324" y="5600"/>
                    </a:lnTo>
                    <a:lnTo>
                      <a:pt x="0" y="4058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8"/>
                    </a:lnTo>
                    <a:lnTo>
                      <a:pt x="8196" y="560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墙_Landing_Baluster.012">
                <a:extLst>
                  <a:ext uri="{FF2B5EF4-FFF2-40B4-BE49-F238E27FC236}">
                    <a16:creationId xmlns:a16="http://schemas.microsoft.com/office/drawing/2014/main" id="{D48B5122-8658-CEE7-DDD5-B243AA759C14}"/>
                  </a:ext>
                </a:extLst>
              </p:cNvPr>
              <p:cNvSpPr/>
              <p:nvPr/>
            </p:nvSpPr>
            <p:spPr>
              <a:xfrm>
                <a:off x="3528879" y="3399809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6981"/>
                    </a:moveTo>
                    <a:lnTo>
                      <a:pt x="5883" y="7874"/>
                    </a:lnTo>
                    <a:lnTo>
                      <a:pt x="4260" y="8198"/>
                    </a:lnTo>
                    <a:lnTo>
                      <a:pt x="2637" y="7874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7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7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墙_Landing_Baluster.013">
                <a:extLst>
                  <a:ext uri="{FF2B5EF4-FFF2-40B4-BE49-F238E27FC236}">
                    <a16:creationId xmlns:a16="http://schemas.microsoft.com/office/drawing/2014/main" id="{50B6F500-57D4-B827-7DD9-10FC08FC6BCC}"/>
                  </a:ext>
                </a:extLst>
              </p:cNvPr>
              <p:cNvSpPr/>
              <p:nvPr/>
            </p:nvSpPr>
            <p:spPr>
              <a:xfrm>
                <a:off x="3528879" y="3363974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6981"/>
                    </a:moveTo>
                    <a:lnTo>
                      <a:pt x="5883" y="7874"/>
                    </a:lnTo>
                    <a:lnTo>
                      <a:pt x="4260" y="8198"/>
                    </a:lnTo>
                    <a:lnTo>
                      <a:pt x="2637" y="7874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7"/>
                    </a:lnTo>
                    <a:lnTo>
                      <a:pt x="1257" y="1177"/>
                    </a:lnTo>
                    <a:lnTo>
                      <a:pt x="2637" y="284"/>
                    </a:lnTo>
                    <a:lnTo>
                      <a:pt x="4260" y="0"/>
                    </a:lnTo>
                    <a:lnTo>
                      <a:pt x="5883" y="284"/>
                    </a:lnTo>
                    <a:lnTo>
                      <a:pt x="7263" y="1177"/>
                    </a:lnTo>
                    <a:lnTo>
                      <a:pt x="8196" y="2517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墙_Landing_Baluster.014">
                <a:extLst>
                  <a:ext uri="{FF2B5EF4-FFF2-40B4-BE49-F238E27FC236}">
                    <a16:creationId xmlns:a16="http://schemas.microsoft.com/office/drawing/2014/main" id="{20D9CF46-D1C9-06BA-5733-504801C88AC0}"/>
                  </a:ext>
                </a:extLst>
              </p:cNvPr>
              <p:cNvSpPr/>
              <p:nvPr/>
            </p:nvSpPr>
            <p:spPr>
              <a:xfrm>
                <a:off x="3528879" y="3328139"/>
                <a:ext cx="8521" cy="815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58">
                    <a:moveTo>
                      <a:pt x="7263" y="6981"/>
                    </a:moveTo>
                    <a:lnTo>
                      <a:pt x="5883" y="7873"/>
                    </a:lnTo>
                    <a:lnTo>
                      <a:pt x="4260" y="8158"/>
                    </a:lnTo>
                    <a:lnTo>
                      <a:pt x="2637" y="7873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284"/>
                    </a:lnTo>
                    <a:lnTo>
                      <a:pt x="4260" y="0"/>
                    </a:lnTo>
                    <a:lnTo>
                      <a:pt x="5883" y="284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墙_Landing_Baluster.015">
                <a:extLst>
                  <a:ext uri="{FF2B5EF4-FFF2-40B4-BE49-F238E27FC236}">
                    <a16:creationId xmlns:a16="http://schemas.microsoft.com/office/drawing/2014/main" id="{4D35CEA2-D85D-5EB4-49CB-62FAECD9C892}"/>
                  </a:ext>
                </a:extLst>
              </p:cNvPr>
              <p:cNvSpPr/>
              <p:nvPr/>
            </p:nvSpPr>
            <p:spPr>
              <a:xfrm>
                <a:off x="3528879" y="3292264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7021"/>
                    </a:moveTo>
                    <a:lnTo>
                      <a:pt x="5883" y="7913"/>
                    </a:lnTo>
                    <a:lnTo>
                      <a:pt x="4260" y="8198"/>
                    </a:lnTo>
                    <a:lnTo>
                      <a:pt x="2637" y="7913"/>
                    </a:lnTo>
                    <a:lnTo>
                      <a:pt x="1257" y="7021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5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5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墙_Landing_Baluster.016">
                <a:extLst>
                  <a:ext uri="{FF2B5EF4-FFF2-40B4-BE49-F238E27FC236}">
                    <a16:creationId xmlns:a16="http://schemas.microsoft.com/office/drawing/2014/main" id="{EBC5A500-DCAB-11F1-B9BF-83F493C6B333}"/>
                  </a:ext>
                </a:extLst>
              </p:cNvPr>
              <p:cNvSpPr/>
              <p:nvPr/>
            </p:nvSpPr>
            <p:spPr>
              <a:xfrm>
                <a:off x="3528879" y="3256429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7021"/>
                    </a:moveTo>
                    <a:lnTo>
                      <a:pt x="5883" y="7873"/>
                    </a:lnTo>
                    <a:lnTo>
                      <a:pt x="4260" y="8198"/>
                    </a:lnTo>
                    <a:lnTo>
                      <a:pt x="2637" y="7873"/>
                    </a:lnTo>
                    <a:lnTo>
                      <a:pt x="1257" y="7021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5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5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墙_Landing_Baluster.017">
                <a:extLst>
                  <a:ext uri="{FF2B5EF4-FFF2-40B4-BE49-F238E27FC236}">
                    <a16:creationId xmlns:a16="http://schemas.microsoft.com/office/drawing/2014/main" id="{FDA16E81-991B-020E-2BEA-D0FFCC95F7F8}"/>
                  </a:ext>
                </a:extLst>
              </p:cNvPr>
              <p:cNvSpPr/>
              <p:nvPr/>
            </p:nvSpPr>
            <p:spPr>
              <a:xfrm>
                <a:off x="3528879" y="3220594"/>
                <a:ext cx="8521" cy="819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7">
                    <a:moveTo>
                      <a:pt x="7263" y="6980"/>
                    </a:moveTo>
                    <a:lnTo>
                      <a:pt x="5883" y="7873"/>
                    </a:lnTo>
                    <a:lnTo>
                      <a:pt x="4260" y="8197"/>
                    </a:lnTo>
                    <a:lnTo>
                      <a:pt x="2637" y="7873"/>
                    </a:lnTo>
                    <a:lnTo>
                      <a:pt x="1257" y="6980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墙_Landing_Baluster.018">
                <a:extLst>
                  <a:ext uri="{FF2B5EF4-FFF2-40B4-BE49-F238E27FC236}">
                    <a16:creationId xmlns:a16="http://schemas.microsoft.com/office/drawing/2014/main" id="{9837DC46-5458-0980-BC4B-FEB40C2EF57E}"/>
                  </a:ext>
                </a:extLst>
              </p:cNvPr>
              <p:cNvSpPr/>
              <p:nvPr/>
            </p:nvSpPr>
            <p:spPr>
              <a:xfrm>
                <a:off x="3528879" y="3184759"/>
                <a:ext cx="8521" cy="819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7">
                    <a:moveTo>
                      <a:pt x="7263" y="6980"/>
                    </a:moveTo>
                    <a:lnTo>
                      <a:pt x="5883" y="7873"/>
                    </a:lnTo>
                    <a:lnTo>
                      <a:pt x="4260" y="8197"/>
                    </a:lnTo>
                    <a:lnTo>
                      <a:pt x="2637" y="7873"/>
                    </a:lnTo>
                    <a:lnTo>
                      <a:pt x="1257" y="6980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墙_Lift_Guide_Duo_-1">
                <a:extLst>
                  <a:ext uri="{FF2B5EF4-FFF2-40B4-BE49-F238E27FC236}">
                    <a16:creationId xmlns:a16="http://schemas.microsoft.com/office/drawing/2014/main" id="{564FDBC6-D875-3E4A-BE94-F34E95887F6D}"/>
                  </a:ext>
                </a:extLst>
              </p:cNvPr>
              <p:cNvSpPr/>
              <p:nvPr/>
            </p:nvSpPr>
            <p:spPr>
              <a:xfrm>
                <a:off x="1418054" y="3333334"/>
                <a:ext cx="24956" cy="56817"/>
              </a:xfrm>
              <a:custGeom>
                <a:avLst/>
                <a:gdLst/>
                <a:ahLst/>
                <a:cxnLst/>
                <a:rect l="l" t="t" r="r" b="b"/>
                <a:pathLst>
                  <a:path w="24956" h="56817">
                    <a:moveTo>
                      <a:pt x="0" y="0"/>
                    </a:moveTo>
                    <a:lnTo>
                      <a:pt x="24956" y="0"/>
                    </a:lnTo>
                    <a:lnTo>
                      <a:pt x="24956" y="56817"/>
                    </a:lnTo>
                    <a:lnTo>
                      <a:pt x="0" y="568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墙_Lift_Guide_Duo_1">
                <a:extLst>
                  <a:ext uri="{FF2B5EF4-FFF2-40B4-BE49-F238E27FC236}">
                    <a16:creationId xmlns:a16="http://schemas.microsoft.com/office/drawing/2014/main" id="{41B18154-8CBF-3D4E-CAD4-36024E7E5524}"/>
                  </a:ext>
                </a:extLst>
              </p:cNvPr>
              <p:cNvSpPr/>
              <p:nvPr/>
            </p:nvSpPr>
            <p:spPr>
              <a:xfrm>
                <a:off x="1817957" y="3333334"/>
                <a:ext cx="24956" cy="56817"/>
              </a:xfrm>
              <a:custGeom>
                <a:avLst/>
                <a:gdLst/>
                <a:ahLst/>
                <a:cxnLst/>
                <a:rect l="l" t="t" r="r" b="b"/>
                <a:pathLst>
                  <a:path w="24956" h="56817">
                    <a:moveTo>
                      <a:pt x="0" y="0"/>
                    </a:moveTo>
                    <a:lnTo>
                      <a:pt x="24956" y="0"/>
                    </a:lnTo>
                    <a:lnTo>
                      <a:pt x="24956" y="56817"/>
                    </a:lnTo>
                    <a:lnTo>
                      <a:pt x="0" y="568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墙_FrameJamb.028">
                <a:extLst>
                  <a:ext uri="{FF2B5EF4-FFF2-40B4-BE49-F238E27FC236}">
                    <a16:creationId xmlns:a16="http://schemas.microsoft.com/office/drawing/2014/main" id="{50AC45B7-5F8C-0778-5E05-59E59BB191ED}"/>
                  </a:ext>
                </a:extLst>
              </p:cNvPr>
              <p:cNvSpPr/>
              <p:nvPr/>
            </p:nvSpPr>
            <p:spPr>
              <a:xfrm>
                <a:off x="2341545" y="3467868"/>
                <a:ext cx="12336" cy="58845"/>
              </a:xfrm>
              <a:custGeom>
                <a:avLst/>
                <a:gdLst/>
                <a:ahLst/>
                <a:cxnLst/>
                <a:rect l="l" t="t" r="r" b="b"/>
                <a:pathLst>
                  <a:path w="12336" h="58845">
                    <a:moveTo>
                      <a:pt x="0" y="0"/>
                    </a:moveTo>
                    <a:lnTo>
                      <a:pt x="12336" y="0"/>
                    </a:lnTo>
                    <a:lnTo>
                      <a:pt x="12336" y="58845"/>
                    </a:lnTo>
                    <a:lnTo>
                      <a:pt x="0" y="58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墙_FrameJamb.029">
                <a:extLst>
                  <a:ext uri="{FF2B5EF4-FFF2-40B4-BE49-F238E27FC236}">
                    <a16:creationId xmlns:a16="http://schemas.microsoft.com/office/drawing/2014/main" id="{A438263E-0007-5606-6BDE-5A90C2873A43}"/>
                  </a:ext>
                </a:extLst>
              </p:cNvPr>
              <p:cNvSpPr/>
              <p:nvPr/>
            </p:nvSpPr>
            <p:spPr>
              <a:xfrm>
                <a:off x="2714220" y="3467868"/>
                <a:ext cx="12295" cy="58845"/>
              </a:xfrm>
              <a:custGeom>
                <a:avLst/>
                <a:gdLst/>
                <a:ahLst/>
                <a:cxnLst/>
                <a:rect l="l" t="t" r="r" b="b"/>
                <a:pathLst>
                  <a:path w="12295" h="58845">
                    <a:moveTo>
                      <a:pt x="0" y="0"/>
                    </a:moveTo>
                    <a:lnTo>
                      <a:pt x="12295" y="0"/>
                    </a:lnTo>
                    <a:lnTo>
                      <a:pt x="12295" y="58845"/>
                    </a:lnTo>
                    <a:lnTo>
                      <a:pt x="0" y="58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墙_DoorLeaf.009">
                <a:extLst>
                  <a:ext uri="{FF2B5EF4-FFF2-40B4-BE49-F238E27FC236}">
                    <a16:creationId xmlns:a16="http://schemas.microsoft.com/office/drawing/2014/main" id="{9C35A2A1-1583-DF5A-9A84-FD36ED700446}"/>
                  </a:ext>
                </a:extLst>
              </p:cNvPr>
              <p:cNvSpPr/>
              <p:nvPr/>
            </p:nvSpPr>
            <p:spPr>
              <a:xfrm>
                <a:off x="2657978" y="3144459"/>
                <a:ext cx="63100" cy="353602"/>
              </a:xfrm>
              <a:custGeom>
                <a:avLst/>
                <a:gdLst/>
                <a:ahLst/>
                <a:cxnLst/>
                <a:rect l="l" t="t" r="r" b="b"/>
                <a:pathLst>
                  <a:path w="63100" h="353602">
                    <a:moveTo>
                      <a:pt x="63059" y="350883"/>
                    </a:moveTo>
                    <a:lnTo>
                      <a:pt x="63100" y="350234"/>
                    </a:lnTo>
                    <a:lnTo>
                      <a:pt x="14080" y="1380"/>
                    </a:lnTo>
                    <a:lnTo>
                      <a:pt x="13878" y="772"/>
                    </a:lnTo>
                    <a:lnTo>
                      <a:pt x="13431" y="285"/>
                    </a:lnTo>
                    <a:lnTo>
                      <a:pt x="12863" y="41"/>
                    </a:lnTo>
                    <a:lnTo>
                      <a:pt x="12214" y="0"/>
                    </a:lnTo>
                    <a:lnTo>
                      <a:pt x="1379" y="1543"/>
                    </a:lnTo>
                    <a:lnTo>
                      <a:pt x="771" y="1746"/>
                    </a:lnTo>
                    <a:lnTo>
                      <a:pt x="324" y="2151"/>
                    </a:lnTo>
                    <a:lnTo>
                      <a:pt x="40" y="2720"/>
                    </a:lnTo>
                    <a:lnTo>
                      <a:pt x="0" y="3369"/>
                    </a:lnTo>
                    <a:lnTo>
                      <a:pt x="48897" y="352223"/>
                    </a:lnTo>
                    <a:lnTo>
                      <a:pt x="49100" y="352831"/>
                    </a:lnTo>
                    <a:lnTo>
                      <a:pt x="49546" y="353278"/>
                    </a:lnTo>
                    <a:lnTo>
                      <a:pt x="50114" y="353562"/>
                    </a:lnTo>
                    <a:lnTo>
                      <a:pt x="50723" y="353602"/>
                    </a:lnTo>
                    <a:lnTo>
                      <a:pt x="61720" y="352060"/>
                    </a:lnTo>
                    <a:lnTo>
                      <a:pt x="62329" y="351857"/>
                    </a:lnTo>
                    <a:lnTo>
                      <a:pt x="62816" y="35145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墙_FrameJamb.048">
                <a:extLst>
                  <a:ext uri="{FF2B5EF4-FFF2-40B4-BE49-F238E27FC236}">
                    <a16:creationId xmlns:a16="http://schemas.microsoft.com/office/drawing/2014/main" id="{61347552-9D9E-D8B2-48AB-D3A17E293165}"/>
                  </a:ext>
                </a:extLst>
              </p:cNvPr>
              <p:cNvSpPr/>
              <p:nvPr/>
            </p:nvSpPr>
            <p:spPr>
              <a:xfrm>
                <a:off x="3271528" y="3893992"/>
                <a:ext cx="12782" cy="58846"/>
              </a:xfrm>
              <a:custGeom>
                <a:avLst/>
                <a:gdLst/>
                <a:ahLst/>
                <a:cxnLst/>
                <a:rect l="l" t="t" r="r" b="b"/>
                <a:pathLst>
                  <a:path w="12782" h="58846">
                    <a:moveTo>
                      <a:pt x="0" y="0"/>
                    </a:moveTo>
                    <a:lnTo>
                      <a:pt x="12782" y="0"/>
                    </a:lnTo>
                    <a:lnTo>
                      <a:pt x="12782" y="58846"/>
                    </a:lnTo>
                    <a:lnTo>
                      <a:pt x="0" y="5884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墙_FrameJamb.049">
                <a:extLst>
                  <a:ext uri="{FF2B5EF4-FFF2-40B4-BE49-F238E27FC236}">
                    <a16:creationId xmlns:a16="http://schemas.microsoft.com/office/drawing/2014/main" id="{8FB9C7B6-262F-8A83-8211-7F96E286D476}"/>
                  </a:ext>
                </a:extLst>
              </p:cNvPr>
              <p:cNvSpPr/>
              <p:nvPr/>
            </p:nvSpPr>
            <p:spPr>
              <a:xfrm>
                <a:off x="3684133" y="3893992"/>
                <a:ext cx="12782" cy="58846"/>
              </a:xfrm>
              <a:custGeom>
                <a:avLst/>
                <a:gdLst/>
                <a:ahLst/>
                <a:cxnLst/>
                <a:rect l="l" t="t" r="r" b="b"/>
                <a:pathLst>
                  <a:path w="12782" h="58846">
                    <a:moveTo>
                      <a:pt x="0" y="0"/>
                    </a:moveTo>
                    <a:lnTo>
                      <a:pt x="12782" y="0"/>
                    </a:lnTo>
                    <a:lnTo>
                      <a:pt x="12782" y="58846"/>
                    </a:lnTo>
                    <a:lnTo>
                      <a:pt x="0" y="5884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墙_PassageJamb_FF">
                <a:extLst>
                  <a:ext uri="{FF2B5EF4-FFF2-40B4-BE49-F238E27FC236}">
                    <a16:creationId xmlns:a16="http://schemas.microsoft.com/office/drawing/2014/main" id="{95BE67ED-2EE8-B999-8A11-AA1B0E2FDFCE}"/>
                  </a:ext>
                </a:extLst>
              </p:cNvPr>
              <p:cNvSpPr/>
              <p:nvPr/>
            </p:nvSpPr>
            <p:spPr>
              <a:xfrm>
                <a:off x="1358078" y="3884455"/>
                <a:ext cx="62289" cy="14610"/>
              </a:xfrm>
              <a:custGeom>
                <a:avLst/>
                <a:gdLst/>
                <a:ahLst/>
                <a:cxnLst/>
                <a:rect l="l" t="t" r="r" b="b"/>
                <a:pathLst>
                  <a:path w="62289" h="14610">
                    <a:moveTo>
                      <a:pt x="0" y="0"/>
                    </a:moveTo>
                    <a:lnTo>
                      <a:pt x="62289" y="0"/>
                    </a:lnTo>
                    <a:lnTo>
                      <a:pt x="62289" y="14610"/>
                    </a:lnTo>
                    <a:lnTo>
                      <a:pt x="0" y="1461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墙_PassageJamb_FF.001">
                <a:extLst>
                  <a:ext uri="{FF2B5EF4-FFF2-40B4-BE49-F238E27FC236}">
                    <a16:creationId xmlns:a16="http://schemas.microsoft.com/office/drawing/2014/main" id="{A2448B4C-2F7B-81CB-6E88-325D4146DA3B}"/>
                  </a:ext>
                </a:extLst>
              </p:cNvPr>
              <p:cNvSpPr/>
              <p:nvPr/>
            </p:nvSpPr>
            <p:spPr>
              <a:xfrm>
                <a:off x="1358078" y="3497290"/>
                <a:ext cx="62289" cy="14610"/>
              </a:xfrm>
              <a:custGeom>
                <a:avLst/>
                <a:gdLst/>
                <a:ahLst/>
                <a:cxnLst/>
                <a:rect l="l" t="t" r="r" b="b"/>
                <a:pathLst>
                  <a:path w="62289" h="14610">
                    <a:moveTo>
                      <a:pt x="0" y="0"/>
                    </a:moveTo>
                    <a:lnTo>
                      <a:pt x="62289" y="0"/>
                    </a:lnTo>
                    <a:lnTo>
                      <a:pt x="62289" y="14610"/>
                    </a:lnTo>
                    <a:lnTo>
                      <a:pt x="0" y="1461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墙_PassageLeaf_FF">
                <a:extLst>
                  <a:ext uri="{FF2B5EF4-FFF2-40B4-BE49-F238E27FC236}">
                    <a16:creationId xmlns:a16="http://schemas.microsoft.com/office/drawing/2014/main" id="{048201CB-B9C3-0E08-C58D-00A51C01A423}"/>
                  </a:ext>
                </a:extLst>
              </p:cNvPr>
              <p:cNvSpPr/>
              <p:nvPr/>
            </p:nvSpPr>
            <p:spPr>
              <a:xfrm>
                <a:off x="1010684" y="3504879"/>
                <a:ext cx="379573" cy="65908"/>
              </a:xfrm>
              <a:custGeom>
                <a:avLst/>
                <a:gdLst/>
                <a:ahLst/>
                <a:cxnLst/>
                <a:rect l="l" t="t" r="r" b="b"/>
                <a:pathLst>
                  <a:path w="379573" h="65908">
                    <a:moveTo>
                      <a:pt x="379573" y="14042"/>
                    </a:moveTo>
                    <a:lnTo>
                      <a:pt x="2029" y="65908"/>
                    </a:lnTo>
                    <a:lnTo>
                      <a:pt x="0" y="51825"/>
                    </a:lnTo>
                    <a:lnTo>
                      <a:pt x="37754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5" name="墙_DoorLeaf.014">
                <a:extLst>
                  <a:ext uri="{FF2B5EF4-FFF2-40B4-BE49-F238E27FC236}">
                    <a16:creationId xmlns:a16="http://schemas.microsoft.com/office/drawing/2014/main" id="{6C07DE54-F5AF-8906-D8D7-C9F9F8D9767C}"/>
                  </a:ext>
                </a:extLst>
              </p:cNvPr>
              <p:cNvSpPr/>
              <p:nvPr/>
            </p:nvSpPr>
            <p:spPr>
              <a:xfrm>
                <a:off x="3621966" y="3922644"/>
                <a:ext cx="69309" cy="381726"/>
              </a:xfrm>
              <a:custGeom>
                <a:avLst/>
                <a:gdLst/>
                <a:ahLst/>
                <a:cxnLst/>
                <a:rect l="l" t="t" r="r" b="b"/>
                <a:pathLst>
                  <a:path w="69309" h="381726">
                    <a:moveTo>
                      <a:pt x="0" y="378966"/>
                    </a:moveTo>
                    <a:lnTo>
                      <a:pt x="0" y="378317"/>
                    </a:lnTo>
                    <a:lnTo>
                      <a:pt x="54579" y="1380"/>
                    </a:lnTo>
                    <a:lnTo>
                      <a:pt x="54781" y="811"/>
                    </a:lnTo>
                    <a:lnTo>
                      <a:pt x="55228" y="324"/>
                    </a:lnTo>
                    <a:lnTo>
                      <a:pt x="55796" y="40"/>
                    </a:lnTo>
                    <a:lnTo>
                      <a:pt x="56405" y="0"/>
                    </a:lnTo>
                    <a:lnTo>
                      <a:pt x="67929" y="1542"/>
                    </a:lnTo>
                    <a:lnTo>
                      <a:pt x="68538" y="1745"/>
                    </a:lnTo>
                    <a:lnTo>
                      <a:pt x="69025" y="2191"/>
                    </a:lnTo>
                    <a:lnTo>
                      <a:pt x="69268" y="2759"/>
                    </a:lnTo>
                    <a:lnTo>
                      <a:pt x="69309" y="3368"/>
                    </a:lnTo>
                    <a:lnTo>
                      <a:pt x="14730" y="380346"/>
                    </a:lnTo>
                    <a:lnTo>
                      <a:pt x="14527" y="380955"/>
                    </a:lnTo>
                    <a:lnTo>
                      <a:pt x="14081" y="381401"/>
                    </a:lnTo>
                    <a:lnTo>
                      <a:pt x="13513" y="381685"/>
                    </a:lnTo>
                    <a:lnTo>
                      <a:pt x="12904" y="381726"/>
                    </a:lnTo>
                    <a:lnTo>
                      <a:pt x="1339" y="380143"/>
                    </a:lnTo>
                    <a:lnTo>
                      <a:pt x="771" y="379940"/>
                    </a:lnTo>
                    <a:lnTo>
                      <a:pt x="284" y="37953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墙_WD_07_10_Study 1 Window_LowerL">
                <a:extLst>
                  <a:ext uri="{FF2B5EF4-FFF2-40B4-BE49-F238E27FC236}">
                    <a16:creationId xmlns:a16="http://schemas.microsoft.com/office/drawing/2014/main" id="{591EB3B5-EFD6-7660-C059-2E9786DFE4DF}"/>
                  </a:ext>
                </a:extLst>
              </p:cNvPr>
              <p:cNvSpPr/>
              <p:nvPr/>
            </p:nvSpPr>
            <p:spPr>
              <a:xfrm>
                <a:off x="2369422" y="2435023"/>
                <a:ext cx="12985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8">
                    <a:moveTo>
                      <a:pt x="12985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墙_WD_07_10_Study 1 Window_LowerR">
                <a:extLst>
                  <a:ext uri="{FF2B5EF4-FFF2-40B4-BE49-F238E27FC236}">
                    <a16:creationId xmlns:a16="http://schemas.microsoft.com/office/drawing/2014/main" id="{B0519F38-3D5F-242A-FBD8-0971BC6C8FED}"/>
                  </a:ext>
                </a:extLst>
              </p:cNvPr>
              <p:cNvSpPr/>
              <p:nvPr/>
            </p:nvSpPr>
            <p:spPr>
              <a:xfrm>
                <a:off x="2021257" y="2435023"/>
                <a:ext cx="12985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8">
                    <a:moveTo>
                      <a:pt x="12985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墙_WD_07_10_Study 1 Window_OuterL">
                <a:extLst>
                  <a:ext uri="{FF2B5EF4-FFF2-40B4-BE49-F238E27FC236}">
                    <a16:creationId xmlns:a16="http://schemas.microsoft.com/office/drawing/2014/main" id="{20189F94-87D1-02E2-F809-8CA75EE3F88B}"/>
                  </a:ext>
                </a:extLst>
              </p:cNvPr>
              <p:cNvSpPr/>
              <p:nvPr/>
            </p:nvSpPr>
            <p:spPr>
              <a:xfrm>
                <a:off x="2382407" y="2435023"/>
                <a:ext cx="22319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8">
                    <a:moveTo>
                      <a:pt x="22319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墙_WD_07_10_Study 1 Window_OuterR">
                <a:extLst>
                  <a:ext uri="{FF2B5EF4-FFF2-40B4-BE49-F238E27FC236}">
                    <a16:creationId xmlns:a16="http://schemas.microsoft.com/office/drawing/2014/main" id="{25928827-797C-291F-FE17-F39E1C7C5BEC}"/>
                  </a:ext>
                </a:extLst>
              </p:cNvPr>
              <p:cNvSpPr/>
              <p:nvPr/>
            </p:nvSpPr>
            <p:spPr>
              <a:xfrm>
                <a:off x="1998938" y="2435023"/>
                <a:ext cx="22319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8">
                    <a:moveTo>
                      <a:pt x="22319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墙_WD_08_11_Study 2 Window_LowerL">
                <a:extLst>
                  <a:ext uri="{FF2B5EF4-FFF2-40B4-BE49-F238E27FC236}">
                    <a16:creationId xmlns:a16="http://schemas.microsoft.com/office/drawing/2014/main" id="{CE3A3607-AA29-9FD6-A5EA-734AAC9970D1}"/>
                  </a:ext>
                </a:extLst>
              </p:cNvPr>
              <p:cNvSpPr/>
              <p:nvPr/>
            </p:nvSpPr>
            <p:spPr>
              <a:xfrm>
                <a:off x="2613503" y="1980693"/>
                <a:ext cx="30434" cy="12987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12987">
                    <a:moveTo>
                      <a:pt x="0" y="12987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1298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墙_WD_08_11_Study 2 Window_LowerR">
                <a:extLst>
                  <a:ext uri="{FF2B5EF4-FFF2-40B4-BE49-F238E27FC236}">
                    <a16:creationId xmlns:a16="http://schemas.microsoft.com/office/drawing/2014/main" id="{F03CBD16-A156-CEE8-03BB-86824C36C006}"/>
                  </a:ext>
                </a:extLst>
              </p:cNvPr>
              <p:cNvSpPr/>
              <p:nvPr/>
            </p:nvSpPr>
            <p:spPr>
              <a:xfrm>
                <a:off x="2613503" y="1632489"/>
                <a:ext cx="30434" cy="12987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12987">
                    <a:moveTo>
                      <a:pt x="0" y="12987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1298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墙_WD_08_11_Study 2 Window_OuterL">
                <a:extLst>
                  <a:ext uri="{FF2B5EF4-FFF2-40B4-BE49-F238E27FC236}">
                    <a16:creationId xmlns:a16="http://schemas.microsoft.com/office/drawing/2014/main" id="{E2723628-ABF1-042F-2A6B-CD59543C163B}"/>
                  </a:ext>
                </a:extLst>
              </p:cNvPr>
              <p:cNvSpPr/>
              <p:nvPr/>
            </p:nvSpPr>
            <p:spPr>
              <a:xfrm>
                <a:off x="2613503" y="1993680"/>
                <a:ext cx="30434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22321">
                    <a:moveTo>
                      <a:pt x="0" y="22321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2232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" name="墙_WD_08_11_Study 2 Window_OuterR">
                <a:extLst>
                  <a:ext uri="{FF2B5EF4-FFF2-40B4-BE49-F238E27FC236}">
                    <a16:creationId xmlns:a16="http://schemas.microsoft.com/office/drawing/2014/main" id="{10E5ABEA-3BA4-49F0-9420-A8F55A34A2EA}"/>
                  </a:ext>
                </a:extLst>
              </p:cNvPr>
              <p:cNvSpPr/>
              <p:nvPr/>
            </p:nvSpPr>
            <p:spPr>
              <a:xfrm>
                <a:off x="2613503" y="1610168"/>
                <a:ext cx="30434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22321">
                    <a:moveTo>
                      <a:pt x="0" y="22321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2232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墙_WD_10_16_Bedroom Window (Clear)_LowerL">
                <a:extLst>
                  <a:ext uri="{FF2B5EF4-FFF2-40B4-BE49-F238E27FC236}">
                    <a16:creationId xmlns:a16="http://schemas.microsoft.com/office/drawing/2014/main" id="{37A3642F-8FE4-75EA-FFD9-7AF985DB95E9}"/>
                  </a:ext>
                </a:extLst>
              </p:cNvPr>
              <p:cNvSpPr/>
              <p:nvPr/>
            </p:nvSpPr>
            <p:spPr>
              <a:xfrm>
                <a:off x="2991900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0" y="0"/>
                    </a:moveTo>
                    <a:lnTo>
                      <a:pt x="12985" y="0"/>
                    </a:lnTo>
                    <a:lnTo>
                      <a:pt x="12985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" name="墙_WD_10_16_Bedroom Window (Clear)_LowerR">
                <a:extLst>
                  <a:ext uri="{FF2B5EF4-FFF2-40B4-BE49-F238E27FC236}">
                    <a16:creationId xmlns:a16="http://schemas.microsoft.com/office/drawing/2014/main" id="{44909E44-6CAA-86FE-FC5F-7A5AADBE1564}"/>
                  </a:ext>
                </a:extLst>
              </p:cNvPr>
              <p:cNvSpPr/>
              <p:nvPr/>
            </p:nvSpPr>
            <p:spPr>
              <a:xfrm>
                <a:off x="3340066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0" y="0"/>
                    </a:moveTo>
                    <a:lnTo>
                      <a:pt x="12985" y="0"/>
                    </a:lnTo>
                    <a:lnTo>
                      <a:pt x="12985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墙_WD_10_16_Bedroom Window (Clear)_OuterL">
                <a:extLst>
                  <a:ext uri="{FF2B5EF4-FFF2-40B4-BE49-F238E27FC236}">
                    <a16:creationId xmlns:a16="http://schemas.microsoft.com/office/drawing/2014/main" id="{F29628AB-BADE-87E1-ED01-75076D39F776}"/>
                  </a:ext>
                </a:extLst>
              </p:cNvPr>
              <p:cNvSpPr/>
              <p:nvPr/>
            </p:nvSpPr>
            <p:spPr>
              <a:xfrm>
                <a:off x="2969582" y="5661394"/>
                <a:ext cx="22318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8" h="30437">
                    <a:moveTo>
                      <a:pt x="0" y="0"/>
                    </a:moveTo>
                    <a:lnTo>
                      <a:pt x="22318" y="0"/>
                    </a:lnTo>
                    <a:lnTo>
                      <a:pt x="22318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" name="墙_WD_10_16_Bedroom Window (Clear)_OuterR">
                <a:extLst>
                  <a:ext uri="{FF2B5EF4-FFF2-40B4-BE49-F238E27FC236}">
                    <a16:creationId xmlns:a16="http://schemas.microsoft.com/office/drawing/2014/main" id="{3686FCC6-081E-5FD7-6462-C52FED4035E8}"/>
                  </a:ext>
                </a:extLst>
              </p:cNvPr>
              <p:cNvSpPr/>
              <p:nvPr/>
            </p:nvSpPr>
            <p:spPr>
              <a:xfrm>
                <a:off x="3353051" y="5661394"/>
                <a:ext cx="22318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8" h="30437">
                    <a:moveTo>
                      <a:pt x="0" y="0"/>
                    </a:moveTo>
                    <a:lnTo>
                      <a:pt x="22318" y="0"/>
                    </a:lnTo>
                    <a:lnTo>
                      <a:pt x="22318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墙_WD_11_17_Bedroom Window (Frosted)_LowerL">
                <a:extLst>
                  <a:ext uri="{FF2B5EF4-FFF2-40B4-BE49-F238E27FC236}">
                    <a16:creationId xmlns:a16="http://schemas.microsoft.com/office/drawing/2014/main" id="{9493DBD5-C5C4-A764-C26B-CFCAD7D835AA}"/>
                  </a:ext>
                </a:extLst>
              </p:cNvPr>
              <p:cNvSpPr/>
              <p:nvPr/>
            </p:nvSpPr>
            <p:spPr>
              <a:xfrm>
                <a:off x="2624216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12985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9" name="墙_WD_11_17_Bedroom Window (Frosted)_LowerR">
                <a:extLst>
                  <a:ext uri="{FF2B5EF4-FFF2-40B4-BE49-F238E27FC236}">
                    <a16:creationId xmlns:a16="http://schemas.microsoft.com/office/drawing/2014/main" id="{5F409CA0-F231-CA73-665A-958DF21040D3}"/>
                  </a:ext>
                </a:extLst>
              </p:cNvPr>
              <p:cNvSpPr/>
              <p:nvPr/>
            </p:nvSpPr>
            <p:spPr>
              <a:xfrm>
                <a:off x="2276051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12985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" name="墙_WD_11_17_Bedroom Window (Frosted)_OuterL">
                <a:extLst>
                  <a:ext uri="{FF2B5EF4-FFF2-40B4-BE49-F238E27FC236}">
                    <a16:creationId xmlns:a16="http://schemas.microsoft.com/office/drawing/2014/main" id="{6DFDFE20-8618-6B48-FF93-B587331D39C4}"/>
                  </a:ext>
                </a:extLst>
              </p:cNvPr>
              <p:cNvSpPr/>
              <p:nvPr/>
            </p:nvSpPr>
            <p:spPr>
              <a:xfrm>
                <a:off x="2637201" y="5661394"/>
                <a:ext cx="22319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7">
                    <a:moveTo>
                      <a:pt x="22319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1" name="墙_WD_11_17_Bedroom Window (Frosted)_OuterR">
                <a:extLst>
                  <a:ext uri="{FF2B5EF4-FFF2-40B4-BE49-F238E27FC236}">
                    <a16:creationId xmlns:a16="http://schemas.microsoft.com/office/drawing/2014/main" id="{29361968-058A-29EB-204E-E23D4FB62547}"/>
                  </a:ext>
                </a:extLst>
              </p:cNvPr>
              <p:cNvSpPr/>
              <p:nvPr/>
            </p:nvSpPr>
            <p:spPr>
              <a:xfrm>
                <a:off x="2253732" y="5661394"/>
                <a:ext cx="22319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7">
                    <a:moveTo>
                      <a:pt x="22319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2" name="墙_Bifold slim jamb">
                <a:extLst>
                  <a:ext uri="{FF2B5EF4-FFF2-40B4-BE49-F238E27FC236}">
                    <a16:creationId xmlns:a16="http://schemas.microsoft.com/office/drawing/2014/main" id="{E3CECA8B-8BD2-A84F-A52D-A1F27A050CBD}"/>
                  </a:ext>
                </a:extLst>
              </p:cNvPr>
              <p:cNvSpPr/>
              <p:nvPr/>
            </p:nvSpPr>
            <p:spPr>
              <a:xfrm>
                <a:off x="2596988" y="4515931"/>
                <a:ext cx="52752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2752" h="12175">
                    <a:moveTo>
                      <a:pt x="406" y="40"/>
                    </a:moveTo>
                    <a:lnTo>
                      <a:pt x="608" y="0"/>
                    </a:lnTo>
                    <a:lnTo>
                      <a:pt x="52143" y="0"/>
                    </a:lnTo>
                    <a:lnTo>
                      <a:pt x="52387" y="40"/>
                    </a:lnTo>
                    <a:lnTo>
                      <a:pt x="52590" y="203"/>
                    </a:lnTo>
                    <a:lnTo>
                      <a:pt x="52712" y="365"/>
                    </a:lnTo>
                    <a:lnTo>
                      <a:pt x="52752" y="608"/>
                    </a:lnTo>
                    <a:lnTo>
                      <a:pt x="52752" y="11566"/>
                    </a:lnTo>
                    <a:lnTo>
                      <a:pt x="52712" y="11809"/>
                    </a:lnTo>
                    <a:lnTo>
                      <a:pt x="52590" y="12012"/>
                    </a:lnTo>
                    <a:lnTo>
                      <a:pt x="52387" y="12134"/>
                    </a:lnTo>
                    <a:lnTo>
                      <a:pt x="52143" y="12175"/>
                    </a:lnTo>
                    <a:lnTo>
                      <a:pt x="608" y="12175"/>
                    </a:lnTo>
                    <a:lnTo>
                      <a:pt x="406" y="12134"/>
                    </a:lnTo>
                    <a:lnTo>
                      <a:pt x="203" y="12012"/>
                    </a:lnTo>
                    <a:lnTo>
                      <a:pt x="40" y="11809"/>
                    </a:lnTo>
                    <a:lnTo>
                      <a:pt x="0" y="11566"/>
                    </a:lnTo>
                    <a:lnTo>
                      <a:pt x="0" y="608"/>
                    </a:lnTo>
                    <a:lnTo>
                      <a:pt x="40" y="365"/>
                    </a:lnTo>
                    <a:lnTo>
                      <a:pt x="203" y="20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墙_Bifold slim jamb.001">
                <a:extLst>
                  <a:ext uri="{FF2B5EF4-FFF2-40B4-BE49-F238E27FC236}">
                    <a16:creationId xmlns:a16="http://schemas.microsoft.com/office/drawing/2014/main" id="{D93DE9E4-AB95-D456-556B-77C3B5038CC8}"/>
                  </a:ext>
                </a:extLst>
              </p:cNvPr>
              <p:cNvSpPr/>
              <p:nvPr/>
            </p:nvSpPr>
            <p:spPr>
              <a:xfrm>
                <a:off x="2596988" y="4097923"/>
                <a:ext cx="52752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2752" h="12175">
                    <a:moveTo>
                      <a:pt x="406" y="40"/>
                    </a:moveTo>
                    <a:lnTo>
                      <a:pt x="608" y="0"/>
                    </a:lnTo>
                    <a:lnTo>
                      <a:pt x="52143" y="0"/>
                    </a:lnTo>
                    <a:lnTo>
                      <a:pt x="52387" y="40"/>
                    </a:lnTo>
                    <a:lnTo>
                      <a:pt x="52590" y="203"/>
                    </a:lnTo>
                    <a:lnTo>
                      <a:pt x="52712" y="365"/>
                    </a:lnTo>
                    <a:lnTo>
                      <a:pt x="52752" y="609"/>
                    </a:lnTo>
                    <a:lnTo>
                      <a:pt x="52752" y="11566"/>
                    </a:lnTo>
                    <a:lnTo>
                      <a:pt x="52712" y="11810"/>
                    </a:lnTo>
                    <a:lnTo>
                      <a:pt x="52590" y="12013"/>
                    </a:lnTo>
                    <a:lnTo>
                      <a:pt x="52387" y="12134"/>
                    </a:lnTo>
                    <a:lnTo>
                      <a:pt x="52143" y="12175"/>
                    </a:lnTo>
                    <a:lnTo>
                      <a:pt x="608" y="12175"/>
                    </a:lnTo>
                    <a:lnTo>
                      <a:pt x="406" y="12134"/>
                    </a:lnTo>
                    <a:lnTo>
                      <a:pt x="203" y="12013"/>
                    </a:lnTo>
                    <a:lnTo>
                      <a:pt x="40" y="11810"/>
                    </a:lnTo>
                    <a:lnTo>
                      <a:pt x="0" y="11566"/>
                    </a:lnTo>
                    <a:lnTo>
                      <a:pt x="0" y="609"/>
                    </a:lnTo>
                    <a:lnTo>
                      <a:pt x="40" y="365"/>
                    </a:lnTo>
                    <a:lnTo>
                      <a:pt x="203" y="20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4" name="墙_Rear215 jamb">
                <a:extLst>
                  <a:ext uri="{FF2B5EF4-FFF2-40B4-BE49-F238E27FC236}">
                    <a16:creationId xmlns:a16="http://schemas.microsoft.com/office/drawing/2014/main" id="{707112ED-273C-161D-D8E0-A9F5B1D9152A}"/>
                  </a:ext>
                </a:extLst>
              </p:cNvPr>
              <p:cNvSpPr/>
              <p:nvPr/>
            </p:nvSpPr>
            <p:spPr>
              <a:xfrm>
                <a:off x="3184649" y="2421834"/>
                <a:ext cx="12174" cy="56816"/>
              </a:xfrm>
              <a:custGeom>
                <a:avLst/>
                <a:gdLst/>
                <a:ahLst/>
                <a:cxnLst/>
                <a:rect l="l" t="t" r="r" b="b"/>
                <a:pathLst>
                  <a:path w="12174" h="56816">
                    <a:moveTo>
                      <a:pt x="1502" y="203"/>
                    </a:moveTo>
                    <a:lnTo>
                      <a:pt x="2435" y="0"/>
                    </a:lnTo>
                    <a:lnTo>
                      <a:pt x="9739" y="0"/>
                    </a:lnTo>
                    <a:lnTo>
                      <a:pt x="10672" y="203"/>
                    </a:lnTo>
                    <a:lnTo>
                      <a:pt x="11443" y="730"/>
                    </a:lnTo>
                    <a:lnTo>
                      <a:pt x="11971" y="1501"/>
                    </a:lnTo>
                    <a:lnTo>
                      <a:pt x="12174" y="2435"/>
                    </a:lnTo>
                    <a:lnTo>
                      <a:pt x="12174" y="54381"/>
                    </a:lnTo>
                    <a:lnTo>
                      <a:pt x="11971" y="55315"/>
                    </a:lnTo>
                    <a:lnTo>
                      <a:pt x="11443" y="56126"/>
                    </a:lnTo>
                    <a:lnTo>
                      <a:pt x="10672" y="56654"/>
                    </a:lnTo>
                    <a:lnTo>
                      <a:pt x="9739" y="56816"/>
                    </a:lnTo>
                    <a:lnTo>
                      <a:pt x="2435" y="56816"/>
                    </a:lnTo>
                    <a:lnTo>
                      <a:pt x="1502" y="56654"/>
                    </a:lnTo>
                    <a:lnTo>
                      <a:pt x="690" y="56126"/>
                    </a:lnTo>
                    <a:lnTo>
                      <a:pt x="162" y="55315"/>
                    </a:lnTo>
                    <a:lnTo>
                      <a:pt x="0" y="54381"/>
                    </a:lnTo>
                    <a:lnTo>
                      <a:pt x="0" y="2435"/>
                    </a:lnTo>
                    <a:lnTo>
                      <a:pt x="162" y="1501"/>
                    </a:lnTo>
                    <a:lnTo>
                      <a:pt x="690" y="73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墙_Rear215 jamb.001">
                <a:extLst>
                  <a:ext uri="{FF2B5EF4-FFF2-40B4-BE49-F238E27FC236}">
                    <a16:creationId xmlns:a16="http://schemas.microsoft.com/office/drawing/2014/main" id="{0598CAED-4677-23A1-A4E5-A5FE2A50932A}"/>
                  </a:ext>
                </a:extLst>
              </p:cNvPr>
              <p:cNvSpPr/>
              <p:nvPr/>
            </p:nvSpPr>
            <p:spPr>
              <a:xfrm>
                <a:off x="3509725" y="2421834"/>
                <a:ext cx="12783" cy="56816"/>
              </a:xfrm>
              <a:custGeom>
                <a:avLst/>
                <a:gdLst/>
                <a:ahLst/>
                <a:cxnLst/>
                <a:rect l="l" t="t" r="r" b="b"/>
                <a:pathLst>
                  <a:path w="12783" h="56816">
                    <a:moveTo>
                      <a:pt x="1502" y="203"/>
                    </a:moveTo>
                    <a:lnTo>
                      <a:pt x="2435" y="0"/>
                    </a:lnTo>
                    <a:lnTo>
                      <a:pt x="10348" y="0"/>
                    </a:lnTo>
                    <a:lnTo>
                      <a:pt x="11281" y="203"/>
                    </a:lnTo>
                    <a:lnTo>
                      <a:pt x="12052" y="730"/>
                    </a:lnTo>
                    <a:lnTo>
                      <a:pt x="12580" y="1501"/>
                    </a:lnTo>
                    <a:lnTo>
                      <a:pt x="12783" y="2435"/>
                    </a:lnTo>
                    <a:lnTo>
                      <a:pt x="12783" y="54381"/>
                    </a:lnTo>
                    <a:lnTo>
                      <a:pt x="12580" y="55315"/>
                    </a:lnTo>
                    <a:lnTo>
                      <a:pt x="12052" y="56126"/>
                    </a:lnTo>
                    <a:lnTo>
                      <a:pt x="11281" y="56654"/>
                    </a:lnTo>
                    <a:lnTo>
                      <a:pt x="10348" y="56816"/>
                    </a:lnTo>
                    <a:lnTo>
                      <a:pt x="2435" y="56816"/>
                    </a:lnTo>
                    <a:lnTo>
                      <a:pt x="1502" y="56654"/>
                    </a:lnTo>
                    <a:lnTo>
                      <a:pt x="731" y="56126"/>
                    </a:lnTo>
                    <a:lnTo>
                      <a:pt x="203" y="55315"/>
                    </a:lnTo>
                    <a:lnTo>
                      <a:pt x="0" y="54381"/>
                    </a:lnTo>
                    <a:lnTo>
                      <a:pt x="0" y="2435"/>
                    </a:lnTo>
                    <a:lnTo>
                      <a:pt x="203" y="1501"/>
                    </a:lnTo>
                    <a:lnTo>
                      <a:pt x="731" y="73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墙_DoorLeaf_Rear215">
                <a:extLst>
                  <a:ext uri="{FF2B5EF4-FFF2-40B4-BE49-F238E27FC236}">
                    <a16:creationId xmlns:a16="http://schemas.microsoft.com/office/drawing/2014/main" id="{4E5F1EAF-A1D2-FB19-98E4-51A8733FBF90}"/>
                  </a:ext>
                </a:extLst>
              </p:cNvPr>
              <p:cNvSpPr/>
              <p:nvPr/>
            </p:nvSpPr>
            <p:spPr>
              <a:xfrm>
                <a:off x="3460057" y="2172612"/>
                <a:ext cx="55390" cy="278158"/>
              </a:xfrm>
              <a:custGeom>
                <a:avLst/>
                <a:gdLst/>
                <a:ahLst/>
                <a:cxnLst/>
                <a:rect l="l" t="t" r="r" b="b"/>
                <a:pathLst>
                  <a:path w="55390" h="278158">
                    <a:moveTo>
                      <a:pt x="55309" y="274708"/>
                    </a:moveTo>
                    <a:lnTo>
                      <a:pt x="55390" y="273450"/>
                    </a:lnTo>
                    <a:lnTo>
                      <a:pt x="14568" y="2759"/>
                    </a:lnTo>
                    <a:lnTo>
                      <a:pt x="14121" y="1542"/>
                    </a:lnTo>
                    <a:lnTo>
                      <a:pt x="13269" y="609"/>
                    </a:lnTo>
                    <a:lnTo>
                      <a:pt x="12133" y="40"/>
                    </a:lnTo>
                    <a:lnTo>
                      <a:pt x="10875" y="0"/>
                    </a:lnTo>
                    <a:lnTo>
                      <a:pt x="2719" y="1096"/>
                    </a:lnTo>
                    <a:lnTo>
                      <a:pt x="1501" y="1501"/>
                    </a:lnTo>
                    <a:lnTo>
                      <a:pt x="568" y="2354"/>
                    </a:lnTo>
                    <a:lnTo>
                      <a:pt x="41" y="3449"/>
                    </a:lnTo>
                    <a:lnTo>
                      <a:pt x="0" y="4748"/>
                    </a:lnTo>
                    <a:lnTo>
                      <a:pt x="41309" y="275398"/>
                    </a:lnTo>
                    <a:lnTo>
                      <a:pt x="41756" y="276615"/>
                    </a:lnTo>
                    <a:lnTo>
                      <a:pt x="42608" y="277549"/>
                    </a:lnTo>
                    <a:lnTo>
                      <a:pt x="43744" y="278117"/>
                    </a:lnTo>
                    <a:lnTo>
                      <a:pt x="45002" y="278158"/>
                    </a:lnTo>
                    <a:lnTo>
                      <a:pt x="52631" y="277102"/>
                    </a:lnTo>
                    <a:lnTo>
                      <a:pt x="53848" y="276697"/>
                    </a:lnTo>
                    <a:lnTo>
                      <a:pt x="54781" y="275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墙_Room199_Jamb">
                <a:extLst>
                  <a:ext uri="{FF2B5EF4-FFF2-40B4-BE49-F238E27FC236}">
                    <a16:creationId xmlns:a16="http://schemas.microsoft.com/office/drawing/2014/main" id="{008EFFD3-7398-E747-9F1B-9FF9B0554E2F}"/>
                  </a:ext>
                </a:extLst>
              </p:cNvPr>
              <p:cNvSpPr/>
              <p:nvPr/>
            </p:nvSpPr>
            <p:spPr>
              <a:xfrm>
                <a:off x="1040793" y="3071166"/>
                <a:ext cx="56810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6810" h="12175">
                    <a:moveTo>
                      <a:pt x="0" y="0"/>
                    </a:moveTo>
                    <a:lnTo>
                      <a:pt x="56810" y="0"/>
                    </a:lnTo>
                    <a:lnTo>
                      <a:pt x="56810" y="12175"/>
                    </a:lnTo>
                    <a:lnTo>
                      <a:pt x="0" y="1217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墙_Room199_Jamb.001">
                <a:extLst>
                  <a:ext uri="{FF2B5EF4-FFF2-40B4-BE49-F238E27FC236}">
                    <a16:creationId xmlns:a16="http://schemas.microsoft.com/office/drawing/2014/main" id="{55A8A80A-CBC6-F300-4DDE-E94AA5F070EB}"/>
                  </a:ext>
                </a:extLst>
              </p:cNvPr>
              <p:cNvSpPr/>
              <p:nvPr/>
            </p:nvSpPr>
            <p:spPr>
              <a:xfrm>
                <a:off x="1040793" y="2799258"/>
                <a:ext cx="56810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6810" h="12175">
                    <a:moveTo>
                      <a:pt x="0" y="0"/>
                    </a:moveTo>
                    <a:lnTo>
                      <a:pt x="56810" y="0"/>
                    </a:lnTo>
                    <a:lnTo>
                      <a:pt x="56810" y="12175"/>
                    </a:lnTo>
                    <a:lnTo>
                      <a:pt x="0" y="1217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9" name="墙_DoorLeaf_Room199">
                <a:extLst>
                  <a:ext uri="{FF2B5EF4-FFF2-40B4-BE49-F238E27FC236}">
                    <a16:creationId xmlns:a16="http://schemas.microsoft.com/office/drawing/2014/main" id="{EC6A3079-8DDB-20F1-94AA-2750F920CB82}"/>
                  </a:ext>
                </a:extLst>
              </p:cNvPr>
              <p:cNvSpPr/>
              <p:nvPr/>
            </p:nvSpPr>
            <p:spPr>
              <a:xfrm>
                <a:off x="784457" y="2786271"/>
                <a:ext cx="265263" cy="51095"/>
              </a:xfrm>
              <a:custGeom>
                <a:avLst/>
                <a:gdLst/>
                <a:ahLst/>
                <a:cxnLst/>
                <a:rect l="l" t="t" r="r" b="b"/>
                <a:pathLst>
                  <a:path w="265263" h="51095">
                    <a:moveTo>
                      <a:pt x="265263" y="14610"/>
                    </a:moveTo>
                    <a:lnTo>
                      <a:pt x="2070" y="51095"/>
                    </a:lnTo>
                    <a:lnTo>
                      <a:pt x="0" y="36485"/>
                    </a:lnTo>
                    <a:lnTo>
                      <a:pt x="26319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墙_WR_Carcass">
                <a:extLst>
                  <a:ext uri="{FF2B5EF4-FFF2-40B4-BE49-F238E27FC236}">
                    <a16:creationId xmlns:a16="http://schemas.microsoft.com/office/drawing/2014/main" id="{9F08FDF2-8D7F-AA06-11AA-B4C47E2235CE}"/>
                  </a:ext>
                </a:extLst>
              </p:cNvPr>
              <p:cNvSpPr/>
              <p:nvPr/>
            </p:nvSpPr>
            <p:spPr>
              <a:xfrm>
                <a:off x="449439" y="4022357"/>
                <a:ext cx="235357" cy="1217498"/>
              </a:xfrm>
              <a:custGeom>
                <a:avLst/>
                <a:gdLst/>
                <a:ahLst/>
                <a:cxnLst/>
                <a:rect l="l" t="t" r="r" b="b"/>
                <a:pathLst>
                  <a:path w="235357" h="1217498">
                    <a:moveTo>
                      <a:pt x="244" y="608992"/>
                    </a:moveTo>
                    <a:lnTo>
                      <a:pt x="0" y="609561"/>
                    </a:lnTo>
                    <a:lnTo>
                      <a:pt x="0" y="1216686"/>
                    </a:lnTo>
                    <a:lnTo>
                      <a:pt x="244" y="1217255"/>
                    </a:lnTo>
                    <a:lnTo>
                      <a:pt x="812" y="1217498"/>
                    </a:lnTo>
                    <a:lnTo>
                      <a:pt x="234545" y="1217498"/>
                    </a:lnTo>
                    <a:lnTo>
                      <a:pt x="235113" y="1217255"/>
                    </a:lnTo>
                    <a:lnTo>
                      <a:pt x="235357" y="1216686"/>
                    </a:lnTo>
                    <a:lnTo>
                      <a:pt x="235357" y="609561"/>
                    </a:lnTo>
                    <a:lnTo>
                      <a:pt x="235113" y="608992"/>
                    </a:lnTo>
                    <a:lnTo>
                      <a:pt x="234545" y="608749"/>
                    </a:lnTo>
                    <a:lnTo>
                      <a:pt x="812" y="608749"/>
                    </a:lnTo>
                    <a:close/>
                    <a:moveTo>
                      <a:pt x="244" y="243"/>
                    </a:moveTo>
                    <a:lnTo>
                      <a:pt x="0" y="811"/>
                    </a:lnTo>
                    <a:lnTo>
                      <a:pt x="0" y="607937"/>
                    </a:lnTo>
                    <a:lnTo>
                      <a:pt x="244" y="608505"/>
                    </a:lnTo>
                    <a:lnTo>
                      <a:pt x="812" y="608749"/>
                    </a:lnTo>
                    <a:lnTo>
                      <a:pt x="234545" y="608749"/>
                    </a:lnTo>
                    <a:lnTo>
                      <a:pt x="235113" y="608505"/>
                    </a:lnTo>
                    <a:lnTo>
                      <a:pt x="235357" y="607937"/>
                    </a:lnTo>
                    <a:lnTo>
                      <a:pt x="235357" y="811"/>
                    </a:lnTo>
                    <a:lnTo>
                      <a:pt x="235113" y="243"/>
                    </a:lnTo>
                    <a:lnTo>
                      <a:pt x="234545" y="0"/>
                    </a:lnTo>
                    <a:lnTo>
                      <a:pt x="812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1" name="墙_WR_Door_L1">
                <a:extLst>
                  <a:ext uri="{FF2B5EF4-FFF2-40B4-BE49-F238E27FC236}">
                    <a16:creationId xmlns:a16="http://schemas.microsoft.com/office/drawing/2014/main" id="{77B18D4A-5E44-E47B-6339-E0F4924957E0}"/>
                  </a:ext>
                </a:extLst>
              </p:cNvPr>
              <p:cNvSpPr/>
              <p:nvPr/>
            </p:nvSpPr>
            <p:spPr>
              <a:xfrm>
                <a:off x="684796" y="4479527"/>
                <a:ext cx="8116" cy="759111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111">
                    <a:moveTo>
                      <a:pt x="7872" y="735410"/>
                    </a:moveTo>
                    <a:lnTo>
                      <a:pt x="7385" y="735572"/>
                    </a:lnTo>
                    <a:lnTo>
                      <a:pt x="7020" y="735816"/>
                    </a:lnTo>
                    <a:lnTo>
                      <a:pt x="6695" y="736181"/>
                    </a:lnTo>
                    <a:lnTo>
                      <a:pt x="6574" y="736546"/>
                    </a:lnTo>
                    <a:lnTo>
                      <a:pt x="6574" y="737033"/>
                    </a:lnTo>
                    <a:lnTo>
                      <a:pt x="6695" y="737398"/>
                    </a:lnTo>
                    <a:lnTo>
                      <a:pt x="7020" y="737764"/>
                    </a:lnTo>
                    <a:lnTo>
                      <a:pt x="7385" y="738007"/>
                    </a:lnTo>
                    <a:lnTo>
                      <a:pt x="7872" y="738170"/>
                    </a:lnTo>
                    <a:lnTo>
                      <a:pt x="7872" y="738170"/>
                    </a:lnTo>
                    <a:lnTo>
                      <a:pt x="8116" y="738413"/>
                    </a:lnTo>
                    <a:lnTo>
                      <a:pt x="8116" y="629447"/>
                    </a:lnTo>
                    <a:lnTo>
                      <a:pt x="7872" y="629690"/>
                    </a:lnTo>
                    <a:lnTo>
                      <a:pt x="7872" y="629690"/>
                    </a:lnTo>
                    <a:lnTo>
                      <a:pt x="7385" y="629853"/>
                    </a:lnTo>
                    <a:lnTo>
                      <a:pt x="7020" y="630096"/>
                    </a:lnTo>
                    <a:lnTo>
                      <a:pt x="6695" y="630462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695" y="631679"/>
                    </a:lnTo>
                    <a:lnTo>
                      <a:pt x="7020" y="632044"/>
                    </a:lnTo>
                    <a:lnTo>
                      <a:pt x="7385" y="632288"/>
                    </a:lnTo>
                    <a:lnTo>
                      <a:pt x="7872" y="632450"/>
                    </a:lnTo>
                    <a:lnTo>
                      <a:pt x="7872" y="632450"/>
                    </a:lnTo>
                    <a:lnTo>
                      <a:pt x="8116" y="632694"/>
                    </a:lnTo>
                    <a:lnTo>
                      <a:pt x="8116" y="735166"/>
                    </a:lnTo>
                    <a:lnTo>
                      <a:pt x="7872" y="735410"/>
                    </a:lnTo>
                    <a:close/>
                    <a:moveTo>
                      <a:pt x="0" y="608993"/>
                    </a:moveTo>
                    <a:lnTo>
                      <a:pt x="243" y="608750"/>
                    </a:lnTo>
                    <a:lnTo>
                      <a:pt x="7872" y="608750"/>
                    </a:lnTo>
                    <a:lnTo>
                      <a:pt x="8116" y="608993"/>
                    </a:lnTo>
                    <a:lnTo>
                      <a:pt x="8116" y="758867"/>
                    </a:lnTo>
                    <a:lnTo>
                      <a:pt x="7872" y="759111"/>
                    </a:lnTo>
                    <a:lnTo>
                      <a:pt x="243" y="759111"/>
                    </a:lnTo>
                    <a:lnTo>
                      <a:pt x="0" y="758867"/>
                    </a:lnTo>
                    <a:close/>
                    <a:moveTo>
                      <a:pt x="7872" y="126661"/>
                    </a:moveTo>
                    <a:lnTo>
                      <a:pt x="7385" y="126823"/>
                    </a:lnTo>
                    <a:lnTo>
                      <a:pt x="7020" y="127067"/>
                    </a:lnTo>
                    <a:lnTo>
                      <a:pt x="6695" y="127432"/>
                    </a:lnTo>
                    <a:lnTo>
                      <a:pt x="6574" y="127797"/>
                    </a:lnTo>
                    <a:lnTo>
                      <a:pt x="6574" y="128284"/>
                    </a:lnTo>
                    <a:lnTo>
                      <a:pt x="6695" y="128649"/>
                    </a:lnTo>
                    <a:lnTo>
                      <a:pt x="7020" y="129015"/>
                    </a:lnTo>
                    <a:lnTo>
                      <a:pt x="7385" y="129258"/>
                    </a:lnTo>
                    <a:lnTo>
                      <a:pt x="7872" y="129420"/>
                    </a:lnTo>
                    <a:lnTo>
                      <a:pt x="7872" y="129420"/>
                    </a:lnTo>
                    <a:lnTo>
                      <a:pt x="8116" y="129664"/>
                    </a:lnTo>
                    <a:lnTo>
                      <a:pt x="8116" y="20698"/>
                    </a:lnTo>
                    <a:lnTo>
                      <a:pt x="7872" y="20941"/>
                    </a:lnTo>
                    <a:lnTo>
                      <a:pt x="7872" y="20941"/>
                    </a:lnTo>
                    <a:lnTo>
                      <a:pt x="7385" y="21104"/>
                    </a:lnTo>
                    <a:lnTo>
                      <a:pt x="7020" y="21347"/>
                    </a:lnTo>
                    <a:lnTo>
                      <a:pt x="6695" y="21712"/>
                    </a:lnTo>
                    <a:lnTo>
                      <a:pt x="6574" y="22078"/>
                    </a:lnTo>
                    <a:lnTo>
                      <a:pt x="6574" y="22565"/>
                    </a:lnTo>
                    <a:lnTo>
                      <a:pt x="6695" y="22930"/>
                    </a:lnTo>
                    <a:lnTo>
                      <a:pt x="7020" y="23295"/>
                    </a:lnTo>
                    <a:lnTo>
                      <a:pt x="7385" y="23539"/>
                    </a:lnTo>
                    <a:lnTo>
                      <a:pt x="7872" y="23701"/>
                    </a:lnTo>
                    <a:lnTo>
                      <a:pt x="7872" y="23701"/>
                    </a:lnTo>
                    <a:lnTo>
                      <a:pt x="8116" y="23945"/>
                    </a:lnTo>
                    <a:lnTo>
                      <a:pt x="8116" y="126417"/>
                    </a:lnTo>
                    <a:lnTo>
                      <a:pt x="7872" y="126661"/>
                    </a:lnTo>
                    <a:close/>
                    <a:moveTo>
                      <a:pt x="0" y="244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150118"/>
                    </a:lnTo>
                    <a:lnTo>
                      <a:pt x="7872" y="150361"/>
                    </a:lnTo>
                    <a:lnTo>
                      <a:pt x="243" y="150361"/>
                    </a:lnTo>
                    <a:lnTo>
                      <a:pt x="0" y="15011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墙_WR_Door_L2">
                <a:extLst>
                  <a:ext uri="{FF2B5EF4-FFF2-40B4-BE49-F238E27FC236}">
                    <a16:creationId xmlns:a16="http://schemas.microsoft.com/office/drawing/2014/main" id="{B7272506-954C-8AE7-A98E-96AE115F1C24}"/>
                  </a:ext>
                </a:extLst>
              </p:cNvPr>
              <p:cNvSpPr/>
              <p:nvPr/>
            </p:nvSpPr>
            <p:spPr>
              <a:xfrm>
                <a:off x="684796" y="4327340"/>
                <a:ext cx="8116" cy="759719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719">
                    <a:moveTo>
                      <a:pt x="7872" y="736018"/>
                    </a:moveTo>
                    <a:lnTo>
                      <a:pt x="7385" y="736181"/>
                    </a:lnTo>
                    <a:lnTo>
                      <a:pt x="7020" y="736424"/>
                    </a:lnTo>
                    <a:lnTo>
                      <a:pt x="6695" y="736789"/>
                    </a:lnTo>
                    <a:lnTo>
                      <a:pt x="6574" y="737155"/>
                    </a:lnTo>
                    <a:lnTo>
                      <a:pt x="6574" y="737642"/>
                    </a:lnTo>
                    <a:lnTo>
                      <a:pt x="6695" y="738007"/>
                    </a:lnTo>
                    <a:lnTo>
                      <a:pt x="7020" y="738372"/>
                    </a:lnTo>
                    <a:lnTo>
                      <a:pt x="7385" y="738616"/>
                    </a:lnTo>
                    <a:lnTo>
                      <a:pt x="7872" y="738778"/>
                    </a:lnTo>
                    <a:lnTo>
                      <a:pt x="7872" y="738778"/>
                    </a:lnTo>
                    <a:lnTo>
                      <a:pt x="8116" y="739022"/>
                    </a:lnTo>
                    <a:lnTo>
                      <a:pt x="8116" y="629447"/>
                    </a:lnTo>
                    <a:lnTo>
                      <a:pt x="7872" y="629690"/>
                    </a:lnTo>
                    <a:lnTo>
                      <a:pt x="7872" y="629690"/>
                    </a:lnTo>
                    <a:lnTo>
                      <a:pt x="7385" y="629853"/>
                    </a:lnTo>
                    <a:lnTo>
                      <a:pt x="7020" y="630096"/>
                    </a:lnTo>
                    <a:lnTo>
                      <a:pt x="6695" y="630461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695" y="631679"/>
                    </a:lnTo>
                    <a:lnTo>
                      <a:pt x="7020" y="632044"/>
                    </a:lnTo>
                    <a:lnTo>
                      <a:pt x="7385" y="632288"/>
                    </a:lnTo>
                    <a:lnTo>
                      <a:pt x="7872" y="632450"/>
                    </a:lnTo>
                    <a:lnTo>
                      <a:pt x="7872" y="632450"/>
                    </a:lnTo>
                    <a:lnTo>
                      <a:pt x="8116" y="632693"/>
                    </a:lnTo>
                    <a:lnTo>
                      <a:pt x="8116" y="735775"/>
                    </a:lnTo>
                    <a:lnTo>
                      <a:pt x="7872" y="736018"/>
                    </a:lnTo>
                    <a:close/>
                    <a:moveTo>
                      <a:pt x="0" y="608993"/>
                    </a:move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3"/>
                    </a:lnTo>
                    <a:lnTo>
                      <a:pt x="8116" y="759476"/>
                    </a:lnTo>
                    <a:lnTo>
                      <a:pt x="7872" y="759719"/>
                    </a:lnTo>
                    <a:lnTo>
                      <a:pt x="243" y="759719"/>
                    </a:lnTo>
                    <a:lnTo>
                      <a:pt x="0" y="759476"/>
                    </a:lnTo>
                    <a:close/>
                    <a:moveTo>
                      <a:pt x="7872" y="127269"/>
                    </a:moveTo>
                    <a:lnTo>
                      <a:pt x="7385" y="127432"/>
                    </a:lnTo>
                    <a:lnTo>
                      <a:pt x="7020" y="127675"/>
                    </a:lnTo>
                    <a:lnTo>
                      <a:pt x="6695" y="128040"/>
                    </a:lnTo>
                    <a:lnTo>
                      <a:pt x="6574" y="128406"/>
                    </a:lnTo>
                    <a:lnTo>
                      <a:pt x="6574" y="128893"/>
                    </a:lnTo>
                    <a:lnTo>
                      <a:pt x="6695" y="129258"/>
                    </a:lnTo>
                    <a:lnTo>
                      <a:pt x="7020" y="129623"/>
                    </a:lnTo>
                    <a:lnTo>
                      <a:pt x="7385" y="129867"/>
                    </a:lnTo>
                    <a:lnTo>
                      <a:pt x="7872" y="130029"/>
                    </a:lnTo>
                    <a:lnTo>
                      <a:pt x="7872" y="130029"/>
                    </a:lnTo>
                    <a:lnTo>
                      <a:pt x="8116" y="130272"/>
                    </a:lnTo>
                    <a:lnTo>
                      <a:pt x="8116" y="20698"/>
                    </a:lnTo>
                    <a:lnTo>
                      <a:pt x="7872" y="20941"/>
                    </a:lnTo>
                    <a:lnTo>
                      <a:pt x="7872" y="20941"/>
                    </a:lnTo>
                    <a:lnTo>
                      <a:pt x="7385" y="21103"/>
                    </a:lnTo>
                    <a:lnTo>
                      <a:pt x="7020" y="21347"/>
                    </a:lnTo>
                    <a:lnTo>
                      <a:pt x="6695" y="21712"/>
                    </a:lnTo>
                    <a:lnTo>
                      <a:pt x="6574" y="22077"/>
                    </a:lnTo>
                    <a:lnTo>
                      <a:pt x="6574" y="22564"/>
                    </a:lnTo>
                    <a:lnTo>
                      <a:pt x="6695" y="22930"/>
                    </a:lnTo>
                    <a:lnTo>
                      <a:pt x="7020" y="23295"/>
                    </a:lnTo>
                    <a:lnTo>
                      <a:pt x="7385" y="23538"/>
                    </a:lnTo>
                    <a:lnTo>
                      <a:pt x="7872" y="23701"/>
                    </a:lnTo>
                    <a:lnTo>
                      <a:pt x="7872" y="23701"/>
                    </a:lnTo>
                    <a:lnTo>
                      <a:pt x="8116" y="23944"/>
                    </a:lnTo>
                    <a:lnTo>
                      <a:pt x="8116" y="127026"/>
                    </a:lnTo>
                    <a:lnTo>
                      <a:pt x="7872" y="127269"/>
                    </a:lnTo>
                    <a:close/>
                    <a:moveTo>
                      <a:pt x="0" y="244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150726"/>
                    </a:lnTo>
                    <a:lnTo>
                      <a:pt x="7872" y="150970"/>
                    </a:lnTo>
                    <a:lnTo>
                      <a:pt x="243" y="150970"/>
                    </a:lnTo>
                    <a:lnTo>
                      <a:pt x="0" y="15072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3" name="墙_WR_Door_R1">
                <a:extLst>
                  <a:ext uri="{FF2B5EF4-FFF2-40B4-BE49-F238E27FC236}">
                    <a16:creationId xmlns:a16="http://schemas.microsoft.com/office/drawing/2014/main" id="{3B47E218-2946-B5BE-8EC9-0A82724E2852}"/>
                  </a:ext>
                </a:extLst>
              </p:cNvPr>
              <p:cNvSpPr/>
              <p:nvPr/>
            </p:nvSpPr>
            <p:spPr>
              <a:xfrm>
                <a:off x="684796" y="4175153"/>
                <a:ext cx="8116" cy="759719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719">
                    <a:moveTo>
                      <a:pt x="7872" y="735856"/>
                    </a:moveTo>
                    <a:lnTo>
                      <a:pt x="7426" y="736018"/>
                    </a:lnTo>
                    <a:lnTo>
                      <a:pt x="7020" y="736302"/>
                    </a:lnTo>
                    <a:lnTo>
                      <a:pt x="6736" y="736667"/>
                    </a:lnTo>
                    <a:lnTo>
                      <a:pt x="6574" y="737154"/>
                    </a:lnTo>
                    <a:lnTo>
                      <a:pt x="6574" y="737641"/>
                    </a:lnTo>
                    <a:lnTo>
                      <a:pt x="6736" y="738128"/>
                    </a:lnTo>
                    <a:lnTo>
                      <a:pt x="7020" y="738494"/>
                    </a:lnTo>
                    <a:lnTo>
                      <a:pt x="7426" y="738778"/>
                    </a:lnTo>
                    <a:lnTo>
                      <a:pt x="7872" y="738940"/>
                    </a:lnTo>
                    <a:lnTo>
                      <a:pt x="7872" y="738940"/>
                    </a:lnTo>
                    <a:lnTo>
                      <a:pt x="8116" y="739184"/>
                    </a:lnTo>
                    <a:lnTo>
                      <a:pt x="8116" y="629284"/>
                    </a:lnTo>
                    <a:lnTo>
                      <a:pt x="7872" y="629528"/>
                    </a:lnTo>
                    <a:lnTo>
                      <a:pt x="7872" y="629528"/>
                    </a:lnTo>
                    <a:lnTo>
                      <a:pt x="7426" y="629690"/>
                    </a:lnTo>
                    <a:lnTo>
                      <a:pt x="7020" y="629974"/>
                    </a:lnTo>
                    <a:lnTo>
                      <a:pt x="6736" y="630339"/>
                    </a:lnTo>
                    <a:lnTo>
                      <a:pt x="6574" y="630826"/>
                    </a:lnTo>
                    <a:lnTo>
                      <a:pt x="6574" y="631313"/>
                    </a:lnTo>
                    <a:lnTo>
                      <a:pt x="6736" y="631800"/>
                    </a:lnTo>
                    <a:lnTo>
                      <a:pt x="7020" y="632166"/>
                    </a:lnTo>
                    <a:lnTo>
                      <a:pt x="7426" y="632450"/>
                    </a:lnTo>
                    <a:lnTo>
                      <a:pt x="7872" y="632612"/>
                    </a:lnTo>
                    <a:lnTo>
                      <a:pt x="7872" y="632612"/>
                    </a:lnTo>
                    <a:lnTo>
                      <a:pt x="8116" y="632855"/>
                    </a:lnTo>
                    <a:lnTo>
                      <a:pt x="8116" y="735612"/>
                    </a:lnTo>
                    <a:lnTo>
                      <a:pt x="7872" y="735856"/>
                    </a:lnTo>
                    <a:close/>
                    <a:moveTo>
                      <a:pt x="0" y="608992"/>
                    </a:move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2"/>
                    </a:lnTo>
                    <a:lnTo>
                      <a:pt x="8116" y="759475"/>
                    </a:lnTo>
                    <a:lnTo>
                      <a:pt x="7872" y="759719"/>
                    </a:lnTo>
                    <a:lnTo>
                      <a:pt x="243" y="759719"/>
                    </a:lnTo>
                    <a:lnTo>
                      <a:pt x="0" y="759475"/>
                    </a:lnTo>
                    <a:close/>
                    <a:moveTo>
                      <a:pt x="7872" y="127107"/>
                    </a:moveTo>
                    <a:lnTo>
                      <a:pt x="7426" y="127269"/>
                    </a:lnTo>
                    <a:lnTo>
                      <a:pt x="7020" y="127553"/>
                    </a:lnTo>
                    <a:lnTo>
                      <a:pt x="6736" y="127918"/>
                    </a:lnTo>
                    <a:lnTo>
                      <a:pt x="6574" y="128405"/>
                    </a:lnTo>
                    <a:lnTo>
                      <a:pt x="6574" y="128892"/>
                    </a:lnTo>
                    <a:lnTo>
                      <a:pt x="6736" y="129379"/>
                    </a:lnTo>
                    <a:lnTo>
                      <a:pt x="7020" y="129745"/>
                    </a:lnTo>
                    <a:lnTo>
                      <a:pt x="7426" y="130029"/>
                    </a:lnTo>
                    <a:lnTo>
                      <a:pt x="7872" y="130191"/>
                    </a:lnTo>
                    <a:lnTo>
                      <a:pt x="7872" y="130191"/>
                    </a:lnTo>
                    <a:lnTo>
                      <a:pt x="8116" y="130434"/>
                    </a:lnTo>
                    <a:lnTo>
                      <a:pt x="8116" y="20535"/>
                    </a:lnTo>
                    <a:lnTo>
                      <a:pt x="7872" y="20778"/>
                    </a:lnTo>
                    <a:lnTo>
                      <a:pt x="7872" y="20778"/>
                    </a:lnTo>
                    <a:lnTo>
                      <a:pt x="7426" y="20941"/>
                    </a:lnTo>
                    <a:lnTo>
                      <a:pt x="7020" y="21225"/>
                    </a:lnTo>
                    <a:lnTo>
                      <a:pt x="6736" y="21590"/>
                    </a:lnTo>
                    <a:lnTo>
                      <a:pt x="6574" y="22077"/>
                    </a:lnTo>
                    <a:lnTo>
                      <a:pt x="6574" y="22564"/>
                    </a:lnTo>
                    <a:lnTo>
                      <a:pt x="6736" y="23051"/>
                    </a:lnTo>
                    <a:lnTo>
                      <a:pt x="7020" y="23416"/>
                    </a:lnTo>
                    <a:lnTo>
                      <a:pt x="7426" y="23700"/>
                    </a:lnTo>
                    <a:lnTo>
                      <a:pt x="7872" y="23863"/>
                    </a:lnTo>
                    <a:lnTo>
                      <a:pt x="7872" y="23863"/>
                    </a:lnTo>
                    <a:lnTo>
                      <a:pt x="8116" y="24106"/>
                    </a:lnTo>
                    <a:lnTo>
                      <a:pt x="8116" y="126863"/>
                    </a:lnTo>
                    <a:lnTo>
                      <a:pt x="7872" y="127107"/>
                    </a:lnTo>
                    <a:close/>
                    <a:moveTo>
                      <a:pt x="0" y="243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3"/>
                    </a:lnTo>
                    <a:lnTo>
                      <a:pt x="8116" y="150726"/>
                    </a:lnTo>
                    <a:lnTo>
                      <a:pt x="7872" y="150970"/>
                    </a:lnTo>
                    <a:lnTo>
                      <a:pt x="243" y="150970"/>
                    </a:lnTo>
                    <a:lnTo>
                      <a:pt x="0" y="15072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4" name="墙_WR_Door_R2">
                <a:extLst>
                  <a:ext uri="{FF2B5EF4-FFF2-40B4-BE49-F238E27FC236}">
                    <a16:creationId xmlns:a16="http://schemas.microsoft.com/office/drawing/2014/main" id="{5A91B1BD-0427-302F-9F91-EDAAAF7F67AC}"/>
                  </a:ext>
                </a:extLst>
              </p:cNvPr>
              <p:cNvSpPr/>
              <p:nvPr/>
            </p:nvSpPr>
            <p:spPr>
              <a:xfrm>
                <a:off x="684796" y="4023574"/>
                <a:ext cx="8116" cy="759110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110">
                    <a:moveTo>
                      <a:pt x="7872" y="735247"/>
                    </a:moveTo>
                    <a:lnTo>
                      <a:pt x="7426" y="735410"/>
                    </a:lnTo>
                    <a:lnTo>
                      <a:pt x="7020" y="735694"/>
                    </a:lnTo>
                    <a:lnTo>
                      <a:pt x="6736" y="736059"/>
                    </a:lnTo>
                    <a:lnTo>
                      <a:pt x="6574" y="736546"/>
                    </a:lnTo>
                    <a:lnTo>
                      <a:pt x="6574" y="737033"/>
                    </a:lnTo>
                    <a:lnTo>
                      <a:pt x="6736" y="737520"/>
                    </a:lnTo>
                    <a:lnTo>
                      <a:pt x="7020" y="737885"/>
                    </a:lnTo>
                    <a:lnTo>
                      <a:pt x="7426" y="738169"/>
                    </a:lnTo>
                    <a:lnTo>
                      <a:pt x="7872" y="738332"/>
                    </a:lnTo>
                    <a:lnTo>
                      <a:pt x="7872" y="738332"/>
                    </a:lnTo>
                    <a:lnTo>
                      <a:pt x="8116" y="738575"/>
                    </a:lnTo>
                    <a:lnTo>
                      <a:pt x="8116" y="758867"/>
                    </a:lnTo>
                    <a:lnTo>
                      <a:pt x="7872" y="759110"/>
                    </a:lnTo>
                    <a:lnTo>
                      <a:pt x="243" y="759110"/>
                    </a:lnTo>
                    <a:lnTo>
                      <a:pt x="0" y="758867"/>
                    </a:lnTo>
                    <a:lnTo>
                      <a:pt x="0" y="608993"/>
                    </a:ln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3"/>
                    </a:lnTo>
                    <a:lnTo>
                      <a:pt x="8116" y="629285"/>
                    </a:lnTo>
                    <a:lnTo>
                      <a:pt x="7872" y="629528"/>
                    </a:lnTo>
                    <a:lnTo>
                      <a:pt x="7872" y="629528"/>
                    </a:lnTo>
                    <a:lnTo>
                      <a:pt x="7426" y="629690"/>
                    </a:lnTo>
                    <a:lnTo>
                      <a:pt x="7020" y="629974"/>
                    </a:lnTo>
                    <a:lnTo>
                      <a:pt x="6736" y="630340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736" y="631801"/>
                    </a:lnTo>
                    <a:lnTo>
                      <a:pt x="7020" y="632166"/>
                    </a:lnTo>
                    <a:lnTo>
                      <a:pt x="7426" y="632450"/>
                    </a:lnTo>
                    <a:lnTo>
                      <a:pt x="7872" y="632612"/>
                    </a:lnTo>
                    <a:lnTo>
                      <a:pt x="7872" y="632612"/>
                    </a:lnTo>
                    <a:lnTo>
                      <a:pt x="8116" y="632856"/>
                    </a:lnTo>
                    <a:lnTo>
                      <a:pt x="8116" y="735004"/>
                    </a:lnTo>
                    <a:lnTo>
                      <a:pt x="7872" y="735247"/>
                    </a:lnTo>
                    <a:close/>
                    <a:moveTo>
                      <a:pt x="7872" y="126498"/>
                    </a:moveTo>
                    <a:lnTo>
                      <a:pt x="7426" y="126661"/>
                    </a:lnTo>
                    <a:lnTo>
                      <a:pt x="7020" y="126945"/>
                    </a:lnTo>
                    <a:lnTo>
                      <a:pt x="6736" y="127310"/>
                    </a:lnTo>
                    <a:lnTo>
                      <a:pt x="6574" y="127797"/>
                    </a:lnTo>
                    <a:lnTo>
                      <a:pt x="6574" y="128284"/>
                    </a:lnTo>
                    <a:lnTo>
                      <a:pt x="6736" y="128771"/>
                    </a:lnTo>
                    <a:lnTo>
                      <a:pt x="7020" y="129136"/>
                    </a:lnTo>
                    <a:lnTo>
                      <a:pt x="7426" y="129420"/>
                    </a:lnTo>
                    <a:lnTo>
                      <a:pt x="7872" y="129583"/>
                    </a:lnTo>
                    <a:lnTo>
                      <a:pt x="7872" y="129583"/>
                    </a:lnTo>
                    <a:lnTo>
                      <a:pt x="8116" y="129826"/>
                    </a:lnTo>
                    <a:lnTo>
                      <a:pt x="8116" y="150118"/>
                    </a:lnTo>
                    <a:lnTo>
                      <a:pt x="7872" y="150361"/>
                    </a:lnTo>
                    <a:lnTo>
                      <a:pt x="243" y="150361"/>
                    </a:lnTo>
                    <a:lnTo>
                      <a:pt x="0" y="150118"/>
                    </a:lnTo>
                    <a:lnTo>
                      <a:pt x="0" y="244"/>
                    </a:ln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20535"/>
                    </a:lnTo>
                    <a:lnTo>
                      <a:pt x="7872" y="20779"/>
                    </a:lnTo>
                    <a:lnTo>
                      <a:pt x="7872" y="20779"/>
                    </a:lnTo>
                    <a:lnTo>
                      <a:pt x="7426" y="20941"/>
                    </a:lnTo>
                    <a:lnTo>
                      <a:pt x="7020" y="21225"/>
                    </a:lnTo>
                    <a:lnTo>
                      <a:pt x="6736" y="21591"/>
                    </a:lnTo>
                    <a:lnTo>
                      <a:pt x="6574" y="22078"/>
                    </a:lnTo>
                    <a:lnTo>
                      <a:pt x="6574" y="22565"/>
                    </a:lnTo>
                    <a:lnTo>
                      <a:pt x="6736" y="23052"/>
                    </a:lnTo>
                    <a:lnTo>
                      <a:pt x="7020" y="23417"/>
                    </a:lnTo>
                    <a:lnTo>
                      <a:pt x="7426" y="23701"/>
                    </a:lnTo>
                    <a:lnTo>
                      <a:pt x="7872" y="23863"/>
                    </a:lnTo>
                    <a:lnTo>
                      <a:pt x="7872" y="23863"/>
                    </a:lnTo>
                    <a:lnTo>
                      <a:pt x="8116" y="24107"/>
                    </a:lnTo>
                    <a:lnTo>
                      <a:pt x="8116" y="126255"/>
                    </a:lnTo>
                    <a:lnTo>
                      <a:pt x="7872" y="1264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205" name="房间名（沿用施工图）">
              <a:extLst>
                <a:ext uri="{FF2B5EF4-FFF2-40B4-BE49-F238E27FC236}">
                  <a16:creationId xmlns:a16="http://schemas.microsoft.com/office/drawing/2014/main" id="{D1738153-8C4A-8113-61DF-94565F8B3F32}"/>
                </a:ext>
              </a:extLst>
            </p:cNvPr>
            <p:cNvGrpSpPr/>
            <p:nvPr/>
          </p:nvGrpSpPr>
          <p:grpSpPr>
            <a:xfrm>
              <a:off x="1023096" y="1776807"/>
              <a:ext cx="2852368" cy="3609507"/>
              <a:chOff x="1023096" y="1776807"/>
              <a:chExt cx="2852368" cy="3609507"/>
            </a:xfrm>
          </p:grpSpPr>
          <p:sp>
            <p:nvSpPr>
              <p:cNvPr id="206" name="TextBox 205">
                <a:extLst>
                  <a:ext uri="{FF2B5EF4-FFF2-40B4-BE49-F238E27FC236}">
                    <a16:creationId xmlns:a16="http://schemas.microsoft.com/office/drawing/2014/main" id="{884533F9-0A93-A468-ED5E-1B24646D5FE7}"/>
                  </a:ext>
                </a:extLst>
              </p:cNvPr>
              <p:cNvSpPr txBox="1"/>
              <p:nvPr/>
            </p:nvSpPr>
            <p:spPr>
              <a:xfrm rot="16200000">
                <a:off x="1397825" y="2723710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07" name="TextBox 206">
                <a:extLst>
                  <a:ext uri="{FF2B5EF4-FFF2-40B4-BE49-F238E27FC236}">
                    <a16:creationId xmlns:a16="http://schemas.microsoft.com/office/drawing/2014/main" id="{9D13E5C1-1AD8-8D35-C036-9BD48014EC07}"/>
                  </a:ext>
                </a:extLst>
              </p:cNvPr>
              <p:cNvSpPr txBox="1"/>
              <p:nvPr/>
            </p:nvSpPr>
            <p:spPr>
              <a:xfrm rot="16200000">
                <a:off x="1554812" y="3422893"/>
                <a:ext cx="205184" cy="123111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lang="zh-CN" altLang="en-US" sz="801" b="0" dirty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电梯</a:t>
                </a:r>
                <a:endParaRPr sz="801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208" name="TextBox 207">
                <a:extLst>
                  <a:ext uri="{FF2B5EF4-FFF2-40B4-BE49-F238E27FC236}">
                    <a16:creationId xmlns:a16="http://schemas.microsoft.com/office/drawing/2014/main" id="{19648BD0-9FB4-0DE1-DE15-F1303EB4671C}"/>
                  </a:ext>
                </a:extLst>
              </p:cNvPr>
              <p:cNvSpPr txBox="1"/>
              <p:nvPr/>
            </p:nvSpPr>
            <p:spPr>
              <a:xfrm rot="16200000">
                <a:off x="2148144" y="4779155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09" name="TextBox 208">
                <a:extLst>
                  <a:ext uri="{FF2B5EF4-FFF2-40B4-BE49-F238E27FC236}">
                    <a16:creationId xmlns:a16="http://schemas.microsoft.com/office/drawing/2014/main" id="{BC4C0928-225E-06B5-A7E3-864CF1A86834}"/>
                  </a:ext>
                </a:extLst>
              </p:cNvPr>
              <p:cNvSpPr txBox="1"/>
              <p:nvPr/>
            </p:nvSpPr>
            <p:spPr>
              <a:xfrm rot="16200000">
                <a:off x="3427795" y="3101350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楼梯</a:t>
                </a:r>
              </a:p>
            </p:txBody>
          </p:sp>
          <p:sp>
            <p:nvSpPr>
              <p:cNvPr id="210" name="TextBox 209">
                <a:extLst>
                  <a:ext uri="{FF2B5EF4-FFF2-40B4-BE49-F238E27FC236}">
                    <a16:creationId xmlns:a16="http://schemas.microsoft.com/office/drawing/2014/main" id="{AF153BF8-E5B6-7393-0FAC-BEEECAC2B357}"/>
                  </a:ext>
                </a:extLst>
              </p:cNvPr>
              <p:cNvSpPr txBox="1"/>
              <p:nvPr/>
            </p:nvSpPr>
            <p:spPr>
              <a:xfrm rot="16200000">
                <a:off x="2407563" y="3053585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3</a:t>
                </a:r>
              </a:p>
            </p:txBody>
          </p:sp>
          <p:sp>
            <p:nvSpPr>
              <p:cNvPr id="211" name="TextBox 210">
                <a:extLst>
                  <a:ext uri="{FF2B5EF4-FFF2-40B4-BE49-F238E27FC236}">
                    <a16:creationId xmlns:a16="http://schemas.microsoft.com/office/drawing/2014/main" id="{3A7BDC2A-C873-485F-5B46-686E50E3C720}"/>
                  </a:ext>
                </a:extLst>
              </p:cNvPr>
              <p:cNvSpPr txBox="1"/>
              <p:nvPr/>
            </p:nvSpPr>
            <p:spPr>
              <a:xfrm rot="16200000">
                <a:off x="2471315" y="3595029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走廊</a:t>
                </a:r>
              </a:p>
            </p:txBody>
          </p:sp>
          <p:sp>
            <p:nvSpPr>
              <p:cNvPr id="212" name="TextBox 211">
                <a:extLst>
                  <a:ext uri="{FF2B5EF4-FFF2-40B4-BE49-F238E27FC236}">
                    <a16:creationId xmlns:a16="http://schemas.microsoft.com/office/drawing/2014/main" id="{928E4D91-DBD8-1323-9359-0723EC626DD0}"/>
                  </a:ext>
                </a:extLst>
              </p:cNvPr>
              <p:cNvSpPr txBox="1"/>
              <p:nvPr/>
            </p:nvSpPr>
            <p:spPr>
              <a:xfrm rot="16200000">
                <a:off x="1023096" y="4053428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主卧</a:t>
                </a:r>
              </a:p>
            </p:txBody>
          </p:sp>
          <p:sp>
            <p:nvSpPr>
              <p:cNvPr id="213" name="TextBox 212">
                <a:extLst>
                  <a:ext uri="{FF2B5EF4-FFF2-40B4-BE49-F238E27FC236}">
                    <a16:creationId xmlns:a16="http://schemas.microsoft.com/office/drawing/2014/main" id="{3C74AF60-6656-B738-C6C0-E6AEEAC8D916}"/>
                  </a:ext>
                </a:extLst>
              </p:cNvPr>
              <p:cNvSpPr txBox="1"/>
              <p:nvPr/>
            </p:nvSpPr>
            <p:spPr>
              <a:xfrm rot="16200000">
                <a:off x="3130877" y="4653573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2</a:t>
                </a:r>
              </a:p>
            </p:txBody>
          </p:sp>
          <p:sp>
            <p:nvSpPr>
              <p:cNvPr id="214" name="TextBox 213">
                <a:extLst>
                  <a:ext uri="{FF2B5EF4-FFF2-40B4-BE49-F238E27FC236}">
                    <a16:creationId xmlns:a16="http://schemas.microsoft.com/office/drawing/2014/main" id="{E39EBB9E-2E0A-33BE-F9C2-8B321C726230}"/>
                  </a:ext>
                </a:extLst>
              </p:cNvPr>
              <p:cNvSpPr txBox="1"/>
              <p:nvPr/>
            </p:nvSpPr>
            <p:spPr>
              <a:xfrm rot="16200000">
                <a:off x="2148143" y="4165248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衣帽间</a:t>
                </a:r>
              </a:p>
            </p:txBody>
          </p:sp>
          <p:sp>
            <p:nvSpPr>
              <p:cNvPr id="215" name="TextBox 214">
                <a:extLst>
                  <a:ext uri="{FF2B5EF4-FFF2-40B4-BE49-F238E27FC236}">
                    <a16:creationId xmlns:a16="http://schemas.microsoft.com/office/drawing/2014/main" id="{7199CEA7-87A6-FE71-5DBB-4099D2135179}"/>
                  </a:ext>
                </a:extLst>
              </p:cNvPr>
              <p:cNvSpPr txBox="1"/>
              <p:nvPr/>
            </p:nvSpPr>
            <p:spPr>
              <a:xfrm rot="16200000">
                <a:off x="2160572" y="5276917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盥洗室</a:t>
                </a:r>
              </a:p>
            </p:txBody>
          </p:sp>
          <p:sp>
            <p:nvSpPr>
              <p:cNvPr id="216" name="TextBox 215">
                <a:extLst>
                  <a:ext uri="{FF2B5EF4-FFF2-40B4-BE49-F238E27FC236}">
                    <a16:creationId xmlns:a16="http://schemas.microsoft.com/office/drawing/2014/main" id="{9ACEE2B8-536D-4151-110B-BC734151A8D4}"/>
                  </a:ext>
                </a:extLst>
              </p:cNvPr>
              <p:cNvSpPr txBox="1"/>
              <p:nvPr/>
            </p:nvSpPr>
            <p:spPr>
              <a:xfrm rot="16200000">
                <a:off x="3113654" y="1182157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17" name="TextBox 216">
                <a:extLst>
                  <a:ext uri="{FF2B5EF4-FFF2-40B4-BE49-F238E27FC236}">
                    <a16:creationId xmlns:a16="http://schemas.microsoft.com/office/drawing/2014/main" id="{6C4DB1A3-501C-ADC8-C056-FAD276649683}"/>
                  </a:ext>
                </a:extLst>
              </p:cNvPr>
              <p:cNvSpPr txBox="1"/>
              <p:nvPr/>
            </p:nvSpPr>
            <p:spPr>
              <a:xfrm rot="16200000">
                <a:off x="3070677" y="1786947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书房</a:t>
                </a:r>
              </a:p>
            </p:txBody>
          </p:sp>
        </p:grpSp>
      </p:grpSp>
      <p:sp>
        <p:nvSpPr>
          <p:cNvPr id="411" name="Rectangle 410"/>
          <p:cNvSpPr/>
          <p:nvPr/>
        </p:nvSpPr>
        <p:spPr>
          <a:xfrm>
            <a:off x="0" y="0"/>
            <a:ext cx="12192000" cy="8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" name="Rectangle 411"/>
          <p:cNvSpPr/>
          <p:nvPr/>
        </p:nvSpPr>
        <p:spPr>
          <a:xfrm>
            <a:off x="0" y="6650000"/>
            <a:ext cx="12192000" cy="20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" name="Rectangle 412"/>
          <p:cNvSpPr/>
          <p:nvPr/>
        </p:nvSpPr>
        <p:spPr>
          <a:xfrm>
            <a:off x="0" y="850000"/>
            <a:ext cx="300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" name="Rectangle 413"/>
          <p:cNvSpPr/>
          <p:nvPr/>
        </p:nvSpPr>
        <p:spPr>
          <a:xfrm>
            <a:off x="8450000" y="850000"/>
            <a:ext cx="3742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" name="Rectangle 414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6" name="TextBox 415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二层照明放大图 2：走廊 · 北卫 · 卧室3 · 楼梯 · 书房 · 后卫</a:t>
            </a:r>
          </a:p>
        </p:txBody>
      </p:sp>
      <p:sp>
        <p:nvSpPr>
          <p:cNvPr id="417" name="TextBox 416"/>
          <p:cNvSpPr txBox="1"/>
          <p:nvPr/>
        </p:nvSpPr>
        <p:spPr>
          <a:xfrm>
            <a:off x="250000" y="470000"/>
            <a:ext cx="80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808080"/>
                </a:solidFill>
                <a:latin typeface="Microsoft YaHei"/>
              </a:rPr>
              <a:t>FIRST FLOOR LIGHTING &amp; SWITCHING — ZONE 2</a:t>
            </a:r>
          </a:p>
        </p:txBody>
      </p:sp>
      <p:sp>
        <p:nvSpPr>
          <p:cNvPr id="418" name="Rectangle 417"/>
          <p:cNvSpPr/>
          <p:nvPr/>
        </p:nvSpPr>
        <p:spPr>
          <a:xfrm>
            <a:off x="8650000" y="5100000"/>
            <a:ext cx="3442000" cy="16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9" name="TextBox 418"/>
          <p:cNvSpPr txBox="1"/>
          <p:nvPr/>
        </p:nvSpPr>
        <p:spPr>
          <a:xfrm>
            <a:off x="8710000" y="51000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项目</a:t>
            </a:r>
          </a:p>
        </p:txBody>
      </p:sp>
      <p:sp>
        <p:nvSpPr>
          <p:cNvPr id="420" name="TextBox 419"/>
          <p:cNvSpPr txBox="1"/>
          <p:nvPr/>
        </p:nvSpPr>
        <p:spPr>
          <a:xfrm>
            <a:off x="9250000" y="51000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 · 二层照明</a:t>
            </a:r>
          </a:p>
        </p:txBody>
      </p:sp>
      <p:cxnSp>
        <p:nvCxnSpPr>
          <p:cNvPr id="421" name="Connector 420"/>
          <p:cNvCxnSpPr/>
          <p:nvPr/>
        </p:nvCxnSpPr>
        <p:spPr>
          <a:xfrm>
            <a:off x="8650000" y="54316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2" name="TextBox 421"/>
          <p:cNvSpPr txBox="1"/>
          <p:nvPr/>
        </p:nvSpPr>
        <p:spPr>
          <a:xfrm>
            <a:off x="8710000" y="54316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423" name="TextBox 422"/>
          <p:cNvSpPr txBox="1"/>
          <p:nvPr/>
        </p:nvSpPr>
        <p:spPr>
          <a:xfrm>
            <a:off x="9250000" y="54316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二层照明放大图 2：走廊 · 北卫 · 卧室3 · 楼梯 · 书房 · 后卫</a:t>
            </a:r>
          </a:p>
        </p:txBody>
      </p:sp>
      <p:cxnSp>
        <p:nvCxnSpPr>
          <p:cNvPr id="424" name="Connector 423"/>
          <p:cNvCxnSpPr/>
          <p:nvPr/>
        </p:nvCxnSpPr>
        <p:spPr>
          <a:xfrm>
            <a:off x="8650000" y="57632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5" name="TextBox 424"/>
          <p:cNvSpPr txBox="1"/>
          <p:nvPr/>
        </p:nvSpPr>
        <p:spPr>
          <a:xfrm>
            <a:off x="8710000" y="57632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426" name="TextBox 425"/>
          <p:cNvSpPr txBox="1"/>
          <p:nvPr/>
        </p:nvSpPr>
        <p:spPr>
          <a:xfrm>
            <a:off x="9250000" y="57632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E-FF-02</a:t>
            </a:r>
          </a:p>
        </p:txBody>
      </p:sp>
      <p:cxnSp>
        <p:nvCxnSpPr>
          <p:cNvPr id="427" name="Connector 426"/>
          <p:cNvCxnSpPr/>
          <p:nvPr/>
        </p:nvCxnSpPr>
        <p:spPr>
          <a:xfrm>
            <a:off x="8650000" y="60948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8" name="TextBox 427"/>
          <p:cNvSpPr txBox="1"/>
          <p:nvPr/>
        </p:nvSpPr>
        <p:spPr>
          <a:xfrm>
            <a:off x="8710000" y="60948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版本</a:t>
            </a:r>
          </a:p>
        </p:txBody>
      </p:sp>
      <p:sp>
        <p:nvSpPr>
          <p:cNvPr id="429" name="TextBox 428"/>
          <p:cNvSpPr txBox="1"/>
          <p:nvPr/>
        </p:nvSpPr>
        <p:spPr>
          <a:xfrm>
            <a:off x="9250000" y="60948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Rev G · 2026-10-03（照明 4 路：一层前区 / 一层后区 / 二层 / 户外）</a:t>
            </a:r>
          </a:p>
        </p:txBody>
      </p:sp>
      <p:cxnSp>
        <p:nvCxnSpPr>
          <p:cNvPr id="430" name="Connector 429"/>
          <p:cNvCxnSpPr/>
          <p:nvPr/>
        </p:nvCxnSpPr>
        <p:spPr>
          <a:xfrm>
            <a:off x="8650000" y="64264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1" name="TextBox 430"/>
          <p:cNvSpPr txBox="1"/>
          <p:nvPr/>
        </p:nvSpPr>
        <p:spPr>
          <a:xfrm>
            <a:off x="8710000" y="64264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依据</a:t>
            </a:r>
          </a:p>
        </p:txBody>
      </p:sp>
      <p:sp>
        <p:nvSpPr>
          <p:cNvPr id="432" name="TextBox 431"/>
          <p:cNvSpPr txBox="1"/>
          <p:nvPr/>
        </p:nvSpPr>
        <p:spPr>
          <a:xfrm>
            <a:off x="9250000" y="64264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PPT v6 第 6 页按键标注；Blender v37</a:t>
            </a:r>
          </a:p>
        </p:txBody>
      </p:sp>
      <p:cxnSp>
        <p:nvCxnSpPr>
          <p:cNvPr id="433" name="Connector 432"/>
          <p:cNvCxnSpPr/>
          <p:nvPr/>
        </p:nvCxnSpPr>
        <p:spPr>
          <a:xfrm>
            <a:off x="9190000" y="5100000"/>
            <a:ext cx="0" cy="16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4" name="Connector 433"/>
          <p:cNvCxnSpPr/>
          <p:nvPr/>
        </p:nvCxnSpPr>
        <p:spPr>
          <a:xfrm>
            <a:off x="2531210" y="3469157"/>
            <a:ext cx="378526" cy="2033053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5" name="Oval 434"/>
          <p:cNvSpPr/>
          <p:nvPr/>
        </p:nvSpPr>
        <p:spPr>
          <a:xfrm>
            <a:off x="2563694" y="4110726"/>
            <a:ext cx="200000" cy="14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6" name="TextBox 435"/>
          <p:cNvSpPr txBox="1"/>
          <p:nvPr/>
        </p:nvSpPr>
        <p:spPr>
          <a:xfrm>
            <a:off x="2563694" y="4110726"/>
            <a:ext cx="200000" cy="1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00" b="1">
                <a:solidFill>
                  <a:srgbClr val="C00000"/>
                </a:solidFill>
                <a:latin typeface="Microsoft YaHei"/>
              </a:rPr>
              <a:t>W1</a:t>
            </a:r>
          </a:p>
        </p:txBody>
      </p:sp>
      <p:cxnSp>
        <p:nvCxnSpPr>
          <p:cNvPr id="437" name="Connector 436"/>
          <p:cNvCxnSpPr/>
          <p:nvPr/>
        </p:nvCxnSpPr>
        <p:spPr>
          <a:xfrm flipH="1">
            <a:off x="2909736" y="5465578"/>
            <a:ext cx="854737" cy="36632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8" name="Oval 437"/>
          <p:cNvSpPr/>
          <p:nvPr/>
        </p:nvSpPr>
        <p:spPr>
          <a:xfrm>
            <a:off x="3365315" y="5408400"/>
            <a:ext cx="200000" cy="14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9" name="TextBox 438"/>
          <p:cNvSpPr txBox="1"/>
          <p:nvPr/>
        </p:nvSpPr>
        <p:spPr>
          <a:xfrm>
            <a:off x="3365315" y="5408400"/>
            <a:ext cx="200000" cy="1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00" b="1">
                <a:solidFill>
                  <a:srgbClr val="C00000"/>
                </a:solidFill>
                <a:latin typeface="Microsoft YaHei"/>
              </a:rPr>
              <a:t>W2</a:t>
            </a:r>
          </a:p>
        </p:txBody>
      </p:sp>
      <p:sp>
        <p:nvSpPr>
          <p:cNvPr id="2" name="Freeform 1"/>
          <p:cNvSpPr/>
          <p:nvPr/>
        </p:nvSpPr>
        <p:spPr>
          <a:xfrm>
            <a:off x="3251631" y="1857368"/>
            <a:ext cx="408184" cy="702725"/>
          </a:xfrm>
          <a:custGeom>
            <a:avLst/>
            <a:gdLst/>
            <a:ahLst/>
            <a:cxnLst/>
            <a:rect l="l" t="t" r="r" b="b"/>
            <a:pathLst>
              <a:path w="408184" h="702725">
                <a:moveTo>
                  <a:pt x="0" y="0"/>
                </a:moveTo>
                <a:lnTo>
                  <a:pt x="9041" y="53487"/>
                </a:lnTo>
                <a:lnTo>
                  <a:pt x="20279" y="105699"/>
                </a:lnTo>
                <a:lnTo>
                  <a:pt x="33712" y="156635"/>
                </a:lnTo>
                <a:lnTo>
                  <a:pt x="49342" y="206295"/>
                </a:lnTo>
                <a:lnTo>
                  <a:pt x="67167" y="254680"/>
                </a:lnTo>
                <a:lnTo>
                  <a:pt x="87188" y="301789"/>
                </a:lnTo>
                <a:lnTo>
                  <a:pt x="109406" y="347623"/>
                </a:lnTo>
                <a:lnTo>
                  <a:pt x="133819" y="392181"/>
                </a:lnTo>
                <a:lnTo>
                  <a:pt x="160429" y="435464"/>
                </a:lnTo>
                <a:lnTo>
                  <a:pt x="189234" y="477470"/>
                </a:lnTo>
                <a:lnTo>
                  <a:pt x="220236" y="518202"/>
                </a:lnTo>
                <a:lnTo>
                  <a:pt x="253433" y="557658"/>
                </a:lnTo>
                <a:lnTo>
                  <a:pt x="288827" y="595838"/>
                </a:lnTo>
                <a:lnTo>
                  <a:pt x="326416" y="632743"/>
                </a:lnTo>
                <a:lnTo>
                  <a:pt x="366202" y="668372"/>
                </a:lnTo>
                <a:lnTo>
                  <a:pt x="408184" y="702725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2284305" y="3268996"/>
            <a:ext cx="246905" cy="200161"/>
          </a:xfrm>
          <a:custGeom>
            <a:avLst/>
            <a:gdLst/>
            <a:ahLst/>
            <a:cxnLst/>
            <a:rect l="l" t="t" r="r" b="b"/>
            <a:pathLst>
              <a:path w="246905" h="200161">
                <a:moveTo>
                  <a:pt x="246905" y="200161"/>
                </a:moveTo>
                <a:lnTo>
                  <a:pt x="236165" y="181864"/>
                </a:lnTo>
                <a:lnTo>
                  <a:pt x="224799" y="164339"/>
                </a:lnTo>
                <a:lnTo>
                  <a:pt x="212808" y="147585"/>
                </a:lnTo>
                <a:lnTo>
                  <a:pt x="200191" y="131603"/>
                </a:lnTo>
                <a:lnTo>
                  <a:pt x="186948" y="116393"/>
                </a:lnTo>
                <a:lnTo>
                  <a:pt x="173081" y="101954"/>
                </a:lnTo>
                <a:lnTo>
                  <a:pt x="158587" y="88286"/>
                </a:lnTo>
                <a:lnTo>
                  <a:pt x="143469" y="75390"/>
                </a:lnTo>
                <a:lnTo>
                  <a:pt x="127724" y="63266"/>
                </a:lnTo>
                <a:lnTo>
                  <a:pt x="111354" y="51913"/>
                </a:lnTo>
                <a:lnTo>
                  <a:pt x="94359" y="41332"/>
                </a:lnTo>
                <a:lnTo>
                  <a:pt x="76738" y="31523"/>
                </a:lnTo>
                <a:lnTo>
                  <a:pt x="58492" y="22485"/>
                </a:lnTo>
                <a:lnTo>
                  <a:pt x="39620" y="14218"/>
                </a:lnTo>
                <a:lnTo>
                  <a:pt x="20123" y="6723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2303510" y="4768232"/>
            <a:ext cx="606226" cy="733978"/>
          </a:xfrm>
          <a:custGeom>
            <a:avLst/>
            <a:gdLst/>
            <a:ahLst/>
            <a:cxnLst/>
            <a:rect l="l" t="t" r="r" b="b"/>
            <a:pathLst>
              <a:path w="606226" h="733978">
                <a:moveTo>
                  <a:pt x="606226" y="733978"/>
                </a:moveTo>
                <a:lnTo>
                  <a:pt x="585540" y="673896"/>
                </a:lnTo>
                <a:lnTo>
                  <a:pt x="562560" y="615708"/>
                </a:lnTo>
                <a:lnTo>
                  <a:pt x="537286" y="559415"/>
                </a:lnTo>
                <a:lnTo>
                  <a:pt x="509718" y="505017"/>
                </a:lnTo>
                <a:lnTo>
                  <a:pt x="479857" y="452512"/>
                </a:lnTo>
                <a:lnTo>
                  <a:pt x="447702" y="401903"/>
                </a:lnTo>
                <a:lnTo>
                  <a:pt x="413253" y="353187"/>
                </a:lnTo>
                <a:lnTo>
                  <a:pt x="376511" y="306367"/>
                </a:lnTo>
                <a:lnTo>
                  <a:pt x="337475" y="261440"/>
                </a:lnTo>
                <a:lnTo>
                  <a:pt x="296145" y="218408"/>
                </a:lnTo>
                <a:lnTo>
                  <a:pt x="252522" y="177271"/>
                </a:lnTo>
                <a:lnTo>
                  <a:pt x="206605" y="138028"/>
                </a:lnTo>
                <a:lnTo>
                  <a:pt x="158394" y="100679"/>
                </a:lnTo>
                <a:lnTo>
                  <a:pt x="107890" y="65225"/>
                </a:lnTo>
                <a:lnTo>
                  <a:pt x="55092" y="31666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Freeform 64"/>
          <p:cNvSpPr/>
          <p:nvPr/>
        </p:nvSpPr>
        <p:spPr>
          <a:xfrm>
            <a:off x="2181465" y="3268996"/>
            <a:ext cx="122045" cy="1499236"/>
          </a:xfrm>
          <a:custGeom>
            <a:avLst/>
            <a:gdLst/>
            <a:ahLst/>
            <a:cxnLst/>
            <a:rect l="l" t="t" r="r" b="b"/>
            <a:pathLst>
              <a:path w="122045" h="1499236">
                <a:moveTo>
                  <a:pt x="102840" y="0"/>
                </a:moveTo>
                <a:lnTo>
                  <a:pt x="77686" y="94040"/>
                </a:lnTo>
                <a:lnTo>
                  <a:pt x="56047" y="188035"/>
                </a:lnTo>
                <a:lnTo>
                  <a:pt x="37921" y="281985"/>
                </a:lnTo>
                <a:lnTo>
                  <a:pt x="23309" y="375890"/>
                </a:lnTo>
                <a:lnTo>
                  <a:pt x="12211" y="469749"/>
                </a:lnTo>
                <a:lnTo>
                  <a:pt x="4627" y="563564"/>
                </a:lnTo>
                <a:lnTo>
                  <a:pt x="556" y="657334"/>
                </a:lnTo>
                <a:lnTo>
                  <a:pt x="0" y="751059"/>
                </a:lnTo>
                <a:lnTo>
                  <a:pt x="2957" y="844739"/>
                </a:lnTo>
                <a:lnTo>
                  <a:pt x="9428" y="938373"/>
                </a:lnTo>
                <a:lnTo>
                  <a:pt x="19413" y="1031963"/>
                </a:lnTo>
                <a:lnTo>
                  <a:pt x="32912" y="1125508"/>
                </a:lnTo>
                <a:lnTo>
                  <a:pt x="49925" y="1219007"/>
                </a:lnTo>
                <a:lnTo>
                  <a:pt x="70451" y="1312462"/>
                </a:lnTo>
                <a:lnTo>
                  <a:pt x="94491" y="1405872"/>
                </a:lnTo>
                <a:lnTo>
                  <a:pt x="122045" y="1499236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Freeform 65"/>
          <p:cNvSpPr/>
          <p:nvPr/>
        </p:nvSpPr>
        <p:spPr>
          <a:xfrm>
            <a:off x="2744894" y="3939263"/>
            <a:ext cx="717769" cy="404193"/>
          </a:xfrm>
          <a:custGeom>
            <a:avLst/>
            <a:gdLst/>
            <a:ahLst/>
            <a:cxnLst/>
            <a:rect l="l" t="t" r="r" b="b"/>
            <a:pathLst>
              <a:path w="717769" h="404193">
                <a:moveTo>
                  <a:pt x="0" y="0"/>
                </a:moveTo>
                <a:lnTo>
                  <a:pt x="35388" y="42084"/>
                </a:lnTo>
                <a:lnTo>
                  <a:pt x="72038" y="81926"/>
                </a:lnTo>
                <a:lnTo>
                  <a:pt x="109951" y="119525"/>
                </a:lnTo>
                <a:lnTo>
                  <a:pt x="149128" y="154881"/>
                </a:lnTo>
                <a:lnTo>
                  <a:pt x="189568" y="187993"/>
                </a:lnTo>
                <a:lnTo>
                  <a:pt x="231271" y="218863"/>
                </a:lnTo>
                <a:lnTo>
                  <a:pt x="274236" y="247490"/>
                </a:lnTo>
                <a:lnTo>
                  <a:pt x="318465" y="273873"/>
                </a:lnTo>
                <a:lnTo>
                  <a:pt x="363958" y="298014"/>
                </a:lnTo>
                <a:lnTo>
                  <a:pt x="410713" y="319911"/>
                </a:lnTo>
                <a:lnTo>
                  <a:pt x="458731" y="339566"/>
                </a:lnTo>
                <a:lnTo>
                  <a:pt x="508013" y="356977"/>
                </a:lnTo>
                <a:lnTo>
                  <a:pt x="558557" y="372146"/>
                </a:lnTo>
                <a:lnTo>
                  <a:pt x="610365" y="385071"/>
                </a:lnTo>
                <a:lnTo>
                  <a:pt x="663435" y="395754"/>
                </a:lnTo>
                <a:lnTo>
                  <a:pt x="717769" y="404193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Freeform 66"/>
          <p:cNvSpPr/>
          <p:nvPr/>
        </p:nvSpPr>
        <p:spPr>
          <a:xfrm>
            <a:off x="2909736" y="5502210"/>
            <a:ext cx="456599" cy="655432"/>
          </a:xfrm>
          <a:custGeom>
            <a:avLst/>
            <a:gdLst/>
            <a:ahLst/>
            <a:cxnLst/>
            <a:rect l="l" t="t" r="r" b="b"/>
            <a:pathLst>
              <a:path w="456599" h="655432">
                <a:moveTo>
                  <a:pt x="0" y="0"/>
                </a:moveTo>
                <a:lnTo>
                  <a:pt x="13176" y="51666"/>
                </a:lnTo>
                <a:lnTo>
                  <a:pt x="28400" y="101905"/>
                </a:lnTo>
                <a:lnTo>
                  <a:pt x="45672" y="150718"/>
                </a:lnTo>
                <a:lnTo>
                  <a:pt x="64993" y="198103"/>
                </a:lnTo>
                <a:lnTo>
                  <a:pt x="86361" y="244061"/>
                </a:lnTo>
                <a:lnTo>
                  <a:pt x="109778" y="288593"/>
                </a:lnTo>
                <a:lnTo>
                  <a:pt x="135243" y="331698"/>
                </a:lnTo>
                <a:lnTo>
                  <a:pt x="162756" y="373376"/>
                </a:lnTo>
                <a:lnTo>
                  <a:pt x="192318" y="413627"/>
                </a:lnTo>
                <a:lnTo>
                  <a:pt x="223928" y="452451"/>
                </a:lnTo>
                <a:lnTo>
                  <a:pt x="257585" y="489849"/>
                </a:lnTo>
                <a:lnTo>
                  <a:pt x="293292" y="525819"/>
                </a:lnTo>
                <a:lnTo>
                  <a:pt x="331046" y="560363"/>
                </a:lnTo>
                <a:lnTo>
                  <a:pt x="370849" y="593479"/>
                </a:lnTo>
                <a:lnTo>
                  <a:pt x="412700" y="625169"/>
                </a:lnTo>
                <a:lnTo>
                  <a:pt x="456599" y="655432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Freeform 67"/>
          <p:cNvSpPr/>
          <p:nvPr/>
        </p:nvSpPr>
        <p:spPr>
          <a:xfrm>
            <a:off x="3366335" y="5465578"/>
            <a:ext cx="398138" cy="692064"/>
          </a:xfrm>
          <a:custGeom>
            <a:avLst/>
            <a:gdLst/>
            <a:ahLst/>
            <a:cxnLst/>
            <a:rect l="l" t="t" r="r" b="b"/>
            <a:pathLst>
              <a:path w="398138" h="692064">
                <a:moveTo>
                  <a:pt x="398138" y="0"/>
                </a:moveTo>
                <a:lnTo>
                  <a:pt x="357034" y="33923"/>
                </a:lnTo>
                <a:lnTo>
                  <a:pt x="318093" y="69090"/>
                </a:lnTo>
                <a:lnTo>
                  <a:pt x="281315" y="105501"/>
                </a:lnTo>
                <a:lnTo>
                  <a:pt x="246699" y="143156"/>
                </a:lnTo>
                <a:lnTo>
                  <a:pt x="214246" y="182055"/>
                </a:lnTo>
                <a:lnTo>
                  <a:pt x="183955" y="222199"/>
                </a:lnTo>
                <a:lnTo>
                  <a:pt x="155828" y="263587"/>
                </a:lnTo>
                <a:lnTo>
                  <a:pt x="129863" y="306218"/>
                </a:lnTo>
                <a:lnTo>
                  <a:pt x="106060" y="350095"/>
                </a:lnTo>
                <a:lnTo>
                  <a:pt x="84421" y="395215"/>
                </a:lnTo>
                <a:lnTo>
                  <a:pt x="64944" y="441579"/>
                </a:lnTo>
                <a:lnTo>
                  <a:pt x="47630" y="489188"/>
                </a:lnTo>
                <a:lnTo>
                  <a:pt x="32478" y="538041"/>
                </a:lnTo>
                <a:lnTo>
                  <a:pt x="19489" y="588138"/>
                </a:lnTo>
                <a:lnTo>
                  <a:pt x="8663" y="639479"/>
                </a:lnTo>
                <a:lnTo>
                  <a:pt x="0" y="692064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Freeform 68"/>
          <p:cNvSpPr/>
          <p:nvPr/>
        </p:nvSpPr>
        <p:spPr>
          <a:xfrm>
            <a:off x="4387210" y="5325157"/>
            <a:ext cx="840489" cy="126350"/>
          </a:xfrm>
          <a:custGeom>
            <a:avLst/>
            <a:gdLst/>
            <a:ahLst/>
            <a:cxnLst/>
            <a:rect l="l" t="t" r="r" b="b"/>
            <a:pathLst>
              <a:path w="840489" h="126350">
                <a:moveTo>
                  <a:pt x="0" y="0"/>
                </a:moveTo>
                <a:lnTo>
                  <a:pt x="50747" y="24455"/>
                </a:lnTo>
                <a:lnTo>
                  <a:pt x="101732" y="46283"/>
                </a:lnTo>
                <a:lnTo>
                  <a:pt x="152955" y="65484"/>
                </a:lnTo>
                <a:lnTo>
                  <a:pt x="204416" y="82059"/>
                </a:lnTo>
                <a:lnTo>
                  <a:pt x="256114" y="96007"/>
                </a:lnTo>
                <a:lnTo>
                  <a:pt x="308050" y="107328"/>
                </a:lnTo>
                <a:lnTo>
                  <a:pt x="360224" y="116024"/>
                </a:lnTo>
                <a:lnTo>
                  <a:pt x="412636" y="122092"/>
                </a:lnTo>
                <a:lnTo>
                  <a:pt x="465285" y="125534"/>
                </a:lnTo>
                <a:lnTo>
                  <a:pt x="518172" y="126350"/>
                </a:lnTo>
                <a:lnTo>
                  <a:pt x="571297" y="124539"/>
                </a:lnTo>
                <a:lnTo>
                  <a:pt x="624660" y="120102"/>
                </a:lnTo>
                <a:lnTo>
                  <a:pt x="678260" y="113038"/>
                </a:lnTo>
                <a:lnTo>
                  <a:pt x="732099" y="103347"/>
                </a:lnTo>
                <a:lnTo>
                  <a:pt x="786175" y="91030"/>
                </a:lnTo>
                <a:lnTo>
                  <a:pt x="840489" y="76086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Freeform 69"/>
          <p:cNvSpPr/>
          <p:nvPr/>
        </p:nvSpPr>
        <p:spPr>
          <a:xfrm>
            <a:off x="5632684" y="4745157"/>
            <a:ext cx="588944" cy="755004"/>
          </a:xfrm>
          <a:custGeom>
            <a:avLst/>
            <a:gdLst/>
            <a:ahLst/>
            <a:cxnLst/>
            <a:rect l="l" t="t" r="r" b="b"/>
            <a:pathLst>
              <a:path w="588944" h="755004">
                <a:moveTo>
                  <a:pt x="0" y="0"/>
                </a:moveTo>
                <a:lnTo>
                  <a:pt x="19113" y="60992"/>
                </a:lnTo>
                <a:lnTo>
                  <a:pt x="40586" y="120142"/>
                </a:lnTo>
                <a:lnTo>
                  <a:pt x="64419" y="177452"/>
                </a:lnTo>
                <a:lnTo>
                  <a:pt x="90611" y="232922"/>
                </a:lnTo>
                <a:lnTo>
                  <a:pt x="119162" y="286551"/>
                </a:lnTo>
                <a:lnTo>
                  <a:pt x="150072" y="338340"/>
                </a:lnTo>
                <a:lnTo>
                  <a:pt x="183342" y="388289"/>
                </a:lnTo>
                <a:lnTo>
                  <a:pt x="218972" y="436397"/>
                </a:lnTo>
                <a:lnTo>
                  <a:pt x="256960" y="482664"/>
                </a:lnTo>
                <a:lnTo>
                  <a:pt x="297309" y="527091"/>
                </a:lnTo>
                <a:lnTo>
                  <a:pt x="340016" y="569678"/>
                </a:lnTo>
                <a:lnTo>
                  <a:pt x="385083" y="610424"/>
                </a:lnTo>
                <a:lnTo>
                  <a:pt x="432509" y="649330"/>
                </a:lnTo>
                <a:lnTo>
                  <a:pt x="482295" y="686395"/>
                </a:lnTo>
                <a:lnTo>
                  <a:pt x="534440" y="721620"/>
                </a:lnTo>
                <a:lnTo>
                  <a:pt x="588944" y="755004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0" name="Oval 439"/>
          <p:cNvSpPr/>
          <p:nvPr/>
        </p:nvSpPr>
        <p:spPr>
          <a:xfrm>
            <a:off x="3281552" y="6072859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41" name="Connector 440"/>
          <p:cNvCxnSpPr/>
          <p:nvPr/>
        </p:nvCxnSpPr>
        <p:spPr>
          <a:xfrm>
            <a:off x="3306393" y="6097701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2" name="Connector 441"/>
          <p:cNvCxnSpPr/>
          <p:nvPr/>
        </p:nvCxnSpPr>
        <p:spPr>
          <a:xfrm flipV="1">
            <a:off x="3306393" y="6097701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3" name="TextBox 442"/>
          <p:cNvSpPr txBox="1"/>
          <p:nvPr/>
        </p:nvSpPr>
        <p:spPr>
          <a:xfrm>
            <a:off x="3451118" y="5988076"/>
            <a:ext cx="141305" cy="113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k</a:t>
            </a:r>
          </a:p>
        </p:txBody>
      </p:sp>
      <p:sp>
        <p:nvSpPr>
          <p:cNvPr id="444" name="Oval 443"/>
          <p:cNvSpPr/>
          <p:nvPr/>
        </p:nvSpPr>
        <p:spPr>
          <a:xfrm>
            <a:off x="2218727" y="4683449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45" name="Connector 444"/>
          <p:cNvCxnSpPr/>
          <p:nvPr/>
        </p:nvCxnSpPr>
        <p:spPr>
          <a:xfrm>
            <a:off x="2243569" y="4708291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6" name="Connector 445"/>
          <p:cNvCxnSpPr/>
          <p:nvPr/>
        </p:nvCxnSpPr>
        <p:spPr>
          <a:xfrm flipV="1">
            <a:off x="2243569" y="4708291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7" name="TextBox 446"/>
          <p:cNvSpPr txBox="1"/>
          <p:nvPr/>
        </p:nvSpPr>
        <p:spPr>
          <a:xfrm>
            <a:off x="2388293" y="4598666"/>
            <a:ext cx="141305" cy="113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d</a:t>
            </a:r>
          </a:p>
        </p:txBody>
      </p:sp>
      <p:sp>
        <p:nvSpPr>
          <p:cNvPr id="448" name="Oval 447"/>
          <p:cNvSpPr/>
          <p:nvPr/>
        </p:nvSpPr>
        <p:spPr>
          <a:xfrm>
            <a:off x="3377880" y="4258673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49" name="Connector 448"/>
          <p:cNvCxnSpPr/>
          <p:nvPr/>
        </p:nvCxnSpPr>
        <p:spPr>
          <a:xfrm>
            <a:off x="3402722" y="4283514"/>
            <a:ext cx="119883" cy="11988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0" name="Connector 449"/>
          <p:cNvCxnSpPr/>
          <p:nvPr/>
        </p:nvCxnSpPr>
        <p:spPr>
          <a:xfrm flipV="1">
            <a:off x="3402722" y="4283514"/>
            <a:ext cx="119883" cy="11988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1" name="TextBox 450"/>
          <p:cNvSpPr txBox="1"/>
          <p:nvPr/>
        </p:nvSpPr>
        <p:spPr>
          <a:xfrm>
            <a:off x="3547446" y="4173890"/>
            <a:ext cx="141305" cy="113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452" name="Oval 451"/>
          <p:cNvSpPr/>
          <p:nvPr/>
        </p:nvSpPr>
        <p:spPr>
          <a:xfrm>
            <a:off x="5142915" y="5316460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53" name="Connector 452"/>
          <p:cNvCxnSpPr/>
          <p:nvPr/>
        </p:nvCxnSpPr>
        <p:spPr>
          <a:xfrm>
            <a:off x="5167757" y="5341302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4" name="Connector 453"/>
          <p:cNvCxnSpPr/>
          <p:nvPr/>
        </p:nvCxnSpPr>
        <p:spPr>
          <a:xfrm flipV="1">
            <a:off x="5167757" y="5341302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5" name="TextBox 454"/>
          <p:cNvSpPr txBox="1"/>
          <p:nvPr/>
        </p:nvSpPr>
        <p:spPr>
          <a:xfrm>
            <a:off x="5312482" y="5231677"/>
            <a:ext cx="141305" cy="113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456" name="Oval 455"/>
          <p:cNvSpPr/>
          <p:nvPr/>
        </p:nvSpPr>
        <p:spPr>
          <a:xfrm>
            <a:off x="3603293" y="2503571"/>
            <a:ext cx="113044" cy="1130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7" name="Oval 456"/>
          <p:cNvSpPr/>
          <p:nvPr/>
        </p:nvSpPr>
        <p:spPr>
          <a:xfrm>
            <a:off x="3642151" y="2542430"/>
            <a:ext cx="35326" cy="3532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8" name="TextBox 457"/>
          <p:cNvSpPr txBox="1"/>
          <p:nvPr/>
        </p:nvSpPr>
        <p:spPr>
          <a:xfrm>
            <a:off x="3744598" y="2390527"/>
            <a:ext cx="141305" cy="113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c</a:t>
            </a:r>
          </a:p>
        </p:txBody>
      </p:sp>
      <p:sp>
        <p:nvSpPr>
          <p:cNvPr id="459" name="Oval 458"/>
          <p:cNvSpPr/>
          <p:nvPr/>
        </p:nvSpPr>
        <p:spPr>
          <a:xfrm>
            <a:off x="6165106" y="5443639"/>
            <a:ext cx="113044" cy="1130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0" name="Oval 459"/>
          <p:cNvSpPr/>
          <p:nvPr/>
        </p:nvSpPr>
        <p:spPr>
          <a:xfrm>
            <a:off x="6203965" y="5482498"/>
            <a:ext cx="35326" cy="3532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1" name="TextBox 460"/>
          <p:cNvSpPr txBox="1"/>
          <p:nvPr/>
        </p:nvSpPr>
        <p:spPr>
          <a:xfrm>
            <a:off x="6306411" y="5330595"/>
            <a:ext cx="141305" cy="113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462" name="Oval 461"/>
          <p:cNvSpPr/>
          <p:nvPr/>
        </p:nvSpPr>
        <p:spPr>
          <a:xfrm>
            <a:off x="2199522" y="3184213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63" name="Connector 462"/>
          <p:cNvCxnSpPr/>
          <p:nvPr/>
        </p:nvCxnSpPr>
        <p:spPr>
          <a:xfrm>
            <a:off x="2224363" y="3209055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4" name="Connector 463"/>
          <p:cNvCxnSpPr/>
          <p:nvPr/>
        </p:nvCxnSpPr>
        <p:spPr>
          <a:xfrm flipV="1">
            <a:off x="2224363" y="3209055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5" name="TextBox 464"/>
          <p:cNvSpPr txBox="1"/>
          <p:nvPr/>
        </p:nvSpPr>
        <p:spPr>
          <a:xfrm>
            <a:off x="2369088" y="3099430"/>
            <a:ext cx="141305" cy="113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d</a:t>
            </a:r>
          </a:p>
        </p:txBody>
      </p:sp>
      <p:sp>
        <p:nvSpPr>
          <p:cNvPr id="466" name="Oval 465"/>
          <p:cNvSpPr/>
          <p:nvPr/>
        </p:nvSpPr>
        <p:spPr>
          <a:xfrm>
            <a:off x="2505775" y="3443722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67" name="Connector 466"/>
          <p:cNvCxnSpPr/>
          <p:nvPr/>
        </p:nvCxnSpPr>
        <p:spPr>
          <a:xfrm flipV="1">
            <a:off x="2531210" y="3356581"/>
            <a:ext cx="94462" cy="11257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8" name="Connector 467"/>
          <p:cNvCxnSpPr/>
          <p:nvPr/>
        </p:nvCxnSpPr>
        <p:spPr>
          <a:xfrm>
            <a:off x="2625672" y="3356581"/>
            <a:ext cx="28144" cy="236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9" name="Rounded Rectangle 468"/>
          <p:cNvSpPr/>
          <p:nvPr/>
        </p:nvSpPr>
        <p:spPr>
          <a:xfrm>
            <a:off x="2639803" y="3224100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0" name="TextBox 469"/>
          <p:cNvSpPr txBox="1"/>
          <p:nvPr/>
        </p:nvSpPr>
        <p:spPr>
          <a:xfrm>
            <a:off x="2639803" y="3224100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S8</a:t>
            </a:r>
          </a:p>
        </p:txBody>
      </p:sp>
      <p:sp>
        <p:nvSpPr>
          <p:cNvPr id="471" name="Oval 470"/>
          <p:cNvSpPr/>
          <p:nvPr/>
        </p:nvSpPr>
        <p:spPr>
          <a:xfrm>
            <a:off x="3226196" y="1831933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2" name="Connector 471"/>
          <p:cNvCxnSpPr/>
          <p:nvPr/>
        </p:nvCxnSpPr>
        <p:spPr>
          <a:xfrm flipV="1">
            <a:off x="3251631" y="1744792"/>
            <a:ext cx="94463" cy="11257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3" name="Connector 472"/>
          <p:cNvCxnSpPr/>
          <p:nvPr/>
        </p:nvCxnSpPr>
        <p:spPr>
          <a:xfrm>
            <a:off x="3346094" y="1744792"/>
            <a:ext cx="28143" cy="236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4" name="Rounded Rectangle 473"/>
          <p:cNvSpPr/>
          <p:nvPr/>
        </p:nvSpPr>
        <p:spPr>
          <a:xfrm>
            <a:off x="3360224" y="1612311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5" name="TextBox 474"/>
          <p:cNvSpPr txBox="1"/>
          <p:nvPr/>
        </p:nvSpPr>
        <p:spPr>
          <a:xfrm>
            <a:off x="3360224" y="1612311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S9</a:t>
            </a:r>
          </a:p>
        </p:txBody>
      </p:sp>
      <p:sp>
        <p:nvSpPr>
          <p:cNvPr id="476" name="Oval 475"/>
          <p:cNvSpPr/>
          <p:nvPr/>
        </p:nvSpPr>
        <p:spPr>
          <a:xfrm>
            <a:off x="2719459" y="3913828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7" name="Connector 476"/>
          <p:cNvCxnSpPr/>
          <p:nvPr/>
        </p:nvCxnSpPr>
        <p:spPr>
          <a:xfrm flipV="1">
            <a:off x="2744894" y="3826687"/>
            <a:ext cx="94463" cy="11257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8" name="Connector 477"/>
          <p:cNvCxnSpPr/>
          <p:nvPr/>
        </p:nvCxnSpPr>
        <p:spPr>
          <a:xfrm>
            <a:off x="2839357" y="3826687"/>
            <a:ext cx="28144" cy="2361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9" name="Rounded Rectangle 478"/>
          <p:cNvSpPr/>
          <p:nvPr/>
        </p:nvSpPr>
        <p:spPr>
          <a:xfrm>
            <a:off x="2853487" y="3694205"/>
            <a:ext cx="304038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0" name="TextBox 479"/>
          <p:cNvSpPr txBox="1"/>
          <p:nvPr/>
        </p:nvSpPr>
        <p:spPr>
          <a:xfrm>
            <a:off x="2853487" y="3694205"/>
            <a:ext cx="304038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S10</a:t>
            </a:r>
          </a:p>
        </p:txBody>
      </p:sp>
      <p:sp>
        <p:nvSpPr>
          <p:cNvPr id="481" name="Oval 480"/>
          <p:cNvSpPr/>
          <p:nvPr/>
        </p:nvSpPr>
        <p:spPr>
          <a:xfrm>
            <a:off x="2884301" y="5476775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82" name="Connector 481"/>
          <p:cNvCxnSpPr/>
          <p:nvPr/>
        </p:nvCxnSpPr>
        <p:spPr>
          <a:xfrm flipV="1">
            <a:off x="2909736" y="5389634"/>
            <a:ext cx="94463" cy="11257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3" name="Connector 482"/>
          <p:cNvCxnSpPr/>
          <p:nvPr/>
        </p:nvCxnSpPr>
        <p:spPr>
          <a:xfrm>
            <a:off x="3004199" y="5389634"/>
            <a:ext cx="28144" cy="236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4" name="Connector 483"/>
          <p:cNvCxnSpPr/>
          <p:nvPr/>
        </p:nvCxnSpPr>
        <p:spPr>
          <a:xfrm>
            <a:off x="2988140" y="5408772"/>
            <a:ext cx="28144" cy="236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5" name="Rounded Rectangle 484"/>
          <p:cNvSpPr/>
          <p:nvPr/>
        </p:nvSpPr>
        <p:spPr>
          <a:xfrm>
            <a:off x="3018329" y="5257153"/>
            <a:ext cx="304038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6" name="TextBox 485"/>
          <p:cNvSpPr txBox="1"/>
          <p:nvPr/>
        </p:nvSpPr>
        <p:spPr>
          <a:xfrm>
            <a:off x="3018329" y="5257153"/>
            <a:ext cx="304038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S11</a:t>
            </a:r>
          </a:p>
        </p:txBody>
      </p:sp>
      <p:sp>
        <p:nvSpPr>
          <p:cNvPr id="487" name="Oval 486"/>
          <p:cNvSpPr/>
          <p:nvPr/>
        </p:nvSpPr>
        <p:spPr>
          <a:xfrm>
            <a:off x="3739038" y="5440144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88" name="Connector 487"/>
          <p:cNvCxnSpPr/>
          <p:nvPr/>
        </p:nvCxnSpPr>
        <p:spPr>
          <a:xfrm flipV="1">
            <a:off x="3764473" y="5353003"/>
            <a:ext cx="94463" cy="11257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9" name="Connector 488"/>
          <p:cNvCxnSpPr/>
          <p:nvPr/>
        </p:nvCxnSpPr>
        <p:spPr>
          <a:xfrm>
            <a:off x="3858936" y="5353003"/>
            <a:ext cx="28144" cy="2361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0" name="Rounded Rectangle 489"/>
          <p:cNvSpPr/>
          <p:nvPr/>
        </p:nvSpPr>
        <p:spPr>
          <a:xfrm>
            <a:off x="3873066" y="5220521"/>
            <a:ext cx="304038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1" name="TextBox 490"/>
          <p:cNvSpPr txBox="1"/>
          <p:nvPr/>
        </p:nvSpPr>
        <p:spPr>
          <a:xfrm>
            <a:off x="3873066" y="5220521"/>
            <a:ext cx="304038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S12</a:t>
            </a:r>
          </a:p>
        </p:txBody>
      </p:sp>
      <p:sp>
        <p:nvSpPr>
          <p:cNvPr id="492" name="Oval 491"/>
          <p:cNvSpPr/>
          <p:nvPr/>
        </p:nvSpPr>
        <p:spPr>
          <a:xfrm>
            <a:off x="4361775" y="5299722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93" name="Connector 492"/>
          <p:cNvCxnSpPr/>
          <p:nvPr/>
        </p:nvCxnSpPr>
        <p:spPr>
          <a:xfrm flipV="1">
            <a:off x="4387210" y="5212581"/>
            <a:ext cx="94462" cy="11257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4" name="Connector 493"/>
          <p:cNvCxnSpPr/>
          <p:nvPr/>
        </p:nvCxnSpPr>
        <p:spPr>
          <a:xfrm>
            <a:off x="4481672" y="5212581"/>
            <a:ext cx="28144" cy="236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5" name="Rounded Rectangle 494"/>
          <p:cNvSpPr/>
          <p:nvPr/>
        </p:nvSpPr>
        <p:spPr>
          <a:xfrm>
            <a:off x="4495803" y="5080100"/>
            <a:ext cx="304038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6" name="TextBox 495"/>
          <p:cNvSpPr txBox="1"/>
          <p:nvPr/>
        </p:nvSpPr>
        <p:spPr>
          <a:xfrm>
            <a:off x="4495803" y="5080100"/>
            <a:ext cx="304038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S13</a:t>
            </a:r>
          </a:p>
        </p:txBody>
      </p:sp>
      <p:sp>
        <p:nvSpPr>
          <p:cNvPr id="497" name="Oval 496"/>
          <p:cNvSpPr/>
          <p:nvPr/>
        </p:nvSpPr>
        <p:spPr>
          <a:xfrm>
            <a:off x="5607249" y="4719722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98" name="Connector 497"/>
          <p:cNvCxnSpPr/>
          <p:nvPr/>
        </p:nvCxnSpPr>
        <p:spPr>
          <a:xfrm flipV="1">
            <a:off x="5632684" y="4632581"/>
            <a:ext cx="94462" cy="11257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9" name="Connector 498"/>
          <p:cNvCxnSpPr/>
          <p:nvPr/>
        </p:nvCxnSpPr>
        <p:spPr>
          <a:xfrm>
            <a:off x="5727146" y="4632581"/>
            <a:ext cx="28144" cy="236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0" name="Rounded Rectangle 499"/>
          <p:cNvSpPr/>
          <p:nvPr/>
        </p:nvSpPr>
        <p:spPr>
          <a:xfrm>
            <a:off x="5741277" y="4500100"/>
            <a:ext cx="304038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1" name="TextBox 500"/>
          <p:cNvSpPr txBox="1"/>
          <p:nvPr/>
        </p:nvSpPr>
        <p:spPr>
          <a:xfrm>
            <a:off x="5741277" y="4500100"/>
            <a:ext cx="304038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S14</a:t>
            </a:r>
          </a:p>
        </p:txBody>
      </p:sp>
      <p:sp>
        <p:nvSpPr>
          <p:cNvPr id="502" name="TextBox 501"/>
          <p:cNvSpPr txBox="1"/>
          <p:nvPr/>
        </p:nvSpPr>
        <p:spPr>
          <a:xfrm>
            <a:off x="8730000" y="400000"/>
            <a:ext cx="33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1A1A1A"/>
                </a:solidFill>
                <a:latin typeface="Microsoft YaHei"/>
              </a:rPr>
              <a:t>本图开关（从左到右逐键）</a:t>
            </a:r>
          </a:p>
        </p:txBody>
      </p:sp>
      <p:sp>
        <p:nvSpPr>
          <p:cNvPr id="503" name="TextBox 502"/>
          <p:cNvSpPr txBox="1"/>
          <p:nvPr/>
        </p:nvSpPr>
        <p:spPr>
          <a:xfrm>
            <a:off x="8730000" y="6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S8  1 联 · 走廊北端</a:t>
            </a:r>
          </a:p>
        </p:txBody>
      </p:sp>
      <p:sp>
        <p:nvSpPr>
          <p:cNvPr id="504" name="TextBox 503"/>
          <p:cNvSpPr txBox="1"/>
          <p:nvPr/>
        </p:nvSpPr>
        <p:spPr>
          <a:xfrm>
            <a:off x="8980000" y="79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键1=d</a:t>
            </a:r>
          </a:p>
        </p:txBody>
      </p:sp>
      <p:sp>
        <p:nvSpPr>
          <p:cNvPr id="505" name="TextBox 504"/>
          <p:cNvSpPr txBox="1"/>
          <p:nvPr/>
        </p:nvSpPr>
        <p:spPr>
          <a:xfrm>
            <a:off x="8730000" y="995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S9  1 联 · 北卫生间门外</a:t>
            </a:r>
          </a:p>
        </p:txBody>
      </p:sp>
      <p:sp>
        <p:nvSpPr>
          <p:cNvPr id="506" name="TextBox 505"/>
          <p:cNvSpPr txBox="1"/>
          <p:nvPr/>
        </p:nvSpPr>
        <p:spPr>
          <a:xfrm>
            <a:off x="8980000" y="116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键1=c</a:t>
            </a:r>
          </a:p>
        </p:txBody>
      </p:sp>
      <p:sp>
        <p:nvSpPr>
          <p:cNvPr id="507" name="TextBox 506"/>
          <p:cNvSpPr txBox="1"/>
          <p:nvPr/>
        </p:nvSpPr>
        <p:spPr>
          <a:xfrm>
            <a:off x="8730000" y="136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S10  1 联 · 卧室3 门旁</a:t>
            </a:r>
          </a:p>
        </p:txBody>
      </p:sp>
      <p:sp>
        <p:nvSpPr>
          <p:cNvPr id="508" name="TextBox 507"/>
          <p:cNvSpPr txBox="1"/>
          <p:nvPr/>
        </p:nvSpPr>
        <p:spPr>
          <a:xfrm>
            <a:off x="8980000" y="152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键1=e</a:t>
            </a:r>
          </a:p>
        </p:txBody>
      </p:sp>
      <p:sp>
        <p:nvSpPr>
          <p:cNvPr id="509" name="TextBox 508"/>
          <p:cNvSpPr txBox="1"/>
          <p:nvPr/>
        </p:nvSpPr>
        <p:spPr>
          <a:xfrm>
            <a:off x="8730000" y="1725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S11  2 联 · 走廊南端 · 楼梯口</a:t>
            </a:r>
          </a:p>
        </p:txBody>
      </p:sp>
      <p:sp>
        <p:nvSpPr>
          <p:cNvPr id="510" name="TextBox 509"/>
          <p:cNvSpPr txBox="1"/>
          <p:nvPr/>
        </p:nvSpPr>
        <p:spPr>
          <a:xfrm>
            <a:off x="8980000" y="18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键1=d  键2=k</a:t>
            </a:r>
          </a:p>
        </p:txBody>
      </p:sp>
      <p:sp>
        <p:nvSpPr>
          <p:cNvPr id="511" name="TextBox 510"/>
          <p:cNvSpPr txBox="1"/>
          <p:nvPr/>
        </p:nvSpPr>
        <p:spPr>
          <a:xfrm>
            <a:off x="8730000" y="209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S12  1 联 · 楼梯顶</a:t>
            </a:r>
          </a:p>
        </p:txBody>
      </p:sp>
      <p:sp>
        <p:nvSpPr>
          <p:cNvPr id="512" name="TextBox 511"/>
          <p:cNvSpPr txBox="1"/>
          <p:nvPr/>
        </p:nvSpPr>
        <p:spPr>
          <a:xfrm>
            <a:off x="8980000" y="225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键1=k</a:t>
            </a:r>
          </a:p>
        </p:txBody>
      </p:sp>
      <p:sp>
        <p:nvSpPr>
          <p:cNvPr id="513" name="TextBox 512"/>
          <p:cNvSpPr txBox="1"/>
          <p:nvPr/>
        </p:nvSpPr>
        <p:spPr>
          <a:xfrm>
            <a:off x="8730000" y="2455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S13  1 联 · 书房门旁</a:t>
            </a:r>
          </a:p>
        </p:txBody>
      </p:sp>
      <p:sp>
        <p:nvSpPr>
          <p:cNvPr id="514" name="TextBox 513"/>
          <p:cNvSpPr txBox="1"/>
          <p:nvPr/>
        </p:nvSpPr>
        <p:spPr>
          <a:xfrm>
            <a:off x="8980000" y="262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键1=l</a:t>
            </a:r>
          </a:p>
        </p:txBody>
      </p:sp>
      <p:sp>
        <p:nvSpPr>
          <p:cNvPr id="515" name="TextBox 514"/>
          <p:cNvSpPr txBox="1"/>
          <p:nvPr/>
        </p:nvSpPr>
        <p:spPr>
          <a:xfrm>
            <a:off x="8730000" y="282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S14  1 联 · 后卫生间门外</a:t>
            </a:r>
          </a:p>
        </p:txBody>
      </p:sp>
      <p:sp>
        <p:nvSpPr>
          <p:cNvPr id="516" name="TextBox 515"/>
          <p:cNvSpPr txBox="1"/>
          <p:nvPr/>
        </p:nvSpPr>
        <p:spPr>
          <a:xfrm>
            <a:off x="8980000" y="298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键1=m</a:t>
            </a:r>
          </a:p>
        </p:txBody>
      </p:sp>
      <p:sp>
        <p:nvSpPr>
          <p:cNvPr id="517" name="TextBox 516"/>
          <p:cNvSpPr txBox="1"/>
          <p:nvPr/>
        </p:nvSpPr>
        <p:spPr>
          <a:xfrm>
            <a:off x="8730000" y="3245000"/>
            <a:ext cx="3300000" cy="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C00000"/>
                </a:solidFill>
                <a:latin typeface="Microsoft YaHei"/>
              </a:rPr>
              <a:t>双控联络线（红粗线）</a:t>
            </a:r>
          </a:p>
        </p:txBody>
      </p:sp>
      <p:sp>
        <p:nvSpPr>
          <p:cNvPr id="518" name="TextBox 517"/>
          <p:cNvSpPr txBox="1"/>
          <p:nvPr/>
        </p:nvSpPr>
        <p:spPr>
          <a:xfrm>
            <a:off x="8730000" y="3435000"/>
            <a:ext cx="3300000" cy="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C00000"/>
                </a:solidFill>
                <a:latin typeface="Microsoft YaHei"/>
              </a:rPr>
              <a:t>· W1：S8 ↔ S11  3C+E  回路 d</a:t>
            </a:r>
          </a:p>
        </p:txBody>
      </p:sp>
      <p:sp>
        <p:nvSpPr>
          <p:cNvPr id="519" name="TextBox 518"/>
          <p:cNvSpPr txBox="1"/>
          <p:nvPr/>
        </p:nvSpPr>
        <p:spPr>
          <a:xfrm>
            <a:off x="8730000" y="3605000"/>
            <a:ext cx="3300000" cy="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C00000"/>
                </a:solidFill>
                <a:latin typeface="Microsoft YaHei"/>
              </a:rPr>
              <a:t>· W2：S12 ↔ S11  3C+E  回路 k</a:t>
            </a:r>
          </a:p>
        </p:txBody>
      </p:sp>
      <p:sp>
        <p:nvSpPr>
          <p:cNvPr id="520" name="TextBox 519"/>
          <p:cNvSpPr txBox="1"/>
          <p:nvPr/>
        </p:nvSpPr>
        <p:spPr>
          <a:xfrm>
            <a:off x="8730000" y="3775000"/>
            <a:ext cx="33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C00000"/>
                </a:solidFill>
                <a:latin typeface="Microsoft YaHei"/>
              </a:rPr>
              <a:t>红线只表示连接关系，实际走线沿墙 / 吊顶内，现场定。</a:t>
            </a:r>
          </a:p>
        </p:txBody>
      </p:sp>
      <p:sp>
        <p:nvSpPr>
          <p:cNvPr id="521" name="Rectangle 520"/>
          <p:cNvSpPr/>
          <p:nvPr/>
        </p:nvSpPr>
        <p:spPr>
          <a:xfrm>
            <a:off x="399999" y="6540000"/>
            <a:ext cx="642296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2" name="Rectangle 521"/>
          <p:cNvSpPr/>
          <p:nvPr/>
        </p:nvSpPr>
        <p:spPr>
          <a:xfrm>
            <a:off x="1042296" y="6540000"/>
            <a:ext cx="642296" cy="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3" name="TextBox 522"/>
          <p:cNvSpPr txBox="1"/>
          <p:nvPr/>
        </p:nvSpPr>
        <p:spPr>
          <a:xfrm>
            <a:off x="1724593" y="6500000"/>
            <a:ext cx="30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" b="0">
                <a:solidFill>
                  <a:srgbClr val="1A1A1A"/>
                </a:solidFill>
                <a:latin typeface="Microsoft YaHei"/>
              </a:rPr>
              <a:t>2 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二层开关面板表（逐键）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0000" y="470000"/>
            <a:ext cx="80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808080"/>
                </a:solidFill>
                <a:latin typeface="Microsoft YaHei"/>
              </a:rPr>
              <a:t>SWITCH PLATE SCHEDULE — GANGS NUMBERED LEFT TO RIGHT</a:t>
            </a:r>
          </a:p>
        </p:txBody>
      </p:sp>
      <p:sp>
        <p:nvSpPr>
          <p:cNvPr id="5" name="Rectangle 4"/>
          <p:cNvSpPr/>
          <p:nvPr/>
        </p:nvSpPr>
        <p:spPr>
          <a:xfrm>
            <a:off x="8650000" y="5100000"/>
            <a:ext cx="3442000" cy="16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10000" y="51000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项目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50000" y="51000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 · 二层照明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650000" y="54316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710000" y="54316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50000" y="54316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二层开关面板表（逐键）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650000" y="57632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710000" y="57632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50000" y="57632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E-FF-04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650000" y="60948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710000" y="60948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版本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50000" y="60948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Rev G · 2026-10-03（照明 4 路：一层前区 / 一层后区 / 二层 / 户外）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650000" y="64264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710000" y="64264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依据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50000" y="64264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PPT v6 第 6 页按键标注；Blender v37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190000" y="5100000"/>
            <a:ext cx="0" cy="16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250000" y="780000"/>
          <a:ext cx="8200000" cy="3075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80000"/>
                <a:gridCol w="1150000"/>
                <a:gridCol w="620000"/>
                <a:gridCol w="1250000"/>
                <a:gridCol w="1250000"/>
                <a:gridCol w="1250000"/>
                <a:gridCol w="1250000"/>
                <a:gridCol w="1050000"/>
              </a:tblGrid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编号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位置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面板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1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2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3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4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双控 / 三控对端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盥洗室门旁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1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 盥洗室筒灯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西卫生间门外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1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h 西卫生间筒灯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主卧门旁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1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a 主卧主灯 F19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a↔S4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主卧东墙 · 床头侧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2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a 主卧主灯 F19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b 主卧主灯位（待选）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a↔S3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S5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衣帽间门旁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1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f 衣帽间筒灯 ×2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S6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卧室2 门旁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2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i 卧室2 主灯 F20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j 卧室2 筒灯 ×2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i↔S7，j↔S7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S7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卧室2 床头侧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2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i 卧室2 主灯 F20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j 卧室2 筒灯 ×2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i↔S6，j↔S6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S8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走廊北端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1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d 走廊吸顶灯 F11 ×2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d↔S11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S9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北卫生间门外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1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c 北卫生间筒灯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S10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卧室3 门旁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1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e 卧室3 主灯 F22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S11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走廊南端 · 楼梯口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2 联（含中途开关）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d 走廊吸顶灯 F11 ×2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k 楼梯吊灯 F06（三控：一层 S6 + 二层 S11、S12）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d↔S8，k↔S12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S12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楼梯顶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1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k 楼梯吊灯 F06（三控：一层 S6 + 二层 S11、S12）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k↔S11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S13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书房门旁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1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l 书房主灯 F23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S14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后卫生间门外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1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m 后卫生间筒灯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8730000" y="400000"/>
            <a:ext cx="3300000" cy="40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说明：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1. 键 1 → 键 4 为面板上从左到右的顺序（按 PPT 标注顺序）。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2. 字母 = 回路，见 E-FF-05；位置见 E-FF-00~02。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3. 开关中心离地 1200 mm；FCU 在台面上 150 mm。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4. 双控每对开关之间需敷设联络线 3C+E；三控回路需两只两路开关 + 一只中途开关（intermediate）。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5. S2 原图标为“6+”，按常理作为西卫生间筒灯的独立单联开关，装在门外。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6. 面板统一 NAB 古铜系列；联数与本表一致。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二层照明回路表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0000" y="470000"/>
            <a:ext cx="80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808080"/>
                </a:solidFill>
                <a:latin typeface="Microsoft YaHei"/>
              </a:rPr>
              <a:t>FIRST FLOOR LIGHTING CIRCUIT SCHEDULE</a:t>
            </a:r>
          </a:p>
        </p:txBody>
      </p:sp>
      <p:sp>
        <p:nvSpPr>
          <p:cNvPr id="5" name="Rectangle 4"/>
          <p:cNvSpPr/>
          <p:nvPr/>
        </p:nvSpPr>
        <p:spPr>
          <a:xfrm>
            <a:off x="8650000" y="5100000"/>
            <a:ext cx="3442000" cy="16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10000" y="51000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项目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50000" y="51000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 · 二层照明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650000" y="54316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710000" y="54316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50000" y="54316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二层照明回路表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650000" y="57632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710000" y="57632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50000" y="57632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E-FF-05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650000" y="60948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710000" y="60948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版本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50000" y="60948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Rev G · 2026-10-03（照明 4 路：一层前区 / 一层后区 / 二层 / 户外）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650000" y="64264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710000" y="64264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依据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50000" y="64264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PPT v6 第 6 页按键标注；Blender v37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190000" y="5100000"/>
            <a:ext cx="0" cy="16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250000" y="800000"/>
          <a:ext cx="7870000" cy="3290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420000"/>
                <a:gridCol w="450000"/>
                <a:gridCol w="2900000"/>
                <a:gridCol w="450000"/>
                <a:gridCol w="2500000"/>
                <a:gridCol w="550000"/>
                <a:gridCol w="600000"/>
              </a:tblGrid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字母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回路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控制灯具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灯数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开关（编号-键）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方式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图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a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主卧主灯 F19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S3-键1，S4-键1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b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主卧主灯位（待选）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S4-键2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c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北卫生间筒灯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S9-键1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d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走廊吸顶灯 F11 ×2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S8-键1，S11-键1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e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L5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卧室3 主灯 F22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S10-键1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f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L6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衣帽间筒灯 ×2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S5-键1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g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L7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盥洗室筒灯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S1-键1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h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L8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西卫生间筒灯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S2-键1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i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L9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卧室2 主灯 F20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S6-键1，S7-键1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j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L10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卧室2 筒灯 ×2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S6-键2，S7-键2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k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楼梯吊灯 F06（三控：一层 S6 + 二层 S11、S12）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S11-键2，S12-键1，一层 S6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三控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l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书房主灯 F23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S13-键1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m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后卫生间筒灯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S14-键1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657943C-DDA9-4971-B19D-825B96C1EEB0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46b9902e-1167-4303-a629-c113ab9720ea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1051</TotalTime>
  <Words>1769</Words>
  <Application>Microsoft Office PowerPoint</Application>
  <PresentationFormat>Widescreen</PresentationFormat>
  <Paragraphs>550</Paragraphs>
  <Slides>10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Microsoft YaHei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Martin Jiang</cp:lastModifiedBy>
  <cp:revision>12</cp:revision>
  <dcterms:created xsi:type="dcterms:W3CDTF">2013-01-27T09:14:16Z</dcterms:created>
  <dcterms:modified xsi:type="dcterms:W3CDTF">2026-10-03T09:40:53Z</dcterms:modified>
  <cp:category/>
</cp:coreProperties>
</file>