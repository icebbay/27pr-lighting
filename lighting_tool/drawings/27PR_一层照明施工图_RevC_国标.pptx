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3 个回路：WL1 前区（含门廊壁灯）、WL2 后区（含卫生间排气扇）、WL3 后花园户外，均带 30 mA 漏电保护。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B）：l 回路 4 盏筒灯三处控制（S7 为中途开关）；38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137871" y="5409256"/>
            <a:ext cx="98614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3137871" y="5003846"/>
            <a:ext cx="0" cy="40541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4458589" y="4176307"/>
            <a:ext cx="0" cy="55587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4458589" y="4732179"/>
            <a:ext cx="263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V="1">
            <a:off x="4458589" y="3010230"/>
            <a:ext cx="0" cy="1166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H="1">
            <a:off x="4069897" y="3010230"/>
            <a:ext cx="38869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H="1">
            <a:off x="3033384" y="3010230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3033384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4145128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4145128" y="4732179"/>
            <a:ext cx="57676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4458589" y="2312256"/>
            <a:ext cx="0" cy="20813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4458589" y="4393641"/>
            <a:ext cx="101143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4166244" y="5409256"/>
            <a:ext cx="130378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5470025" y="4393641"/>
            <a:ext cx="0" cy="1015615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V="1">
            <a:off x="4458589" y="2411875"/>
            <a:ext cx="0" cy="1764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H="1">
            <a:off x="3274277" y="2411875"/>
            <a:ext cx="118431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2" name="TextBox 691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93" name="Connector 692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9" name="TextBox 698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0" name="Connector 699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TextBox 705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07" name="Connector 706"/>
          <p:cNvCxnSpPr/>
          <p:nvPr/>
        </p:nvCxnSpPr>
        <p:spPr>
          <a:xfrm flipH="1" flipV="1">
            <a:off x="2055384" y="2483615"/>
            <a:ext cx="2403205" cy="169269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 flipH="1" flipV="1"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 flipV="1"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 flipV="1"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 flipV="1"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 flipV="1"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 flipV="1"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Rectangle 713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16" name="Connector 715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Rectangle 717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TextBox 718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20" name="Oval 719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22" name="Oval 721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3" name="Connector 722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26" name="Oval 725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7" name="Connector 726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TextBox 728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30" name="Oval 729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1" name="Connector 730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TextBox 732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34" name="Oval 733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5" name="Connector 734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7" name="TextBox 736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38" name="Oval 737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9" name="Connector 738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1" name="TextBox 740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42" name="Oval 741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TextBox 742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44" name="Oval 743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TextBox 744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46" name="Oval 745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TextBox 746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48" name="Oval 747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TextBox 748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0" name="Oval 749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TextBox 751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53" name="Oval 752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56" name="Oval 755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59" name="Oval 758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62" name="Oval 761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65" name="Oval 764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68" name="Oval 767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1" name="Oval 770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4" name="Oval 773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77" name="Oval 776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0" name="Oval 779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83" name="Oval 782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86" name="Oval 785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89" name="Oval 788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2" name="Oval 791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5" name="Oval 794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8" name="Oval 797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9" name="Connector 798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1" name="TextBox 800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02" name="Oval 801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3" name="Connector 802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5" name="TextBox 804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06" name="Oval 805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TextBox 807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09" name="Oval 808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12" name="Oval 811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TextBox 813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15" name="Oval 814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TextBox 816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18" name="Oval 817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TextBox 819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1" name="Oval 820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4" name="Oval 823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7" name="Oval 826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0" name="Oval 829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3" name="Oval 832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36" name="Oval 835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39" name="Oval 838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TextBox 839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1" name="Oval 840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TextBox 841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3" name="Oval 842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5" name="Oval 844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TextBox 845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7" name="Oval 846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8" name="Connector 847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Connector 850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5" name="TextBox 854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56" name="Oval 855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7" name="Connector 856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0" name="TextBox 859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61" name="Oval 860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2" name="Connector 861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TextBox 867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69" name="Oval 868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0" name="Connector 869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7" name="TextBox 876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78" name="Oval 877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9" name="Connector 878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5" name="TextBox 884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886" name="Oval 885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7" name="Connector 886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9" name="TextBox 888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890" name="Oval 889"/>
          <p:cNvSpPr/>
          <p:nvPr/>
        </p:nvSpPr>
        <p:spPr>
          <a:xfrm>
            <a:off x="4445920" y="416363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1" name="Connector 890"/>
          <p:cNvCxnSpPr/>
          <p:nvPr/>
        </p:nvCxnSpPr>
        <p:spPr>
          <a:xfrm flipV="1">
            <a:off x="4458589" y="4128527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>
            <a:off x="4506369" y="412852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H="1">
            <a:off x="4422754" y="4176307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 flipH="1" flipV="1">
            <a:off x="4410809" y="420019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5" name="TextBox 894"/>
          <p:cNvSpPr txBox="1"/>
          <p:nvPr/>
        </p:nvSpPr>
        <p:spPr>
          <a:xfrm>
            <a:off x="4513408" y="40722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896" name="Oval 895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7" name="Connector 896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" name="TextBox 903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05" name="Oval 904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6" name="Connector 905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3" name="TextBox 912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14" name="Oval 913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5" name="Connector 914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18" name="Oval 917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9" name="Connector 918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4" name="TextBox 923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25" name="Oval 924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6" name="Connector 925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1" name="TextBox 930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32" name="Oval 931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3" name="Connector 932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TextBox 935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37" name="Oval 936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8" name="Connector 937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TextBox 939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41" name="Oval 940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2" name="Connector 941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TextBox 943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45" name="Rectangle 944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47" name="Rectangle 946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TextBox 947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49" name="Rectangle 948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TextBox 949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1" name="Rectangle 950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3" name="Rectangle 952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TextBox 953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5" name="TextBox 954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WL1/WL2/WL3（先到开关盒）；细实线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56" name="Rectangle 955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58" name="Rectangle 957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TextBox 958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60" name="Rectangle 959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62" name="Rectangle 961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Rectangle 962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Rectangle 963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TextBox 964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274519" y="3079975"/>
            <a:ext cx="0" cy="23117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274519" y="3079975"/>
            <a:ext cx="5877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5089312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WL2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l → 接线见另图</a:t>
            </a:r>
          </a:p>
        </p:txBody>
      </p:sp>
      <p:cxnSp>
        <p:nvCxnSpPr>
          <p:cNvPr id="627" name="Connector 626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3" name="TextBox 632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4" name="Connector 63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0" name="TextBox 639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1" name="Rectangle 640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TextBox 641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3" name="Connector 642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5" name="TextBox 644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6" name="Rectangle 645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TextBox 646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48" name="Oval 647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0" name="Oval 649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1" name="Connector 650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TextBox 652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4" name="Oval 653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5" name="Connector 654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7" name="TextBox 656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58" name="Oval 657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9" name="Connector 658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TextBox 660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2" name="Oval 661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TextBox 662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4" name="Oval 663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TextBox 665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7" name="Oval 666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0" name="Oval 669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TextBox 671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3" name="Oval 672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6" name="Oval 675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TextBox 677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9" name="Oval 678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extBox 680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2" name="Oval 681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TextBox 683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5" name="Oval 684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8" name="Oval 687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TextBox 689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1" name="Oval 690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TextBox 692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4" name="Oval 693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TextBox 695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7" name="Oval 696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TextBox 698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0" name="Oval 699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TextBox 701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3" name="Oval 702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6" name="Oval 705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TextBox 707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09" name="Oval 708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TextBox 710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2" name="Oval 711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TextBox 713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5" name="Oval 714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6" name="Connector 715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4" name="Oval 723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29" name="Oval 728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0" name="Connector 729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TextBox 735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7" name="Oval 736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8" name="Connector 737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5" name="TextBox 744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6" name="Oval 745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7" name="Connector 746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3" name="TextBox 752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4" name="Oval 753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5" name="Connector 754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7" name="TextBox 756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58" name="Oval 757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9" name="Connector 758"/>
          <p:cNvCxnSpPr/>
          <p:nvPr/>
        </p:nvCxnSpPr>
        <p:spPr>
          <a:xfrm flipV="1">
            <a:off x="7862259" y="2970480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7971755" y="297048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 flipH="1">
            <a:off x="7780137" y="3079975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 flipH="1" flipV="1">
            <a:off x="7752763" y="313472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3" name="TextBox 762"/>
          <p:cNvSpPr txBox="1"/>
          <p:nvPr/>
        </p:nvSpPr>
        <p:spPr>
          <a:xfrm>
            <a:off x="7987885" y="28414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764" name="TextBox 763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67" name="TextBox 766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G07 区东侧 · 卫生间走道口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0" name="Rectangle 779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Rectangle 780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WL2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392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39210" y="5123684"/>
            <a:ext cx="8425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WL2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76910" y="6112736"/>
            <a:ext cx="18976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782860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1597105" y="4318219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 flipV="1"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 flipV="1"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 flipV="1"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 flipV="1"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Rectangle 601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4" name="Oval 603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06" name="Oval 605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TextBox 606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08" name="Oval 607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0" name="Oval 60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1" name="Connector 61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TextBox 612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4" name="Oval 61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5" name="Connector 61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" name="TextBox 616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18" name="Oval 61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1" name="Oval 62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3" name="Oval 62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5" name="Oval 62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7" name="Oval 62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9" name="Oval 62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0" name="Connector 629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6" name="Oval 635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43" name="Oval 642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4" name="Connector 643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8" name="Oval 647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52" name="Oval 65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56" name="Rectangle 655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TextBox 656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58" name="Rectangle 657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TextBox 658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0" name="Rectangle 659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2" name="Rectangle 661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TextBox 662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4" name="Rectangle 663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77" name="Rectangle 676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30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G07 区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a b c d e f g h i n）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一层后区照明（G15 区 / 卫生间 / 厨房 / 洗衣房）+ 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j k l m o r s t）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C10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p q u）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二层西区照明（主卧 / 盥洗室 / 西卫 / 衣帽间 / 卧室2）+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9 盏（二层，字母 见二层图）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900000" y="44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300000" y="45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900000" y="42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0000" y="43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0000" y="44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WL5  二层东区照明（走廊 / 北卫 / 卧室3 / 楼梯 / 书房 / 后卫）+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盏（二层，字母 见二层图）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000000" y="52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000000" y="51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回路划分按区域：前区 / 后区 / 户外，单回路灯具数量与功率均在 C16 允许范围内（灯具多为 LED）。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WL5，一层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WL4、WL5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51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