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84" r:id="rId17"/>
    <p:sldId id="285" r:id="rId18"/>
    <p:sldId id="286" r:id="rId19"/>
    <p:sldId id="287" r:id="rId20"/>
    <p:sldId id="288" r:id="rId21"/>
    <p:sldId id="289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BED4"/>
    <a:srgbClr val="469990"/>
    <a:srgbClr val="E6194B"/>
    <a:srgbClr val="AAFFC3"/>
    <a:srgbClr val="BFEF45"/>
    <a:srgbClr val="F032E6"/>
    <a:srgbClr val="4363D8"/>
    <a:srgbClr val="808000"/>
    <a:srgbClr val="800000"/>
    <a:srgbClr val="FFFA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>
        <p:scale>
          <a:sx n="125" d="100"/>
          <a:sy n="125" d="100"/>
        </p:scale>
        <p:origin x="-1152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 设计说明 · 图例 · 灯具表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 设计说明 · 图例 · 灯具表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O-B 2026-10-15）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50000" y="620000"/>
            <a:ext cx="81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设计说明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依据：GB 50034-2013《建筑照明设计标准》、GB/T 50786-2012《建筑电气制图标准》、09DX001《建筑电气工程设计常用图形和文字符号》。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   本工程位于英国，实际施工、器材与验收以 BS 7671 及 Part P 为准；本套图为国标表达方式，供沟通与核对。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二层照明由照明配电箱 AL1沿楼梯井引上引出 1 个回路：WL4 二层照明（B6），均为 30 mA RCBO。本图为方案 B · 精简 17 路；楼梯壁灯在一层、楼梯吊灯在二层，任一路跳闸楼梯仍有照明。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导线 BV-3×2.5（L、N、PE），穿 PC20 管沿墙 / 顶板暗敷（WC/CC）。线上短斜线为导线根数，未标注者为 3 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开关：古铜色 86 型（NAB 系列）暗装，中心距地 1.2 m（国内常用 1.3 m，本工程按英国 1.2 m），距门框 0.15–0.20 m，设在门开启（锁）侧，开门即可开灯。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双控 / 三控：同一字母的灯可在多处开关控制；两处为单极双控开关，三处时中间一处为中途开关（三控），开关间敷设联络线（长虚线）。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楼梯吊灯 F06 三控：一层 S6（楼梯底）、二层 S12（楼梯顶）为两路开关，二层 S11 第 2 键为中途开关。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7. 卫生间灯具防护等级 ≥ IP44，户外灯具 ≥ IP65。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8. 卫生间排气扇不设单独隔离开关，接所在卫生间灯回路（随灯开、带延时关）。Rev C 起开关编号重排。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9. 按常理补全（Rev B）：原图“6+”作为西卫筒灯独立单联开关 S2；主卧主灯位 b 预留（产品待选）。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10. Rev F：二层照明曾按区域分 3 路；Rev G 起按全屋 18 路方案合为 1 路 WL4（约 320 W）。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11. Rev H：后房间由书房改为卧室 4，后卫生间改为东侧套内卫生间（0.91 × 2.44 m，淋浴 / 台盆 / 马桶由北往南）；F23 移到卧室中部，后卫筒灯移入新卫生间，S14 移到卧室内卫生间门南侧。卫生间排气扇仍接卫生间灯回路（不设 FI）。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12. Rev K（2026-10-08）：排气扇只装无窗的卧室 4 套卫（经烟囱排风）；北卫、西卫有窗，不装。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13. Rev K：主卧灯开关 S3 挪到主卧南墙中间；卧室 2 门旁开关 S7 改装在短墙的卧室 2 一侧。按键不变。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14. Rev L（2026-10-13）：开关、灯位按墙面立面图 / 点位定位图 Rev B；楼梯吊灯 F06 在转角平台；衣帽间改一个吸顶灯；墙体按模型 v46：卧室2 门 860、卧室2 方正 3.060 × 4.204、盥洗室 1.00 / 西卫 1.20 / 衣帽间 1.805。按键与回路不变。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15. Rev O（2026-10-15）：后书房卫浴门合页改到凹位一端（y 9.264），朝外开向书房，S14 在锁侧。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16. Rev O（2026-10-15）：楼梯吊灯 F06 三控的中途开关由 S11 改到 S12（S12 = BG NAB13 单联中途；S11 = NAB42 双联双控，一块面板）。联络线：一层 S6 → 二层 S12（中途）→ 二层 S11。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17. 本套图：方案 B · 精简 17 路，全屋照明 3 路（WL1 一层照明 / WL3 户外照明 / WL4 二层照明）。两个方案的灯、开关和联动完全相同，只是照明回路分组不同；插座与专线见网页「配电箱」页。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000" y="3250000"/>
            <a:ext cx="3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图例</a:t>
            </a:r>
          </a:p>
        </p:txBody>
      </p:sp>
      <p:sp>
        <p:nvSpPr>
          <p:cNvPr id="25" name="Oval 24"/>
          <p:cNvSpPr/>
          <p:nvPr/>
        </p:nvSpPr>
        <p:spPr>
          <a:xfrm>
            <a:off x="3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吊灯 / 吸顶灯　｜ 按产品　｜ 吊装 / 吸顶</a:t>
            </a:r>
          </a:p>
        </p:txBody>
      </p:sp>
      <p:sp>
        <p:nvSpPr>
          <p:cNvPr id="29" name="Oval 28"/>
          <p:cNvSpPr/>
          <p:nvPr/>
        </p:nvSpPr>
        <p:spPr>
          <a:xfrm>
            <a:off x="44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主灯位（产品待选）　｜ 待选　｜ 吊装</a:t>
            </a:r>
          </a:p>
        </p:txBody>
      </p:sp>
      <p:sp>
        <p:nvSpPr>
          <p:cNvPr id="33" name="Oval 32"/>
          <p:cNvSpPr/>
          <p:nvPr/>
        </p:nvSpPr>
        <p:spPr>
          <a:xfrm>
            <a:off x="356000" y="3756000"/>
            <a:ext cx="88000" cy="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6250" y="3786250"/>
            <a:ext cx="27500" cy="27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筒灯 GU10　｜ LED 5W 3000K　｜ 嵌入式</a:t>
            </a:r>
          </a:p>
        </p:txBody>
      </p:sp>
      <p:sp>
        <p:nvSpPr>
          <p:cNvPr id="36" name="Oval 35"/>
          <p:cNvSpPr/>
          <p:nvPr/>
        </p:nvSpPr>
        <p:spPr>
          <a:xfrm>
            <a:off x="4435250" y="381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4460000" y="374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553338" y="374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36537" y="3763462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7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单极开关（短线数 = 联数）　｜ 86 型 10A　｜ 暗装 1.2 m</a:t>
            </a:r>
          </a:p>
        </p:txBody>
      </p:sp>
      <p:sp>
        <p:nvSpPr>
          <p:cNvPr id="41" name="Oval 40"/>
          <p:cNvSpPr/>
          <p:nvPr/>
        </p:nvSpPr>
        <p:spPr>
          <a:xfrm>
            <a:off x="375250" y="409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400000" y="402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93338" y="402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329996" y="4120000"/>
            <a:ext cx="70004" cy="70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306661" y="4166669"/>
            <a:ext cx="23335" cy="233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单极双控开关　｜ 86 型 10A　｜ 暗装 1.2 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01000" y="4051600"/>
            <a:ext cx="198000" cy="9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4401000" y="4051600"/>
            <a:ext cx="198000" cy="96800"/>
          </a:xfrm>
          <a:custGeom>
            <a:avLst/>
            <a:gdLst/>
            <a:ahLst/>
            <a:cxnLst/>
            <a:rect l="l" t="t" r="r" b="b"/>
            <a:pathLst>
              <a:path w="198000" h="96800">
                <a:moveTo>
                  <a:pt x="0" y="96800"/>
                </a:moveTo>
                <a:lnTo>
                  <a:pt x="198000" y="0"/>
                </a:lnTo>
                <a:lnTo>
                  <a:pt x="198000" y="9680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68000" y="4157200"/>
            <a:ext cx="264000" cy="7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照明配电箱 AL1　｜ 见系统图　｜ 暗装 1.5 m（底边）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10000" y="300000"/>
            <a:ext cx="33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灯具表</a:t>
            </a: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8710000" y="560000"/>
          <a:ext cx="3480000" cy="330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300000"/>
                <a:gridCol w="850000"/>
                <a:gridCol w="650000"/>
                <a:gridCol w="300000"/>
              </a:tblGrid>
              <a:tr h="300000"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名称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光源 / 功率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防护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数量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F06 贝壳吊灯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F11 玄关吸顶灯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F11#2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F19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F20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F22 云朵吸顶灯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F23 海派吸顶灯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GU10 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LED 5W 3000K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IP44（卫生间）/IP20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2343008" y="1211026"/>
            <a:ext cx="3938598" cy="5196365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478421" y="2972725"/>
                    </a:lnTo>
                    <a:lnTo>
                      <a:pt x="2478421" y="2972725"/>
                    </a:lnTo>
                    <a:lnTo>
                      <a:pt x="2478421" y="3021425"/>
                    </a:lnTo>
                    <a:lnTo>
                      <a:pt x="2478421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2" name="墙_V40_Wall_Bed2_North_East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147628" y="3899065"/>
                <a:ext cx="540164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0164" h="48700">
                    <a:moveTo>
                      <a:pt x="0" y="48700"/>
                    </a:moveTo>
                    <a:lnTo>
                      <a:pt x="540164" y="48700"/>
                    </a:lnTo>
                    <a:lnTo>
                      <a:pt x="540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2834852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13098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3" name="墙_V40_DoorLeaf_Bed2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114756" y="3947765"/>
                <a:ext cx="16233" cy="283271"/>
              </a:xfrm>
              <a:custGeom>
                <a:avLst/>
                <a:gdLst/>
                <a:ahLst/>
                <a:cxnLst/>
                <a:rect l="l" t="t" r="r" b="b"/>
                <a:pathLst>
                  <a:path w="16233" h="283271">
                    <a:moveTo>
                      <a:pt x="0" y="283271"/>
                    </a:moveTo>
                    <a:lnTo>
                      <a:pt x="16233" y="283271"/>
                    </a:lnTo>
                    <a:lnTo>
                      <a:pt x="162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700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7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300004" name="Rectangle 300003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5" name="TextBox 300004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二层照明平面图</a:t>
            </a:r>
          </a:p>
        </p:txBody>
      </p:sp>
      <p:sp>
        <p:nvSpPr>
          <p:cNvPr id="300006" name="Rectangle 300005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7" name="TextBox 300006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300008" name="TextBox 300007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300009" name="Connector 300008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0" name="TextBox 300009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300011" name="TextBox 300010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二层照明平面图</a:t>
            </a:r>
          </a:p>
        </p:txBody>
      </p:sp>
      <p:cxnSp>
        <p:nvCxnSpPr>
          <p:cNvPr id="300012" name="Connector 300011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3" name="TextBox 300012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300014" name="TextBox 300013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电施-12</a:t>
            </a:r>
          </a:p>
        </p:txBody>
      </p:sp>
      <p:cxnSp>
        <p:nvCxnSpPr>
          <p:cNvPr id="300015" name="Connector 300014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6" name="TextBox 300015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300017" name="TextBox 300016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1:100（A3）</a:t>
            </a:r>
          </a:p>
        </p:txBody>
      </p:sp>
      <p:cxnSp>
        <p:nvCxnSpPr>
          <p:cNvPr id="300018" name="Connector 300017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9" name="TextBox 300018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300020" name="TextBox 300019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O-B 2026-10-15）</a:t>
            </a:r>
          </a:p>
        </p:txBody>
      </p:sp>
      <p:cxnSp>
        <p:nvCxnSpPr>
          <p:cNvPr id="300021" name="Connector 300020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2" name="TextBox 300021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300023" name="TextBox 300022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300024" name="Connector 300023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5" name="Connector 300024"/>
          <p:cNvCxnSpPr/>
          <p:nvPr/>
        </p:nvCxnSpPr>
        <p:spPr>
          <a:xfrm flipV="1">
            <a:off x="3897301" y="3741289"/>
            <a:ext cx="0" cy="92497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6" name="Connector 300025"/>
          <p:cNvCxnSpPr/>
          <p:nvPr/>
        </p:nvCxnSpPr>
        <p:spPr>
          <a:xfrm flipH="1">
            <a:off x="3884113" y="3741289"/>
            <a:ext cx="1318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7" name="Connector 300026"/>
          <p:cNvCxnSpPr/>
          <p:nvPr/>
        </p:nvCxnSpPr>
        <p:spPr>
          <a:xfrm flipV="1">
            <a:off x="1845572" y="3874935"/>
            <a:ext cx="0" cy="45281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8" name="Connector 300027"/>
          <p:cNvCxnSpPr/>
          <p:nvPr/>
        </p:nvCxnSpPr>
        <p:spPr>
          <a:xfrm>
            <a:off x="1845572" y="3874935"/>
            <a:ext cx="38335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9" name="Connector 300028"/>
          <p:cNvCxnSpPr/>
          <p:nvPr/>
        </p:nvCxnSpPr>
        <p:spPr>
          <a:xfrm>
            <a:off x="2228925" y="3874935"/>
            <a:ext cx="66559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0" name="Connector 300029"/>
          <p:cNvCxnSpPr/>
          <p:nvPr/>
        </p:nvCxnSpPr>
        <p:spPr>
          <a:xfrm flipV="1">
            <a:off x="2894517" y="3474438"/>
            <a:ext cx="0" cy="40049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1" name="Connector 300030"/>
          <p:cNvCxnSpPr/>
          <p:nvPr/>
        </p:nvCxnSpPr>
        <p:spPr>
          <a:xfrm>
            <a:off x="2894517" y="3474438"/>
            <a:ext cx="74912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2" name="Connector 300031"/>
          <p:cNvCxnSpPr/>
          <p:nvPr/>
        </p:nvCxnSpPr>
        <p:spPr>
          <a:xfrm flipV="1">
            <a:off x="3643638" y="3008436"/>
            <a:ext cx="0" cy="466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3" name="Connector 300032"/>
          <p:cNvCxnSpPr/>
          <p:nvPr/>
        </p:nvCxnSpPr>
        <p:spPr>
          <a:xfrm>
            <a:off x="3643638" y="3008436"/>
            <a:ext cx="0" cy="58074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4" name="Connector 300033"/>
          <p:cNvCxnSpPr/>
          <p:nvPr/>
        </p:nvCxnSpPr>
        <p:spPr>
          <a:xfrm>
            <a:off x="3643638" y="3589180"/>
            <a:ext cx="45545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5" name="Connector 300034"/>
          <p:cNvCxnSpPr/>
          <p:nvPr/>
        </p:nvCxnSpPr>
        <p:spPr>
          <a:xfrm>
            <a:off x="4099089" y="3589180"/>
            <a:ext cx="0" cy="3321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6" name="Connector 300035"/>
          <p:cNvCxnSpPr/>
          <p:nvPr/>
        </p:nvCxnSpPr>
        <p:spPr>
          <a:xfrm>
            <a:off x="4099089" y="3921360"/>
            <a:ext cx="10036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7" name="Connector 300036"/>
          <p:cNvCxnSpPr/>
          <p:nvPr/>
        </p:nvCxnSpPr>
        <p:spPr>
          <a:xfrm flipH="1">
            <a:off x="3549558" y="3921360"/>
            <a:ext cx="64989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8" name="Connector 300037"/>
          <p:cNvCxnSpPr/>
          <p:nvPr/>
        </p:nvCxnSpPr>
        <p:spPr>
          <a:xfrm>
            <a:off x="3549558" y="3921360"/>
            <a:ext cx="0" cy="40638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9" name="Connector 300038"/>
          <p:cNvCxnSpPr/>
          <p:nvPr/>
        </p:nvCxnSpPr>
        <p:spPr>
          <a:xfrm>
            <a:off x="3549558" y="4327748"/>
            <a:ext cx="0" cy="10551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0" name="Connector 300039"/>
          <p:cNvCxnSpPr/>
          <p:nvPr/>
        </p:nvCxnSpPr>
        <p:spPr>
          <a:xfrm>
            <a:off x="3549558" y="4433258"/>
            <a:ext cx="4220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1" name="Connector 300040"/>
          <p:cNvCxnSpPr/>
          <p:nvPr/>
        </p:nvCxnSpPr>
        <p:spPr>
          <a:xfrm>
            <a:off x="3591762" y="4433258"/>
            <a:ext cx="63481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2" name="Connector 300041"/>
          <p:cNvCxnSpPr/>
          <p:nvPr/>
        </p:nvCxnSpPr>
        <p:spPr>
          <a:xfrm>
            <a:off x="4226580" y="4433258"/>
            <a:ext cx="0" cy="48798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3" name="Connector 300042"/>
          <p:cNvCxnSpPr/>
          <p:nvPr/>
        </p:nvCxnSpPr>
        <p:spPr>
          <a:xfrm>
            <a:off x="4226580" y="4921240"/>
            <a:ext cx="84496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4" name="Connector 300043"/>
          <p:cNvCxnSpPr/>
          <p:nvPr/>
        </p:nvCxnSpPr>
        <p:spPr>
          <a:xfrm>
            <a:off x="5071540" y="4921240"/>
            <a:ext cx="214536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5" name="Connector 300044"/>
          <p:cNvCxnSpPr/>
          <p:nvPr/>
        </p:nvCxnSpPr>
        <p:spPr>
          <a:xfrm flipV="1">
            <a:off x="5286076" y="4837712"/>
            <a:ext cx="0" cy="8352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6" name="Connector 300045"/>
          <p:cNvCxnSpPr/>
          <p:nvPr/>
        </p:nvCxnSpPr>
        <p:spPr>
          <a:xfrm>
            <a:off x="5286076" y="4837712"/>
            <a:ext cx="85726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7" name="Connector 300046"/>
          <p:cNvCxnSpPr/>
          <p:nvPr/>
        </p:nvCxnSpPr>
        <p:spPr>
          <a:xfrm>
            <a:off x="6143345" y="4837712"/>
            <a:ext cx="0" cy="39126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8" name="Connector 300047"/>
          <p:cNvCxnSpPr/>
          <p:nvPr/>
        </p:nvCxnSpPr>
        <p:spPr>
          <a:xfrm>
            <a:off x="3643638" y="3008436"/>
            <a:ext cx="97596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9" name="Connector 300048"/>
          <p:cNvCxnSpPr/>
          <p:nvPr/>
        </p:nvCxnSpPr>
        <p:spPr>
          <a:xfrm flipV="1">
            <a:off x="4619605" y="2590794"/>
            <a:ext cx="0" cy="41764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0" name="Connector 300049"/>
          <p:cNvCxnSpPr/>
          <p:nvPr/>
        </p:nvCxnSpPr>
        <p:spPr>
          <a:xfrm>
            <a:off x="1845572" y="4327748"/>
            <a:ext cx="0" cy="134525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1" name="Connector 300050"/>
          <p:cNvCxnSpPr/>
          <p:nvPr/>
        </p:nvCxnSpPr>
        <p:spPr>
          <a:xfrm>
            <a:off x="1845572" y="5672998"/>
            <a:ext cx="15650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2" name="Connector 300051"/>
          <p:cNvCxnSpPr/>
          <p:nvPr/>
        </p:nvCxnSpPr>
        <p:spPr>
          <a:xfrm flipV="1">
            <a:off x="5145358" y="4921240"/>
            <a:ext cx="0" cy="69699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3" name="Connector 300052"/>
          <p:cNvCxnSpPr/>
          <p:nvPr/>
        </p:nvCxnSpPr>
        <p:spPr>
          <a:xfrm flipH="1">
            <a:off x="5071540" y="4921240"/>
            <a:ext cx="73818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4" name="Connector 300053"/>
          <p:cNvCxnSpPr/>
          <p:nvPr/>
        </p:nvCxnSpPr>
        <p:spPr>
          <a:xfrm flipV="1">
            <a:off x="1845572" y="3916838"/>
            <a:ext cx="0" cy="41091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5" name="Connector 300054"/>
          <p:cNvCxnSpPr/>
          <p:nvPr/>
        </p:nvCxnSpPr>
        <p:spPr>
          <a:xfrm>
            <a:off x="1845572" y="3916838"/>
            <a:ext cx="21070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6" name="Connector 300055"/>
          <p:cNvCxnSpPr/>
          <p:nvPr/>
        </p:nvCxnSpPr>
        <p:spPr>
          <a:xfrm>
            <a:off x="2228925" y="3874935"/>
            <a:ext cx="25014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7" name="Connector 300056"/>
          <p:cNvCxnSpPr/>
          <p:nvPr/>
        </p:nvCxnSpPr>
        <p:spPr>
          <a:xfrm>
            <a:off x="2479071" y="3874935"/>
            <a:ext cx="0" cy="20838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8" name="Connector 300057"/>
          <p:cNvCxnSpPr/>
          <p:nvPr/>
        </p:nvCxnSpPr>
        <p:spPr>
          <a:xfrm flipV="1">
            <a:off x="2894517" y="2490559"/>
            <a:ext cx="0" cy="98387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9" name="Connector 300058"/>
          <p:cNvCxnSpPr/>
          <p:nvPr/>
        </p:nvCxnSpPr>
        <p:spPr>
          <a:xfrm>
            <a:off x="2894517" y="2490559"/>
            <a:ext cx="1239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0" name="Connector 300059"/>
          <p:cNvCxnSpPr/>
          <p:nvPr/>
        </p:nvCxnSpPr>
        <p:spPr>
          <a:xfrm flipH="1">
            <a:off x="3018491" y="3008436"/>
            <a:ext cx="62514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1" name="Connector 300060"/>
          <p:cNvCxnSpPr/>
          <p:nvPr/>
        </p:nvCxnSpPr>
        <p:spPr>
          <a:xfrm flipV="1">
            <a:off x="3018491" y="2490559"/>
            <a:ext cx="0" cy="51787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2" name="Connector 300061"/>
          <p:cNvCxnSpPr/>
          <p:nvPr/>
        </p:nvCxnSpPr>
        <p:spPr>
          <a:xfrm>
            <a:off x="3643638" y="3008436"/>
            <a:ext cx="52974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3" name="Connector 300062"/>
          <p:cNvCxnSpPr/>
          <p:nvPr/>
        </p:nvCxnSpPr>
        <p:spPr>
          <a:xfrm flipV="1">
            <a:off x="4173386" y="2468578"/>
            <a:ext cx="0" cy="53985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4" name="Connector 300063"/>
          <p:cNvCxnSpPr/>
          <p:nvPr/>
        </p:nvCxnSpPr>
        <p:spPr>
          <a:xfrm flipH="1">
            <a:off x="3298532" y="4327748"/>
            <a:ext cx="25102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5" name="Connector 300064"/>
          <p:cNvCxnSpPr/>
          <p:nvPr/>
        </p:nvCxnSpPr>
        <p:spPr>
          <a:xfrm flipV="1">
            <a:off x="3298532" y="3945715"/>
            <a:ext cx="0" cy="38203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6" name="Connector 300065"/>
          <p:cNvCxnSpPr/>
          <p:nvPr/>
        </p:nvCxnSpPr>
        <p:spPr>
          <a:xfrm>
            <a:off x="2002079" y="5672998"/>
            <a:ext cx="51875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7" name="Connector 300066"/>
          <p:cNvCxnSpPr/>
          <p:nvPr/>
        </p:nvCxnSpPr>
        <p:spPr>
          <a:xfrm flipV="1">
            <a:off x="2520835" y="4820127"/>
            <a:ext cx="0" cy="85287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8" name="Connector 300067"/>
          <p:cNvCxnSpPr/>
          <p:nvPr/>
        </p:nvCxnSpPr>
        <p:spPr>
          <a:xfrm>
            <a:off x="2002079" y="5672998"/>
            <a:ext cx="129219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9" name="Connector 300068"/>
          <p:cNvCxnSpPr/>
          <p:nvPr/>
        </p:nvCxnSpPr>
        <p:spPr>
          <a:xfrm flipV="1">
            <a:off x="3294269" y="5163720"/>
            <a:ext cx="0" cy="50927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0" name="Connector 300069"/>
          <p:cNvCxnSpPr/>
          <p:nvPr/>
        </p:nvCxnSpPr>
        <p:spPr>
          <a:xfrm flipH="1">
            <a:off x="2520835" y="4433258"/>
            <a:ext cx="107092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1" name="Connector 300070"/>
          <p:cNvCxnSpPr/>
          <p:nvPr/>
        </p:nvCxnSpPr>
        <p:spPr>
          <a:xfrm>
            <a:off x="2520835" y="4433258"/>
            <a:ext cx="0" cy="38686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2" name="Connector 300071"/>
          <p:cNvCxnSpPr/>
          <p:nvPr/>
        </p:nvCxnSpPr>
        <p:spPr>
          <a:xfrm flipH="1">
            <a:off x="3294269" y="4433258"/>
            <a:ext cx="29749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3" name="Connector 300072"/>
          <p:cNvCxnSpPr/>
          <p:nvPr/>
        </p:nvCxnSpPr>
        <p:spPr>
          <a:xfrm>
            <a:off x="3294269" y="4433258"/>
            <a:ext cx="0" cy="73046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4" name="Connector 300073"/>
          <p:cNvCxnSpPr/>
          <p:nvPr/>
        </p:nvCxnSpPr>
        <p:spPr>
          <a:xfrm flipH="1">
            <a:off x="3884113" y="3589180"/>
            <a:ext cx="21497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5" name="Connector 300074"/>
          <p:cNvCxnSpPr/>
          <p:nvPr/>
        </p:nvCxnSpPr>
        <p:spPr>
          <a:xfrm>
            <a:off x="3884113" y="3589180"/>
            <a:ext cx="0" cy="15210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6" name="Connector 300075"/>
          <p:cNvCxnSpPr/>
          <p:nvPr/>
        </p:nvCxnSpPr>
        <p:spPr>
          <a:xfrm>
            <a:off x="4619605" y="2590794"/>
            <a:ext cx="29454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7" name="Connector 300076"/>
          <p:cNvCxnSpPr/>
          <p:nvPr/>
        </p:nvCxnSpPr>
        <p:spPr>
          <a:xfrm>
            <a:off x="4914154" y="2590794"/>
            <a:ext cx="0" cy="3209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8" name="Connector 300077"/>
          <p:cNvCxnSpPr/>
          <p:nvPr/>
        </p:nvCxnSpPr>
        <p:spPr>
          <a:xfrm>
            <a:off x="4199456" y="3921360"/>
            <a:ext cx="49136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9" name="Connector 300078"/>
          <p:cNvCxnSpPr/>
          <p:nvPr/>
        </p:nvCxnSpPr>
        <p:spPr>
          <a:xfrm>
            <a:off x="4690825" y="3921360"/>
            <a:ext cx="0" cy="27669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0" name="Connector 300079"/>
          <p:cNvCxnSpPr/>
          <p:nvPr/>
        </p:nvCxnSpPr>
        <p:spPr>
          <a:xfrm flipV="1">
            <a:off x="4226580" y="4666259"/>
            <a:ext cx="0" cy="25498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1" name="Connector 300080"/>
          <p:cNvCxnSpPr/>
          <p:nvPr/>
        </p:nvCxnSpPr>
        <p:spPr>
          <a:xfrm flipH="1">
            <a:off x="3897301" y="4666259"/>
            <a:ext cx="32927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2" name="Connector 300081"/>
          <p:cNvCxnSpPr/>
          <p:nvPr/>
        </p:nvCxnSpPr>
        <p:spPr>
          <a:xfrm>
            <a:off x="4226580" y="4921240"/>
            <a:ext cx="75439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3" name="Connector 300082"/>
          <p:cNvCxnSpPr/>
          <p:nvPr/>
        </p:nvCxnSpPr>
        <p:spPr>
          <a:xfrm>
            <a:off x="4980976" y="4921240"/>
            <a:ext cx="0" cy="5187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4" name="Connector 300083"/>
          <p:cNvCxnSpPr/>
          <p:nvPr/>
        </p:nvCxnSpPr>
        <p:spPr>
          <a:xfrm>
            <a:off x="5071540" y="4921240"/>
            <a:ext cx="0" cy="5187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5" name="Connector 300084"/>
          <p:cNvCxnSpPr/>
          <p:nvPr/>
        </p:nvCxnSpPr>
        <p:spPr>
          <a:xfrm flipH="1">
            <a:off x="4980976" y="5439997"/>
            <a:ext cx="9056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6" name="Connector 300085"/>
          <p:cNvCxnSpPr/>
          <p:nvPr/>
        </p:nvCxnSpPr>
        <p:spPr>
          <a:xfrm flipV="1">
            <a:off x="5286076" y="4799465"/>
            <a:ext cx="0" cy="3824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7" name="Connector 300086"/>
          <p:cNvCxnSpPr/>
          <p:nvPr/>
        </p:nvCxnSpPr>
        <p:spPr>
          <a:xfrm>
            <a:off x="5286076" y="4799465"/>
            <a:ext cx="71834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8" name="Connector 300087"/>
          <p:cNvCxnSpPr/>
          <p:nvPr/>
        </p:nvCxnSpPr>
        <p:spPr>
          <a:xfrm>
            <a:off x="6143345" y="5228977"/>
            <a:ext cx="7517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9" name="Connector 300088"/>
          <p:cNvCxnSpPr/>
          <p:nvPr/>
        </p:nvCxnSpPr>
        <p:spPr>
          <a:xfrm>
            <a:off x="6218521" y="5228977"/>
            <a:ext cx="0" cy="24399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0" name="Connector 300089"/>
          <p:cNvCxnSpPr/>
          <p:nvPr/>
        </p:nvCxnSpPr>
        <p:spPr>
          <a:xfrm flipV="1">
            <a:off x="2894517" y="3008436"/>
            <a:ext cx="749121" cy="46600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1" name="Connector 300090"/>
          <p:cNvCxnSpPr/>
          <p:nvPr/>
        </p:nvCxnSpPr>
        <p:spPr>
          <a:xfrm>
            <a:off x="4099089" y="3589180"/>
            <a:ext cx="127491" cy="1332060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2" name="Connector 300091"/>
          <p:cNvCxnSpPr/>
          <p:nvPr/>
        </p:nvCxnSpPr>
        <p:spPr>
          <a:xfrm flipV="1">
            <a:off x="2002079" y="4433258"/>
            <a:ext cx="1589683" cy="1239740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3" name="Connector 300092"/>
          <p:cNvCxnSpPr/>
          <p:nvPr/>
        </p:nvCxnSpPr>
        <p:spPr>
          <a:xfrm flipV="1">
            <a:off x="2771985" y="5045169"/>
            <a:ext cx="6183" cy="4998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4" name="Connector 300093"/>
          <p:cNvCxnSpPr/>
          <p:nvPr/>
        </p:nvCxnSpPr>
        <p:spPr>
          <a:xfrm flipV="1">
            <a:off x="2782907" y="5036652"/>
            <a:ext cx="6183" cy="4998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5" name="Connector 300094"/>
          <p:cNvCxnSpPr/>
          <p:nvPr/>
        </p:nvCxnSpPr>
        <p:spPr>
          <a:xfrm flipV="1">
            <a:off x="2793829" y="5028134"/>
            <a:ext cx="6182" cy="4998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6" name="Connector 300095"/>
          <p:cNvCxnSpPr/>
          <p:nvPr/>
        </p:nvCxnSpPr>
        <p:spPr>
          <a:xfrm flipV="1">
            <a:off x="2804751" y="5019617"/>
            <a:ext cx="6182" cy="4998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7" name="Connector 300096"/>
          <p:cNvCxnSpPr/>
          <p:nvPr/>
        </p:nvCxnSpPr>
        <p:spPr>
          <a:xfrm flipV="1">
            <a:off x="2815673" y="5011099"/>
            <a:ext cx="6182" cy="4998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8" name="Connector 300097"/>
          <p:cNvCxnSpPr/>
          <p:nvPr/>
        </p:nvCxnSpPr>
        <p:spPr>
          <a:xfrm flipH="1">
            <a:off x="4226580" y="4921240"/>
            <a:ext cx="844960" cy="0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9" name="Oval 300098"/>
          <p:cNvSpPr/>
          <p:nvPr/>
        </p:nvSpPr>
        <p:spPr>
          <a:xfrm>
            <a:off x="5137444" y="5586572"/>
            <a:ext cx="63316" cy="633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0" name="Connector 300099"/>
          <p:cNvCxnSpPr/>
          <p:nvPr/>
        </p:nvCxnSpPr>
        <p:spPr>
          <a:xfrm flipV="1">
            <a:off x="5147337" y="5596465"/>
            <a:ext cx="43530" cy="4353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1" name="TextBox 300100"/>
          <p:cNvSpPr txBox="1"/>
          <p:nvPr/>
        </p:nvSpPr>
        <p:spPr>
          <a:xfrm>
            <a:off x="2729529" y="5657803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由一层 AL1 沿楼梯井引上</a:t>
            </a:r>
          </a:p>
        </p:txBody>
      </p:sp>
      <p:sp>
        <p:nvSpPr>
          <p:cNvPr id="300102" name="Oval 300101"/>
          <p:cNvSpPr/>
          <p:nvPr/>
        </p:nvSpPr>
        <p:spPr>
          <a:xfrm>
            <a:off x="4933489" y="5392509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3" name="Connector 300102"/>
          <p:cNvCxnSpPr/>
          <p:nvPr/>
        </p:nvCxnSpPr>
        <p:spPr>
          <a:xfrm>
            <a:off x="4947403" y="5406423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4" name="Connector 300103"/>
          <p:cNvCxnSpPr/>
          <p:nvPr/>
        </p:nvCxnSpPr>
        <p:spPr>
          <a:xfrm flipV="1">
            <a:off x="4947403" y="5406423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5" name="TextBox 300104"/>
          <p:cNvSpPr txBox="1"/>
          <p:nvPr/>
        </p:nvSpPr>
        <p:spPr>
          <a:xfrm>
            <a:off x="5024507" y="5348979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300106" name="Oval 300105"/>
          <p:cNvSpPr/>
          <p:nvPr/>
        </p:nvSpPr>
        <p:spPr>
          <a:xfrm>
            <a:off x="3849814" y="4618771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7" name="Connector 300106"/>
          <p:cNvCxnSpPr/>
          <p:nvPr/>
        </p:nvCxnSpPr>
        <p:spPr>
          <a:xfrm>
            <a:off x="3863728" y="4632685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8" name="Connector 300107"/>
          <p:cNvCxnSpPr/>
          <p:nvPr/>
        </p:nvCxnSpPr>
        <p:spPr>
          <a:xfrm flipV="1">
            <a:off x="3863728" y="4632685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9" name="TextBox 300108"/>
          <p:cNvSpPr txBox="1"/>
          <p:nvPr/>
        </p:nvSpPr>
        <p:spPr>
          <a:xfrm>
            <a:off x="3940831" y="457524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300110" name="Oval 300109"/>
          <p:cNvSpPr/>
          <p:nvPr/>
        </p:nvSpPr>
        <p:spPr>
          <a:xfrm>
            <a:off x="2971004" y="2443072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1" name="Connector 300110"/>
          <p:cNvCxnSpPr/>
          <p:nvPr/>
        </p:nvCxnSpPr>
        <p:spPr>
          <a:xfrm>
            <a:off x="2984918" y="2456986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2" name="Connector 300111"/>
          <p:cNvCxnSpPr/>
          <p:nvPr/>
        </p:nvCxnSpPr>
        <p:spPr>
          <a:xfrm flipV="1">
            <a:off x="2984918" y="2456986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3" name="TextBox 300112"/>
          <p:cNvSpPr txBox="1"/>
          <p:nvPr/>
        </p:nvSpPr>
        <p:spPr>
          <a:xfrm>
            <a:off x="3062021" y="2399542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300114" name="Oval 300113"/>
          <p:cNvSpPr/>
          <p:nvPr/>
        </p:nvSpPr>
        <p:spPr>
          <a:xfrm>
            <a:off x="2473348" y="4772640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5" name="Connector 300114"/>
          <p:cNvCxnSpPr/>
          <p:nvPr/>
        </p:nvCxnSpPr>
        <p:spPr>
          <a:xfrm>
            <a:off x="2487262" y="478655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6" name="Connector 300115"/>
          <p:cNvCxnSpPr/>
          <p:nvPr/>
        </p:nvCxnSpPr>
        <p:spPr>
          <a:xfrm flipV="1">
            <a:off x="2487262" y="478655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7" name="TextBox 300116"/>
          <p:cNvSpPr txBox="1"/>
          <p:nvPr/>
        </p:nvSpPr>
        <p:spPr>
          <a:xfrm>
            <a:off x="2564365" y="472911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300118" name="Oval 300117"/>
          <p:cNvSpPr/>
          <p:nvPr/>
        </p:nvSpPr>
        <p:spPr>
          <a:xfrm>
            <a:off x="4643338" y="4150570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9" name="Connector 300118"/>
          <p:cNvCxnSpPr/>
          <p:nvPr/>
        </p:nvCxnSpPr>
        <p:spPr>
          <a:xfrm>
            <a:off x="4657252" y="416448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0" name="Connector 300119"/>
          <p:cNvCxnSpPr/>
          <p:nvPr/>
        </p:nvCxnSpPr>
        <p:spPr>
          <a:xfrm flipV="1">
            <a:off x="4657252" y="416448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1" name="TextBox 300120"/>
          <p:cNvSpPr txBox="1"/>
          <p:nvPr/>
        </p:nvSpPr>
        <p:spPr>
          <a:xfrm>
            <a:off x="4734355" y="410704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300122" name="Oval 300121"/>
          <p:cNvSpPr/>
          <p:nvPr/>
        </p:nvSpPr>
        <p:spPr>
          <a:xfrm>
            <a:off x="5956936" y="4751978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3" name="Connector 300122"/>
          <p:cNvCxnSpPr/>
          <p:nvPr/>
        </p:nvCxnSpPr>
        <p:spPr>
          <a:xfrm>
            <a:off x="5970850" y="4765891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4" name="Connector 300123"/>
          <p:cNvCxnSpPr/>
          <p:nvPr/>
        </p:nvCxnSpPr>
        <p:spPr>
          <a:xfrm flipV="1">
            <a:off x="5970850" y="4765891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5" name="TextBox 300124"/>
          <p:cNvSpPr txBox="1"/>
          <p:nvPr/>
        </p:nvSpPr>
        <p:spPr>
          <a:xfrm>
            <a:off x="6047954" y="470844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300126" name="Oval 300125"/>
          <p:cNvSpPr/>
          <p:nvPr/>
        </p:nvSpPr>
        <p:spPr>
          <a:xfrm>
            <a:off x="4882496" y="2880061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27" name="Oval 300126"/>
          <p:cNvSpPr/>
          <p:nvPr/>
        </p:nvSpPr>
        <p:spPr>
          <a:xfrm>
            <a:off x="4904261" y="2901826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28" name="TextBox 300127"/>
          <p:cNvSpPr txBox="1"/>
          <p:nvPr/>
        </p:nvSpPr>
        <p:spPr>
          <a:xfrm>
            <a:off x="4957684" y="282070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300129" name="Oval 300128"/>
          <p:cNvSpPr/>
          <p:nvPr/>
        </p:nvSpPr>
        <p:spPr>
          <a:xfrm>
            <a:off x="6186863" y="5441310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0" name="Oval 300129"/>
          <p:cNvSpPr/>
          <p:nvPr/>
        </p:nvSpPr>
        <p:spPr>
          <a:xfrm>
            <a:off x="6208628" y="5463075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1" name="TextBox 300130"/>
          <p:cNvSpPr txBox="1"/>
          <p:nvPr/>
        </p:nvSpPr>
        <p:spPr>
          <a:xfrm>
            <a:off x="6262051" y="538195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300132" name="Oval 300131"/>
          <p:cNvSpPr/>
          <p:nvPr/>
        </p:nvSpPr>
        <p:spPr>
          <a:xfrm>
            <a:off x="2024620" y="3885180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3" name="Oval 300132"/>
          <p:cNvSpPr/>
          <p:nvPr/>
        </p:nvSpPr>
        <p:spPr>
          <a:xfrm>
            <a:off x="2046386" y="3906945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4" name="TextBox 300133"/>
          <p:cNvSpPr txBox="1"/>
          <p:nvPr/>
        </p:nvSpPr>
        <p:spPr>
          <a:xfrm>
            <a:off x="2099809" y="382582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300135" name="Oval 300134"/>
          <p:cNvSpPr/>
          <p:nvPr/>
        </p:nvSpPr>
        <p:spPr>
          <a:xfrm>
            <a:off x="3262610" y="5132062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6" name="Oval 300135"/>
          <p:cNvSpPr/>
          <p:nvPr/>
        </p:nvSpPr>
        <p:spPr>
          <a:xfrm>
            <a:off x="3284376" y="5153827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7" name="TextBox 300136"/>
          <p:cNvSpPr txBox="1"/>
          <p:nvPr/>
        </p:nvSpPr>
        <p:spPr>
          <a:xfrm>
            <a:off x="3337799" y="5072702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300138" name="Oval 300137"/>
          <p:cNvSpPr/>
          <p:nvPr/>
        </p:nvSpPr>
        <p:spPr>
          <a:xfrm>
            <a:off x="4125899" y="2421091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39" name="Connector 300138"/>
          <p:cNvCxnSpPr/>
          <p:nvPr/>
        </p:nvCxnSpPr>
        <p:spPr>
          <a:xfrm>
            <a:off x="4139812" y="2435004"/>
            <a:ext cx="67147" cy="671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40" name="Connector 300139"/>
          <p:cNvCxnSpPr/>
          <p:nvPr/>
        </p:nvCxnSpPr>
        <p:spPr>
          <a:xfrm flipV="1">
            <a:off x="4139812" y="2435004"/>
            <a:ext cx="67147" cy="671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41" name="TextBox 300140"/>
          <p:cNvSpPr txBox="1"/>
          <p:nvPr/>
        </p:nvSpPr>
        <p:spPr>
          <a:xfrm>
            <a:off x="4216916" y="237756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300142" name="Oval 300141"/>
          <p:cNvSpPr/>
          <p:nvPr/>
        </p:nvSpPr>
        <p:spPr>
          <a:xfrm>
            <a:off x="2447413" y="4051659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3" name="Oval 300142"/>
          <p:cNvSpPr/>
          <p:nvPr/>
        </p:nvSpPr>
        <p:spPr>
          <a:xfrm>
            <a:off x="2469178" y="4073424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4" name="TextBox 300143"/>
          <p:cNvSpPr txBox="1"/>
          <p:nvPr/>
        </p:nvSpPr>
        <p:spPr>
          <a:xfrm>
            <a:off x="2522601" y="399230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300145" name="Oval 300144"/>
          <p:cNvSpPr/>
          <p:nvPr/>
        </p:nvSpPr>
        <p:spPr>
          <a:xfrm>
            <a:off x="3270831" y="3918014"/>
            <a:ext cx="55401" cy="55401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3282703" y="3927907"/>
            <a:ext cx="31658" cy="29680"/>
          </a:xfrm>
          <a:custGeom>
            <a:avLst/>
            <a:gdLst/>
            <a:ahLst/>
            <a:cxnLst/>
            <a:rect l="l" t="t" r="r" b="b"/>
            <a:pathLst>
              <a:path w="31658" h="29680">
                <a:moveTo>
                  <a:pt x="15829" y="0"/>
                </a:moveTo>
                <a:lnTo>
                  <a:pt x="0" y="29680"/>
                </a:lnTo>
                <a:lnTo>
                  <a:pt x="31658" y="29680"/>
                </a:lnTo>
                <a:lnTo>
                  <a:pt x="15829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6" name="TextBox 300145"/>
          <p:cNvSpPr txBox="1"/>
          <p:nvPr/>
        </p:nvSpPr>
        <p:spPr>
          <a:xfrm>
            <a:off x="3342062" y="385469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300147" name="Oval 300146"/>
          <p:cNvSpPr/>
          <p:nvPr/>
        </p:nvSpPr>
        <p:spPr>
          <a:xfrm>
            <a:off x="3836625" y="3693802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48" name="Connector 300147"/>
          <p:cNvCxnSpPr/>
          <p:nvPr/>
        </p:nvCxnSpPr>
        <p:spPr>
          <a:xfrm>
            <a:off x="3850539" y="3707716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49" name="Connector 300148"/>
          <p:cNvCxnSpPr/>
          <p:nvPr/>
        </p:nvCxnSpPr>
        <p:spPr>
          <a:xfrm flipV="1">
            <a:off x="3850539" y="3707716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50" name="TextBox 300149"/>
          <p:cNvSpPr txBox="1"/>
          <p:nvPr/>
        </p:nvSpPr>
        <p:spPr>
          <a:xfrm>
            <a:off x="3927643" y="3650272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300151" name="Oval 300150"/>
          <p:cNvSpPr/>
          <p:nvPr/>
        </p:nvSpPr>
        <p:spPr>
          <a:xfrm>
            <a:off x="1831326" y="4313502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52" name="Connector 300151"/>
          <p:cNvCxnSpPr/>
          <p:nvPr/>
        </p:nvCxnSpPr>
        <p:spPr>
          <a:xfrm flipV="1">
            <a:off x="1845572" y="4274022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53" name="Connector 300152"/>
          <p:cNvCxnSpPr/>
          <p:nvPr/>
        </p:nvCxnSpPr>
        <p:spPr>
          <a:xfrm>
            <a:off x="1899298" y="4274022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54" name="TextBox 300153"/>
          <p:cNvSpPr txBox="1"/>
          <p:nvPr/>
        </p:nvSpPr>
        <p:spPr>
          <a:xfrm>
            <a:off x="1907212" y="421070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300155" name="Oval 300154"/>
          <p:cNvSpPr/>
          <p:nvPr/>
        </p:nvSpPr>
        <p:spPr>
          <a:xfrm>
            <a:off x="2214679" y="3860689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56" name="Connector 300155"/>
          <p:cNvCxnSpPr/>
          <p:nvPr/>
        </p:nvCxnSpPr>
        <p:spPr>
          <a:xfrm flipV="1">
            <a:off x="2228925" y="3821209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57" name="Connector 300156"/>
          <p:cNvCxnSpPr/>
          <p:nvPr/>
        </p:nvCxnSpPr>
        <p:spPr>
          <a:xfrm>
            <a:off x="2282651" y="3821209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58" name="TextBox 300157"/>
          <p:cNvSpPr txBox="1"/>
          <p:nvPr/>
        </p:nvSpPr>
        <p:spPr>
          <a:xfrm>
            <a:off x="2290565" y="375789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300159" name="Oval 300158"/>
          <p:cNvSpPr/>
          <p:nvPr/>
        </p:nvSpPr>
        <p:spPr>
          <a:xfrm>
            <a:off x="2880271" y="3460192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60" name="Connector 300159"/>
          <p:cNvCxnSpPr/>
          <p:nvPr/>
        </p:nvCxnSpPr>
        <p:spPr>
          <a:xfrm flipV="1">
            <a:off x="2894517" y="3420712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61" name="Connector 300160"/>
          <p:cNvCxnSpPr/>
          <p:nvPr/>
        </p:nvCxnSpPr>
        <p:spPr>
          <a:xfrm>
            <a:off x="2948243" y="3420712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62" name="Connector 300161"/>
          <p:cNvCxnSpPr/>
          <p:nvPr/>
        </p:nvCxnSpPr>
        <p:spPr>
          <a:xfrm flipH="1">
            <a:off x="2854223" y="3474438"/>
            <a:ext cx="40294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63" name="Connector 300162"/>
          <p:cNvCxnSpPr/>
          <p:nvPr/>
        </p:nvCxnSpPr>
        <p:spPr>
          <a:xfrm flipH="1" flipV="1">
            <a:off x="2840791" y="3501301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64" name="TextBox 300163"/>
          <p:cNvSpPr txBox="1"/>
          <p:nvPr/>
        </p:nvSpPr>
        <p:spPr>
          <a:xfrm>
            <a:off x="2956157" y="335739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300165" name="Oval 300164"/>
          <p:cNvSpPr/>
          <p:nvPr/>
        </p:nvSpPr>
        <p:spPr>
          <a:xfrm>
            <a:off x="3629392" y="2994190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66" name="Connector 300165"/>
          <p:cNvCxnSpPr/>
          <p:nvPr/>
        </p:nvCxnSpPr>
        <p:spPr>
          <a:xfrm flipV="1">
            <a:off x="3643638" y="2954710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67" name="Connector 300166"/>
          <p:cNvCxnSpPr/>
          <p:nvPr/>
        </p:nvCxnSpPr>
        <p:spPr>
          <a:xfrm>
            <a:off x="3697364" y="2954710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68" name="Connector 300167"/>
          <p:cNvCxnSpPr/>
          <p:nvPr/>
        </p:nvCxnSpPr>
        <p:spPr>
          <a:xfrm>
            <a:off x="3687693" y="2964381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69" name="Connector 300168"/>
          <p:cNvCxnSpPr/>
          <p:nvPr/>
        </p:nvCxnSpPr>
        <p:spPr>
          <a:xfrm flipH="1">
            <a:off x="3603344" y="3008436"/>
            <a:ext cx="40294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70" name="Connector 300169"/>
          <p:cNvCxnSpPr/>
          <p:nvPr/>
        </p:nvCxnSpPr>
        <p:spPr>
          <a:xfrm flipH="1" flipV="1">
            <a:off x="3589912" y="3035299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71" name="TextBox 300170"/>
          <p:cNvSpPr txBox="1"/>
          <p:nvPr/>
        </p:nvSpPr>
        <p:spPr>
          <a:xfrm>
            <a:off x="3705278" y="289139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300172" name="Oval 300171"/>
          <p:cNvSpPr/>
          <p:nvPr/>
        </p:nvSpPr>
        <p:spPr>
          <a:xfrm>
            <a:off x="3535312" y="4313502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73" name="Connector 300172"/>
          <p:cNvCxnSpPr/>
          <p:nvPr/>
        </p:nvCxnSpPr>
        <p:spPr>
          <a:xfrm flipV="1">
            <a:off x="3549558" y="4274022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74" name="Connector 300173"/>
          <p:cNvCxnSpPr/>
          <p:nvPr/>
        </p:nvCxnSpPr>
        <p:spPr>
          <a:xfrm>
            <a:off x="3603284" y="4274022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75" name="TextBox 300174"/>
          <p:cNvSpPr txBox="1"/>
          <p:nvPr/>
        </p:nvSpPr>
        <p:spPr>
          <a:xfrm>
            <a:off x="3611199" y="421070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300176" name="Oval 300175"/>
          <p:cNvSpPr/>
          <p:nvPr/>
        </p:nvSpPr>
        <p:spPr>
          <a:xfrm>
            <a:off x="1987832" y="5658751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77" name="Connector 300176"/>
          <p:cNvCxnSpPr/>
          <p:nvPr/>
        </p:nvCxnSpPr>
        <p:spPr>
          <a:xfrm flipV="1">
            <a:off x="2002079" y="5619272"/>
            <a:ext cx="53725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78" name="Connector 300177"/>
          <p:cNvCxnSpPr/>
          <p:nvPr/>
        </p:nvCxnSpPr>
        <p:spPr>
          <a:xfrm>
            <a:off x="2055804" y="5619272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79" name="Connector 300178"/>
          <p:cNvCxnSpPr/>
          <p:nvPr/>
        </p:nvCxnSpPr>
        <p:spPr>
          <a:xfrm>
            <a:off x="2046134" y="5628942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80" name="Connector 300179"/>
          <p:cNvCxnSpPr/>
          <p:nvPr/>
        </p:nvCxnSpPr>
        <p:spPr>
          <a:xfrm flipH="1">
            <a:off x="1961784" y="5672998"/>
            <a:ext cx="40295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81" name="Connector 300180"/>
          <p:cNvCxnSpPr/>
          <p:nvPr/>
        </p:nvCxnSpPr>
        <p:spPr>
          <a:xfrm flipH="1" flipV="1">
            <a:off x="1948353" y="5699860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82" name="TextBox 300181"/>
          <p:cNvSpPr txBox="1"/>
          <p:nvPr/>
        </p:nvSpPr>
        <p:spPr>
          <a:xfrm>
            <a:off x="2063719" y="555595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300183" name="Oval 300182"/>
          <p:cNvSpPr/>
          <p:nvPr/>
        </p:nvSpPr>
        <p:spPr>
          <a:xfrm>
            <a:off x="3577516" y="4419012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84" name="Connector 300183"/>
          <p:cNvCxnSpPr/>
          <p:nvPr/>
        </p:nvCxnSpPr>
        <p:spPr>
          <a:xfrm flipV="1">
            <a:off x="3591762" y="4379532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85" name="Connector 300184"/>
          <p:cNvCxnSpPr/>
          <p:nvPr/>
        </p:nvCxnSpPr>
        <p:spPr>
          <a:xfrm>
            <a:off x="3645488" y="4379532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86" name="Connector 300185"/>
          <p:cNvCxnSpPr/>
          <p:nvPr/>
        </p:nvCxnSpPr>
        <p:spPr>
          <a:xfrm>
            <a:off x="3635817" y="4389203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87" name="Connector 300186"/>
          <p:cNvCxnSpPr/>
          <p:nvPr/>
        </p:nvCxnSpPr>
        <p:spPr>
          <a:xfrm flipH="1">
            <a:off x="3551467" y="4433258"/>
            <a:ext cx="40295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88" name="Connector 300187"/>
          <p:cNvCxnSpPr/>
          <p:nvPr/>
        </p:nvCxnSpPr>
        <p:spPr>
          <a:xfrm flipH="1" flipV="1">
            <a:off x="3538036" y="4460121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89" name="TextBox 300188"/>
          <p:cNvSpPr txBox="1"/>
          <p:nvPr/>
        </p:nvSpPr>
        <p:spPr>
          <a:xfrm>
            <a:off x="3653402" y="431621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300190" name="Oval 300189"/>
          <p:cNvSpPr/>
          <p:nvPr/>
        </p:nvSpPr>
        <p:spPr>
          <a:xfrm>
            <a:off x="4084843" y="3574934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91" name="Connector 300190"/>
          <p:cNvCxnSpPr/>
          <p:nvPr/>
        </p:nvCxnSpPr>
        <p:spPr>
          <a:xfrm flipV="1">
            <a:off x="4099089" y="3535454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92" name="Connector 300191"/>
          <p:cNvCxnSpPr/>
          <p:nvPr/>
        </p:nvCxnSpPr>
        <p:spPr>
          <a:xfrm>
            <a:off x="4152815" y="3535454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93" name="Connector 300192"/>
          <p:cNvCxnSpPr/>
          <p:nvPr/>
        </p:nvCxnSpPr>
        <p:spPr>
          <a:xfrm flipH="1">
            <a:off x="4058795" y="3589180"/>
            <a:ext cx="40294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94" name="Connector 300193"/>
          <p:cNvCxnSpPr/>
          <p:nvPr/>
        </p:nvCxnSpPr>
        <p:spPr>
          <a:xfrm flipH="1" flipV="1">
            <a:off x="4045363" y="3616043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95" name="TextBox 300194"/>
          <p:cNvSpPr txBox="1"/>
          <p:nvPr/>
        </p:nvSpPr>
        <p:spPr>
          <a:xfrm>
            <a:off x="4160729" y="347213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300196" name="Oval 300195"/>
          <p:cNvSpPr/>
          <p:nvPr/>
        </p:nvSpPr>
        <p:spPr>
          <a:xfrm>
            <a:off x="4605359" y="2576548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97" name="Connector 300196"/>
          <p:cNvCxnSpPr/>
          <p:nvPr/>
        </p:nvCxnSpPr>
        <p:spPr>
          <a:xfrm flipV="1">
            <a:off x="4619605" y="2537068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98" name="Connector 300197"/>
          <p:cNvCxnSpPr/>
          <p:nvPr/>
        </p:nvCxnSpPr>
        <p:spPr>
          <a:xfrm>
            <a:off x="4673331" y="2537068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99" name="TextBox 300198"/>
          <p:cNvSpPr txBox="1"/>
          <p:nvPr/>
        </p:nvSpPr>
        <p:spPr>
          <a:xfrm>
            <a:off x="4681245" y="247375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300200" name="Oval 300199"/>
          <p:cNvSpPr/>
          <p:nvPr/>
        </p:nvSpPr>
        <p:spPr>
          <a:xfrm>
            <a:off x="4185209" y="3907114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201" name="Connector 300200"/>
          <p:cNvCxnSpPr/>
          <p:nvPr/>
        </p:nvCxnSpPr>
        <p:spPr>
          <a:xfrm flipV="1">
            <a:off x="4199456" y="3867634"/>
            <a:ext cx="53725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02" name="Connector 300201"/>
          <p:cNvCxnSpPr/>
          <p:nvPr/>
        </p:nvCxnSpPr>
        <p:spPr>
          <a:xfrm>
            <a:off x="4253181" y="3867634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03" name="TextBox 300202"/>
          <p:cNvSpPr txBox="1"/>
          <p:nvPr/>
        </p:nvSpPr>
        <p:spPr>
          <a:xfrm>
            <a:off x="4261096" y="380431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300204" name="Oval 300203"/>
          <p:cNvSpPr/>
          <p:nvPr/>
        </p:nvSpPr>
        <p:spPr>
          <a:xfrm>
            <a:off x="4212334" y="4906994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205" name="Connector 300204"/>
          <p:cNvCxnSpPr/>
          <p:nvPr/>
        </p:nvCxnSpPr>
        <p:spPr>
          <a:xfrm flipV="1">
            <a:off x="4226580" y="4867515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06" name="Connector 300205"/>
          <p:cNvCxnSpPr/>
          <p:nvPr/>
        </p:nvCxnSpPr>
        <p:spPr>
          <a:xfrm>
            <a:off x="4280306" y="4867515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07" name="Connector 300206"/>
          <p:cNvCxnSpPr/>
          <p:nvPr/>
        </p:nvCxnSpPr>
        <p:spPr>
          <a:xfrm>
            <a:off x="4270636" y="4877185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08" name="Connector 300207"/>
          <p:cNvCxnSpPr/>
          <p:nvPr/>
        </p:nvCxnSpPr>
        <p:spPr>
          <a:xfrm flipH="1">
            <a:off x="4186286" y="4921240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09" name="Connector 300208"/>
          <p:cNvCxnSpPr/>
          <p:nvPr/>
        </p:nvCxnSpPr>
        <p:spPr>
          <a:xfrm flipH="1" flipV="1">
            <a:off x="4172855" y="4948103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10" name="TextBox 300209"/>
          <p:cNvSpPr txBox="1"/>
          <p:nvPr/>
        </p:nvSpPr>
        <p:spPr>
          <a:xfrm>
            <a:off x="4288221" y="480419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300211" name="Oval 300210"/>
          <p:cNvSpPr/>
          <p:nvPr/>
        </p:nvSpPr>
        <p:spPr>
          <a:xfrm>
            <a:off x="5057293" y="4906994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212" name="Connector 300211"/>
          <p:cNvCxnSpPr/>
          <p:nvPr/>
        </p:nvCxnSpPr>
        <p:spPr>
          <a:xfrm flipV="1">
            <a:off x="5071540" y="4867515"/>
            <a:ext cx="53725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13" name="Connector 300212"/>
          <p:cNvCxnSpPr/>
          <p:nvPr/>
        </p:nvCxnSpPr>
        <p:spPr>
          <a:xfrm>
            <a:off x="5125265" y="4867515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14" name="Connector 300213"/>
          <p:cNvCxnSpPr/>
          <p:nvPr/>
        </p:nvCxnSpPr>
        <p:spPr>
          <a:xfrm flipH="1">
            <a:off x="5031245" y="4921240"/>
            <a:ext cx="40295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15" name="Connector 300214"/>
          <p:cNvCxnSpPr/>
          <p:nvPr/>
        </p:nvCxnSpPr>
        <p:spPr>
          <a:xfrm flipH="1" flipV="1">
            <a:off x="5017814" y="4948103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16" name="TextBox 300215"/>
          <p:cNvSpPr txBox="1"/>
          <p:nvPr/>
        </p:nvSpPr>
        <p:spPr>
          <a:xfrm>
            <a:off x="5133180" y="480419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300217" name="Oval 300216"/>
          <p:cNvSpPr/>
          <p:nvPr/>
        </p:nvSpPr>
        <p:spPr>
          <a:xfrm>
            <a:off x="5271830" y="4823466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218" name="Connector 300217"/>
          <p:cNvCxnSpPr/>
          <p:nvPr/>
        </p:nvCxnSpPr>
        <p:spPr>
          <a:xfrm flipV="1">
            <a:off x="5286076" y="4783986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19" name="Connector 300218"/>
          <p:cNvCxnSpPr/>
          <p:nvPr/>
        </p:nvCxnSpPr>
        <p:spPr>
          <a:xfrm>
            <a:off x="5339802" y="4783986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20" name="TextBox 300219"/>
          <p:cNvSpPr txBox="1"/>
          <p:nvPr/>
        </p:nvSpPr>
        <p:spPr>
          <a:xfrm>
            <a:off x="5347717" y="472066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300221" name="Oval 300220"/>
          <p:cNvSpPr/>
          <p:nvPr/>
        </p:nvSpPr>
        <p:spPr>
          <a:xfrm>
            <a:off x="6129099" y="5214731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222" name="Connector 300221"/>
          <p:cNvCxnSpPr/>
          <p:nvPr/>
        </p:nvCxnSpPr>
        <p:spPr>
          <a:xfrm flipV="1">
            <a:off x="6143345" y="5175251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23" name="Connector 300222"/>
          <p:cNvCxnSpPr/>
          <p:nvPr/>
        </p:nvCxnSpPr>
        <p:spPr>
          <a:xfrm>
            <a:off x="6197071" y="5175251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24" name="TextBox 300223"/>
          <p:cNvSpPr txBox="1"/>
          <p:nvPr/>
        </p:nvSpPr>
        <p:spPr>
          <a:xfrm>
            <a:off x="6204985" y="511193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300225" name="TextBox 300224"/>
          <p:cNvSpPr txBox="1"/>
          <p:nvPr/>
        </p:nvSpPr>
        <p:spPr>
          <a:xfrm>
            <a:off x="8710000" y="300000"/>
            <a:ext cx="3300000" cy="2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灯旁字母 = 控制它的开关键，见电施-16。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粗实线 = AL1 引出回路 WL4（先到开关盒）；细实线 = 同一字母灯具之间；点线 = 开关到所控灯；长虚线 = 双控联络线。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线上短斜线 = 导线根数，未标注为 3 根。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分区放大见电施-13~电施-14。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5. S# = 开关编号；MK = 门控开关。</a:t>
            </a:r>
          </a:p>
        </p:txBody>
      </p:sp>
      <p:sp>
        <p:nvSpPr>
          <p:cNvPr id="300226" name="Rectangle 300225"/>
          <p:cNvSpPr/>
          <p:nvPr/>
        </p:nvSpPr>
        <p:spPr>
          <a:xfrm>
            <a:off x="1637435" y="1806538"/>
            <a:ext cx="2716666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227" name="TextBox 300226"/>
          <p:cNvSpPr txBox="1"/>
          <p:nvPr/>
        </p:nvSpPr>
        <p:spPr>
          <a:xfrm>
            <a:off x="1677435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电施-13</a:t>
            </a:r>
          </a:p>
        </p:txBody>
      </p:sp>
      <p:sp>
        <p:nvSpPr>
          <p:cNvPr id="300228" name="Rectangle 300227"/>
          <p:cNvSpPr/>
          <p:nvPr/>
        </p:nvSpPr>
        <p:spPr>
          <a:xfrm>
            <a:off x="3643589" y="1806538"/>
            <a:ext cx="3343589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229" name="TextBox 300228"/>
          <p:cNvSpPr txBox="1"/>
          <p:nvPr/>
        </p:nvSpPr>
        <p:spPr>
          <a:xfrm>
            <a:off x="3683589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电施-14</a:t>
            </a:r>
          </a:p>
        </p:txBody>
      </p:sp>
      <p:sp>
        <p:nvSpPr>
          <p:cNvPr id="300230" name="Rectangle 300229"/>
          <p:cNvSpPr/>
          <p:nvPr/>
        </p:nvSpPr>
        <p:spPr>
          <a:xfrm>
            <a:off x="400000" y="6540000"/>
            <a:ext cx="43969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231" name="Rectangle 300230"/>
          <p:cNvSpPr/>
          <p:nvPr/>
        </p:nvSpPr>
        <p:spPr>
          <a:xfrm>
            <a:off x="839697" y="6540000"/>
            <a:ext cx="439697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232" name="Rectangle 300231"/>
          <p:cNvSpPr/>
          <p:nvPr/>
        </p:nvSpPr>
        <p:spPr>
          <a:xfrm>
            <a:off x="1279395" y="6540000"/>
            <a:ext cx="43969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233" name="TextBox 300232"/>
          <p:cNvSpPr txBox="1"/>
          <p:nvPr/>
        </p:nvSpPr>
        <p:spPr>
          <a:xfrm>
            <a:off x="17590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421468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478421" y="2972725"/>
                    </a:lnTo>
                    <a:lnTo>
                      <a:pt x="2478421" y="2972725"/>
                    </a:lnTo>
                    <a:lnTo>
                      <a:pt x="2478421" y="3021425"/>
                    </a:lnTo>
                    <a:lnTo>
                      <a:pt x="2478421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2" name="墙_V40_Wall_Bed2_North_East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147628" y="3899065"/>
                <a:ext cx="540164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0164" h="48700">
                    <a:moveTo>
                      <a:pt x="0" y="48700"/>
                    </a:moveTo>
                    <a:lnTo>
                      <a:pt x="540164" y="48700"/>
                    </a:lnTo>
                    <a:lnTo>
                      <a:pt x="540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2834852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13098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3" name="墙_V40_DoorLeaf_Bed2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114756" y="3947765"/>
                <a:ext cx="16233" cy="283271"/>
              </a:xfrm>
              <a:custGeom>
                <a:avLst/>
                <a:gdLst/>
                <a:ahLst/>
                <a:cxnLst/>
                <a:rect l="l" t="t" r="r" b="b"/>
                <a:pathLst>
                  <a:path w="16233" h="283271">
                    <a:moveTo>
                      <a:pt x="0" y="283271"/>
                    </a:moveTo>
                    <a:lnTo>
                      <a:pt x="16233" y="283271"/>
                    </a:lnTo>
                    <a:lnTo>
                      <a:pt x="162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300004" name="Rectangle 300003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5" name="Rectangle 300004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6" name="Rectangle 300005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7" name="Rectangle 300006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8" name="Rectangle 30000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9" name="TextBox 30000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二层照明平面放大图（主卧 · 盥洗室 · 西卫 · 衣帽间 · 卧室2）</a:t>
            </a:r>
          </a:p>
        </p:txBody>
      </p:sp>
      <p:sp>
        <p:nvSpPr>
          <p:cNvPr id="300010" name="Rectangle 300009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11" name="TextBox 300010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300012" name="TextBox 300011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300013" name="Connector 300012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4" name="TextBox 300013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300015" name="TextBox 300014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二层照明平面放大图（主卧 · 盥洗室 · 西卫 · 衣帽间 · 卧室2）</a:t>
            </a:r>
          </a:p>
        </p:txBody>
      </p:sp>
      <p:cxnSp>
        <p:nvCxnSpPr>
          <p:cNvPr id="300016" name="Connector 300015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7" name="TextBox 300016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300018" name="TextBox 300017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电施-13</a:t>
            </a:r>
          </a:p>
        </p:txBody>
      </p:sp>
      <p:cxnSp>
        <p:nvCxnSpPr>
          <p:cNvPr id="300019" name="Connector 300018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0" name="TextBox 300019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300021" name="TextBox 300020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300022" name="Connector 300021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3" name="TextBox 300022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300024" name="TextBox 300023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O-B 2026-10-15）</a:t>
            </a:r>
          </a:p>
        </p:txBody>
      </p:sp>
      <p:cxnSp>
        <p:nvCxnSpPr>
          <p:cNvPr id="300025" name="Connector 300024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6" name="TextBox 300025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300027" name="TextBox 300026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300028" name="Connector 300027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9" name="Connector 300028"/>
          <p:cNvCxnSpPr/>
          <p:nvPr/>
        </p:nvCxnSpPr>
        <p:spPr>
          <a:xfrm flipV="1">
            <a:off x="2694828" y="3871449"/>
            <a:ext cx="0" cy="66145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0" name="Connector 300029"/>
          <p:cNvCxnSpPr/>
          <p:nvPr/>
        </p:nvCxnSpPr>
        <p:spPr>
          <a:xfrm>
            <a:off x="2694828" y="3871449"/>
            <a:ext cx="55999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1" name="Connector 300030"/>
          <p:cNvCxnSpPr/>
          <p:nvPr/>
        </p:nvCxnSpPr>
        <p:spPr>
          <a:xfrm>
            <a:off x="3254818" y="3871449"/>
            <a:ext cx="972276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2" name="Connector 300031"/>
          <p:cNvCxnSpPr/>
          <p:nvPr/>
        </p:nvCxnSpPr>
        <p:spPr>
          <a:xfrm flipV="1">
            <a:off x="4227094" y="3286415"/>
            <a:ext cx="0" cy="5850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3" name="Connector 300032"/>
          <p:cNvCxnSpPr/>
          <p:nvPr/>
        </p:nvCxnSpPr>
        <p:spPr>
          <a:xfrm>
            <a:off x="4227094" y="3286415"/>
            <a:ext cx="109429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4" name="Connector 300033"/>
          <p:cNvCxnSpPr/>
          <p:nvPr/>
        </p:nvCxnSpPr>
        <p:spPr>
          <a:xfrm flipV="1">
            <a:off x="5321386" y="2605694"/>
            <a:ext cx="0" cy="6807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5" name="Connector 300034"/>
          <p:cNvCxnSpPr/>
          <p:nvPr/>
        </p:nvCxnSpPr>
        <p:spPr>
          <a:xfrm>
            <a:off x="4227094" y="3286415"/>
            <a:ext cx="0" cy="124648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6" name="Connector 300035"/>
          <p:cNvCxnSpPr/>
          <p:nvPr/>
        </p:nvCxnSpPr>
        <p:spPr>
          <a:xfrm>
            <a:off x="4227094" y="4532903"/>
            <a:ext cx="95686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7" name="Connector 300036"/>
          <p:cNvCxnSpPr/>
          <p:nvPr/>
        </p:nvCxnSpPr>
        <p:spPr>
          <a:xfrm>
            <a:off x="5183958" y="4532903"/>
            <a:ext cx="0" cy="1541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8" name="Connector 300037"/>
          <p:cNvCxnSpPr/>
          <p:nvPr/>
        </p:nvCxnSpPr>
        <p:spPr>
          <a:xfrm>
            <a:off x="5183958" y="4687029"/>
            <a:ext cx="6164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9" name="Connector 300038"/>
          <p:cNvCxnSpPr/>
          <p:nvPr/>
        </p:nvCxnSpPr>
        <p:spPr>
          <a:xfrm>
            <a:off x="2694828" y="4532903"/>
            <a:ext cx="0" cy="196509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0" name="Connector 300039"/>
          <p:cNvCxnSpPr/>
          <p:nvPr/>
        </p:nvCxnSpPr>
        <p:spPr>
          <a:xfrm>
            <a:off x="2694828" y="6498002"/>
            <a:ext cx="22862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1" name="Connector 300040"/>
          <p:cNvCxnSpPr/>
          <p:nvPr/>
        </p:nvCxnSpPr>
        <p:spPr>
          <a:xfrm flipH="1">
            <a:off x="5245607" y="6418000"/>
            <a:ext cx="2261738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2" name="Connector 300041"/>
          <p:cNvCxnSpPr/>
          <p:nvPr/>
        </p:nvCxnSpPr>
        <p:spPr>
          <a:xfrm flipV="1">
            <a:off x="5245607" y="4687029"/>
            <a:ext cx="0" cy="1730971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3" name="TextBox 300042"/>
          <p:cNvSpPr txBox="1"/>
          <p:nvPr/>
        </p:nvSpPr>
        <p:spPr>
          <a:xfrm>
            <a:off x="5743757" y="625903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 BV-3×2.5 PC20 WC/CC</a:t>
            </a:r>
          </a:p>
        </p:txBody>
      </p:sp>
      <p:cxnSp>
        <p:nvCxnSpPr>
          <p:cNvPr id="300044" name="Connector 300043"/>
          <p:cNvCxnSpPr/>
          <p:nvPr/>
        </p:nvCxnSpPr>
        <p:spPr>
          <a:xfrm flipV="1">
            <a:off x="2694828" y="3932660"/>
            <a:ext cx="0" cy="60024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5" name="Connector 300044"/>
          <p:cNvCxnSpPr/>
          <p:nvPr/>
        </p:nvCxnSpPr>
        <p:spPr>
          <a:xfrm>
            <a:off x="2694828" y="3932660"/>
            <a:ext cx="30779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6" name="Connector 300045"/>
          <p:cNvCxnSpPr/>
          <p:nvPr/>
        </p:nvCxnSpPr>
        <p:spPr>
          <a:xfrm>
            <a:off x="3254818" y="3871449"/>
            <a:ext cx="36540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7" name="Connector 300046"/>
          <p:cNvCxnSpPr/>
          <p:nvPr/>
        </p:nvCxnSpPr>
        <p:spPr>
          <a:xfrm>
            <a:off x="3620224" y="3871449"/>
            <a:ext cx="0" cy="30439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8" name="Connector 300047"/>
          <p:cNvCxnSpPr/>
          <p:nvPr/>
        </p:nvCxnSpPr>
        <p:spPr>
          <a:xfrm flipV="1">
            <a:off x="4227094" y="1849197"/>
            <a:ext cx="0" cy="143721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9" name="Connector 300048"/>
          <p:cNvCxnSpPr/>
          <p:nvPr/>
        </p:nvCxnSpPr>
        <p:spPr>
          <a:xfrm>
            <a:off x="4227094" y="1849197"/>
            <a:ext cx="18109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0" name="Connector 300049"/>
          <p:cNvCxnSpPr/>
          <p:nvPr/>
        </p:nvCxnSpPr>
        <p:spPr>
          <a:xfrm flipH="1">
            <a:off x="4408192" y="2605694"/>
            <a:ext cx="91319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1" name="Connector 300050"/>
          <p:cNvCxnSpPr/>
          <p:nvPr/>
        </p:nvCxnSpPr>
        <p:spPr>
          <a:xfrm flipV="1">
            <a:off x="4408192" y="1849197"/>
            <a:ext cx="0" cy="75649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2" name="Connector 300051"/>
          <p:cNvCxnSpPr/>
          <p:nvPr/>
        </p:nvCxnSpPr>
        <p:spPr>
          <a:xfrm>
            <a:off x="5321386" y="2605694"/>
            <a:ext cx="77383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3" name="Connector 300052"/>
          <p:cNvCxnSpPr/>
          <p:nvPr/>
        </p:nvCxnSpPr>
        <p:spPr>
          <a:xfrm flipV="1">
            <a:off x="6095225" y="1817087"/>
            <a:ext cx="0" cy="78860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4" name="Connector 300053"/>
          <p:cNvCxnSpPr/>
          <p:nvPr/>
        </p:nvCxnSpPr>
        <p:spPr>
          <a:xfrm flipV="1">
            <a:off x="5183958" y="3974842"/>
            <a:ext cx="0" cy="55806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5" name="Connector 300054"/>
          <p:cNvCxnSpPr/>
          <p:nvPr/>
        </p:nvCxnSpPr>
        <p:spPr>
          <a:xfrm flipH="1">
            <a:off x="4817267" y="3974842"/>
            <a:ext cx="36669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6" name="Connector 300055"/>
          <p:cNvCxnSpPr/>
          <p:nvPr/>
        </p:nvCxnSpPr>
        <p:spPr>
          <a:xfrm>
            <a:off x="2923448" y="6498002"/>
            <a:ext cx="75778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7" name="Connector 300056"/>
          <p:cNvCxnSpPr/>
          <p:nvPr/>
        </p:nvCxnSpPr>
        <p:spPr>
          <a:xfrm flipV="1">
            <a:off x="3681232" y="5252156"/>
            <a:ext cx="0" cy="124584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8" name="Connector 300057"/>
          <p:cNvCxnSpPr/>
          <p:nvPr/>
        </p:nvCxnSpPr>
        <p:spPr>
          <a:xfrm>
            <a:off x="2923448" y="6498002"/>
            <a:ext cx="188759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9" name="Connector 300058"/>
          <p:cNvCxnSpPr/>
          <p:nvPr/>
        </p:nvCxnSpPr>
        <p:spPr>
          <a:xfrm flipV="1">
            <a:off x="4811039" y="5754065"/>
            <a:ext cx="0" cy="74393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0" name="Connector 300059"/>
          <p:cNvCxnSpPr/>
          <p:nvPr/>
        </p:nvCxnSpPr>
        <p:spPr>
          <a:xfrm flipH="1">
            <a:off x="3681232" y="4687029"/>
            <a:ext cx="156437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1" name="Connector 300060"/>
          <p:cNvCxnSpPr/>
          <p:nvPr/>
        </p:nvCxnSpPr>
        <p:spPr>
          <a:xfrm>
            <a:off x="3681232" y="4687029"/>
            <a:ext cx="0" cy="56512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2" name="Connector 300061"/>
          <p:cNvCxnSpPr/>
          <p:nvPr/>
        </p:nvCxnSpPr>
        <p:spPr>
          <a:xfrm>
            <a:off x="5245607" y="4687029"/>
            <a:ext cx="0" cy="106703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3" name="Connector 300062"/>
          <p:cNvCxnSpPr/>
          <p:nvPr/>
        </p:nvCxnSpPr>
        <p:spPr>
          <a:xfrm flipH="1">
            <a:off x="4811039" y="5754065"/>
            <a:ext cx="43456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4" name="Connector 300063"/>
          <p:cNvCxnSpPr/>
          <p:nvPr/>
        </p:nvCxnSpPr>
        <p:spPr>
          <a:xfrm flipV="1">
            <a:off x="4227094" y="2605694"/>
            <a:ext cx="1094292" cy="680721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5" name="Connector 300064"/>
          <p:cNvCxnSpPr/>
          <p:nvPr/>
        </p:nvCxnSpPr>
        <p:spPr>
          <a:xfrm flipV="1">
            <a:off x="2923448" y="4687029"/>
            <a:ext cx="2322159" cy="1810973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6" name="Connector 300065"/>
          <p:cNvCxnSpPr/>
          <p:nvPr/>
        </p:nvCxnSpPr>
        <p:spPr>
          <a:xfrm flipV="1">
            <a:off x="4040009" y="5578307"/>
            <a:ext cx="11038" cy="892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7" name="Connector 300066"/>
          <p:cNvCxnSpPr/>
          <p:nvPr/>
        </p:nvCxnSpPr>
        <p:spPr>
          <a:xfrm flipV="1">
            <a:off x="4059509" y="5563100"/>
            <a:ext cx="11038" cy="892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8" name="Connector 300067"/>
          <p:cNvCxnSpPr/>
          <p:nvPr/>
        </p:nvCxnSpPr>
        <p:spPr>
          <a:xfrm flipV="1">
            <a:off x="4079009" y="5547892"/>
            <a:ext cx="11038" cy="892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9" name="Connector 300068"/>
          <p:cNvCxnSpPr/>
          <p:nvPr/>
        </p:nvCxnSpPr>
        <p:spPr>
          <a:xfrm flipV="1">
            <a:off x="4098508" y="5532685"/>
            <a:ext cx="11038" cy="892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0" name="Connector 300069"/>
          <p:cNvCxnSpPr/>
          <p:nvPr/>
        </p:nvCxnSpPr>
        <p:spPr>
          <a:xfrm flipV="1">
            <a:off x="4118008" y="5517478"/>
            <a:ext cx="11038" cy="892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1" name="Oval 300070"/>
          <p:cNvSpPr/>
          <p:nvPr/>
        </p:nvSpPr>
        <p:spPr>
          <a:xfrm>
            <a:off x="7493214" y="6361477"/>
            <a:ext cx="113044" cy="1130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2" name="Connector 300071"/>
          <p:cNvCxnSpPr/>
          <p:nvPr/>
        </p:nvCxnSpPr>
        <p:spPr>
          <a:xfrm flipV="1">
            <a:off x="7510877" y="6379141"/>
            <a:ext cx="77718" cy="777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3" name="TextBox 300072"/>
          <p:cNvSpPr txBox="1"/>
          <p:nvPr/>
        </p:nvSpPr>
        <p:spPr>
          <a:xfrm>
            <a:off x="5079084" y="6488652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由一层 AL1 沿楼梯井引上</a:t>
            </a:r>
          </a:p>
        </p:txBody>
      </p:sp>
      <p:sp>
        <p:nvSpPr>
          <p:cNvPr id="300074" name="Oval 300073"/>
          <p:cNvSpPr/>
          <p:nvPr/>
        </p:nvSpPr>
        <p:spPr>
          <a:xfrm>
            <a:off x="4323409" y="176441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5" name="Connector 300074"/>
          <p:cNvCxnSpPr/>
          <p:nvPr/>
        </p:nvCxnSpPr>
        <p:spPr>
          <a:xfrm>
            <a:off x="4348250" y="1789255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6" name="Connector 300075"/>
          <p:cNvCxnSpPr/>
          <p:nvPr/>
        </p:nvCxnSpPr>
        <p:spPr>
          <a:xfrm flipV="1">
            <a:off x="4348250" y="1789255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7" name="TextBox 300076"/>
          <p:cNvSpPr txBox="1"/>
          <p:nvPr/>
        </p:nvSpPr>
        <p:spPr>
          <a:xfrm>
            <a:off x="4485910" y="1686696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300078" name="Oval 300077"/>
          <p:cNvSpPr/>
          <p:nvPr/>
        </p:nvSpPr>
        <p:spPr>
          <a:xfrm>
            <a:off x="3596449" y="5167372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9" name="Connector 300078"/>
          <p:cNvCxnSpPr/>
          <p:nvPr/>
        </p:nvCxnSpPr>
        <p:spPr>
          <a:xfrm>
            <a:off x="3621290" y="5192214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0" name="Connector 300079"/>
          <p:cNvCxnSpPr/>
          <p:nvPr/>
        </p:nvCxnSpPr>
        <p:spPr>
          <a:xfrm flipV="1">
            <a:off x="3621290" y="5192214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1" name="TextBox 300080"/>
          <p:cNvSpPr txBox="1"/>
          <p:nvPr/>
        </p:nvSpPr>
        <p:spPr>
          <a:xfrm>
            <a:off x="3758950" y="508965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300082" name="Oval 300081"/>
          <p:cNvSpPr/>
          <p:nvPr/>
        </p:nvSpPr>
        <p:spPr>
          <a:xfrm>
            <a:off x="2946100" y="387613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3" name="Oval 300082"/>
          <p:cNvSpPr/>
          <p:nvPr/>
        </p:nvSpPr>
        <p:spPr>
          <a:xfrm>
            <a:off x="2984959" y="391499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4" name="TextBox 300083"/>
          <p:cNvSpPr txBox="1"/>
          <p:nvPr/>
        </p:nvSpPr>
        <p:spPr>
          <a:xfrm>
            <a:off x="3080340" y="377015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300085" name="Oval 300084"/>
          <p:cNvSpPr/>
          <p:nvPr/>
        </p:nvSpPr>
        <p:spPr>
          <a:xfrm>
            <a:off x="4754517" y="5697543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6" name="Oval 300085"/>
          <p:cNvSpPr/>
          <p:nvPr/>
        </p:nvSpPr>
        <p:spPr>
          <a:xfrm>
            <a:off x="4793376" y="5736402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7" name="TextBox 300086"/>
          <p:cNvSpPr txBox="1"/>
          <p:nvPr/>
        </p:nvSpPr>
        <p:spPr>
          <a:xfrm>
            <a:off x="4888757" y="5591564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300088" name="Oval 300087"/>
          <p:cNvSpPr/>
          <p:nvPr/>
        </p:nvSpPr>
        <p:spPr>
          <a:xfrm>
            <a:off x="6010442" y="1732304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9" name="Connector 300088"/>
          <p:cNvCxnSpPr/>
          <p:nvPr/>
        </p:nvCxnSpPr>
        <p:spPr>
          <a:xfrm>
            <a:off x="6035284" y="175714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0" name="Connector 300089"/>
          <p:cNvCxnSpPr/>
          <p:nvPr/>
        </p:nvCxnSpPr>
        <p:spPr>
          <a:xfrm flipV="1">
            <a:off x="6035284" y="175714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1" name="TextBox 300090"/>
          <p:cNvSpPr txBox="1"/>
          <p:nvPr/>
        </p:nvSpPr>
        <p:spPr>
          <a:xfrm>
            <a:off x="6172943" y="1654586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300092" name="Oval 300091"/>
          <p:cNvSpPr/>
          <p:nvPr/>
        </p:nvSpPr>
        <p:spPr>
          <a:xfrm>
            <a:off x="3563702" y="41193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3" name="Oval 300092"/>
          <p:cNvSpPr/>
          <p:nvPr/>
        </p:nvSpPr>
        <p:spPr>
          <a:xfrm>
            <a:off x="3602561" y="4158183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4" name="TextBox 300093"/>
          <p:cNvSpPr txBox="1"/>
          <p:nvPr/>
        </p:nvSpPr>
        <p:spPr>
          <a:xfrm>
            <a:off x="3697942" y="4013346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300095" name="Oval 300094"/>
          <p:cNvSpPr/>
          <p:nvPr/>
        </p:nvSpPr>
        <p:spPr>
          <a:xfrm>
            <a:off x="4767810" y="3925385"/>
            <a:ext cx="98913" cy="9891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4789005" y="3943048"/>
            <a:ext cx="56523" cy="52989"/>
          </a:xfrm>
          <a:custGeom>
            <a:avLst/>
            <a:gdLst/>
            <a:ahLst/>
            <a:cxnLst/>
            <a:rect l="l" t="t" r="r" b="b"/>
            <a:pathLst>
              <a:path w="56523" h="52989">
                <a:moveTo>
                  <a:pt x="28262" y="0"/>
                </a:moveTo>
                <a:lnTo>
                  <a:pt x="0" y="52989"/>
                </a:lnTo>
                <a:lnTo>
                  <a:pt x="56523" y="52989"/>
                </a:lnTo>
                <a:lnTo>
                  <a:pt x="28262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6" name="TextBox 300095"/>
          <p:cNvSpPr txBox="1"/>
          <p:nvPr/>
        </p:nvSpPr>
        <p:spPr>
          <a:xfrm>
            <a:off x="4894984" y="3812341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300097" name="Oval 300096"/>
          <p:cNvSpPr/>
          <p:nvPr/>
        </p:nvSpPr>
        <p:spPr>
          <a:xfrm>
            <a:off x="2669393" y="4507468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8" name="Connector 300097"/>
          <p:cNvCxnSpPr/>
          <p:nvPr/>
        </p:nvCxnSpPr>
        <p:spPr>
          <a:xfrm flipV="1">
            <a:off x="2694828" y="4436982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9" name="Connector 300098"/>
          <p:cNvCxnSpPr/>
          <p:nvPr/>
        </p:nvCxnSpPr>
        <p:spPr>
          <a:xfrm>
            <a:off x="2790749" y="4436982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0" name="TextBox 300099"/>
          <p:cNvSpPr txBox="1"/>
          <p:nvPr/>
        </p:nvSpPr>
        <p:spPr>
          <a:xfrm>
            <a:off x="2804880" y="432393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300101" name="Oval 300100"/>
          <p:cNvSpPr/>
          <p:nvPr/>
        </p:nvSpPr>
        <p:spPr>
          <a:xfrm>
            <a:off x="3229383" y="384601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2" name="Connector 300101"/>
          <p:cNvCxnSpPr/>
          <p:nvPr/>
        </p:nvCxnSpPr>
        <p:spPr>
          <a:xfrm flipV="1">
            <a:off x="3254818" y="3775528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3" name="Connector 300102"/>
          <p:cNvCxnSpPr/>
          <p:nvPr/>
        </p:nvCxnSpPr>
        <p:spPr>
          <a:xfrm>
            <a:off x="3350739" y="3775528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4" name="TextBox 300103"/>
          <p:cNvSpPr txBox="1"/>
          <p:nvPr/>
        </p:nvSpPr>
        <p:spPr>
          <a:xfrm>
            <a:off x="3364870" y="366248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300105" name="Oval 300104"/>
          <p:cNvSpPr/>
          <p:nvPr/>
        </p:nvSpPr>
        <p:spPr>
          <a:xfrm>
            <a:off x="4201659" y="3260980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6" name="Connector 300105"/>
          <p:cNvCxnSpPr/>
          <p:nvPr/>
        </p:nvCxnSpPr>
        <p:spPr>
          <a:xfrm flipV="1">
            <a:off x="4227094" y="3190494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7" name="Connector 300106"/>
          <p:cNvCxnSpPr/>
          <p:nvPr/>
        </p:nvCxnSpPr>
        <p:spPr>
          <a:xfrm>
            <a:off x="4323015" y="3190494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8" name="Connector 300107"/>
          <p:cNvCxnSpPr/>
          <p:nvPr/>
        </p:nvCxnSpPr>
        <p:spPr>
          <a:xfrm flipH="1">
            <a:off x="4155153" y="3286415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9" name="Connector 300108"/>
          <p:cNvCxnSpPr/>
          <p:nvPr/>
        </p:nvCxnSpPr>
        <p:spPr>
          <a:xfrm flipH="1" flipV="1">
            <a:off x="4131173" y="3334376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0" name="TextBox 300109"/>
          <p:cNvSpPr txBox="1"/>
          <p:nvPr/>
        </p:nvSpPr>
        <p:spPr>
          <a:xfrm>
            <a:off x="4337146" y="307745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300111" name="Oval 300110"/>
          <p:cNvSpPr/>
          <p:nvPr/>
        </p:nvSpPr>
        <p:spPr>
          <a:xfrm>
            <a:off x="5295951" y="2580259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2" name="Connector 300111"/>
          <p:cNvCxnSpPr/>
          <p:nvPr/>
        </p:nvCxnSpPr>
        <p:spPr>
          <a:xfrm flipV="1">
            <a:off x="5321386" y="2509773"/>
            <a:ext cx="95922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3" name="Connector 300112"/>
          <p:cNvCxnSpPr/>
          <p:nvPr/>
        </p:nvCxnSpPr>
        <p:spPr>
          <a:xfrm>
            <a:off x="5417308" y="2509773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4" name="Connector 300113"/>
          <p:cNvCxnSpPr/>
          <p:nvPr/>
        </p:nvCxnSpPr>
        <p:spPr>
          <a:xfrm>
            <a:off x="5400042" y="2527039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5" name="Connector 300114"/>
          <p:cNvCxnSpPr/>
          <p:nvPr/>
        </p:nvCxnSpPr>
        <p:spPr>
          <a:xfrm flipH="1">
            <a:off x="5249446" y="2605694"/>
            <a:ext cx="71940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6" name="Connector 300115"/>
          <p:cNvCxnSpPr/>
          <p:nvPr/>
        </p:nvCxnSpPr>
        <p:spPr>
          <a:xfrm flipH="1" flipV="1">
            <a:off x="5225465" y="2653655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7" name="TextBox 300116"/>
          <p:cNvSpPr txBox="1"/>
          <p:nvPr/>
        </p:nvSpPr>
        <p:spPr>
          <a:xfrm>
            <a:off x="5431438" y="239672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300118" name="Oval 300117"/>
          <p:cNvSpPr/>
          <p:nvPr/>
        </p:nvSpPr>
        <p:spPr>
          <a:xfrm>
            <a:off x="5158523" y="4507468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9" name="Connector 300118"/>
          <p:cNvCxnSpPr/>
          <p:nvPr/>
        </p:nvCxnSpPr>
        <p:spPr>
          <a:xfrm flipV="1">
            <a:off x="5183958" y="4436982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0" name="Connector 300119"/>
          <p:cNvCxnSpPr/>
          <p:nvPr/>
        </p:nvCxnSpPr>
        <p:spPr>
          <a:xfrm>
            <a:off x="5279879" y="4436982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1" name="TextBox 300120"/>
          <p:cNvSpPr txBox="1"/>
          <p:nvPr/>
        </p:nvSpPr>
        <p:spPr>
          <a:xfrm>
            <a:off x="5294010" y="432393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300122" name="Oval 300121"/>
          <p:cNvSpPr/>
          <p:nvPr/>
        </p:nvSpPr>
        <p:spPr>
          <a:xfrm>
            <a:off x="2898013" y="6472567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3" name="Connector 300122"/>
          <p:cNvCxnSpPr/>
          <p:nvPr/>
        </p:nvCxnSpPr>
        <p:spPr>
          <a:xfrm flipV="1">
            <a:off x="2923448" y="6402081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4" name="Connector 300123"/>
          <p:cNvCxnSpPr/>
          <p:nvPr/>
        </p:nvCxnSpPr>
        <p:spPr>
          <a:xfrm>
            <a:off x="3019369" y="6402081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5" name="Connector 300124"/>
          <p:cNvCxnSpPr/>
          <p:nvPr/>
        </p:nvCxnSpPr>
        <p:spPr>
          <a:xfrm>
            <a:off x="3002104" y="6419347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6" name="Connector 300125"/>
          <p:cNvCxnSpPr/>
          <p:nvPr/>
        </p:nvCxnSpPr>
        <p:spPr>
          <a:xfrm flipH="1">
            <a:off x="2851507" y="6498002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7" name="Connector 300126"/>
          <p:cNvCxnSpPr/>
          <p:nvPr/>
        </p:nvCxnSpPr>
        <p:spPr>
          <a:xfrm flipH="1" flipV="1">
            <a:off x="2827527" y="6545962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8" name="TextBox 300127"/>
          <p:cNvSpPr txBox="1"/>
          <p:nvPr/>
        </p:nvSpPr>
        <p:spPr>
          <a:xfrm>
            <a:off x="3033500" y="628903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300129" name="Oval 300128"/>
          <p:cNvSpPr/>
          <p:nvPr/>
        </p:nvSpPr>
        <p:spPr>
          <a:xfrm>
            <a:off x="5220172" y="466159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30" name="Connector 300129"/>
          <p:cNvCxnSpPr/>
          <p:nvPr/>
        </p:nvCxnSpPr>
        <p:spPr>
          <a:xfrm flipV="1">
            <a:off x="5245607" y="4591108"/>
            <a:ext cx="95922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1" name="Connector 300130"/>
          <p:cNvCxnSpPr/>
          <p:nvPr/>
        </p:nvCxnSpPr>
        <p:spPr>
          <a:xfrm>
            <a:off x="5341529" y="4591108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2" name="Connector 300131"/>
          <p:cNvCxnSpPr/>
          <p:nvPr/>
        </p:nvCxnSpPr>
        <p:spPr>
          <a:xfrm>
            <a:off x="5324263" y="4608374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3" name="Connector 300132"/>
          <p:cNvCxnSpPr/>
          <p:nvPr/>
        </p:nvCxnSpPr>
        <p:spPr>
          <a:xfrm flipH="1">
            <a:off x="5173667" y="4687029"/>
            <a:ext cx="71940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4" name="Connector 300133"/>
          <p:cNvCxnSpPr/>
          <p:nvPr/>
        </p:nvCxnSpPr>
        <p:spPr>
          <a:xfrm flipH="1" flipV="1">
            <a:off x="5149686" y="4734990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35" name="TextBox 300134"/>
          <p:cNvSpPr txBox="1"/>
          <p:nvPr/>
        </p:nvSpPr>
        <p:spPr>
          <a:xfrm>
            <a:off x="5355659" y="447806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300136" name="TextBox 300135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300137" name="TextBox 300136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盥洗室入口墙垛正中（一门两用旁）</a:t>
            </a:r>
          </a:p>
        </p:txBody>
      </p:sp>
      <p:sp>
        <p:nvSpPr>
          <p:cNvPr id="300138" name="TextBox 300137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</a:t>
            </a:r>
          </a:p>
        </p:txBody>
      </p:sp>
      <p:sp>
        <p:nvSpPr>
          <p:cNvPr id="300139" name="TextBox 300138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西卫生间隔墙端头旁</a:t>
            </a:r>
          </a:p>
        </p:txBody>
      </p:sp>
      <p:sp>
        <p:nvSpPr>
          <p:cNvPr id="300140" name="TextBox 300139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键1=h</a:t>
            </a:r>
          </a:p>
        </p:txBody>
      </p:sp>
      <p:sp>
        <p:nvSpPr>
          <p:cNvPr id="300141" name="TextBox 300140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主卧床头板正中上方（h1360，与门口 S4 双控）</a:t>
            </a:r>
          </a:p>
        </p:txBody>
      </p:sp>
      <p:sp>
        <p:nvSpPr>
          <p:cNvPr id="300142" name="TextBox 300141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</a:t>
            </a:r>
          </a:p>
        </p:txBody>
      </p:sp>
      <p:sp>
        <p:nvSpPr>
          <p:cNvPr id="300143" name="TextBox 300142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主卧门旁 · F 墙转角（离墙端 150）</a:t>
            </a:r>
          </a:p>
        </p:txBody>
      </p:sp>
      <p:sp>
        <p:nvSpPr>
          <p:cNvPr id="300144" name="TextBox 300143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300145" name="TextBox 300144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衣帽间洞口旁 400 墙段正中</a:t>
            </a:r>
          </a:p>
        </p:txBody>
      </p:sp>
      <p:sp>
        <p:nvSpPr>
          <p:cNvPr id="300146" name="TextBox 300145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</a:t>
            </a:r>
          </a:p>
        </p:txBody>
      </p:sp>
      <p:sp>
        <p:nvSpPr>
          <p:cNvPr id="300147" name="TextBox 300146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卧室2 床头（C04 正上方，h850）</a:t>
            </a:r>
          </a:p>
        </p:txBody>
      </p:sp>
      <p:sp>
        <p:nvSpPr>
          <p:cNvPr id="300148" name="TextBox 300147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300149" name="TextBox 300148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卧室2 门旁（门西侧短墙，卧室2 一侧，锁侧）</a:t>
            </a:r>
          </a:p>
        </p:txBody>
      </p:sp>
      <p:sp>
        <p:nvSpPr>
          <p:cNvPr id="300150" name="TextBox 300149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300151" name="Rectangle 300150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2" name="Rectangle 300151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3" name="TextBox 300152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3047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478421" y="2972725"/>
                    </a:lnTo>
                    <a:lnTo>
                      <a:pt x="2478421" y="2972725"/>
                    </a:lnTo>
                    <a:lnTo>
                      <a:pt x="2478421" y="3021425"/>
                    </a:lnTo>
                    <a:lnTo>
                      <a:pt x="2478421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2" name="墙_V40_Wall_Bed2_North_East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147628" y="3899065"/>
                <a:ext cx="540164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0164" h="48700">
                    <a:moveTo>
                      <a:pt x="0" y="48700"/>
                    </a:moveTo>
                    <a:lnTo>
                      <a:pt x="540164" y="48700"/>
                    </a:lnTo>
                    <a:lnTo>
                      <a:pt x="540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2834852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13098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3" name="墙_V40_DoorLeaf_Bed2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114756" y="3947765"/>
                <a:ext cx="16233" cy="283271"/>
              </a:xfrm>
              <a:custGeom>
                <a:avLst/>
                <a:gdLst/>
                <a:ahLst/>
                <a:cxnLst/>
                <a:rect l="l" t="t" r="r" b="b"/>
                <a:pathLst>
                  <a:path w="16233" h="283271">
                    <a:moveTo>
                      <a:pt x="0" y="283271"/>
                    </a:moveTo>
                    <a:lnTo>
                      <a:pt x="16233" y="283271"/>
                    </a:lnTo>
                    <a:lnTo>
                      <a:pt x="162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300004" name="Rectangle 300003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5" name="Rectangle 300004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6" name="Rectangle 300005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7" name="Rectangle 300006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8" name="Rectangle 30000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9" name="TextBox 30000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二层照明平面放大图（走廊 · 北卫 · 卧室3 · 楼梯 · 卧室 4 · 后卫）</a:t>
            </a:r>
          </a:p>
        </p:txBody>
      </p:sp>
      <p:sp>
        <p:nvSpPr>
          <p:cNvPr id="300010" name="Rectangle 300009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11" name="TextBox 300010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300012" name="TextBox 300011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300013" name="Connector 300012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4" name="TextBox 300013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300015" name="TextBox 300014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二层照明平面放大图（走廊 · 北卫 · 卧室3 · 楼梯 · 卧室 4 · 后卫）</a:t>
            </a:r>
          </a:p>
        </p:txBody>
      </p:sp>
      <p:cxnSp>
        <p:nvCxnSpPr>
          <p:cNvPr id="300016" name="Connector 300015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7" name="TextBox 300016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300018" name="TextBox 300017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电施-14</a:t>
            </a:r>
          </a:p>
        </p:txBody>
      </p:sp>
      <p:cxnSp>
        <p:nvCxnSpPr>
          <p:cNvPr id="300019" name="Connector 300018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0" name="TextBox 300019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300021" name="TextBox 300020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300022" name="Connector 300021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3" name="TextBox 300022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300024" name="TextBox 300023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O-B 2026-10-15）</a:t>
            </a:r>
          </a:p>
        </p:txBody>
      </p:sp>
      <p:cxnSp>
        <p:nvCxnSpPr>
          <p:cNvPr id="300025" name="Connector 300024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6" name="TextBox 300025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300027" name="TextBox 300026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300028" name="Connector 300027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9" name="Connector 300028"/>
          <p:cNvCxnSpPr/>
          <p:nvPr/>
        </p:nvCxnSpPr>
        <p:spPr>
          <a:xfrm flipV="1">
            <a:off x="2303509" y="3676224"/>
            <a:ext cx="0" cy="135116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0" name="Connector 300029"/>
          <p:cNvCxnSpPr/>
          <p:nvPr/>
        </p:nvCxnSpPr>
        <p:spPr>
          <a:xfrm flipH="1">
            <a:off x="2284243" y="3676224"/>
            <a:ext cx="1926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1" name="Connector 300030"/>
          <p:cNvCxnSpPr/>
          <p:nvPr/>
        </p:nvCxnSpPr>
        <p:spPr>
          <a:xfrm>
            <a:off x="2598274" y="3454026"/>
            <a:ext cx="0" cy="4852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2" name="Connector 300031"/>
          <p:cNvCxnSpPr/>
          <p:nvPr/>
        </p:nvCxnSpPr>
        <p:spPr>
          <a:xfrm>
            <a:off x="2598274" y="3939265"/>
            <a:ext cx="14661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3" name="Connector 300032"/>
          <p:cNvCxnSpPr/>
          <p:nvPr/>
        </p:nvCxnSpPr>
        <p:spPr>
          <a:xfrm>
            <a:off x="2744886" y="3939265"/>
            <a:ext cx="0" cy="14605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4" name="Connector 300033"/>
          <p:cNvCxnSpPr/>
          <p:nvPr/>
        </p:nvCxnSpPr>
        <p:spPr>
          <a:xfrm>
            <a:off x="2744886" y="5399859"/>
            <a:ext cx="3962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5" name="Connector 300034"/>
          <p:cNvCxnSpPr/>
          <p:nvPr/>
        </p:nvCxnSpPr>
        <p:spPr>
          <a:xfrm>
            <a:off x="2784509" y="5399859"/>
            <a:ext cx="123429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6" name="Connector 300035"/>
          <p:cNvCxnSpPr/>
          <p:nvPr/>
        </p:nvCxnSpPr>
        <p:spPr>
          <a:xfrm>
            <a:off x="4018799" y="5399859"/>
            <a:ext cx="31338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7" name="Connector 300036"/>
          <p:cNvCxnSpPr/>
          <p:nvPr/>
        </p:nvCxnSpPr>
        <p:spPr>
          <a:xfrm flipV="1">
            <a:off x="4332188" y="5277843"/>
            <a:ext cx="0" cy="1220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8" name="Connector 300037"/>
          <p:cNvCxnSpPr/>
          <p:nvPr/>
        </p:nvCxnSpPr>
        <p:spPr>
          <a:xfrm>
            <a:off x="4332188" y="5277843"/>
            <a:ext cx="125227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9" name="Connector 300038"/>
          <p:cNvCxnSpPr/>
          <p:nvPr/>
        </p:nvCxnSpPr>
        <p:spPr>
          <a:xfrm>
            <a:off x="5584459" y="5277843"/>
            <a:ext cx="0" cy="57154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0" name="Connector 300039"/>
          <p:cNvCxnSpPr/>
          <p:nvPr/>
        </p:nvCxnSpPr>
        <p:spPr>
          <a:xfrm flipV="1">
            <a:off x="2598274" y="1995616"/>
            <a:ext cx="0" cy="145841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1" name="Connector 300040"/>
          <p:cNvCxnSpPr/>
          <p:nvPr/>
        </p:nvCxnSpPr>
        <p:spPr>
          <a:xfrm>
            <a:off x="2598274" y="1995616"/>
            <a:ext cx="76035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2" name="Connector 300041"/>
          <p:cNvCxnSpPr/>
          <p:nvPr/>
        </p:nvCxnSpPr>
        <p:spPr>
          <a:xfrm flipV="1">
            <a:off x="4118924" y="5399859"/>
            <a:ext cx="0" cy="1018141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3" name="Connector 300042"/>
          <p:cNvCxnSpPr/>
          <p:nvPr/>
        </p:nvCxnSpPr>
        <p:spPr>
          <a:xfrm flipH="1">
            <a:off x="4018799" y="5399859"/>
            <a:ext cx="100125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4" name="TextBox 300043"/>
          <p:cNvSpPr txBox="1"/>
          <p:nvPr/>
        </p:nvSpPr>
        <p:spPr>
          <a:xfrm>
            <a:off x="2355336" y="625903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 BV-3×2.5 PC20 WC/CC</a:t>
            </a:r>
          </a:p>
        </p:txBody>
      </p:sp>
      <p:cxnSp>
        <p:nvCxnSpPr>
          <p:cNvPr id="300045" name="Connector 300044"/>
          <p:cNvCxnSpPr/>
          <p:nvPr/>
        </p:nvCxnSpPr>
        <p:spPr>
          <a:xfrm flipH="1">
            <a:off x="2284243" y="3454026"/>
            <a:ext cx="31403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6" name="Connector 300045"/>
          <p:cNvCxnSpPr/>
          <p:nvPr/>
        </p:nvCxnSpPr>
        <p:spPr>
          <a:xfrm>
            <a:off x="2284243" y="3454026"/>
            <a:ext cx="0" cy="22219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7" name="Connector 300046"/>
          <p:cNvCxnSpPr/>
          <p:nvPr/>
        </p:nvCxnSpPr>
        <p:spPr>
          <a:xfrm>
            <a:off x="3358627" y="1995616"/>
            <a:ext cx="43026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8" name="Connector 300047"/>
          <p:cNvCxnSpPr/>
          <p:nvPr/>
        </p:nvCxnSpPr>
        <p:spPr>
          <a:xfrm>
            <a:off x="3788895" y="1995616"/>
            <a:ext cx="0" cy="46879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9" name="Connector 300048"/>
          <p:cNvCxnSpPr/>
          <p:nvPr/>
        </p:nvCxnSpPr>
        <p:spPr>
          <a:xfrm>
            <a:off x="2744886" y="3939265"/>
            <a:ext cx="71777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0" name="Connector 300049"/>
          <p:cNvCxnSpPr/>
          <p:nvPr/>
        </p:nvCxnSpPr>
        <p:spPr>
          <a:xfrm>
            <a:off x="3462663" y="3939265"/>
            <a:ext cx="0" cy="40419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1" name="Connector 300050"/>
          <p:cNvCxnSpPr/>
          <p:nvPr/>
        </p:nvCxnSpPr>
        <p:spPr>
          <a:xfrm flipH="1">
            <a:off x="2303509" y="5399859"/>
            <a:ext cx="48100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2" name="Connector 300051"/>
          <p:cNvCxnSpPr/>
          <p:nvPr/>
        </p:nvCxnSpPr>
        <p:spPr>
          <a:xfrm flipV="1">
            <a:off x="2303509" y="5027390"/>
            <a:ext cx="0" cy="37246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3" name="Connector 300052"/>
          <p:cNvCxnSpPr/>
          <p:nvPr/>
        </p:nvCxnSpPr>
        <p:spPr>
          <a:xfrm>
            <a:off x="2784509" y="5399859"/>
            <a:ext cx="110199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4" name="Connector 300053"/>
          <p:cNvCxnSpPr/>
          <p:nvPr/>
        </p:nvCxnSpPr>
        <p:spPr>
          <a:xfrm>
            <a:off x="3886507" y="5399859"/>
            <a:ext cx="0" cy="75778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5" name="Connector 300054"/>
          <p:cNvCxnSpPr/>
          <p:nvPr/>
        </p:nvCxnSpPr>
        <p:spPr>
          <a:xfrm>
            <a:off x="4018799" y="5399859"/>
            <a:ext cx="0" cy="75778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6" name="Connector 300055"/>
          <p:cNvCxnSpPr/>
          <p:nvPr/>
        </p:nvCxnSpPr>
        <p:spPr>
          <a:xfrm flipH="1">
            <a:off x="3886507" y="6157641"/>
            <a:ext cx="13229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7" name="Connector 300056"/>
          <p:cNvCxnSpPr/>
          <p:nvPr/>
        </p:nvCxnSpPr>
        <p:spPr>
          <a:xfrm flipV="1">
            <a:off x="4332188" y="5221973"/>
            <a:ext cx="0" cy="5587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8" name="Connector 300057"/>
          <p:cNvCxnSpPr/>
          <p:nvPr/>
        </p:nvCxnSpPr>
        <p:spPr>
          <a:xfrm>
            <a:off x="4332188" y="5221973"/>
            <a:ext cx="104933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9" name="Connector 300058"/>
          <p:cNvCxnSpPr/>
          <p:nvPr/>
        </p:nvCxnSpPr>
        <p:spPr>
          <a:xfrm>
            <a:off x="5584459" y="5849391"/>
            <a:ext cx="10981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0" name="Connector 300059"/>
          <p:cNvCxnSpPr/>
          <p:nvPr/>
        </p:nvCxnSpPr>
        <p:spPr>
          <a:xfrm>
            <a:off x="5694273" y="5849391"/>
            <a:ext cx="0" cy="35641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1" name="Connector 300060"/>
          <p:cNvCxnSpPr/>
          <p:nvPr/>
        </p:nvCxnSpPr>
        <p:spPr>
          <a:xfrm>
            <a:off x="2598274" y="3454026"/>
            <a:ext cx="186235" cy="1945833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2" name="Connector 300061"/>
          <p:cNvCxnSpPr/>
          <p:nvPr/>
        </p:nvCxnSpPr>
        <p:spPr>
          <a:xfrm flipH="1">
            <a:off x="2784509" y="5399859"/>
            <a:ext cx="1234290" cy="0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3" name="Oval 300062"/>
          <p:cNvSpPr/>
          <p:nvPr/>
        </p:nvSpPr>
        <p:spPr>
          <a:xfrm>
            <a:off x="4104793" y="6361477"/>
            <a:ext cx="113044" cy="1130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4" name="Connector 300063"/>
          <p:cNvCxnSpPr/>
          <p:nvPr/>
        </p:nvCxnSpPr>
        <p:spPr>
          <a:xfrm flipV="1">
            <a:off x="4122456" y="6379141"/>
            <a:ext cx="77718" cy="777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5" name="TextBox 300064"/>
          <p:cNvSpPr txBox="1"/>
          <p:nvPr/>
        </p:nvSpPr>
        <p:spPr>
          <a:xfrm>
            <a:off x="1690663" y="6488652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由一层 AL1 沿楼梯井引上</a:t>
            </a:r>
          </a:p>
        </p:txBody>
      </p:sp>
      <p:sp>
        <p:nvSpPr>
          <p:cNvPr id="300066" name="Oval 300065"/>
          <p:cNvSpPr/>
          <p:nvPr/>
        </p:nvSpPr>
        <p:spPr>
          <a:xfrm>
            <a:off x="3801724" y="6072858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7" name="Connector 300066"/>
          <p:cNvCxnSpPr/>
          <p:nvPr/>
        </p:nvCxnSpPr>
        <p:spPr>
          <a:xfrm>
            <a:off x="3826566" y="609770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8" name="Connector 300067"/>
          <p:cNvCxnSpPr/>
          <p:nvPr/>
        </p:nvCxnSpPr>
        <p:spPr>
          <a:xfrm flipV="1">
            <a:off x="3826566" y="609770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9" name="TextBox 300068"/>
          <p:cNvSpPr txBox="1"/>
          <p:nvPr/>
        </p:nvSpPr>
        <p:spPr>
          <a:xfrm>
            <a:off x="3964225" y="5995140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300070" name="Oval 300069"/>
          <p:cNvSpPr/>
          <p:nvPr/>
        </p:nvSpPr>
        <p:spPr>
          <a:xfrm>
            <a:off x="2218725" y="4942606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1" name="Connector 300070"/>
          <p:cNvCxnSpPr/>
          <p:nvPr/>
        </p:nvCxnSpPr>
        <p:spPr>
          <a:xfrm>
            <a:off x="2243567" y="4967448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2" name="Connector 300071"/>
          <p:cNvCxnSpPr/>
          <p:nvPr/>
        </p:nvCxnSpPr>
        <p:spPr>
          <a:xfrm flipV="1">
            <a:off x="2243567" y="4967448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3" name="TextBox 300072"/>
          <p:cNvSpPr txBox="1"/>
          <p:nvPr/>
        </p:nvSpPr>
        <p:spPr>
          <a:xfrm>
            <a:off x="2381226" y="486488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300074" name="Oval 300073"/>
          <p:cNvSpPr/>
          <p:nvPr/>
        </p:nvSpPr>
        <p:spPr>
          <a:xfrm>
            <a:off x="3377880" y="425867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5" name="Connector 300074"/>
          <p:cNvCxnSpPr/>
          <p:nvPr/>
        </p:nvCxnSpPr>
        <p:spPr>
          <a:xfrm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6" name="Connector 300075"/>
          <p:cNvCxnSpPr/>
          <p:nvPr/>
        </p:nvCxnSpPr>
        <p:spPr>
          <a:xfrm flipV="1"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7" name="TextBox 300076"/>
          <p:cNvSpPr txBox="1"/>
          <p:nvPr/>
        </p:nvSpPr>
        <p:spPr>
          <a:xfrm>
            <a:off x="3540381" y="418095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300078" name="Oval 300077"/>
          <p:cNvSpPr/>
          <p:nvPr/>
        </p:nvSpPr>
        <p:spPr>
          <a:xfrm>
            <a:off x="5296744" y="5137190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9" name="Connector 300078"/>
          <p:cNvCxnSpPr/>
          <p:nvPr/>
        </p:nvCxnSpPr>
        <p:spPr>
          <a:xfrm>
            <a:off x="5321585" y="5162031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0" name="Connector 300079"/>
          <p:cNvCxnSpPr/>
          <p:nvPr/>
        </p:nvCxnSpPr>
        <p:spPr>
          <a:xfrm flipV="1">
            <a:off x="5321585" y="5162031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1" name="TextBox 300080"/>
          <p:cNvSpPr txBox="1"/>
          <p:nvPr/>
        </p:nvSpPr>
        <p:spPr>
          <a:xfrm>
            <a:off x="5459245" y="5059472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300082" name="Oval 300081"/>
          <p:cNvSpPr/>
          <p:nvPr/>
        </p:nvSpPr>
        <p:spPr>
          <a:xfrm>
            <a:off x="3732373" y="2407891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3" name="Oval 300082"/>
          <p:cNvSpPr/>
          <p:nvPr/>
        </p:nvSpPr>
        <p:spPr>
          <a:xfrm>
            <a:off x="3771232" y="2446750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4" name="TextBox 300083"/>
          <p:cNvSpPr txBox="1"/>
          <p:nvPr/>
        </p:nvSpPr>
        <p:spPr>
          <a:xfrm>
            <a:off x="3866613" y="2301912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300085" name="Oval 300084"/>
          <p:cNvSpPr/>
          <p:nvPr/>
        </p:nvSpPr>
        <p:spPr>
          <a:xfrm>
            <a:off x="5637751" y="6149283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6" name="Oval 300085"/>
          <p:cNvSpPr/>
          <p:nvPr/>
        </p:nvSpPr>
        <p:spPr>
          <a:xfrm>
            <a:off x="5676610" y="6188142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7" name="TextBox 300086"/>
          <p:cNvSpPr txBox="1"/>
          <p:nvPr/>
        </p:nvSpPr>
        <p:spPr>
          <a:xfrm>
            <a:off x="5771991" y="604330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300088" name="Oval 300087"/>
          <p:cNvSpPr/>
          <p:nvPr/>
        </p:nvSpPr>
        <p:spPr>
          <a:xfrm>
            <a:off x="2199460" y="3591440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9" name="Connector 300088"/>
          <p:cNvCxnSpPr/>
          <p:nvPr/>
        </p:nvCxnSpPr>
        <p:spPr>
          <a:xfrm>
            <a:off x="2224302" y="3616282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0" name="Connector 300089"/>
          <p:cNvCxnSpPr/>
          <p:nvPr/>
        </p:nvCxnSpPr>
        <p:spPr>
          <a:xfrm flipV="1">
            <a:off x="2224302" y="3616282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1" name="TextBox 300090"/>
          <p:cNvSpPr txBox="1"/>
          <p:nvPr/>
        </p:nvSpPr>
        <p:spPr>
          <a:xfrm>
            <a:off x="2361961" y="3513723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300092" name="Oval 300091"/>
          <p:cNvSpPr/>
          <p:nvPr/>
        </p:nvSpPr>
        <p:spPr>
          <a:xfrm>
            <a:off x="2572839" y="3428591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3" name="Connector 300092"/>
          <p:cNvCxnSpPr/>
          <p:nvPr/>
        </p:nvCxnSpPr>
        <p:spPr>
          <a:xfrm flipV="1">
            <a:off x="2598274" y="3358105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4" name="Connector 300093"/>
          <p:cNvCxnSpPr/>
          <p:nvPr/>
        </p:nvCxnSpPr>
        <p:spPr>
          <a:xfrm>
            <a:off x="2694195" y="3358105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5" name="Connector 300094"/>
          <p:cNvCxnSpPr/>
          <p:nvPr/>
        </p:nvCxnSpPr>
        <p:spPr>
          <a:xfrm flipH="1">
            <a:off x="2526333" y="3454026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6" name="Connector 300095"/>
          <p:cNvCxnSpPr/>
          <p:nvPr/>
        </p:nvCxnSpPr>
        <p:spPr>
          <a:xfrm flipH="1" flipV="1">
            <a:off x="2502353" y="3501987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7" name="TextBox 300096"/>
          <p:cNvSpPr txBox="1"/>
          <p:nvPr/>
        </p:nvSpPr>
        <p:spPr>
          <a:xfrm>
            <a:off x="2708325" y="324506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300098" name="Oval 300097"/>
          <p:cNvSpPr/>
          <p:nvPr/>
        </p:nvSpPr>
        <p:spPr>
          <a:xfrm>
            <a:off x="3333192" y="1970181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9" name="Connector 300098"/>
          <p:cNvCxnSpPr/>
          <p:nvPr/>
        </p:nvCxnSpPr>
        <p:spPr>
          <a:xfrm flipV="1">
            <a:off x="3358627" y="1899695"/>
            <a:ext cx="95922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0" name="Connector 300099"/>
          <p:cNvCxnSpPr/>
          <p:nvPr/>
        </p:nvCxnSpPr>
        <p:spPr>
          <a:xfrm>
            <a:off x="3454549" y="1899695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1" name="TextBox 300100"/>
          <p:cNvSpPr txBox="1"/>
          <p:nvPr/>
        </p:nvSpPr>
        <p:spPr>
          <a:xfrm>
            <a:off x="3468679" y="178665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300102" name="Oval 300101"/>
          <p:cNvSpPr/>
          <p:nvPr/>
        </p:nvSpPr>
        <p:spPr>
          <a:xfrm>
            <a:off x="2719451" y="3913830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3" name="Connector 300102"/>
          <p:cNvCxnSpPr/>
          <p:nvPr/>
        </p:nvCxnSpPr>
        <p:spPr>
          <a:xfrm flipV="1">
            <a:off x="2744886" y="3843343"/>
            <a:ext cx="95921" cy="959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4" name="Connector 300103"/>
          <p:cNvCxnSpPr/>
          <p:nvPr/>
        </p:nvCxnSpPr>
        <p:spPr>
          <a:xfrm>
            <a:off x="2840807" y="3843343"/>
            <a:ext cx="23981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5" name="TextBox 300104"/>
          <p:cNvSpPr txBox="1"/>
          <p:nvPr/>
        </p:nvSpPr>
        <p:spPr>
          <a:xfrm>
            <a:off x="2854938" y="373029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300106" name="Oval 300105"/>
          <p:cNvSpPr/>
          <p:nvPr/>
        </p:nvSpPr>
        <p:spPr>
          <a:xfrm>
            <a:off x="2759074" y="537442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7" name="Connector 300106"/>
          <p:cNvCxnSpPr/>
          <p:nvPr/>
        </p:nvCxnSpPr>
        <p:spPr>
          <a:xfrm flipV="1">
            <a:off x="2784509" y="5303938"/>
            <a:ext cx="95922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8" name="Connector 300107"/>
          <p:cNvCxnSpPr/>
          <p:nvPr/>
        </p:nvCxnSpPr>
        <p:spPr>
          <a:xfrm>
            <a:off x="2880431" y="5303938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9" name="Connector 300108"/>
          <p:cNvCxnSpPr/>
          <p:nvPr/>
        </p:nvCxnSpPr>
        <p:spPr>
          <a:xfrm>
            <a:off x="2863165" y="5321203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0" name="Connector 300109"/>
          <p:cNvCxnSpPr/>
          <p:nvPr/>
        </p:nvCxnSpPr>
        <p:spPr>
          <a:xfrm flipH="1">
            <a:off x="2712568" y="5399859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1" name="Connector 300110"/>
          <p:cNvCxnSpPr/>
          <p:nvPr/>
        </p:nvCxnSpPr>
        <p:spPr>
          <a:xfrm flipH="1" flipV="1">
            <a:off x="2688588" y="5447819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2" name="TextBox 300111"/>
          <p:cNvSpPr txBox="1"/>
          <p:nvPr/>
        </p:nvSpPr>
        <p:spPr>
          <a:xfrm>
            <a:off x="2894561" y="519089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300113" name="Oval 300112"/>
          <p:cNvSpPr/>
          <p:nvPr/>
        </p:nvSpPr>
        <p:spPr>
          <a:xfrm>
            <a:off x="3993364" y="537442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4" name="Connector 300113"/>
          <p:cNvCxnSpPr/>
          <p:nvPr/>
        </p:nvCxnSpPr>
        <p:spPr>
          <a:xfrm flipV="1">
            <a:off x="4018799" y="5303938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5" name="Connector 300114"/>
          <p:cNvCxnSpPr/>
          <p:nvPr/>
        </p:nvCxnSpPr>
        <p:spPr>
          <a:xfrm>
            <a:off x="4114720" y="5303938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6" name="Connector 300115"/>
          <p:cNvCxnSpPr/>
          <p:nvPr/>
        </p:nvCxnSpPr>
        <p:spPr>
          <a:xfrm flipH="1">
            <a:off x="3946858" y="5399859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7" name="Connector 300116"/>
          <p:cNvCxnSpPr/>
          <p:nvPr/>
        </p:nvCxnSpPr>
        <p:spPr>
          <a:xfrm flipH="1" flipV="1">
            <a:off x="3922878" y="5447819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8" name="TextBox 300117"/>
          <p:cNvSpPr txBox="1"/>
          <p:nvPr/>
        </p:nvSpPr>
        <p:spPr>
          <a:xfrm>
            <a:off x="4128851" y="519089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300119" name="Oval 300118"/>
          <p:cNvSpPr/>
          <p:nvPr/>
        </p:nvSpPr>
        <p:spPr>
          <a:xfrm>
            <a:off x="4306753" y="5252408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0" name="Connector 300119"/>
          <p:cNvCxnSpPr/>
          <p:nvPr/>
        </p:nvCxnSpPr>
        <p:spPr>
          <a:xfrm flipV="1">
            <a:off x="4332188" y="5181921"/>
            <a:ext cx="95921" cy="959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1" name="Connector 300120"/>
          <p:cNvCxnSpPr/>
          <p:nvPr/>
        </p:nvCxnSpPr>
        <p:spPr>
          <a:xfrm>
            <a:off x="4428109" y="5181921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2" name="TextBox 300121"/>
          <p:cNvSpPr txBox="1"/>
          <p:nvPr/>
        </p:nvSpPr>
        <p:spPr>
          <a:xfrm>
            <a:off x="4442239" y="506887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300123" name="Oval 300122"/>
          <p:cNvSpPr/>
          <p:nvPr/>
        </p:nvSpPr>
        <p:spPr>
          <a:xfrm>
            <a:off x="5559024" y="5823956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4" name="Connector 300123"/>
          <p:cNvCxnSpPr/>
          <p:nvPr/>
        </p:nvCxnSpPr>
        <p:spPr>
          <a:xfrm flipV="1">
            <a:off x="5584459" y="5753470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5" name="Connector 300124"/>
          <p:cNvCxnSpPr/>
          <p:nvPr/>
        </p:nvCxnSpPr>
        <p:spPr>
          <a:xfrm>
            <a:off x="5680380" y="5753470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6" name="TextBox 300125"/>
          <p:cNvSpPr txBox="1"/>
          <p:nvPr/>
        </p:nvSpPr>
        <p:spPr>
          <a:xfrm>
            <a:off x="5694510" y="564042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300127" name="TextBox 300126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300128" name="TextBox 300127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走廊北端</a:t>
            </a:r>
          </a:p>
        </p:txBody>
      </p:sp>
      <p:sp>
        <p:nvSpPr>
          <p:cNvPr id="300129" name="TextBox 300128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</a:t>
            </a:r>
          </a:p>
        </p:txBody>
      </p:sp>
      <p:sp>
        <p:nvSpPr>
          <p:cNvPr id="300130" name="TextBox 300129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北卫生间门外（离门洞 150）</a:t>
            </a:r>
          </a:p>
        </p:txBody>
      </p:sp>
      <p:sp>
        <p:nvSpPr>
          <p:cNvPr id="300131" name="TextBox 300130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</a:t>
            </a:r>
          </a:p>
        </p:txBody>
      </p:sp>
      <p:sp>
        <p:nvSpPr>
          <p:cNvPr id="300132" name="TextBox 300131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卧室3 门旁</a:t>
            </a:r>
          </a:p>
        </p:txBody>
      </p:sp>
      <p:sp>
        <p:nvSpPr>
          <p:cNvPr id="300133" name="TextBox 300132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键1=e</a:t>
            </a:r>
          </a:p>
        </p:txBody>
      </p:sp>
      <p:sp>
        <p:nvSpPr>
          <p:cNvPr id="300134" name="TextBox 300133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走廊南端 · 楼梯口</a:t>
            </a:r>
          </a:p>
        </p:txBody>
      </p:sp>
      <p:sp>
        <p:nvSpPr>
          <p:cNvPr id="300135" name="TextBox 300134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  键2=k</a:t>
            </a:r>
          </a:p>
        </p:txBody>
      </p:sp>
      <p:sp>
        <p:nvSpPr>
          <p:cNvPr id="300136" name="TextBox 300135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楼梯顶 · 卧室 4 门旁（离门口 350）</a:t>
            </a:r>
          </a:p>
        </p:txBody>
      </p:sp>
      <p:sp>
        <p:nvSpPr>
          <p:cNvPr id="300137" name="TextBox 300136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键1=k</a:t>
            </a:r>
          </a:p>
        </p:txBody>
      </p:sp>
      <p:sp>
        <p:nvSpPr>
          <p:cNvPr id="300138" name="TextBox 300137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卧室 4 门旁</a:t>
            </a:r>
          </a:p>
        </p:txBody>
      </p:sp>
      <p:sp>
        <p:nvSpPr>
          <p:cNvPr id="300139" name="TextBox 300138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键1=l</a:t>
            </a:r>
          </a:p>
        </p:txBody>
      </p:sp>
      <p:sp>
        <p:nvSpPr>
          <p:cNvPr id="300140" name="TextBox 300139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卧室 4 内 · 卫生间门左边（离门洞 100）</a:t>
            </a:r>
          </a:p>
        </p:txBody>
      </p:sp>
      <p:sp>
        <p:nvSpPr>
          <p:cNvPr id="300141" name="TextBox 300140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键1=m</a:t>
            </a:r>
          </a:p>
        </p:txBody>
      </p:sp>
      <p:sp>
        <p:nvSpPr>
          <p:cNvPr id="300142" name="Rectangle 300141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3" name="Rectangle 300142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4" name="TextBox 300143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O-B 2026-10-15）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000000" y="1300000"/>
            <a:ext cx="0" cy="2550000"/>
          </a:xfrm>
          <a:prstGeom prst="line">
            <a:avLst/>
          </a:prstGeom>
          <a:ln w="381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0000" y="1450000"/>
            <a:ext cx="3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进线：引自总配电箱 / 电表箱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（英国：Consumer Unit 内主开关 + RCBO）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0000" y="1300000"/>
            <a:ext cx="100000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00000" y="1040000"/>
            <a:ext cx="15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AL1  暗装，底边距地 1.5 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00000" y="17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900000" y="16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300000" y="17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900000" y="14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B10 1P+N RCBO 30mA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0000" y="15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000" y="16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WL1  一层照明（门廊 / 门厅 / 起居室 / 餐厅 / 楼梯 / 客厅 / 卫生间 / 厨房 / 洗衣房）+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36 盏（一层，字母 见一层图）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000000" y="24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900000" y="23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3300000" y="24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00000" y="21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0000" y="22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000" y="23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WL3  户外照明（后花园壁灯 / 围栏地灯）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5 盏（一层，字母 见一层图）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000000" y="31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900000" y="30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3300000" y="31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900000" y="28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0000" y="29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0000" y="30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WL4  二层照明 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14 盏（二层，字母 a b c d e f g h i j k l m）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000000" y="38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000000" y="3700000"/>
            <a:ext cx="5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备用 1 路（C16 RCBO）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0000" y="5550000"/>
            <a:ext cx="790000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照明回路按区域划分，每路一个 30 mA RCBO（见上表回路名称）；单回路灯具数量与功率均在允许范围内（灯具均为 LED）。插座与专线回路见网页「配电箱」页。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英国规范（BS 7671）照明回路常用 1.5 mm² 双芯加地线 + B6 RCBO；国内常用 BV-2.5 + C16。施工由电工按当地规范定。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卫生间排气扇无单独开关，接所在卫生间灯回路；楼梯吊灯 F06 属 二层回路，一层 S6 只做三控开关点。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WL4 沿楼梯井暗管引上至二层。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二层开关面板表 · 照明回路表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二层开关面板表 · 照明回路表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O-B 2026-10-15）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50000" y="650000"/>
          <a:ext cx="8380000" cy="307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250000"/>
                <a:gridCol w="650000"/>
                <a:gridCol w="1550000"/>
                <a:gridCol w="1550000"/>
                <a:gridCol w="1550000"/>
                <a:gridCol w="14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规格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盥洗室入口墙垛正中（一门两用旁）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盥洗室筒灯（单控）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西卫生间隔墙端头旁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西卫生间筒灯（单控）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主卧床头板正中上方（h1360，与门口 S4 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主卧门旁 · F 墙转角（离墙端 150）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主卧主灯位（待选）（单控）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衣帽间洞口旁 400 墙段正中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衣帽间吸顶灯（单控）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床头（C04 正上方，h850）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门旁（门西侧短墙，卧室2 一侧，锁侧）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走廊北端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北卫生间门外（离门洞 150）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北卫生间筒灯（单控）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卧室3 主灯 F22（单控）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走廊南端 · 楼梯口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楼梯顶 · 卧室 4 门旁（离门口 350）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卧室 4 主灯 F23（单控）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内 · 卫生间门左边（离门洞 100）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后卫生间筒灯（套卫）（单控）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710000" y="300000"/>
          <a:ext cx="3250000" cy="287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0000"/>
                <a:gridCol w="1650000"/>
                <a:gridCol w="900000"/>
                <a:gridCol w="40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开关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 F19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S3-1，S4-1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主卧主灯位（待选）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走廊吸顶灯 F11 ×2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S8-1，S11-1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主灯 F22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主灯 F20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S6-1，S7-1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S6-2，S7-2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楼梯吊灯 F06（三控：一层 S6 + 二层 S11、S12）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S11-2，S12-1，一层 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主灯 F23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后卫生间筒灯（套卫）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1769</Words>
  <Application>Microsoft Office PowerPoint</Application>
  <PresentationFormat>Widescreen</PresentationFormat>
  <Paragraphs>550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12</cp:revision>
  <dcterms:created xsi:type="dcterms:W3CDTF">2013-01-27T09:14:16Z</dcterms:created>
  <dcterms:modified xsi:type="dcterms:W3CDTF">2026-10-03T09:40:53Z</dcterms:modified>
  <cp:category/>
</cp:coreProperties>
</file>