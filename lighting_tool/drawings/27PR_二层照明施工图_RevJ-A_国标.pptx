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A · 专业 18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H：后房间由书房改为卧室 4，后卫生间改为东侧套内卫生间（0.91 × 2.44 m，淋浴 / 台盆 / 马桶由北往南）；F23 移到卧室中部，后卫筒灯移入新卫生间，S14 移到卧室内卫生间门南侧。卫生间排气扇仍接卫生间灯回路（不设 FI）。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本套图：方案 A · 专业 18 路，全屋照明 4 路（WL1 一层前区照明 / WL2 一层后区照明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300006" name="Rectangle 300005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TextBox 300006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08" name="TextBox 300007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09" name="Connector 300008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0" name="TextBox 300009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1" name="TextBox 300010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300012" name="Connector 300011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3" name="TextBox 300012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4" name="TextBox 300013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300015" name="Connector 300014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6" name="TextBox 300015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17" name="TextBox 300016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300018" name="Connector 300017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9" name="TextBox 300018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0" name="TextBox 300019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300021" name="Connector 300020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2" name="TextBox 300021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3" name="TextBox 300022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4" name="Connector 300023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5" name="Connector 300024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6" name="Connector 300025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8" name="Connector 300027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251820" y="3896282"/>
            <a:ext cx="119115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3442974" y="3896282"/>
            <a:ext cx="0" cy="50571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3442974" y="4402000"/>
            <a:ext cx="19450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3637483" y="4402000"/>
            <a:ext cx="0" cy="312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3637483" y="4433258"/>
            <a:ext cx="56197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4199461" y="3921358"/>
            <a:ext cx="0" cy="5119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4199461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 flipH="1">
            <a:off x="4053179" y="359953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4053179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 flipH="1">
            <a:off x="3597615" y="3123076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V="1">
            <a:off x="3597615" y="3074820"/>
            <a:ext cx="0" cy="482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>
            <a:off x="3597615" y="3074820"/>
            <a:ext cx="398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5" name="Connector 300044"/>
          <p:cNvCxnSpPr/>
          <p:nvPr/>
        </p:nvCxnSpPr>
        <p:spPr>
          <a:xfrm>
            <a:off x="3637483" y="4433258"/>
            <a:ext cx="67482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>
            <a:off x="4312307" y="4433258"/>
            <a:ext cx="0" cy="5580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5323743" y="4870102"/>
            <a:ext cx="37382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>
            <a:off x="5697565" y="4870102"/>
            <a:ext cx="0" cy="3544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>
            <a:off x="3637483" y="3074820"/>
            <a:ext cx="90887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 flipV="1">
            <a:off x="4546358" y="2496153"/>
            <a:ext cx="0" cy="57866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5145358" y="5618230"/>
            <a:ext cx="55220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V="1">
            <a:off x="5697565" y="5224581"/>
            <a:ext cx="0" cy="3936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H="1">
            <a:off x="3018708" y="3074820"/>
            <a:ext cx="6187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V="1">
            <a:off x="3018708" y="2807454"/>
            <a:ext cx="0" cy="2673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H="1">
            <a:off x="3251566" y="4402000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3251566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055384" y="5630769"/>
            <a:ext cx="123888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3294269" y="5163720"/>
            <a:ext cx="0" cy="46704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H="1">
            <a:off x="2543258" y="4433258"/>
            <a:ext cx="1094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4" name="Connector 300073"/>
          <p:cNvCxnSpPr/>
          <p:nvPr/>
        </p:nvCxnSpPr>
        <p:spPr>
          <a:xfrm>
            <a:off x="2543258" y="4433258"/>
            <a:ext cx="0" cy="518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 flipH="1">
            <a:off x="3294269" y="4433258"/>
            <a:ext cx="3432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294269" y="4433258"/>
            <a:ext cx="0" cy="7304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6" name="Connector 300085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 flipV="1">
            <a:off x="5323743" y="4824328"/>
            <a:ext cx="0" cy="457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>
            <a:off x="5323743" y="4824328"/>
            <a:ext cx="829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5697565" y="5224581"/>
            <a:ext cx="0" cy="2586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697565" y="5483199"/>
            <a:ext cx="65303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 flipH="1">
            <a:off x="3597615" y="3074820"/>
            <a:ext cx="39868" cy="4825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2055384" y="4433258"/>
            <a:ext cx="1582099" cy="11975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V="1">
            <a:off x="2820895" y="5023785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V="1">
            <a:off x="2831938" y="5015426"/>
            <a:ext cx="6904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 flipV="1">
            <a:off x="2842982" y="5007067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9" name="Connector 300098"/>
          <p:cNvCxnSpPr/>
          <p:nvPr/>
        </p:nvCxnSpPr>
        <p:spPr>
          <a:xfrm flipV="1">
            <a:off x="2854026" y="4998708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0" name="Connector 300099"/>
          <p:cNvCxnSpPr/>
          <p:nvPr/>
        </p:nvCxnSpPr>
        <p:spPr>
          <a:xfrm flipV="1">
            <a:off x="2865069" y="4990349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Oval 300101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3" name="Connector 300102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4" name="TextBox 300103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105" name="Oval 300104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6" name="Connector 300105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7" name="Connector 300106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8" name="TextBox 300107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109" name="Oval 300108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0" name="Connector 300109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6105306" y="477684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6196323" y="473331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0" name="Oval 300129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1" name="TextBox 300130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132" name="Oval 300131"/>
          <p:cNvSpPr/>
          <p:nvPr/>
        </p:nvSpPr>
        <p:spPr>
          <a:xfrm>
            <a:off x="6318941" y="545154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3" name="Oval 300132"/>
          <p:cNvSpPr/>
          <p:nvPr/>
        </p:nvSpPr>
        <p:spPr>
          <a:xfrm>
            <a:off x="6340706" y="547330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TextBox 300133"/>
          <p:cNvSpPr txBox="1"/>
          <p:nvPr/>
        </p:nvSpPr>
        <p:spPr>
          <a:xfrm>
            <a:off x="6394129" y="539218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6" name="Oval 300135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7" name="TextBox 300136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Oval 300138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0" name="TextBox 300139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41" name="Oval 300140"/>
          <p:cNvSpPr/>
          <p:nvPr/>
        </p:nvSpPr>
        <p:spPr>
          <a:xfrm>
            <a:off x="3262610" y="513206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2" name="Oval 300141"/>
          <p:cNvSpPr/>
          <p:nvPr/>
        </p:nvSpPr>
        <p:spPr>
          <a:xfrm>
            <a:off x="3284376" y="515382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TextBox 300142"/>
          <p:cNvSpPr txBox="1"/>
          <p:nvPr/>
        </p:nvSpPr>
        <p:spPr>
          <a:xfrm>
            <a:off x="3337799" y="507270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144" name="Oval 300143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5" name="Connector 300144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6" name="Connector 300145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7" name="TextBox 300146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148" name="Oval 300147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9" name="Oval 300148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0" name="TextBox 300149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51" name="Oval 300150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2" name="Oval 300151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3" name="TextBox 300152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54" name="Oval 300153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5" name="Connector 300154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56" name="Connector 300155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7" name="TextBox 300156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58" name="Oval 300157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9" name="Connector 300158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0" name="Connector 300159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1" name="TextBox 300160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62" name="Oval 300161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3" name="Connector 300162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4" name="Connector 300163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5" name="TextBox 300164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66" name="Oval 300165"/>
          <p:cNvSpPr/>
          <p:nvPr/>
        </p:nvSpPr>
        <p:spPr>
          <a:xfrm>
            <a:off x="3623237" y="306057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7" name="Connector 300166"/>
          <p:cNvCxnSpPr/>
          <p:nvPr/>
        </p:nvCxnSpPr>
        <p:spPr>
          <a:xfrm flipV="1">
            <a:off x="3637483" y="302109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8" name="Connector 300167"/>
          <p:cNvCxnSpPr/>
          <p:nvPr/>
        </p:nvCxnSpPr>
        <p:spPr>
          <a:xfrm>
            <a:off x="3691209" y="302109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9" name="Connector 300168"/>
          <p:cNvCxnSpPr/>
          <p:nvPr/>
        </p:nvCxnSpPr>
        <p:spPr>
          <a:xfrm flipH="1">
            <a:off x="3597189" y="3074820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0" name="Connector 300169"/>
          <p:cNvCxnSpPr/>
          <p:nvPr/>
        </p:nvCxnSpPr>
        <p:spPr>
          <a:xfrm flipH="1" flipV="1">
            <a:off x="3583757" y="3101683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1" name="TextBox 300170"/>
          <p:cNvSpPr txBox="1"/>
          <p:nvPr/>
        </p:nvSpPr>
        <p:spPr>
          <a:xfrm>
            <a:off x="3699124" y="295777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72" name="Oval 300171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73" name="Connector 300172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4" name="Connector 300173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5" name="Connector 300174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6" name="Connector 300175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7" name="Connector 300176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8" name="TextBox 300177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79" name="Oval 300178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0" name="Connector 300179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1" name="Connector 300180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2" name="TextBox 300181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83" name="Oval 300182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4" name="Connector 300183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5" name="Connector 300184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6" name="Connector 300185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7" name="Connector 300186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8" name="Connector 300187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9" name="TextBox 300188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90" name="Oval 300189"/>
          <p:cNvSpPr/>
          <p:nvPr/>
        </p:nvSpPr>
        <p:spPr>
          <a:xfrm>
            <a:off x="3623237" y="44190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1" name="Connector 300190"/>
          <p:cNvCxnSpPr/>
          <p:nvPr/>
        </p:nvCxnSpPr>
        <p:spPr>
          <a:xfrm flipV="1">
            <a:off x="3637483" y="437953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2" name="Connector 300191"/>
          <p:cNvCxnSpPr/>
          <p:nvPr/>
        </p:nvCxnSpPr>
        <p:spPr>
          <a:xfrm>
            <a:off x="3691209" y="437953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3" name="Connector 300192"/>
          <p:cNvCxnSpPr/>
          <p:nvPr/>
        </p:nvCxnSpPr>
        <p:spPr>
          <a:xfrm>
            <a:off x="3681538" y="4389203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4" name="Connector 300193"/>
          <p:cNvCxnSpPr/>
          <p:nvPr/>
        </p:nvCxnSpPr>
        <p:spPr>
          <a:xfrm flipH="1">
            <a:off x="3597189" y="443325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5" name="Connector 300194"/>
          <p:cNvCxnSpPr/>
          <p:nvPr/>
        </p:nvCxnSpPr>
        <p:spPr>
          <a:xfrm flipH="1" flipV="1">
            <a:off x="3583757" y="446012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96" name="TextBox 300195"/>
          <p:cNvSpPr txBox="1"/>
          <p:nvPr/>
        </p:nvSpPr>
        <p:spPr>
          <a:xfrm>
            <a:off x="3699124" y="43162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97" name="Oval 300196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8" name="Connector 300197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9" name="Connector 300198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0" name="Connector 300199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1" name="Connector 300200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2" name="TextBox 300201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203" name="Oval 300202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4" name="Connector 300203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5" name="Connector 300204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6" name="TextBox 300205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207" name="Oval 300206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8" name="Connector 300207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9" name="Connector 300208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0" name="TextBox 300209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211" name="Oval 300210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2" name="Connector 300211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3" name="Connector 300212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4" name="Connector 300213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5" name="Connector 300214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6" name="Connector 300215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7" name="TextBox 300216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218" name="Oval 300217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9" name="Connector 300218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0" name="Connector 300219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1" name="Connector 300220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2" name="Connector 300221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3" name="TextBox 300222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224" name="Oval 300223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5" name="Connector 300224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6" name="Connector 300225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7" name="TextBox 300226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228" name="Oval 300227"/>
          <p:cNvSpPr/>
          <p:nvPr/>
        </p:nvSpPr>
        <p:spPr>
          <a:xfrm>
            <a:off x="5683319" y="52103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9" name="Connector 300228"/>
          <p:cNvCxnSpPr/>
          <p:nvPr/>
        </p:nvCxnSpPr>
        <p:spPr>
          <a:xfrm flipV="1">
            <a:off x="5697565" y="517085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30" name="Connector 300229"/>
          <p:cNvCxnSpPr/>
          <p:nvPr/>
        </p:nvCxnSpPr>
        <p:spPr>
          <a:xfrm>
            <a:off x="5751291" y="5170855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31" name="TextBox 300230"/>
          <p:cNvSpPr txBox="1"/>
          <p:nvPr/>
        </p:nvSpPr>
        <p:spPr>
          <a:xfrm>
            <a:off x="5759206" y="51075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232" name="TextBox 300231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300233" name="Rectangle 300232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4" name="TextBox 300233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300235" name="Rectangle 300234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6" name="TextBox 300235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300237" name="Rectangle 300236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8" name="Rectangle 300237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9" name="Rectangle 300238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40" name="TextBox 300239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3288263" y="3902631"/>
            <a:ext cx="1740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5028263" y="3902631"/>
            <a:ext cx="0" cy="738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5028263" y="4641368"/>
            <a:ext cx="28413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5312396" y="4641368"/>
            <a:ext cx="0" cy="4566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5028263" y="2773157"/>
            <a:ext cx="0" cy="186821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5028263" y="2773157"/>
            <a:ext cx="225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5254157" y="2702665"/>
            <a:ext cx="0" cy="7049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5254157" y="2702665"/>
            <a:ext cx="5823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H="1">
            <a:off x="5312396" y="6418000"/>
            <a:ext cx="219494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5312396" y="4687029"/>
            <a:ext cx="0" cy="173097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 flipV="1">
            <a:off x="5312396" y="2312106"/>
            <a:ext cx="0" cy="3905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 flipH="1">
            <a:off x="4408508" y="2312106"/>
            <a:ext cx="9038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H="1">
            <a:off x="4748661" y="4641368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748661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3001315" y="6436315"/>
            <a:ext cx="18097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4811039" y="5754065"/>
            <a:ext cx="0" cy="6822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H="1">
            <a:off x="3713986" y="4687029"/>
            <a:ext cx="15984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>
            <a:off x="3713986" y="4687029"/>
            <a:ext cx="0" cy="7577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>
            <a:off x="5312396" y="4687029"/>
            <a:ext cx="0" cy="10670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H="1">
            <a:off x="4811039" y="5754065"/>
            <a:ext cx="5013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 flipH="1">
            <a:off x="5254157" y="2702665"/>
            <a:ext cx="58239" cy="7049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V="1">
            <a:off x="3001315" y="4687029"/>
            <a:ext cx="2311081" cy="174928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4111259" y="5546982"/>
            <a:ext cx="12325" cy="890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4130976" y="5532058"/>
            <a:ext cx="12325" cy="890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 flipV="1">
            <a:off x="4150693" y="5517133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 flipV="1">
            <a:off x="4170410" y="5502209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4190127" y="5487285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Oval 300072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5" name="TextBox 300074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76" name="Oval 300075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7" name="Connector 300076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TextBox 300078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TextBox 300082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84" name="Oval 300083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Oval 300084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6" name="TextBox 300085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87" name="Oval 300086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Oval 300087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Oval 300090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2" name="TextBox 300091"/>
          <p:cNvSpPr txBox="1"/>
          <p:nvPr/>
        </p:nvSpPr>
        <p:spPr>
          <a:xfrm>
            <a:off x="4888757" y="5591564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TextBox 300095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97" name="Oval 300096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8" name="Oval 300097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9" name="TextBox 300098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1" name="Oval 300100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2" name="TextBox 300101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0" name="TextBox 300109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11" name="Oval 300110"/>
          <p:cNvSpPr/>
          <p:nvPr/>
        </p:nvSpPr>
        <p:spPr>
          <a:xfrm>
            <a:off x="5286961" y="267723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2" name="Connector 300111"/>
          <p:cNvCxnSpPr/>
          <p:nvPr/>
        </p:nvCxnSpPr>
        <p:spPr>
          <a:xfrm flipV="1">
            <a:off x="5312396" y="260674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3" name="Connector 300112"/>
          <p:cNvCxnSpPr/>
          <p:nvPr/>
        </p:nvCxnSpPr>
        <p:spPr>
          <a:xfrm>
            <a:off x="5408317" y="2606744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4" name="Connector 300113"/>
          <p:cNvCxnSpPr/>
          <p:nvPr/>
        </p:nvCxnSpPr>
        <p:spPr>
          <a:xfrm flipH="1">
            <a:off x="5240455" y="270266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H="1" flipV="1">
            <a:off x="5216475" y="275062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5422447" y="249370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1" name="Connector 300120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28" name="Oval 300127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9" name="Connector 300128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0" name="Connector 300129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2" name="Connector 300131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3" name="Connector 300132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4" name="TextBox 300133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5286961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 flipV="1">
            <a:off x="5312396" y="459110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7" name="Connector 300136"/>
          <p:cNvCxnSpPr/>
          <p:nvPr/>
        </p:nvCxnSpPr>
        <p:spPr>
          <a:xfrm>
            <a:off x="5408317" y="459110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8" name="Connector 300137"/>
          <p:cNvCxnSpPr/>
          <p:nvPr/>
        </p:nvCxnSpPr>
        <p:spPr>
          <a:xfrm>
            <a:off x="5391051" y="4608374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9" name="Connector 300138"/>
          <p:cNvCxnSpPr/>
          <p:nvPr/>
        </p:nvCxnSpPr>
        <p:spPr>
          <a:xfrm flipH="1">
            <a:off x="5240455" y="4687029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0" name="Connector 300139"/>
          <p:cNvCxnSpPr/>
          <p:nvPr/>
        </p:nvCxnSpPr>
        <p:spPr>
          <a:xfrm flipH="1" flipV="1">
            <a:off x="5216475" y="473499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1" name="TextBox 300140"/>
          <p:cNvSpPr txBox="1"/>
          <p:nvPr/>
        </p:nvSpPr>
        <p:spPr>
          <a:xfrm>
            <a:off x="5422447" y="447806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43" name="TextBox 300142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300144" name="TextBox 300143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45" name="TextBox 300144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300146" name="TextBox 300145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主卧门旁（S4 西侧）</a:t>
            </a:r>
          </a:p>
        </p:txBody>
      </p:sp>
      <p:sp>
        <p:nvSpPr>
          <p:cNvPr id="300148" name="TextBox 300147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49" name="TextBox 300148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300150" name="TextBox 300149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床头侧（东墙）</a:t>
            </a:r>
          </a:p>
        </p:txBody>
      </p:sp>
      <p:sp>
        <p:nvSpPr>
          <p:cNvPr id="300154" name="TextBox 300153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5" name="TextBox 300154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门旁（新门西侧短墙，锁侧）</a:t>
            </a:r>
          </a:p>
        </p:txBody>
      </p:sp>
      <p:sp>
        <p:nvSpPr>
          <p:cNvPr id="300156" name="TextBox 300155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7" name="Rectangle 30015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8" name="Rectangle 30015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9" name="TextBox 30015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4387210" y="5325157"/>
            <a:ext cx="5460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4933278" y="5325157"/>
            <a:ext cx="0" cy="5178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4118924" y="6418000"/>
            <a:ext cx="81435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4933278" y="5842969"/>
            <a:ext cx="0" cy="57503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4387210" y="5258293"/>
            <a:ext cx="0" cy="668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4387210" y="5258293"/>
            <a:ext cx="1211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4933278" y="5842969"/>
            <a:ext cx="0" cy="3777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4933278" y="6220750"/>
            <a:ext cx="953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4" name="Oval 300063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6" name="TextBox 300065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67" name="Oval 300066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8" name="Connector 300067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0" name="TextBox 300069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71" name="Oval 300070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2" name="Connector 300071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4" name="TextBox 300073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TextBox 300077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79" name="Oval 300078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0" name="Connector 300079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2" name="TextBox 300081"/>
          <p:cNvSpPr txBox="1"/>
          <p:nvPr/>
        </p:nvSpPr>
        <p:spPr>
          <a:xfrm>
            <a:off x="5675978" y="50957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83" name="Oval 300082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Oval 300083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Oval 300086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TextBox 300087"/>
          <p:cNvSpPr txBox="1"/>
          <p:nvPr/>
        </p:nvSpPr>
        <p:spPr>
          <a:xfrm>
            <a:off x="5964926" y="605824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89" name="Oval 300088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0" name="Connector 300089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2" name="TextBox 300091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8" name="TextBox 300097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99" name="Oval 300098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0" name="Connector 300099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TextBox 300101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2" name="Connector 300111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3" name="TextBox 300112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4" name="Oval 300113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5" name="Connector 300114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7" name="Connector 300116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8" name="Connector 300117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9" name="TextBox 300118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20" name="Oval 300119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1" name="Connector 300120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4933278" y="574704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029199" y="574704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043329" y="563400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8" name="TextBox 300127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29" name="TextBox 300128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300130" name="TextBox 300129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131" name="TextBox 300130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300132" name="TextBox 300131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33" name="TextBox 300132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300134" name="TextBox 300133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35" name="TextBox 300134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300136" name="TextBox 300135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37" name="TextBox 300136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300138" name="TextBox 300137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39" name="TextBox 300138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卧室 4 门旁</a:t>
            </a:r>
          </a:p>
        </p:txBody>
      </p:sp>
      <p:sp>
        <p:nvSpPr>
          <p:cNvPr id="300140" name="TextBox 300139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41" name="TextBox 300140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卧室 4 内 · 卫生间门南侧（隔墙短墙）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43" name="Rectangle 300142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4" name="Rectangle 300143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5" name="TextBox 300144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一层后区照明（客厅 / 卫生间 / 厨房 / 吧台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见一层图）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a b c d e f g h i j k l m）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J-A 2026-10-07）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主卧门旁（S4 西侧）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门旁（新门西侧短墙，锁侧）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