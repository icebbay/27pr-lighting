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一层照明由照明配电箱 AL1（暂定楼梯下，现场定）引出 3 个回路：WL1 一层前区照明（B6）、WL2 一层后区照明（B6）、WL3 户外照明（B6），均为 30 mA RCBO。本图为方案 A · 专业 18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前储物间加门控开关 MK（门框锁侧，开门亮灯、关门灭灯），与 S2 第 2 键并联。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FCU1–5 为厨房 / 洗衣房电器带保险丝开关（13A），属插座回路，见插座平面图。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B）：38 号键控洗衣房筒灯；围栏地灯 4 盏；前储物间门控开关。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C：门廊壁灯 c 改由 WL1 供电；卫生间排气扇不设单独隔离开关，接卫生间灯回路（随灯开、延时关），开关编号重排。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D：S7 改为双联中途开关，控后花园壁灯 p、围栏地灯 q（与 S11、S12 三控）；G15 区筒灯 l 改为 S8、S9 双控。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H：新增后花园壁灯 G26_4（卫生间后墙、小窗东侧，IP65，与 G26_2 同款），回路 v、键 28；S7、S11、S12 改三联，v 与 p、q 一样三处控制（S11、S12 两路，S7 中途），接户外 WL3。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2026-10-07：键 28 的灯为后花园投光灯（SOLLA 三头 LED 150 W、6000 K、IP66），装在两扇后花园法式门中间的后墙上、离地约 3.5 m，照向院子；仍为回路 v、户外 WL3，S11 / S12 两路 + S7 中途三控。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14. 本套图：方案 A · 专业 18 路，全屋照明 4 路（WL1 一层前区照明 / WL2 一层后区照明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9500" y="3739500"/>
            <a:ext cx="121000" cy="12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439500" y="3800000"/>
            <a:ext cx="121000" cy="60500"/>
          </a:xfrm>
          <a:custGeom>
            <a:avLst/>
            <a:gdLst/>
            <a:ahLst/>
            <a:cxnLst/>
            <a:rect l="l" t="t" r="r" b="b"/>
            <a:pathLst>
              <a:path w="121000" h="60500">
                <a:moveTo>
                  <a:pt x="121000" y="0"/>
                </a:moveTo>
                <a:lnTo>
                  <a:pt x="119837" y="11802"/>
                </a:lnTo>
                <a:lnTo>
                  <a:pt x="116394" y="23152"/>
                </a:lnTo>
                <a:lnTo>
                  <a:pt x="110803" y="33611"/>
                </a:lnTo>
                <a:lnTo>
                  <a:pt x="103279" y="42779"/>
                </a:lnTo>
                <a:lnTo>
                  <a:pt x="94111" y="50303"/>
                </a:lnTo>
                <a:lnTo>
                  <a:pt x="83652" y="55894"/>
                </a:lnTo>
                <a:lnTo>
                  <a:pt x="72302" y="59337"/>
                </a:lnTo>
                <a:lnTo>
                  <a:pt x="60500" y="60500"/>
                </a:lnTo>
                <a:lnTo>
                  <a:pt x="48697" y="59337"/>
                </a:lnTo>
                <a:lnTo>
                  <a:pt x="37347" y="55894"/>
                </a:lnTo>
                <a:lnTo>
                  <a:pt x="26888" y="50303"/>
                </a:lnTo>
                <a:lnTo>
                  <a:pt x="17720" y="42779"/>
                </a:lnTo>
                <a:lnTo>
                  <a:pt x="10196" y="33611"/>
                </a:lnTo>
                <a:lnTo>
                  <a:pt x="4605" y="23152"/>
                </a:lnTo>
                <a:lnTo>
                  <a:pt x="1162" y="11802"/>
                </a:lnTo>
                <a:lnTo>
                  <a:pt x="0" y="0"/>
                </a:lnTo>
                <a:lnTo>
                  <a:pt x="121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壁灯 / 户外墙灯　｜ 按产品　｜ 壁装 1.8–2.0 m</a:t>
            </a:r>
          </a:p>
        </p:txBody>
      </p:sp>
      <p:sp>
        <p:nvSpPr>
          <p:cNvPr id="39" name="Oval 38"/>
          <p:cNvSpPr/>
          <p:nvPr/>
        </p:nvSpPr>
        <p:spPr>
          <a:xfrm>
            <a:off x="361500" y="4061500"/>
            <a:ext cx="77000" cy="77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78000" y="4075250"/>
            <a:ext cx="44000" cy="41250"/>
          </a:xfrm>
          <a:custGeom>
            <a:avLst/>
            <a:gdLst/>
            <a:ahLst/>
            <a:cxnLst/>
            <a:rect l="l" t="t" r="r" b="b"/>
            <a:pathLst>
              <a:path w="44000" h="41250">
                <a:moveTo>
                  <a:pt x="22000" y="0"/>
                </a:moveTo>
                <a:lnTo>
                  <a:pt x="0" y="41250"/>
                </a:lnTo>
                <a:lnTo>
                  <a:pt x="44000" y="41250"/>
                </a:lnTo>
                <a:lnTo>
                  <a:pt x="2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庭院地埋 / 围栏灯　｜ LED IP65　｜ 地面</a:t>
            </a:r>
          </a:p>
        </p:txBody>
      </p:sp>
      <p:sp>
        <p:nvSpPr>
          <p:cNvPr id="42" name="Oval 41"/>
          <p:cNvSpPr/>
          <p:nvPr/>
        </p:nvSpPr>
        <p:spPr>
          <a:xfrm>
            <a:off x="4435250" y="41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460000" y="40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53338" y="40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36537" y="40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7" name="Oval 46"/>
          <p:cNvSpPr/>
          <p:nvPr/>
        </p:nvSpPr>
        <p:spPr>
          <a:xfrm>
            <a:off x="375250" y="43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400000" y="43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93338" y="43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29996" y="44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06661" y="44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门控开关 MK　｜ 门框式　｜ 门框锁侧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000" y="46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01000" y="46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8000" y="47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000" y="46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8710000" y="560000"/>
          <a:ext cx="3480000" cy="36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F32 黑胡桃壁灯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G06 繁花吊灯 Φ80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G07 繁花吊灯 Φ60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G08 单头小吊灯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G15 法式吊灯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G16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G25 户外入户灯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G26 花园壁灯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88861" y="126398"/>
            <a:ext cx="3646893" cy="7452695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TextBox 54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2" name="TextBox 54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3" name="Connector 54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cxnSp>
        <p:nvCxnSpPr>
          <p:cNvPr id="546" name="Connector 54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TextBox 54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电施-02</a:t>
            </a:r>
          </a:p>
        </p:txBody>
      </p:sp>
      <p:cxnSp>
        <p:nvCxnSpPr>
          <p:cNvPr id="549" name="Connector 54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0" name="TextBox 54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552" name="Connector 55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3" name="TextBox 55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55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58" name="Connector 55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743974" y="3837501"/>
            <a:ext cx="0" cy="42799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>
            <a:off x="1743974" y="3837501"/>
            <a:ext cx="48332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227295" y="3837501"/>
            <a:ext cx="4809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2702740" y="4257675"/>
            <a:ext cx="0" cy="40759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02740" y="4257675"/>
            <a:ext cx="55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2221767" y="4665274"/>
            <a:ext cx="48097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H="1">
            <a:off x="1738445" y="4665274"/>
            <a:ext cx="48332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310887" y="3837501"/>
            <a:ext cx="0" cy="34748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3301129" y="3837501"/>
            <a:ext cx="975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3301129" y="3837501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3784449" y="3837501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275182" y="4211119"/>
            <a:ext cx="0" cy="35008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4265425" y="4561200"/>
            <a:ext cx="975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3784449" y="4561200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H="1">
            <a:off x="3301129" y="4561200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2384555" y="2405014"/>
            <a:ext cx="0" cy="4153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382335" y="2405014"/>
            <a:ext cx="22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2382335" y="2405014"/>
            <a:ext cx="41439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2796730" y="2405014"/>
            <a:ext cx="4775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3274277" y="2405014"/>
            <a:ext cx="0" cy="686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88011" y="2804493"/>
            <a:ext cx="0" cy="46712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H="1">
            <a:off x="2805548" y="3271622"/>
            <a:ext cx="48246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2805548" y="3263573"/>
            <a:ext cx="0" cy="80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2377141" y="3263573"/>
            <a:ext cx="42840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377141" y="3257541"/>
            <a:ext cx="0" cy="603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882529" y="4180781"/>
            <a:ext cx="109099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5011131" y="2116500"/>
            <a:ext cx="78598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5797113" y="2116500"/>
            <a:ext cx="7234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6520530" y="2116500"/>
            <a:ext cx="41058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6931118" y="2116500"/>
            <a:ext cx="0" cy="197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507871" y="4924435"/>
            <a:ext cx="514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2021948" y="4924435"/>
            <a:ext cx="0" cy="22569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021948" y="5150128"/>
            <a:ext cx="99471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V="1">
            <a:off x="3016666" y="4661128"/>
            <a:ext cx="0" cy="4890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3016666" y="4661128"/>
            <a:ext cx="188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3204743" y="4661128"/>
            <a:ext cx="0" cy="1421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3204743" y="4803230"/>
            <a:ext cx="0" cy="200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>
            <a:off x="3137871" y="5003846"/>
            <a:ext cx="668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3137871" y="5409256"/>
            <a:ext cx="986141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 flipV="1">
            <a:off x="3137871" y="5003846"/>
            <a:ext cx="0" cy="40541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3033384" y="3382205"/>
            <a:ext cx="103651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V="1">
            <a:off x="4069897" y="3010230"/>
            <a:ext cx="0" cy="3719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2055384" y="3382205"/>
            <a:ext cx="9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 flipV="1">
            <a:off x="2055384" y="2483615"/>
            <a:ext cx="0" cy="89859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4069897" y="3010230"/>
            <a:ext cx="0" cy="17219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4069897" y="4732179"/>
            <a:ext cx="652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4721897" y="4732179"/>
            <a:ext cx="253276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7254666" y="4732179"/>
            <a:ext cx="0" cy="835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V="1">
            <a:off x="4145128" y="4732179"/>
            <a:ext cx="0" cy="677077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4145128" y="4732179"/>
            <a:ext cx="576769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4458635" y="4080134"/>
            <a:ext cx="10113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470025" y="4080134"/>
            <a:ext cx="0" cy="313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4458635" y="2312256"/>
            <a:ext cx="0" cy="176787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4458589" y="2312256"/>
            <a:ext cx="4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470025" y="4393641"/>
            <a:ext cx="212318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7593205" y="4393641"/>
            <a:ext cx="0" cy="34689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V="1">
            <a:off x="4166244" y="4080134"/>
            <a:ext cx="0" cy="132912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4166244" y="4080134"/>
            <a:ext cx="292391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H="1">
            <a:off x="1461863" y="4924435"/>
            <a:ext cx="460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1461863" y="4924435"/>
            <a:ext cx="0" cy="35515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V="1">
            <a:off x="1507871" y="4252643"/>
            <a:ext cx="0" cy="67179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1507871" y="4252643"/>
            <a:ext cx="71898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1507871" y="4265497"/>
            <a:ext cx="0" cy="658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1507871" y="4265497"/>
            <a:ext cx="23610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1507871" y="4924435"/>
            <a:ext cx="230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1738445" y="4665274"/>
            <a:ext cx="0" cy="259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H="1">
            <a:off x="1865138" y="5150128"/>
            <a:ext cx="1568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865138" y="5150128"/>
            <a:ext cx="0" cy="13904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>
            <a:off x="2021948" y="5150128"/>
            <a:ext cx="3133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>
            <a:off x="2335340" y="5150128"/>
            <a:ext cx="0" cy="125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3016666" y="4203184"/>
            <a:ext cx="0" cy="45794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>
            <a:off x="3016666" y="4203184"/>
            <a:ext cx="7812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016666" y="4184989"/>
            <a:ext cx="0" cy="47613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>
            <a:off x="3016666" y="4184989"/>
            <a:ext cx="2942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016666" y="4561200"/>
            <a:ext cx="0" cy="9992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>
            <a:off x="3016666" y="4561200"/>
            <a:ext cx="28446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>
            <a:off x="3137871" y="5003846"/>
            <a:ext cx="4128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3179154" y="4864428"/>
            <a:ext cx="0" cy="1394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2226858" y="5003846"/>
            <a:ext cx="9110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2226858" y="4252643"/>
            <a:ext cx="0" cy="7512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3137871" y="3837501"/>
            <a:ext cx="0" cy="11663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2708269" y="3837501"/>
            <a:ext cx="42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2702740" y="5003846"/>
            <a:ext cx="4351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2702740" y="4665274"/>
            <a:ext cx="0" cy="33857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3204743" y="4203184"/>
            <a:ext cx="0" cy="60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3204743" y="4203184"/>
            <a:ext cx="59322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3204743" y="4184989"/>
            <a:ext cx="0" cy="6182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204743" y="4184989"/>
            <a:ext cx="1061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204743" y="4803230"/>
            <a:ext cx="963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 flipV="1">
            <a:off x="3301129" y="4561200"/>
            <a:ext cx="0" cy="24203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V="1">
            <a:off x="3204743" y="5332932"/>
            <a:ext cx="0" cy="10558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4458635" y="4080134"/>
            <a:ext cx="142389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5882529" y="4080134"/>
            <a:ext cx="0" cy="10064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4458635" y="4080134"/>
            <a:ext cx="55249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V="1">
            <a:off x="5011131" y="2116500"/>
            <a:ext cx="0" cy="196363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4458635" y="4080134"/>
            <a:ext cx="15055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 flipV="1">
            <a:off x="4609193" y="3482976"/>
            <a:ext cx="0" cy="59715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 flipV="1">
            <a:off x="3033384" y="2818974"/>
            <a:ext cx="0" cy="5632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 flipH="1">
            <a:off x="2803798" y="2818974"/>
            <a:ext cx="2295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033384" y="2567172"/>
            <a:ext cx="0" cy="81503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3033384" y="2567172"/>
            <a:ext cx="995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 flipH="1">
            <a:off x="2384555" y="3382205"/>
            <a:ext cx="64882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V="1">
            <a:off x="2384555" y="2820355"/>
            <a:ext cx="0" cy="5618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H="1">
            <a:off x="2805548" y="3382205"/>
            <a:ext cx="22783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V="1">
            <a:off x="2805548" y="3263573"/>
            <a:ext cx="0" cy="1186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2055384" y="2483615"/>
            <a:ext cx="7484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2803798" y="2483615"/>
            <a:ext cx="0" cy="3353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2055384" y="2483615"/>
            <a:ext cx="0" cy="835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2055384" y="2567172"/>
            <a:ext cx="1973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 flipV="1">
            <a:off x="2055384" y="2405014"/>
            <a:ext cx="0" cy="786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2055384" y="2405014"/>
            <a:ext cx="3269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2055384" y="2483615"/>
            <a:ext cx="0" cy="77392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2055384" y="3257541"/>
            <a:ext cx="3217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4069897" y="3010230"/>
            <a:ext cx="946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4164537" y="3010230"/>
            <a:ext cx="0" cy="32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4458589" y="2312256"/>
            <a:ext cx="14239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882529" y="2312256"/>
            <a:ext cx="0" cy="18685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4458589" y="2312256"/>
            <a:ext cx="55254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 flipV="1">
            <a:off x="5011131" y="2116500"/>
            <a:ext cx="0" cy="195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4458589" y="2312256"/>
            <a:ext cx="1506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4609193" y="2312256"/>
            <a:ext cx="0" cy="11707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 flipV="1">
            <a:off x="5470025" y="4180781"/>
            <a:ext cx="0" cy="2128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5470025" y="4180781"/>
            <a:ext cx="412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 flipV="1">
            <a:off x="5470025" y="2116500"/>
            <a:ext cx="0" cy="22771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5470025" y="2116500"/>
            <a:ext cx="32708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 flipV="1">
            <a:off x="5470025" y="3482976"/>
            <a:ext cx="0" cy="9106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H="1">
            <a:off x="4609193" y="3482976"/>
            <a:ext cx="86083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721897" y="4732179"/>
            <a:ext cx="7798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5501777" y="4732179"/>
            <a:ext cx="0" cy="1156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4721897" y="4732179"/>
            <a:ext cx="19726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6694541" y="4732179"/>
            <a:ext cx="0" cy="934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7254666" y="4740538"/>
            <a:ext cx="0" cy="3380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7254666" y="5078600"/>
            <a:ext cx="1644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7593205" y="4740538"/>
            <a:ext cx="3567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7949918" y="4740538"/>
            <a:ext cx="0" cy="1556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1507871" y="4924435"/>
            <a:ext cx="1630000" cy="794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2281676" y="49478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2293979" y="49484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2306282" y="4949093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2318586" y="49496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2330889" y="49502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0" name="TextBox 699"/>
          <p:cNvSpPr txBox="1"/>
          <p:nvPr/>
        </p:nvSpPr>
        <p:spPr>
          <a:xfrm>
            <a:off x="2343987" y="4907831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1" name="Connector 700"/>
          <p:cNvCxnSpPr/>
          <p:nvPr/>
        </p:nvCxnSpPr>
        <p:spPr>
          <a:xfrm flipH="1" flipV="1">
            <a:off x="3016666" y="4661128"/>
            <a:ext cx="188077" cy="14210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H="1">
            <a:off x="3108177" y="4743941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H="1">
            <a:off x="3098350" y="4736516"/>
            <a:ext cx="44365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H="1">
            <a:off x="3088522" y="4729090"/>
            <a:ext cx="44365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H="1">
            <a:off x="3078694" y="4721665"/>
            <a:ext cx="44366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 flipH="1">
            <a:off x="3068866" y="4714239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7" name="TextBox 706"/>
          <p:cNvSpPr txBox="1"/>
          <p:nvPr/>
        </p:nvSpPr>
        <p:spPr>
          <a:xfrm>
            <a:off x="3131821" y="467587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8" name="Connector 707"/>
          <p:cNvCxnSpPr/>
          <p:nvPr/>
        </p:nvCxnSpPr>
        <p:spPr>
          <a:xfrm flipH="1" flipV="1">
            <a:off x="2055384" y="2483615"/>
            <a:ext cx="978000" cy="89859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H="1">
            <a:off x="2540148" y="2948631"/>
            <a:ext cx="44754" cy="1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H="1">
            <a:off x="2531078" y="2940297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H="1">
            <a:off x="2522007" y="2931963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H="1">
            <a:off x="2512937" y="2923629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H="1">
            <a:off x="2503867" y="2915295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4" name="TextBox 713"/>
          <p:cNvSpPr txBox="1"/>
          <p:nvPr/>
        </p:nvSpPr>
        <p:spPr>
          <a:xfrm>
            <a:off x="2565500" y="287660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cxnSp>
        <p:nvCxnSpPr>
          <p:cNvPr id="715" name="Connector 714"/>
          <p:cNvCxnSpPr/>
          <p:nvPr/>
        </p:nvCxnSpPr>
        <p:spPr>
          <a:xfrm flipH="1" flipV="1">
            <a:off x="4458589" y="2312256"/>
            <a:ext cx="46" cy="1767878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H="1" flipV="1">
            <a:off x="4442775" y="3204994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H="1" flipV="1">
            <a:off x="4442775" y="3192676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H="1" flipV="1">
            <a:off x="4442775" y="3180359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H="1" flipV="1">
            <a:off x="4442775" y="3168041"/>
            <a:ext cx="31674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H="1" flipV="1">
            <a:off x="4442774" y="3155723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1" name="TextBox 720"/>
          <p:cNvSpPr txBox="1"/>
          <p:nvPr/>
        </p:nvSpPr>
        <p:spPr>
          <a:xfrm>
            <a:off x="4479728" y="3139886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22" name="Connector 721"/>
          <p:cNvCxnSpPr/>
          <p:nvPr/>
        </p:nvCxnSpPr>
        <p:spPr>
          <a:xfrm>
            <a:off x="4458589" y="2312256"/>
            <a:ext cx="1011436" cy="208138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4932374" y="3323468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4937757" y="3334547"/>
            <a:ext cx="42333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4943141" y="3345626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4948525" y="3356705"/>
            <a:ext cx="42332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4953908" y="3367784"/>
            <a:ext cx="42333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8" name="TextBox 727"/>
          <p:cNvSpPr txBox="1"/>
          <p:nvPr/>
        </p:nvSpPr>
        <p:spPr>
          <a:xfrm>
            <a:off x="4985423" y="3296639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729" name="Rectangle 728"/>
          <p:cNvSpPr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TextBox 729"/>
          <p:cNvSpPr txBox="1"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731" name="Connector 730"/>
          <p:cNvCxnSpPr/>
          <p:nvPr/>
        </p:nvCxnSpPr>
        <p:spPr>
          <a:xfrm>
            <a:off x="2222564" y="5225358"/>
            <a:ext cx="1127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2335340" y="5225358"/>
            <a:ext cx="0" cy="5002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Rectangle 732"/>
          <p:cNvSpPr/>
          <p:nvPr/>
        </p:nvSpPr>
        <p:spPr>
          <a:xfrm>
            <a:off x="4081780" y="5378286"/>
            <a:ext cx="126695" cy="6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081780" y="5378286"/>
            <a:ext cx="126696" cy="61940"/>
          </a:xfrm>
          <a:custGeom>
            <a:avLst/>
            <a:gdLst/>
            <a:ahLst/>
            <a:cxnLst/>
            <a:rect l="l" t="t" r="r" b="b"/>
            <a:pathLst>
              <a:path w="126696" h="61940">
                <a:moveTo>
                  <a:pt x="0" y="61940"/>
                </a:moveTo>
                <a:lnTo>
                  <a:pt x="126696" y="0"/>
                </a:lnTo>
                <a:lnTo>
                  <a:pt x="126696" y="6194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TextBox 733"/>
          <p:cNvSpPr txBox="1"/>
          <p:nvPr/>
        </p:nvSpPr>
        <p:spPr>
          <a:xfrm>
            <a:off x="4060664" y="5445857"/>
            <a:ext cx="168927" cy="506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735" name="Oval 734"/>
          <p:cNvSpPr/>
          <p:nvPr/>
        </p:nvSpPr>
        <p:spPr>
          <a:xfrm>
            <a:off x="3140441" y="4825715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140441" y="4864428"/>
            <a:ext cx="77425" cy="38713"/>
          </a:xfrm>
          <a:custGeom>
            <a:avLst/>
            <a:gdLst/>
            <a:ahLst/>
            <a:cxnLst/>
            <a:rect l="l" t="t" r="r" b="b"/>
            <a:pathLst>
              <a:path w="77425" h="38713">
                <a:moveTo>
                  <a:pt x="77425" y="0"/>
                </a:moveTo>
                <a:lnTo>
                  <a:pt x="76682" y="7552"/>
                </a:lnTo>
                <a:lnTo>
                  <a:pt x="74479" y="14815"/>
                </a:lnTo>
                <a:lnTo>
                  <a:pt x="70901" y="21508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3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8"/>
                </a:lnTo>
                <a:lnTo>
                  <a:pt x="2947" y="14815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TextBox 735"/>
          <p:cNvSpPr txBox="1"/>
          <p:nvPr/>
        </p:nvSpPr>
        <p:spPr>
          <a:xfrm>
            <a:off x="3217866" y="4783483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737" name="Oval 736"/>
          <p:cNvSpPr/>
          <p:nvPr/>
        </p:nvSpPr>
        <p:spPr>
          <a:xfrm>
            <a:off x="3755733" y="416095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8" name="Connector 737"/>
          <p:cNvCxnSpPr/>
          <p:nvPr/>
        </p:nvCxnSpPr>
        <p:spPr>
          <a:xfrm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V="1"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0" name="TextBox 739"/>
          <p:cNvSpPr txBox="1"/>
          <p:nvPr/>
        </p:nvSpPr>
        <p:spPr>
          <a:xfrm>
            <a:off x="3836677" y="4122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741" name="Oval 740"/>
          <p:cNvSpPr/>
          <p:nvPr/>
        </p:nvSpPr>
        <p:spPr>
          <a:xfrm>
            <a:off x="2184627" y="421041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2" name="Connector 741"/>
          <p:cNvCxnSpPr/>
          <p:nvPr/>
        </p:nvCxnSpPr>
        <p:spPr>
          <a:xfrm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V="1"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4" name="TextBox 743"/>
          <p:cNvSpPr txBox="1"/>
          <p:nvPr/>
        </p:nvSpPr>
        <p:spPr>
          <a:xfrm>
            <a:off x="2265571" y="417169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745" name="Oval 744"/>
          <p:cNvSpPr/>
          <p:nvPr/>
        </p:nvSpPr>
        <p:spPr>
          <a:xfrm>
            <a:off x="1822906" y="5246944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6" name="Connector 745"/>
          <p:cNvCxnSpPr/>
          <p:nvPr/>
        </p:nvCxnSpPr>
        <p:spPr>
          <a:xfrm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 flipV="1"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TextBox 747"/>
          <p:cNvSpPr txBox="1"/>
          <p:nvPr/>
        </p:nvSpPr>
        <p:spPr>
          <a:xfrm>
            <a:off x="1903851" y="52082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49" name="Oval 748"/>
          <p:cNvSpPr/>
          <p:nvPr/>
        </p:nvSpPr>
        <p:spPr>
          <a:xfrm>
            <a:off x="2761566" y="277674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0" name="Connector 749"/>
          <p:cNvCxnSpPr/>
          <p:nvPr/>
        </p:nvCxnSpPr>
        <p:spPr>
          <a:xfrm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 flipV="1"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2" name="TextBox 751"/>
          <p:cNvSpPr txBox="1"/>
          <p:nvPr/>
        </p:nvSpPr>
        <p:spPr>
          <a:xfrm>
            <a:off x="2842511" y="27380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753" name="Oval 752"/>
          <p:cNvSpPr/>
          <p:nvPr/>
        </p:nvSpPr>
        <p:spPr>
          <a:xfrm>
            <a:off x="3986732" y="252494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4" name="Connector 753"/>
          <p:cNvCxnSpPr/>
          <p:nvPr/>
        </p:nvCxnSpPr>
        <p:spPr>
          <a:xfrm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 flipV="1"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6" name="TextBox 755"/>
          <p:cNvSpPr txBox="1"/>
          <p:nvPr/>
        </p:nvSpPr>
        <p:spPr>
          <a:xfrm>
            <a:off x="4067677" y="248622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757" name="Oval 756"/>
          <p:cNvSpPr/>
          <p:nvPr/>
        </p:nvSpPr>
        <p:spPr>
          <a:xfrm>
            <a:off x="1423151" y="5240880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423151" y="5279593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TextBox 757"/>
          <p:cNvSpPr txBox="1"/>
          <p:nvPr/>
        </p:nvSpPr>
        <p:spPr>
          <a:xfrm>
            <a:off x="1500576" y="519864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759" name="Oval 758"/>
          <p:cNvSpPr/>
          <p:nvPr/>
        </p:nvSpPr>
        <p:spPr>
          <a:xfrm>
            <a:off x="7911205" y="4857471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7911205" y="4896184"/>
            <a:ext cx="77426" cy="38712"/>
          </a:xfrm>
          <a:custGeom>
            <a:avLst/>
            <a:gdLst/>
            <a:ahLst/>
            <a:cxnLst/>
            <a:rect l="l" t="t" r="r" b="b"/>
            <a:pathLst>
              <a:path w="77426" h="38712">
                <a:moveTo>
                  <a:pt x="77426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1" y="32188"/>
                </a:lnTo>
                <a:lnTo>
                  <a:pt x="53528" y="35765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1" y="37968"/>
                </a:lnTo>
                <a:lnTo>
                  <a:pt x="23898" y="35765"/>
                </a:lnTo>
                <a:lnTo>
                  <a:pt x="17205" y="32188"/>
                </a:lnTo>
                <a:lnTo>
                  <a:pt x="11339" y="27374"/>
                </a:lnTo>
                <a:lnTo>
                  <a:pt x="6525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6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TextBox 759"/>
          <p:cNvSpPr txBox="1"/>
          <p:nvPr/>
        </p:nvSpPr>
        <p:spPr>
          <a:xfrm>
            <a:off x="7988631" y="4815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761" name="Oval 760"/>
          <p:cNvSpPr/>
          <p:nvPr/>
        </p:nvSpPr>
        <p:spPr>
          <a:xfrm>
            <a:off x="584381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584381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6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TextBox 761"/>
          <p:cNvSpPr txBox="1"/>
          <p:nvPr/>
        </p:nvSpPr>
        <p:spPr>
          <a:xfrm>
            <a:off x="592124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3" name="Oval 762"/>
          <p:cNvSpPr/>
          <p:nvPr/>
        </p:nvSpPr>
        <p:spPr>
          <a:xfrm>
            <a:off x="693480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693480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TextBox 763"/>
          <p:cNvSpPr txBox="1"/>
          <p:nvPr/>
        </p:nvSpPr>
        <p:spPr>
          <a:xfrm>
            <a:off x="701223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5" name="Oval 764"/>
          <p:cNvSpPr/>
          <p:nvPr/>
        </p:nvSpPr>
        <p:spPr>
          <a:xfrm>
            <a:off x="2674586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2693942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TextBox 766"/>
          <p:cNvSpPr txBox="1"/>
          <p:nvPr/>
        </p:nvSpPr>
        <p:spPr>
          <a:xfrm>
            <a:off x="2741453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68" name="Oval 767"/>
          <p:cNvSpPr/>
          <p:nvPr/>
        </p:nvSpPr>
        <p:spPr>
          <a:xfrm>
            <a:off x="2193612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2212968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2260479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1" name="Oval 770"/>
          <p:cNvSpPr/>
          <p:nvPr/>
        </p:nvSpPr>
        <p:spPr>
          <a:xfrm>
            <a:off x="1710290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1729647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TextBox 772"/>
          <p:cNvSpPr txBox="1"/>
          <p:nvPr/>
        </p:nvSpPr>
        <p:spPr>
          <a:xfrm>
            <a:off x="1777157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4" name="Oval 773"/>
          <p:cNvSpPr/>
          <p:nvPr/>
        </p:nvSpPr>
        <p:spPr>
          <a:xfrm>
            <a:off x="1715819" y="423734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735175" y="4256699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TextBox 775"/>
          <p:cNvSpPr txBox="1"/>
          <p:nvPr/>
        </p:nvSpPr>
        <p:spPr>
          <a:xfrm>
            <a:off x="1782686" y="418455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77" name="Oval 776"/>
          <p:cNvSpPr/>
          <p:nvPr/>
        </p:nvSpPr>
        <p:spPr>
          <a:xfrm>
            <a:off x="2199141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2218497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2266008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0" name="Oval 779"/>
          <p:cNvSpPr/>
          <p:nvPr/>
        </p:nvSpPr>
        <p:spPr>
          <a:xfrm>
            <a:off x="268011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69947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TextBox 781"/>
          <p:cNvSpPr txBox="1"/>
          <p:nvPr/>
        </p:nvSpPr>
        <p:spPr>
          <a:xfrm>
            <a:off x="274698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3" name="Oval 782"/>
          <p:cNvSpPr/>
          <p:nvPr/>
        </p:nvSpPr>
        <p:spPr>
          <a:xfrm>
            <a:off x="2680114" y="422952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699471" y="42488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TextBox 784"/>
          <p:cNvSpPr txBox="1"/>
          <p:nvPr/>
        </p:nvSpPr>
        <p:spPr>
          <a:xfrm>
            <a:off x="2746982" y="41767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86" name="Oval 785"/>
          <p:cNvSpPr/>
          <p:nvPr/>
        </p:nvSpPr>
        <p:spPr>
          <a:xfrm>
            <a:off x="1715819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1735175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TextBox 787"/>
          <p:cNvSpPr txBox="1"/>
          <p:nvPr/>
        </p:nvSpPr>
        <p:spPr>
          <a:xfrm>
            <a:off x="1782686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9" name="Oval 788"/>
          <p:cNvSpPr/>
          <p:nvPr/>
        </p:nvSpPr>
        <p:spPr>
          <a:xfrm>
            <a:off x="3756295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377565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382316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2" name="Oval 791"/>
          <p:cNvSpPr/>
          <p:nvPr/>
        </p:nvSpPr>
        <p:spPr>
          <a:xfrm>
            <a:off x="3272974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329233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TextBox 793"/>
          <p:cNvSpPr txBox="1"/>
          <p:nvPr/>
        </p:nvSpPr>
        <p:spPr>
          <a:xfrm>
            <a:off x="333984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5" name="Oval 794"/>
          <p:cNvSpPr/>
          <p:nvPr/>
        </p:nvSpPr>
        <p:spPr>
          <a:xfrm>
            <a:off x="3282732" y="415683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3302089" y="417619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TextBox 796"/>
          <p:cNvSpPr txBox="1"/>
          <p:nvPr/>
        </p:nvSpPr>
        <p:spPr>
          <a:xfrm>
            <a:off x="3349600" y="410404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98" name="Oval 797"/>
          <p:cNvSpPr/>
          <p:nvPr/>
        </p:nvSpPr>
        <p:spPr>
          <a:xfrm>
            <a:off x="327297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329233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TextBox 799"/>
          <p:cNvSpPr txBox="1"/>
          <p:nvPr/>
        </p:nvSpPr>
        <p:spPr>
          <a:xfrm>
            <a:off x="333984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1" name="Oval 800"/>
          <p:cNvSpPr/>
          <p:nvPr/>
        </p:nvSpPr>
        <p:spPr>
          <a:xfrm>
            <a:off x="3756295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377565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TextBox 802"/>
          <p:cNvSpPr txBox="1"/>
          <p:nvPr/>
        </p:nvSpPr>
        <p:spPr>
          <a:xfrm>
            <a:off x="382316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4" name="Oval 803"/>
          <p:cNvSpPr/>
          <p:nvPr/>
        </p:nvSpPr>
        <p:spPr>
          <a:xfrm>
            <a:off x="4237270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4256626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TextBox 805"/>
          <p:cNvSpPr txBox="1"/>
          <p:nvPr/>
        </p:nvSpPr>
        <p:spPr>
          <a:xfrm>
            <a:off x="4304137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7" name="Oval 806"/>
          <p:cNvSpPr/>
          <p:nvPr/>
        </p:nvSpPr>
        <p:spPr>
          <a:xfrm>
            <a:off x="4247028" y="4182964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4266384" y="420232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TextBox 808"/>
          <p:cNvSpPr txBox="1"/>
          <p:nvPr/>
        </p:nvSpPr>
        <p:spPr>
          <a:xfrm>
            <a:off x="4313895" y="413017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0" name="Oval 809"/>
          <p:cNvSpPr/>
          <p:nvPr/>
        </p:nvSpPr>
        <p:spPr>
          <a:xfrm>
            <a:off x="4237270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4256626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TextBox 811"/>
          <p:cNvSpPr txBox="1"/>
          <p:nvPr/>
        </p:nvSpPr>
        <p:spPr>
          <a:xfrm>
            <a:off x="4304137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3" name="Oval 812"/>
          <p:cNvSpPr/>
          <p:nvPr/>
        </p:nvSpPr>
        <p:spPr>
          <a:xfrm>
            <a:off x="6652309" y="478336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4" name="Connector 813"/>
          <p:cNvCxnSpPr/>
          <p:nvPr/>
        </p:nvCxnSpPr>
        <p:spPr>
          <a:xfrm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6" name="TextBox 815"/>
          <p:cNvSpPr txBox="1"/>
          <p:nvPr/>
        </p:nvSpPr>
        <p:spPr>
          <a:xfrm>
            <a:off x="6733254" y="47446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817" name="Oval 816"/>
          <p:cNvSpPr/>
          <p:nvPr/>
        </p:nvSpPr>
        <p:spPr>
          <a:xfrm>
            <a:off x="5459545" y="480561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8" name="Connector 817"/>
          <p:cNvCxnSpPr/>
          <p:nvPr/>
        </p:nvCxnSpPr>
        <p:spPr>
          <a:xfrm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0" name="TextBox 819"/>
          <p:cNvSpPr txBox="1"/>
          <p:nvPr/>
        </p:nvSpPr>
        <p:spPr>
          <a:xfrm>
            <a:off x="5540490" y="476689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821" name="Oval 820"/>
          <p:cNvSpPr/>
          <p:nvPr/>
        </p:nvSpPr>
        <p:spPr>
          <a:xfrm>
            <a:off x="2307186" y="524722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326542" y="526658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TextBox 822"/>
          <p:cNvSpPr txBox="1"/>
          <p:nvPr/>
        </p:nvSpPr>
        <p:spPr>
          <a:xfrm>
            <a:off x="2374053" y="519443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824" name="Oval 823"/>
          <p:cNvSpPr/>
          <p:nvPr/>
        </p:nvSpPr>
        <p:spPr>
          <a:xfrm>
            <a:off x="2777394" y="323541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796750" y="325477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TextBox 825"/>
          <p:cNvSpPr txBox="1"/>
          <p:nvPr/>
        </p:nvSpPr>
        <p:spPr>
          <a:xfrm>
            <a:off x="2844261" y="31826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27" name="Oval 826"/>
          <p:cNvSpPr/>
          <p:nvPr/>
        </p:nvSpPr>
        <p:spPr>
          <a:xfrm>
            <a:off x="2348986" y="322938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368342" y="324874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TextBox 828"/>
          <p:cNvSpPr txBox="1"/>
          <p:nvPr/>
        </p:nvSpPr>
        <p:spPr>
          <a:xfrm>
            <a:off x="2415853" y="317659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30" name="Oval 829"/>
          <p:cNvSpPr/>
          <p:nvPr/>
        </p:nvSpPr>
        <p:spPr>
          <a:xfrm>
            <a:off x="2356401" y="279220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2375757" y="281155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TextBox 831"/>
          <p:cNvSpPr txBox="1"/>
          <p:nvPr/>
        </p:nvSpPr>
        <p:spPr>
          <a:xfrm>
            <a:off x="2423268" y="273941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3" name="Oval 832"/>
          <p:cNvSpPr/>
          <p:nvPr/>
        </p:nvSpPr>
        <p:spPr>
          <a:xfrm>
            <a:off x="2354180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2373537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TextBox 834"/>
          <p:cNvSpPr txBox="1"/>
          <p:nvPr/>
        </p:nvSpPr>
        <p:spPr>
          <a:xfrm>
            <a:off x="2421048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6" name="Oval 835"/>
          <p:cNvSpPr/>
          <p:nvPr/>
        </p:nvSpPr>
        <p:spPr>
          <a:xfrm>
            <a:off x="2768576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2787932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TextBox 837"/>
          <p:cNvSpPr txBox="1"/>
          <p:nvPr/>
        </p:nvSpPr>
        <p:spPr>
          <a:xfrm>
            <a:off x="2835443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9" name="Oval 838"/>
          <p:cNvSpPr/>
          <p:nvPr/>
        </p:nvSpPr>
        <p:spPr>
          <a:xfrm>
            <a:off x="3246123" y="23837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3265479" y="24030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TextBox 840"/>
          <p:cNvSpPr txBox="1"/>
          <p:nvPr/>
        </p:nvSpPr>
        <p:spPr>
          <a:xfrm>
            <a:off x="3312990" y="23309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42" name="Oval 841"/>
          <p:cNvSpPr/>
          <p:nvPr/>
        </p:nvSpPr>
        <p:spPr>
          <a:xfrm>
            <a:off x="3259856" y="277633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3279212" y="279569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TextBox 843"/>
          <p:cNvSpPr txBox="1"/>
          <p:nvPr/>
        </p:nvSpPr>
        <p:spPr>
          <a:xfrm>
            <a:off x="3326723" y="272354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5" name="Oval 844"/>
          <p:cNvSpPr/>
          <p:nvPr/>
        </p:nvSpPr>
        <p:spPr>
          <a:xfrm>
            <a:off x="3259856" y="324346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3279212" y="326282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TextBox 846"/>
          <p:cNvSpPr txBox="1"/>
          <p:nvPr/>
        </p:nvSpPr>
        <p:spPr>
          <a:xfrm>
            <a:off x="3326723" y="319067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8" name="Oval 847"/>
          <p:cNvSpPr/>
          <p:nvPr/>
        </p:nvSpPr>
        <p:spPr>
          <a:xfrm>
            <a:off x="7390977" y="50504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7410333" y="50698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TextBox 849"/>
          <p:cNvSpPr txBox="1"/>
          <p:nvPr/>
        </p:nvSpPr>
        <p:spPr>
          <a:xfrm>
            <a:off x="7457844" y="49976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851" name="Oval 850"/>
          <p:cNvSpPr/>
          <p:nvPr/>
        </p:nvSpPr>
        <p:spPr>
          <a:xfrm>
            <a:off x="4136383" y="330212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4155739" y="3321478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TextBox 852"/>
          <p:cNvSpPr txBox="1"/>
          <p:nvPr/>
        </p:nvSpPr>
        <p:spPr>
          <a:xfrm>
            <a:off x="4203250" y="324933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854" name="Oval 853"/>
          <p:cNvSpPr/>
          <p:nvPr/>
        </p:nvSpPr>
        <p:spPr>
          <a:xfrm>
            <a:off x="4986496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997054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TextBox 854"/>
          <p:cNvSpPr txBox="1"/>
          <p:nvPr/>
        </p:nvSpPr>
        <p:spPr>
          <a:xfrm>
            <a:off x="5049844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6" name="Oval 855"/>
          <p:cNvSpPr/>
          <p:nvPr/>
        </p:nvSpPr>
        <p:spPr>
          <a:xfrm>
            <a:off x="5772478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783036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TextBox 856"/>
          <p:cNvSpPr txBox="1"/>
          <p:nvPr/>
        </p:nvSpPr>
        <p:spPr>
          <a:xfrm>
            <a:off x="5835826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8" name="Oval 857"/>
          <p:cNvSpPr/>
          <p:nvPr/>
        </p:nvSpPr>
        <p:spPr>
          <a:xfrm>
            <a:off x="6495894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506452" y="2100663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8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8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TextBox 858"/>
          <p:cNvSpPr txBox="1"/>
          <p:nvPr/>
        </p:nvSpPr>
        <p:spPr>
          <a:xfrm>
            <a:off x="6559242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0" name="Oval 859"/>
          <p:cNvSpPr/>
          <p:nvPr/>
        </p:nvSpPr>
        <p:spPr>
          <a:xfrm>
            <a:off x="6906483" y="2093844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6917041" y="2102642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7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TextBox 860"/>
          <p:cNvSpPr txBox="1"/>
          <p:nvPr/>
        </p:nvSpPr>
        <p:spPr>
          <a:xfrm>
            <a:off x="6969831" y="203753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2" name="Oval 861"/>
          <p:cNvSpPr/>
          <p:nvPr/>
        </p:nvSpPr>
        <p:spPr>
          <a:xfrm>
            <a:off x="4570480" y="3444263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4570480" y="3482976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2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TextBox 862"/>
          <p:cNvSpPr txBox="1"/>
          <p:nvPr/>
        </p:nvSpPr>
        <p:spPr>
          <a:xfrm>
            <a:off x="4647905" y="34020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864" name="Oval 863"/>
          <p:cNvSpPr/>
          <p:nvPr/>
        </p:nvSpPr>
        <p:spPr>
          <a:xfrm>
            <a:off x="1495202" y="491176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5" name="Connector 864"/>
          <p:cNvCxnSpPr/>
          <p:nvPr/>
        </p:nvCxnSpPr>
        <p:spPr>
          <a:xfrm flipV="1">
            <a:off x="1507871" y="487665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1555651" y="48766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1547051" y="48852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1538450" y="48938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>
            <a:off x="1529850" y="490245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H="1">
            <a:off x="1472036" y="492443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H="1" flipV="1">
            <a:off x="1460091" y="49483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2" name="TextBox 871"/>
          <p:cNvSpPr txBox="1"/>
          <p:nvPr/>
        </p:nvSpPr>
        <p:spPr>
          <a:xfrm>
            <a:off x="1562690" y="482034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873" name="Oval 872"/>
          <p:cNvSpPr/>
          <p:nvPr/>
        </p:nvSpPr>
        <p:spPr>
          <a:xfrm>
            <a:off x="2009279" y="5137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4" name="Connector 873"/>
          <p:cNvCxnSpPr/>
          <p:nvPr/>
        </p:nvCxnSpPr>
        <p:spPr>
          <a:xfrm flipV="1">
            <a:off x="2021948" y="5102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>
            <a:off x="2069728" y="5102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>
            <a:off x="2061128" y="5110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7" name="TextBox 876"/>
          <p:cNvSpPr txBox="1"/>
          <p:nvPr/>
        </p:nvSpPr>
        <p:spPr>
          <a:xfrm>
            <a:off x="2076767" y="5046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878" name="Oval 877"/>
          <p:cNvSpPr/>
          <p:nvPr/>
        </p:nvSpPr>
        <p:spPr>
          <a:xfrm>
            <a:off x="3003997" y="4648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9" name="Connector 878"/>
          <p:cNvCxnSpPr/>
          <p:nvPr/>
        </p:nvCxnSpPr>
        <p:spPr>
          <a:xfrm flipV="1">
            <a:off x="3016666" y="4613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3064446" y="4613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>
            <a:off x="3055846" y="4621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>
            <a:off x="3047245" y="463054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H="1">
            <a:off x="2980831" y="4661128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H="1" flipV="1">
            <a:off x="2968886" y="468501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5" name="TextBox 884"/>
          <p:cNvSpPr txBox="1"/>
          <p:nvPr/>
        </p:nvSpPr>
        <p:spPr>
          <a:xfrm>
            <a:off x="3071485" y="4557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886" name="Oval 885"/>
          <p:cNvSpPr/>
          <p:nvPr/>
        </p:nvSpPr>
        <p:spPr>
          <a:xfrm>
            <a:off x="3125202" y="499117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7" name="Connector 886"/>
          <p:cNvCxnSpPr/>
          <p:nvPr/>
        </p:nvCxnSpPr>
        <p:spPr>
          <a:xfrm flipV="1">
            <a:off x="3137871" y="495606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3185651" y="49560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3177051" y="49646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3168450" y="49732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3159850" y="498186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H="1">
            <a:off x="3102036" y="500384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H="1" flipV="1">
            <a:off x="3090091" y="50277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4" name="TextBox 893"/>
          <p:cNvSpPr txBox="1"/>
          <p:nvPr/>
        </p:nvSpPr>
        <p:spPr>
          <a:xfrm>
            <a:off x="3192690" y="489975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895" name="Oval 894"/>
          <p:cNvSpPr/>
          <p:nvPr/>
        </p:nvSpPr>
        <p:spPr>
          <a:xfrm>
            <a:off x="3192074" y="4790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6" name="Connector 895"/>
          <p:cNvCxnSpPr/>
          <p:nvPr/>
        </p:nvCxnSpPr>
        <p:spPr>
          <a:xfrm flipV="1">
            <a:off x="3204743" y="4755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3252523" y="4755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3243923" y="47640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3235322" y="47726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H="1">
            <a:off x="3168908" y="4803230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 flipH="1" flipV="1">
            <a:off x="3156963" y="482712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2" name="TextBox 901"/>
          <p:cNvSpPr txBox="1"/>
          <p:nvPr/>
        </p:nvSpPr>
        <p:spPr>
          <a:xfrm>
            <a:off x="3259562" y="4699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903" name="Oval 902"/>
          <p:cNvSpPr/>
          <p:nvPr/>
        </p:nvSpPr>
        <p:spPr>
          <a:xfrm>
            <a:off x="3192074" y="5425843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4" name="Connector 903"/>
          <p:cNvCxnSpPr/>
          <p:nvPr/>
        </p:nvCxnSpPr>
        <p:spPr>
          <a:xfrm flipV="1">
            <a:off x="3204743" y="5390732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3252523" y="5390732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TextBox 905"/>
          <p:cNvSpPr txBox="1"/>
          <p:nvPr/>
        </p:nvSpPr>
        <p:spPr>
          <a:xfrm>
            <a:off x="3259562" y="533442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907" name="Oval 906"/>
          <p:cNvSpPr/>
          <p:nvPr/>
        </p:nvSpPr>
        <p:spPr>
          <a:xfrm>
            <a:off x="4445966" y="406746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8" name="Connector 907"/>
          <p:cNvCxnSpPr/>
          <p:nvPr/>
        </p:nvCxnSpPr>
        <p:spPr>
          <a:xfrm flipV="1">
            <a:off x="4458635" y="4032354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4506415" y="4032354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4497815" y="40409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4489214" y="40495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 flipH="1">
            <a:off x="4422800" y="4080134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 flipH="1" flipV="1">
            <a:off x="4410855" y="4104024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513454" y="39760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915" name="Oval 914"/>
          <p:cNvSpPr/>
          <p:nvPr/>
        </p:nvSpPr>
        <p:spPr>
          <a:xfrm>
            <a:off x="3020715" y="336953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6" name="Connector 915"/>
          <p:cNvCxnSpPr/>
          <p:nvPr/>
        </p:nvCxnSpPr>
        <p:spPr>
          <a:xfrm flipV="1">
            <a:off x="3033384" y="333442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3081164" y="33344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3072564" y="33430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3063963" y="33516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3055363" y="336022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H="1">
            <a:off x="2997549" y="338220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H="1" flipV="1">
            <a:off x="2985604" y="340609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TextBox 922"/>
          <p:cNvSpPr txBox="1"/>
          <p:nvPr/>
        </p:nvSpPr>
        <p:spPr>
          <a:xfrm>
            <a:off x="3088203" y="327811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924" name="Oval 923"/>
          <p:cNvSpPr/>
          <p:nvPr/>
        </p:nvSpPr>
        <p:spPr>
          <a:xfrm>
            <a:off x="2042715" y="247094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5" name="Connector 924"/>
          <p:cNvCxnSpPr/>
          <p:nvPr/>
        </p:nvCxnSpPr>
        <p:spPr>
          <a:xfrm flipV="1">
            <a:off x="2055384" y="243583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2103164" y="24358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2094564" y="24444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2085963" y="24530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2077363" y="24616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 flipH="1">
            <a:off x="2019549" y="248361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 flipH="1" flipV="1">
            <a:off x="2007604" y="250750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2110203" y="23795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933" name="Oval 932"/>
          <p:cNvSpPr/>
          <p:nvPr/>
        </p:nvSpPr>
        <p:spPr>
          <a:xfrm>
            <a:off x="4057227" y="2997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4" name="Connector 933"/>
          <p:cNvCxnSpPr/>
          <p:nvPr/>
        </p:nvCxnSpPr>
        <p:spPr>
          <a:xfrm flipV="1">
            <a:off x="4069897" y="2962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4117677" y="2962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6" name="TextBox 935"/>
          <p:cNvSpPr txBox="1"/>
          <p:nvPr/>
        </p:nvSpPr>
        <p:spPr>
          <a:xfrm>
            <a:off x="4124716" y="2906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937" name="Oval 936"/>
          <p:cNvSpPr/>
          <p:nvPr/>
        </p:nvSpPr>
        <p:spPr>
          <a:xfrm>
            <a:off x="4445920" y="229958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8" name="Connector 937"/>
          <p:cNvCxnSpPr/>
          <p:nvPr/>
        </p:nvCxnSpPr>
        <p:spPr>
          <a:xfrm flipV="1">
            <a:off x="4458589" y="226447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4506369" y="22644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4497769" y="22730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4489168" y="228167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H="1">
            <a:off x="4422754" y="231225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H="1" flipV="1">
            <a:off x="4410809" y="233614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4" name="TextBox 943"/>
          <p:cNvSpPr txBox="1"/>
          <p:nvPr/>
        </p:nvSpPr>
        <p:spPr>
          <a:xfrm>
            <a:off x="4513408" y="220816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945" name="Oval 944"/>
          <p:cNvSpPr/>
          <p:nvPr/>
        </p:nvSpPr>
        <p:spPr>
          <a:xfrm>
            <a:off x="5457356" y="438097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6" name="Connector 945"/>
          <p:cNvCxnSpPr/>
          <p:nvPr/>
        </p:nvCxnSpPr>
        <p:spPr>
          <a:xfrm flipV="1">
            <a:off x="5470025" y="4345861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>
            <a:off x="5517805" y="43458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>
            <a:off x="5509205" y="43544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5500604" y="43630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H="1">
            <a:off x="5434190" y="4393641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H="1" flipV="1">
            <a:off x="5422245" y="441753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2" name="TextBox 951"/>
          <p:cNvSpPr txBox="1"/>
          <p:nvPr/>
        </p:nvSpPr>
        <p:spPr>
          <a:xfrm>
            <a:off x="5524844" y="42895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953" name="Oval 952"/>
          <p:cNvSpPr/>
          <p:nvPr/>
        </p:nvSpPr>
        <p:spPr>
          <a:xfrm>
            <a:off x="4709227" y="4719509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4" name="Connector 953"/>
          <p:cNvCxnSpPr/>
          <p:nvPr/>
        </p:nvCxnSpPr>
        <p:spPr>
          <a:xfrm flipV="1">
            <a:off x="4721897" y="4684399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769677" y="46843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761077" y="46929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7" name="TextBox 956"/>
          <p:cNvSpPr txBox="1"/>
          <p:nvPr/>
        </p:nvSpPr>
        <p:spPr>
          <a:xfrm>
            <a:off x="4776716" y="462809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958" name="Oval 957"/>
          <p:cNvSpPr/>
          <p:nvPr/>
        </p:nvSpPr>
        <p:spPr>
          <a:xfrm>
            <a:off x="7241997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9" name="Connector 958"/>
          <p:cNvCxnSpPr/>
          <p:nvPr/>
        </p:nvCxnSpPr>
        <p:spPr>
          <a:xfrm flipV="1">
            <a:off x="7254666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>
            <a:off x="7302446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1" name="TextBox 960"/>
          <p:cNvSpPr txBox="1"/>
          <p:nvPr/>
        </p:nvSpPr>
        <p:spPr>
          <a:xfrm>
            <a:off x="7309485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962" name="Oval 961"/>
          <p:cNvSpPr/>
          <p:nvPr/>
        </p:nvSpPr>
        <p:spPr>
          <a:xfrm>
            <a:off x="7580535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3" name="Connector 962"/>
          <p:cNvCxnSpPr/>
          <p:nvPr/>
        </p:nvCxnSpPr>
        <p:spPr>
          <a:xfrm flipV="1">
            <a:off x="7593205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7640985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7648023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cxnSp>
        <p:nvCxnSpPr>
          <p:cNvPr id="976" name="Connector 975"/>
          <p:cNvCxnSpPr/>
          <p:nvPr/>
        </p:nvCxnSpPr>
        <p:spPr>
          <a:xfrm flipV="1">
            <a:off x="3204743" y="5267450"/>
            <a:ext cx="793553" cy="171062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3956064" y="522521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8" name="Connector 977"/>
          <p:cNvCxnSpPr/>
          <p:nvPr/>
        </p:nvCxnSpPr>
        <p:spPr>
          <a:xfrm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V="1"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4051086" y="519245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控制它的开关键，见电施-07。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WL1/WL2/WL3（先到开关盒）；细实线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分区放大见电施-03~电施-05。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25384" y="3352948"/>
            <a:ext cx="4346666" cy="2361410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5384" y="338294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电施-03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759743" y="1764743"/>
            <a:ext cx="4012307" cy="1838974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799743" y="1794743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电施-04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4270512" y="1806538"/>
            <a:ext cx="4179487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4310512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电施-05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400000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Rectangle 988"/>
          <p:cNvSpPr/>
          <p:nvPr/>
        </p:nvSpPr>
        <p:spPr>
          <a:xfrm>
            <a:off x="791036" y="6540000"/>
            <a:ext cx="39103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Rectangle 989"/>
          <p:cNvSpPr/>
          <p:nvPr/>
        </p:nvSpPr>
        <p:spPr>
          <a:xfrm>
            <a:off x="1182073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1613109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电施-03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72355" y="2444714"/>
            <a:ext cx="0" cy="80249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772355" y="2444714"/>
            <a:ext cx="9062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678583" y="2444714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570043" y="3232541"/>
            <a:ext cx="0" cy="7642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570043" y="3232541"/>
            <a:ext cx="1036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>
            <a:off x="3668217" y="3996789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2761988" y="3996789"/>
            <a:ext cx="9062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5710317" y="2444714"/>
            <a:ext cx="0" cy="6515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5692021" y="2444714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>
            <a:off x="5692021" y="2444714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6598247" y="2444714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7518371" y="3145247"/>
            <a:ext cx="0" cy="6564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7500075" y="3801649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H="1">
            <a:off x="6598247" y="3801649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5692021" y="3801649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2329663" y="4482716"/>
            <a:ext cx="96389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93557" y="4482716"/>
            <a:ext cx="0" cy="4231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3293557" y="4905889"/>
            <a:ext cx="186509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5158653" y="3989014"/>
            <a:ext cx="0" cy="9168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5158653" y="3989014"/>
            <a:ext cx="3526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5511298" y="3989014"/>
            <a:ext cx="0" cy="26644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511298" y="4255456"/>
            <a:ext cx="0" cy="37615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H="1">
            <a:off x="5385913" y="4631610"/>
            <a:ext cx="12538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H="1">
            <a:off x="5385913" y="5391754"/>
            <a:ext cx="1840215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V="1">
            <a:off x="5385913" y="4631610"/>
            <a:ext cx="0" cy="76014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5453542" y="5210289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WL1  BV-3×2.5 PC20 WC/CC</a:t>
            </a:r>
          </a:p>
        </p:txBody>
      </p:sp>
      <p:cxnSp>
        <p:nvCxnSpPr>
          <p:cNvPr id="589" name="Connector 588"/>
          <p:cNvCxnSpPr/>
          <p:nvPr/>
        </p:nvCxnSpPr>
        <p:spPr>
          <a:xfrm flipV="1">
            <a:off x="7322909" y="2899652"/>
            <a:ext cx="0" cy="249210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7322909" y="2899652"/>
            <a:ext cx="53943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1" name="TextBox 590"/>
          <p:cNvSpPr txBox="1"/>
          <p:nvPr/>
        </p:nvSpPr>
        <p:spPr>
          <a:xfrm>
            <a:off x="5453542" y="4968335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92" name="Connector 591"/>
          <p:cNvCxnSpPr/>
          <p:nvPr/>
        </p:nvCxnSpPr>
        <p:spPr>
          <a:xfrm flipH="1">
            <a:off x="2243398" y="4482716"/>
            <a:ext cx="862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243398" y="4482716"/>
            <a:ext cx="0" cy="6659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 flipV="1">
            <a:off x="2329663" y="3223106"/>
            <a:ext cx="0" cy="12596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2329663" y="3223106"/>
            <a:ext cx="13481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V="1">
            <a:off x="2329663" y="3247206"/>
            <a:ext cx="0" cy="12355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2329663" y="3247206"/>
            <a:ext cx="4426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2329663" y="4482716"/>
            <a:ext cx="4323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V="1">
            <a:off x="2761988" y="3996789"/>
            <a:ext cx="0" cy="4859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2999539" y="4905889"/>
            <a:ext cx="29401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999539" y="4905889"/>
            <a:ext cx="0" cy="26071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293557" y="4905889"/>
            <a:ext cx="5876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3881167" y="4905889"/>
            <a:ext cx="0" cy="23484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5158653" y="3130369"/>
            <a:ext cx="0" cy="8586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5158653" y="3130369"/>
            <a:ext cx="14649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 flipV="1">
            <a:off x="5158653" y="3096255"/>
            <a:ext cx="0" cy="8927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5158653" y="3096255"/>
            <a:ext cx="5516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 flipV="1">
            <a:off x="5158653" y="3801649"/>
            <a:ext cx="0" cy="1873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5158653" y="3801649"/>
            <a:ext cx="5333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385913" y="4631610"/>
            <a:ext cx="774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5463318" y="4370202"/>
            <a:ext cx="0" cy="26140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3677764" y="4631610"/>
            <a:ext cx="17081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 flipV="1">
            <a:off x="3677764" y="3223106"/>
            <a:ext cx="0" cy="140850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 flipV="1">
            <a:off x="5385913" y="2444714"/>
            <a:ext cx="0" cy="218689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H="1">
            <a:off x="4580409" y="2444714"/>
            <a:ext cx="805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H="1">
            <a:off x="4570043" y="4631610"/>
            <a:ext cx="81587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570043" y="3996789"/>
            <a:ext cx="0" cy="6348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V="1">
            <a:off x="5511298" y="3130369"/>
            <a:ext cx="0" cy="11250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5511298" y="3130369"/>
            <a:ext cx="111229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511298" y="3096255"/>
            <a:ext cx="0" cy="11592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5511298" y="3096255"/>
            <a:ext cx="19901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5511298" y="4255456"/>
            <a:ext cx="18072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5692021" y="3801649"/>
            <a:ext cx="0" cy="4538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5511298" y="5204656"/>
            <a:ext cx="0" cy="24195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5543558" y="5156265"/>
            <a:ext cx="2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↑ 引至二层楼梯吊灯 F06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接线见另图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接线见另图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接线见另图</a:t>
            </a:r>
          </a:p>
        </p:txBody>
      </p:sp>
      <p:cxnSp>
        <p:nvCxnSpPr>
          <p:cNvPr id="629" name="Connector 628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3763383" y="4519932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791577" y="4521305"/>
            <a:ext cx="76033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3819772" y="4522679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847966" y="4524052"/>
            <a:ext cx="76033" cy="6896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3876161" y="4525426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TextBox 634"/>
          <p:cNvSpPr txBox="1"/>
          <p:nvPr/>
        </p:nvSpPr>
        <p:spPr>
          <a:xfrm>
            <a:off x="3906179" y="4428121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636" name="Connector 635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5329184" y="4149190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H="1">
            <a:off x="5306662" y="4132173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H="1">
            <a:off x="5284140" y="4115157"/>
            <a:ext cx="101671" cy="1415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5261618" y="4098140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5239095" y="4081123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2" name="TextBox 641"/>
          <p:cNvSpPr txBox="1"/>
          <p:nvPr/>
        </p:nvSpPr>
        <p:spPr>
          <a:xfrm>
            <a:off x="5383366" y="3993193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43" name="Rectangle 642"/>
          <p:cNvSpPr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645" name="Connector 644"/>
          <p:cNvCxnSpPr/>
          <p:nvPr/>
        </p:nvCxnSpPr>
        <p:spPr>
          <a:xfrm>
            <a:off x="3669711" y="5046947"/>
            <a:ext cx="21145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881167" y="5046947"/>
            <a:ext cx="0" cy="9378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7" name="TextBox 646"/>
          <p:cNvSpPr txBox="1"/>
          <p:nvPr/>
        </p:nvSpPr>
        <p:spPr>
          <a:xfrm>
            <a:off x="3069711" y="4837253"/>
            <a:ext cx="1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" b="0">
                <a:solidFill>
                  <a:srgbClr val="1A1A1A"/>
                </a:solidFill>
                <a:latin typeface="Microsoft YaHei"/>
              </a:rPr>
              <a:t>MK 门控（开门亮灯）</a:t>
            </a:r>
          </a:p>
        </p:txBody>
      </p:sp>
      <p:sp>
        <p:nvSpPr>
          <p:cNvPr id="648" name="Rectangle 647"/>
          <p:cNvSpPr/>
          <p:nvPr/>
        </p:nvSpPr>
        <p:spPr>
          <a:xfrm>
            <a:off x="7129346" y="5320781"/>
            <a:ext cx="290344" cy="14194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7129346" y="5320781"/>
            <a:ext cx="290345" cy="141946"/>
          </a:xfrm>
          <a:custGeom>
            <a:avLst/>
            <a:gdLst/>
            <a:ahLst/>
            <a:cxnLst/>
            <a:rect l="l" t="t" r="r" b="b"/>
            <a:pathLst>
              <a:path w="290345" h="141946">
                <a:moveTo>
                  <a:pt x="0" y="141946"/>
                </a:moveTo>
                <a:lnTo>
                  <a:pt x="290345" y="0"/>
                </a:lnTo>
                <a:lnTo>
                  <a:pt x="290345" y="141946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080956" y="5475632"/>
            <a:ext cx="387126" cy="116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50" name="Oval 649"/>
          <p:cNvSpPr/>
          <p:nvPr/>
        </p:nvSpPr>
        <p:spPr>
          <a:xfrm>
            <a:off x="5374601" y="4281486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374601" y="4370202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80" y="33950"/>
                </a:lnTo>
                <a:lnTo>
                  <a:pt x="162482" y="49288"/>
                </a:lnTo>
                <a:lnTo>
                  <a:pt x="151449" y="62732"/>
                </a:lnTo>
                <a:lnTo>
                  <a:pt x="138005" y="73765"/>
                </a:lnTo>
                <a:lnTo>
                  <a:pt x="122667" y="81963"/>
                </a:lnTo>
                <a:lnTo>
                  <a:pt x="106024" y="87012"/>
                </a:lnTo>
                <a:lnTo>
                  <a:pt x="88717" y="88716"/>
                </a:lnTo>
                <a:lnTo>
                  <a:pt x="71409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5" y="62732"/>
                </a:lnTo>
                <a:lnTo>
                  <a:pt x="14952" y="49288"/>
                </a:lnTo>
                <a:lnTo>
                  <a:pt x="6753" y="33950"/>
                </a:lnTo>
                <a:lnTo>
                  <a:pt x="1705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5552034" y="4184704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652" name="Oval 65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6712305" y="294487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656" name="Oval 65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3766480" y="30376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660" name="Oval 65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3088255" y="498110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664" name="Oval 663"/>
          <p:cNvSpPr/>
          <p:nvPr/>
        </p:nvSpPr>
        <p:spPr>
          <a:xfrm>
            <a:off x="2154682" y="5059919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154682" y="5148636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79" y="33950"/>
                </a:lnTo>
                <a:lnTo>
                  <a:pt x="162481" y="49288"/>
                </a:lnTo>
                <a:lnTo>
                  <a:pt x="151448" y="62732"/>
                </a:lnTo>
                <a:lnTo>
                  <a:pt x="138004" y="73765"/>
                </a:lnTo>
                <a:lnTo>
                  <a:pt x="122666" y="81963"/>
                </a:lnTo>
                <a:lnTo>
                  <a:pt x="106024" y="87012"/>
                </a:lnTo>
                <a:lnTo>
                  <a:pt x="88716" y="88716"/>
                </a:lnTo>
                <a:lnTo>
                  <a:pt x="71408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4" y="62732"/>
                </a:lnTo>
                <a:lnTo>
                  <a:pt x="14951" y="49288"/>
                </a:lnTo>
                <a:lnTo>
                  <a:pt x="6753" y="33950"/>
                </a:lnTo>
                <a:lnTo>
                  <a:pt x="1704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TextBox 664"/>
          <p:cNvSpPr txBox="1"/>
          <p:nvPr/>
        </p:nvSpPr>
        <p:spPr>
          <a:xfrm>
            <a:off x="2332115" y="49631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666" name="Oval 66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658759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69" name="Oval 66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3756933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2" name="Oval 67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2850705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5" name="Oval 67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2861071" y="30617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78" name="Oval 67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TextBox 679"/>
          <p:cNvSpPr txBox="1"/>
          <p:nvPr/>
        </p:nvSpPr>
        <p:spPr>
          <a:xfrm>
            <a:off x="3767299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1" name="Oval 68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4669125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4" name="Oval 68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TextBox 685"/>
          <p:cNvSpPr txBox="1"/>
          <p:nvPr/>
        </p:nvSpPr>
        <p:spPr>
          <a:xfrm>
            <a:off x="4669125" y="3047043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87" name="Oval 68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2861071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90" name="Oval 68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6686963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3" name="Oval 69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780738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6" name="Oval 69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799034" y="2910757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99" name="Oval 69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780738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2" name="Oval 70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686963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5" name="Oval 70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7588792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8" name="Oval 70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7607088" y="2959749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1" name="Oval 71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7588792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4" name="Oval 71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3969884" y="49552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717" name="Oval 716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8" name="Connector 717"/>
          <p:cNvCxnSpPr/>
          <p:nvPr/>
        </p:nvCxnSpPr>
        <p:spPr>
          <a:xfrm flipV="1">
            <a:off x="2329663" y="4373220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2439159" y="437322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2419450" y="4392929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2399740" y="4412639"/>
            <a:ext cx="27374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2380031" y="443234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H="1">
            <a:off x="2247541" y="448271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H="1" flipV="1">
            <a:off x="2220167" y="453746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5" name="TextBox 724"/>
          <p:cNvSpPr txBox="1"/>
          <p:nvPr/>
        </p:nvSpPr>
        <p:spPr>
          <a:xfrm>
            <a:off x="2455289" y="424417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726" name="Oval 725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7" name="Connector 726"/>
          <p:cNvCxnSpPr/>
          <p:nvPr/>
        </p:nvCxnSpPr>
        <p:spPr>
          <a:xfrm flipV="1">
            <a:off x="3293557" y="4796393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3403053" y="479639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3383344" y="481610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" name="TextBox 729"/>
          <p:cNvSpPr txBox="1"/>
          <p:nvPr/>
        </p:nvSpPr>
        <p:spPr>
          <a:xfrm>
            <a:off x="3419183" y="46673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731" name="Oval 730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2" name="Connector 731"/>
          <p:cNvCxnSpPr/>
          <p:nvPr/>
        </p:nvCxnSpPr>
        <p:spPr>
          <a:xfrm flipV="1">
            <a:off x="5158653" y="3879518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5268149" y="387951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5248440" y="389922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5228731" y="391893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 flipH="1">
            <a:off x="5076531" y="3989014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 flipH="1" flipV="1">
            <a:off x="5049158" y="4043762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8" name="TextBox 737"/>
          <p:cNvSpPr txBox="1"/>
          <p:nvPr/>
        </p:nvSpPr>
        <p:spPr>
          <a:xfrm>
            <a:off x="5284279" y="375047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739" name="Oval 738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0" name="Connector 739"/>
          <p:cNvCxnSpPr/>
          <p:nvPr/>
        </p:nvCxnSpPr>
        <p:spPr>
          <a:xfrm flipV="1">
            <a:off x="5385913" y="4522114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5495409" y="4522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5475700" y="4541824"/>
            <a:ext cx="27373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5455990" y="456153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5436281" y="458124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 flipH="1">
            <a:off x="5303791" y="4631610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 flipH="1" flipV="1">
            <a:off x="5276417" y="468635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TextBox 746"/>
          <p:cNvSpPr txBox="1"/>
          <p:nvPr/>
        </p:nvSpPr>
        <p:spPr>
          <a:xfrm>
            <a:off x="5511539" y="4393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748" name="Oval 747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9" name="Connector 748"/>
          <p:cNvCxnSpPr/>
          <p:nvPr/>
        </p:nvCxnSpPr>
        <p:spPr>
          <a:xfrm flipV="1">
            <a:off x="5511298" y="4145960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5620793" y="414596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5601084" y="416567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5581375" y="4185379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H="1">
            <a:off x="5429176" y="425545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 flipH="1" flipV="1">
            <a:off x="5401802" y="431020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5" name="TextBox 754"/>
          <p:cNvSpPr txBox="1"/>
          <p:nvPr/>
        </p:nvSpPr>
        <p:spPr>
          <a:xfrm>
            <a:off x="5636924" y="40169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756" name="Oval 755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7" name="Connector 756"/>
          <p:cNvCxnSpPr/>
          <p:nvPr/>
        </p:nvCxnSpPr>
        <p:spPr>
          <a:xfrm flipV="1">
            <a:off x="5511298" y="5337114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5620793" y="5337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5636924" y="5208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760" name="Oval 759"/>
          <p:cNvSpPr/>
          <p:nvPr/>
        </p:nvSpPr>
        <p:spPr>
          <a:xfrm>
            <a:off x="7833311" y="2870617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1" name="Connector 760"/>
          <p:cNvCxnSpPr/>
          <p:nvPr/>
        </p:nvCxnSpPr>
        <p:spPr>
          <a:xfrm flipV="1">
            <a:off x="7862345" y="2790156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7971841" y="2790156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7952132" y="2809865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7932423" y="282957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 flipH="1">
            <a:off x="7780223" y="2899652"/>
            <a:ext cx="82122" cy="821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 flipH="1" flipV="1">
            <a:off x="7752849" y="2954399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7" name="TextBox 766"/>
          <p:cNvSpPr txBox="1"/>
          <p:nvPr/>
        </p:nvSpPr>
        <p:spPr>
          <a:xfrm>
            <a:off x="7987971" y="266111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cxnSp>
        <p:nvCxnSpPr>
          <p:cNvPr id="768" name="Connector 767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9" name="Oval 768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0" name="Connector 769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门厅 · 前门内侧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776" name="TextBox 775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门厅 · 前储物间旁</a:t>
            </a:r>
          </a:p>
        </p:txBody>
      </p:sp>
      <p:sp>
        <p:nvSpPr>
          <p:cNvPr id="777" name="TextBox 776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778" name="TextBox 777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起居室侧 · 拱门旁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0" name="TextBox 779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楼梯口 · 拱门旁</a:t>
            </a:r>
          </a:p>
        </p:txBody>
      </p:sp>
      <p:sp>
        <p:nvSpPr>
          <p:cNvPr id="781" name="TextBox 780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782" name="TextBox 781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G07 区侧 · 拱门旁</a:t>
            </a:r>
          </a:p>
        </p:txBody>
      </p:sp>
      <p:sp>
        <p:nvSpPr>
          <p:cNvPr id="783" name="TextBox 782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4" name="TextBox 783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楼梯底</a:t>
            </a:r>
          </a:p>
        </p:txBody>
      </p:sp>
      <p:sp>
        <p:nvSpPr>
          <p:cNvPr id="785" name="TextBox 784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86" name="TextBox 785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G07 区东侧 · 卫生间走道口</a:t>
            </a:r>
          </a:p>
        </p:txBody>
      </p:sp>
      <p:sp>
        <p:nvSpPr>
          <p:cNvPr id="787" name="TextBox 786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88" name="TextBox 787"/>
          <p:cNvSpPr txBox="1"/>
          <p:nvPr/>
        </p:nvSpPr>
        <p:spPr>
          <a:xfrm>
            <a:off x="8710000" y="29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MK  前储物间门控开关 → b（与 S2 键 2 并联）</a:t>
            </a:r>
          </a:p>
        </p:txBody>
      </p:sp>
      <p:sp>
        <p:nvSpPr>
          <p:cNvPr id="789" name="Rectangle 788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电施-04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600400" y="3182841"/>
            <a:ext cx="0" cy="84366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3595890" y="3182841"/>
            <a:ext cx="451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95890" y="3182841"/>
            <a:ext cx="8417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437630" y="3182841"/>
            <a:ext cx="9700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407647" y="3182841"/>
            <a:ext cx="0" cy="1393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5435543" y="3994283"/>
            <a:ext cx="0" cy="94885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4455541" y="4943138"/>
            <a:ext cx="9800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4455541" y="4926790"/>
            <a:ext cx="0" cy="163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3585339" y="4926790"/>
            <a:ext cx="8702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585339" y="4914538"/>
            <a:ext cx="0" cy="1225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4918333" y="5167760"/>
            <a:ext cx="210541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7023750" y="4412187"/>
            <a:ext cx="0" cy="7555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931770" y="5167760"/>
            <a:ext cx="198656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2931770" y="3342500"/>
            <a:ext cx="0" cy="182526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5031917" y="5237658"/>
            <a:ext cx="18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WL2 引自 AL1</a:t>
            </a:r>
          </a:p>
        </p:txBody>
      </p:sp>
      <p:cxnSp>
        <p:nvCxnSpPr>
          <p:cNvPr id="578" name="Connector 577"/>
          <p:cNvCxnSpPr/>
          <p:nvPr/>
        </p:nvCxnSpPr>
        <p:spPr>
          <a:xfrm flipV="1">
            <a:off x="4918333" y="4023697"/>
            <a:ext cx="0" cy="11440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H="1">
            <a:off x="4451986" y="4023697"/>
            <a:ext cx="46634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918333" y="3512225"/>
            <a:ext cx="0" cy="165553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4918333" y="3512225"/>
            <a:ext cx="202227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3600400" y="5167760"/>
            <a:ext cx="131793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3600400" y="4026503"/>
            <a:ext cx="0" cy="11412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 flipH="1">
            <a:off x="4455541" y="5167760"/>
            <a:ext cx="4627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V="1">
            <a:off x="4455541" y="4926790"/>
            <a:ext cx="0" cy="2409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2931770" y="3342500"/>
            <a:ext cx="152021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451986" y="3342500"/>
            <a:ext cx="0" cy="68119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2931770" y="3342500"/>
            <a:ext cx="0" cy="169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2931770" y="3512225"/>
            <a:ext cx="40088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V="1">
            <a:off x="2931770" y="3182841"/>
            <a:ext cx="0" cy="1596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931770" y="3182841"/>
            <a:ext cx="66412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2931770" y="3342500"/>
            <a:ext cx="0" cy="15720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931770" y="4914538"/>
            <a:ext cx="6535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7023750" y="4412187"/>
            <a:ext cx="1922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7215988" y="4412187"/>
            <a:ext cx="0" cy="6500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3914535" y="4294159"/>
            <a:ext cx="111107" cy="470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 flipH="1">
            <a:off x="3892016" y="4273469"/>
            <a:ext cx="111108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H="1">
            <a:off x="3869498" y="425277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3846980" y="423208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3824461" y="421139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2" name="TextBox 601"/>
          <p:cNvSpPr txBox="1"/>
          <p:nvPr/>
        </p:nvSpPr>
        <p:spPr>
          <a:xfrm>
            <a:off x="3977475" y="4115334"/>
            <a:ext cx="262116" cy="122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sp>
        <p:nvSpPr>
          <p:cNvPr id="603" name="Oval 602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4" name="Connector 603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4548096" y="3822741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607" name="Oval 606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TextBox 609"/>
          <p:cNvSpPr txBox="1"/>
          <p:nvPr/>
        </p:nvSpPr>
        <p:spPr>
          <a:xfrm>
            <a:off x="7036715" y="3311269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611" name="Oval 610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4551651" y="472583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4" name="Oval 613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3681448" y="47135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7" name="Oval 616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3696509" y="382554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0" name="Oval 619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69199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3" name="Oval 622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3373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6" name="Oval 625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5503757" y="299582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9" name="Oval 628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531653" y="379332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2" name="Oval 631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531653" y="47421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5" name="Oval 634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TextBox 636"/>
          <p:cNvSpPr txBox="1"/>
          <p:nvPr/>
        </p:nvSpPr>
        <p:spPr>
          <a:xfrm>
            <a:off x="7312097" y="486132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638" name="Oval 637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 flipV="1">
            <a:off x="4918333" y="5049139"/>
            <a:ext cx="118620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5036953" y="5049139"/>
            <a:ext cx="29655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5015602" y="507049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>
            <a:off x="4994250" y="5091843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4972898" y="5113195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H="1">
            <a:off x="4829367" y="5167760"/>
            <a:ext cx="88966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H="1" flipV="1">
            <a:off x="4799712" y="522707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6" name="TextBox 645"/>
          <p:cNvSpPr txBox="1"/>
          <p:nvPr/>
        </p:nvSpPr>
        <p:spPr>
          <a:xfrm>
            <a:off x="5054428" y="49093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47" name="Oval 64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8" name="Connector 647"/>
          <p:cNvCxnSpPr/>
          <p:nvPr/>
        </p:nvCxnSpPr>
        <p:spPr>
          <a:xfrm flipV="1">
            <a:off x="2931770" y="3223879"/>
            <a:ext cx="118621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3050391" y="3223879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3029039" y="324523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3007687" y="3266582"/>
            <a:ext cx="29656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2986336" y="3287934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H="1">
            <a:off x="2842805" y="3342500"/>
            <a:ext cx="88965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H="1" flipV="1">
            <a:off x="2813150" y="340181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3067865" y="30840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56" name="Oval 655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7023750" y="4293567"/>
            <a:ext cx="118620" cy="1186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7142370" y="4293567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7159844" y="415377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G15 区南门旁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G15 区 · 储物间门旁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卫生间门外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TextBox 668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电施-05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3677151" y="4318219"/>
            <a:ext cx="159368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404240" y="1302782"/>
            <a:ext cx="114813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52378" y="1302782"/>
            <a:ext cx="105674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609123" y="1302782"/>
            <a:ext cx="5997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208897" y="1302782"/>
            <a:ext cx="0" cy="289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1981736" y="5123684"/>
            <a:ext cx="36997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5681526" y="5123684"/>
            <a:ext cx="0" cy="1221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1139210" y="5123684"/>
            <a:ext cx="0" cy="98905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139210" y="5123684"/>
            <a:ext cx="84252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TextBox 571"/>
          <p:cNvSpPr txBox="1"/>
          <p:nvPr/>
        </p:nvSpPr>
        <p:spPr>
          <a:xfrm>
            <a:off x="-655039" y="587711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WL2  BV-3×2.5 PC20 WC/CC</a:t>
            </a:r>
          </a:p>
        </p:txBody>
      </p:sp>
      <p:cxnSp>
        <p:nvCxnSpPr>
          <p:cNvPr id="573" name="Connector 572"/>
          <p:cNvCxnSpPr/>
          <p:nvPr/>
        </p:nvCxnSpPr>
        <p:spPr>
          <a:xfrm>
            <a:off x="1597105" y="1588736"/>
            <a:ext cx="0" cy="30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1597105" y="4629157"/>
            <a:ext cx="147747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3074578" y="4629157"/>
            <a:ext cx="310147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6176052" y="4629157"/>
            <a:ext cx="0" cy="50673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1176910" y="6112736"/>
            <a:ext cx="189766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074578" y="4629157"/>
            <a:ext cx="0" cy="148357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-655039" y="5782860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80" name="Connector 579"/>
          <p:cNvCxnSpPr/>
          <p:nvPr/>
        </p:nvCxnSpPr>
        <p:spPr>
          <a:xfrm>
            <a:off x="1597105" y="1588736"/>
            <a:ext cx="208004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3677151" y="1588736"/>
            <a:ext cx="0" cy="27294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597105" y="1588736"/>
            <a:ext cx="8071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404240" y="1302782"/>
            <a:ext cx="0" cy="2859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597105" y="1588736"/>
            <a:ext cx="0" cy="17101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597105" y="3298887"/>
            <a:ext cx="21999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V="1">
            <a:off x="3074578" y="4318219"/>
            <a:ext cx="0" cy="310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3074578" y="4318219"/>
            <a:ext cx="60257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 flipV="1">
            <a:off x="3074578" y="1302782"/>
            <a:ext cx="0" cy="332637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3074578" y="1302782"/>
            <a:ext cx="47780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H="1">
            <a:off x="1817102" y="4629157"/>
            <a:ext cx="12574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V="1">
            <a:off x="1817102" y="3298887"/>
            <a:ext cx="0" cy="13302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981736" y="5123684"/>
            <a:ext cx="0" cy="1689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981736" y="5292641"/>
            <a:ext cx="11392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981736" y="5123684"/>
            <a:ext cx="288157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863313" y="5123684"/>
            <a:ext cx="0" cy="1364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5681526" y="5135894"/>
            <a:ext cx="0" cy="4938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5681526" y="5629725"/>
            <a:ext cx="24024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6176052" y="5135894"/>
            <a:ext cx="5210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6697128" y="5135894"/>
            <a:ext cx="0" cy="2273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278828" y="305631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2288440" y="307609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2298052" y="309587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2307664" y="311565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2317276" y="313543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2373542" y="3008413"/>
            <a:ext cx="188500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1026110" y="6057443"/>
            <a:ext cx="226200" cy="11058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1026110" y="6057443"/>
            <a:ext cx="226200" cy="110587"/>
          </a:xfrm>
          <a:custGeom>
            <a:avLst/>
            <a:gdLst/>
            <a:ahLst/>
            <a:cxnLst/>
            <a:rect l="l" t="t" r="r" b="b"/>
            <a:pathLst>
              <a:path w="226200" h="110587">
                <a:moveTo>
                  <a:pt x="0" y="110587"/>
                </a:moveTo>
                <a:lnTo>
                  <a:pt x="226200" y="0"/>
                </a:lnTo>
                <a:lnTo>
                  <a:pt x="226200" y="110587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TextBox 607"/>
          <p:cNvSpPr txBox="1"/>
          <p:nvPr/>
        </p:nvSpPr>
        <p:spPr>
          <a:xfrm>
            <a:off x="988410" y="6178083"/>
            <a:ext cx="301600" cy="9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09" name="Oval 608"/>
          <p:cNvSpPr/>
          <p:nvPr/>
        </p:nvSpPr>
        <p:spPr>
          <a:xfrm>
            <a:off x="6628011" y="529414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628011" y="5363257"/>
            <a:ext cx="138234" cy="69117"/>
          </a:xfrm>
          <a:custGeom>
            <a:avLst/>
            <a:gdLst/>
            <a:ahLst/>
            <a:cxnLst/>
            <a:rect l="l" t="t" r="r" b="b"/>
            <a:pathLst>
              <a:path w="138234" h="69117">
                <a:moveTo>
                  <a:pt x="138234" y="0"/>
                </a:moveTo>
                <a:lnTo>
                  <a:pt x="136906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7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6766245" y="521874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611" name="Oval 610"/>
          <p:cNvSpPr/>
          <p:nvPr/>
        </p:nvSpPr>
        <p:spPr>
          <a:xfrm>
            <a:off x="3608035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08035" y="4318219"/>
            <a:ext cx="138233" cy="69116"/>
          </a:xfrm>
          <a:custGeom>
            <a:avLst/>
            <a:gdLst/>
            <a:ahLst/>
            <a:cxnLst/>
            <a:rect l="l" t="t" r="r" b="b"/>
            <a:pathLst>
              <a:path w="138233" h="69116">
                <a:moveTo>
                  <a:pt x="138233" y="0"/>
                </a:moveTo>
                <a:lnTo>
                  <a:pt x="136905" y="13484"/>
                </a:lnTo>
                <a:lnTo>
                  <a:pt x="132972" y="26449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6" y="63855"/>
                </a:lnTo>
                <a:lnTo>
                  <a:pt x="82601" y="67788"/>
                </a:lnTo>
                <a:lnTo>
                  <a:pt x="69116" y="69116"/>
                </a:lnTo>
                <a:lnTo>
                  <a:pt x="55632" y="67788"/>
                </a:lnTo>
                <a:lnTo>
                  <a:pt x="42667" y="63855"/>
                </a:lnTo>
                <a:lnTo>
                  <a:pt x="30717" y="57468"/>
                </a:lnTo>
                <a:lnTo>
                  <a:pt x="20243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3746268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3" name="Oval 612"/>
          <p:cNvSpPr/>
          <p:nvPr/>
        </p:nvSpPr>
        <p:spPr>
          <a:xfrm>
            <a:off x="5201719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5201719" y="4318219"/>
            <a:ext cx="138234" cy="69116"/>
          </a:xfrm>
          <a:custGeom>
            <a:avLst/>
            <a:gdLst/>
            <a:ahLst/>
            <a:cxnLst/>
            <a:rect l="l" t="t" r="r" b="b"/>
            <a:pathLst>
              <a:path w="138234" h="69116">
                <a:moveTo>
                  <a:pt x="138234" y="0"/>
                </a:moveTo>
                <a:lnTo>
                  <a:pt x="136906" y="13484"/>
                </a:lnTo>
                <a:lnTo>
                  <a:pt x="132973" y="26449"/>
                </a:lnTo>
                <a:lnTo>
                  <a:pt x="126586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6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5339953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5" name="Oval 614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TextBox 617"/>
          <p:cNvSpPr txBox="1"/>
          <p:nvPr/>
        </p:nvSpPr>
        <p:spPr>
          <a:xfrm>
            <a:off x="4932430" y="5115633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619" name="Oval 618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0" name="Connector 619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2" name="TextBox 621"/>
          <p:cNvSpPr txBox="1"/>
          <p:nvPr/>
        </p:nvSpPr>
        <p:spPr>
          <a:xfrm>
            <a:off x="3190078" y="5148124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623" name="Oval 622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5990888" y="5485208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626" name="Oval 625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2473357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28" name="Oval 627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3621495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0" name="Oval 629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4678239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2" name="Oval 631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5278014" y="1161156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4" name="Oval 633"/>
          <p:cNvSpPr/>
          <p:nvPr/>
        </p:nvSpPr>
        <p:spPr>
          <a:xfrm>
            <a:off x="1747985" y="322977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747985" y="3298887"/>
            <a:ext cx="138233" cy="69117"/>
          </a:xfrm>
          <a:custGeom>
            <a:avLst/>
            <a:gdLst/>
            <a:ahLst/>
            <a:cxnLst/>
            <a:rect l="l" t="t" r="r" b="b"/>
            <a:pathLst>
              <a:path w="138233" h="69117">
                <a:moveTo>
                  <a:pt x="138233" y="0"/>
                </a:moveTo>
                <a:lnTo>
                  <a:pt x="136905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9"/>
                </a:lnTo>
                <a:lnTo>
                  <a:pt x="95566" y="63856"/>
                </a:lnTo>
                <a:lnTo>
                  <a:pt x="82601" y="67789"/>
                </a:lnTo>
                <a:lnTo>
                  <a:pt x="69117" y="69117"/>
                </a:lnTo>
                <a:lnTo>
                  <a:pt x="55633" y="67789"/>
                </a:lnTo>
                <a:lnTo>
                  <a:pt x="42667" y="63856"/>
                </a:lnTo>
                <a:lnTo>
                  <a:pt x="30717" y="57469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TextBox 634"/>
          <p:cNvSpPr txBox="1"/>
          <p:nvPr/>
        </p:nvSpPr>
        <p:spPr>
          <a:xfrm>
            <a:off x="1886218" y="315437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636" name="Oval 635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7" name="Connector 636"/>
          <p:cNvCxnSpPr/>
          <p:nvPr/>
        </p:nvCxnSpPr>
        <p:spPr>
          <a:xfrm flipV="1">
            <a:off x="1597105" y="1503431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1682410" y="150343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1667055" y="1518786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1651700" y="153414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1533126" y="1588736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H="1" flipV="1">
            <a:off x="1511799" y="1631389"/>
            <a:ext cx="21327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3" name="TextBox 642"/>
          <p:cNvSpPr txBox="1"/>
          <p:nvPr/>
        </p:nvSpPr>
        <p:spPr>
          <a:xfrm>
            <a:off x="1694977" y="14028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644" name="Oval 643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5" name="Connector 644"/>
          <p:cNvCxnSpPr/>
          <p:nvPr/>
        </p:nvCxnSpPr>
        <p:spPr>
          <a:xfrm flipV="1">
            <a:off x="3074578" y="4543852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159884" y="454385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144529" y="4559207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3129174" y="457456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H="1">
            <a:off x="3010599" y="4629157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 flipH="1" flipV="1">
            <a:off x="2989273" y="4671810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TextBox 650"/>
          <p:cNvSpPr txBox="1"/>
          <p:nvPr/>
        </p:nvSpPr>
        <p:spPr>
          <a:xfrm>
            <a:off x="3172451" y="44433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52" name="Oval 651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 flipV="1">
            <a:off x="1981736" y="5038378"/>
            <a:ext cx="85306" cy="853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2067042" y="5038378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2051687" y="5053733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6" name="TextBox 655"/>
          <p:cNvSpPr txBox="1"/>
          <p:nvPr/>
        </p:nvSpPr>
        <p:spPr>
          <a:xfrm>
            <a:off x="2079609" y="49378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57" name="Oval 656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8" name="Connector 657"/>
          <p:cNvCxnSpPr/>
          <p:nvPr/>
        </p:nvCxnSpPr>
        <p:spPr>
          <a:xfrm flipV="1">
            <a:off x="5681526" y="5050589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766831" y="5050589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0" name="TextBox 659"/>
          <p:cNvSpPr txBox="1"/>
          <p:nvPr/>
        </p:nvSpPr>
        <p:spPr>
          <a:xfrm>
            <a:off x="5779398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61" name="Oval 660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2" name="Connector 661"/>
          <p:cNvCxnSpPr/>
          <p:nvPr/>
        </p:nvCxnSpPr>
        <p:spPr>
          <a:xfrm flipV="1">
            <a:off x="6176052" y="5050589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6261358" y="5050589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4" name="TextBox 663"/>
          <p:cNvSpPr txBox="1"/>
          <p:nvPr/>
        </p:nvSpPr>
        <p:spPr>
          <a:xfrm>
            <a:off x="6273924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65" name="Rectangle 664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TextBox 665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1" name="Rectangle 670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TextBox 671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G15 区 · 通后花园门旁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厨房后门旁（吧台区）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厨房入口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洗衣房门旁</a:t>
            </a:r>
          </a:p>
        </p:txBody>
      </p:sp>
      <p:sp>
        <p:nvSpPr>
          <p:cNvPr id="683" name="TextBox 682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洗衣房后门旁</a:t>
            </a:r>
          </a:p>
        </p:txBody>
      </p:sp>
      <p:sp>
        <p:nvSpPr>
          <p:cNvPr id="685" name="TextBox 684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32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一层前区照明（门廊 / 门厅 / 起居室 / 餐厅 / 楼梯）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22 盏（一层，字母 a b c d e f g h i n）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WL2  一层后区照明（客厅 / 卫生间 / 厨房 / 吧台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14 盏（一层，字母 j k l m o r s t）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p q u v）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900000" y="37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300000" y="38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0000" y="35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0000" y="36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000" y="37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见二层图）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000000" y="45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000000" y="44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区东侧 · 卫生间走道口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后花园投光灯 SOLLA 三头 150W（离地约 3.5 m，三控：S11、S12、S7）（三控）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前储物间门框锁侧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门控开关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前储物间筒灯（与 S2 键 2 并联）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471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S2-2，MK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S1-2，S4-2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S1-3，S4-3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S1-4，S4-4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S5-1，S3-1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S5-2，S3-2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S5-3，S3-3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S8-2，S9-2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S8-3，S9-3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S8-4，S9-4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S7-1，S11-1，S12-1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S7-2，S11-2，S12-2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后花园投光灯 SOLLA 三头 150W（离地约 3.5 m，三控：S11、S12、S7）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S7-3，S11-3，S12-3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