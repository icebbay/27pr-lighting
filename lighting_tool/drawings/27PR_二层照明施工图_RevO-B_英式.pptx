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300006" name="TextBox 300005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300007" name="Rectangle 300006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TextBox 300007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09" name="TextBox 300008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0" name="Connector 300009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1" name="TextBox 300010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O-B · 方案 B · 精简 17 路（照明 3 路）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Rectangle 300022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4" name="TextBox 300023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300025" name="Rectangle 300024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6" name="TextBox 300025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卧室 4 · 后卫</a:t>
            </a:r>
          </a:p>
        </p:txBody>
      </p:sp>
      <p:sp>
        <p:nvSpPr>
          <p:cNvPr id="300027" name="Oval 300026"/>
          <p:cNvSpPr/>
          <p:nvPr/>
        </p:nvSpPr>
        <p:spPr>
          <a:xfrm>
            <a:off x="4916259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28" name="Connector 300027"/>
          <p:cNvCxnSpPr/>
          <p:nvPr/>
        </p:nvCxnSpPr>
        <p:spPr>
          <a:xfrm>
            <a:off x="4926807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4926807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0" name="Oval 300029"/>
          <p:cNvSpPr/>
          <p:nvPr/>
        </p:nvSpPr>
        <p:spPr>
          <a:xfrm>
            <a:off x="3839232" y="464963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1" name="Connector 300030"/>
          <p:cNvCxnSpPr/>
          <p:nvPr/>
        </p:nvCxnSpPr>
        <p:spPr>
          <a:xfrm>
            <a:off x="3849780" y="466018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3849780" y="466018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3" name="Oval 300032"/>
          <p:cNvSpPr/>
          <p:nvPr/>
        </p:nvSpPr>
        <p:spPr>
          <a:xfrm>
            <a:off x="2965813" y="24872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2976361" y="24978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2976361" y="24978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Oval 300035"/>
          <p:cNvSpPr/>
          <p:nvPr/>
        </p:nvSpPr>
        <p:spPr>
          <a:xfrm>
            <a:off x="2471211" y="4802562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7" name="Connector 300036"/>
          <p:cNvCxnSpPr/>
          <p:nvPr/>
        </p:nvCxnSpPr>
        <p:spPr>
          <a:xfrm>
            <a:off x="2481759" y="4813110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2481759" y="4813110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9" name="Oval 300038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0" name="Connector 300039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2" name="Oval 300041"/>
          <p:cNvSpPr/>
          <p:nvPr/>
        </p:nvSpPr>
        <p:spPr>
          <a:xfrm>
            <a:off x="5933427" y="478202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3" name="Connector 300042"/>
          <p:cNvCxnSpPr/>
          <p:nvPr/>
        </p:nvCxnSpPr>
        <p:spPr>
          <a:xfrm>
            <a:off x="5943975" y="479257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5943975" y="479257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Oval 300044"/>
          <p:cNvSpPr/>
          <p:nvPr/>
        </p:nvSpPr>
        <p:spPr>
          <a:xfrm>
            <a:off x="4861846" y="2917862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Oval 300045"/>
          <p:cNvSpPr/>
          <p:nvPr/>
        </p:nvSpPr>
        <p:spPr>
          <a:xfrm>
            <a:off x="4878346" y="2934362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7" name="Oval 300046"/>
          <p:cNvSpPr/>
          <p:nvPr/>
        </p:nvSpPr>
        <p:spPr>
          <a:xfrm>
            <a:off x="6158211" y="546339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6174711" y="547989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Oval 300048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Oval 300050"/>
          <p:cNvSpPr/>
          <p:nvPr/>
        </p:nvSpPr>
        <p:spPr>
          <a:xfrm>
            <a:off x="3251899" y="515604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2" name="Oval 300051"/>
          <p:cNvSpPr/>
          <p:nvPr/>
        </p:nvSpPr>
        <p:spPr>
          <a:xfrm>
            <a:off x="3268399" y="517254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4113623" y="24654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4" name="Connector 300053"/>
          <p:cNvCxnSpPr/>
          <p:nvPr/>
        </p:nvCxnSpPr>
        <p:spPr>
          <a:xfrm>
            <a:off x="4124171" y="24759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 flipV="1">
            <a:off x="4124171" y="24759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6" name="Oval 300055"/>
          <p:cNvSpPr/>
          <p:nvPr/>
        </p:nvSpPr>
        <p:spPr>
          <a:xfrm>
            <a:off x="2441703" y="4082272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7" name="Oval 300056"/>
          <p:cNvSpPr/>
          <p:nvPr/>
        </p:nvSpPr>
        <p:spPr>
          <a:xfrm>
            <a:off x="2458203" y="4098772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8" name="Oval 300057"/>
          <p:cNvSpPr/>
          <p:nvPr/>
        </p:nvSpPr>
        <p:spPr>
          <a:xfrm>
            <a:off x="3259136" y="3948514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3268136" y="3956014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Oval 300058"/>
          <p:cNvSpPr/>
          <p:nvPr/>
        </p:nvSpPr>
        <p:spPr>
          <a:xfrm>
            <a:off x="3826124" y="373034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0" name="Connector 300059"/>
          <p:cNvCxnSpPr/>
          <p:nvPr/>
        </p:nvCxnSpPr>
        <p:spPr>
          <a:xfrm>
            <a:off x="3836672" y="374089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V="1">
            <a:off x="3836672" y="374089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2" name="Oval 300061"/>
          <p:cNvSpPr/>
          <p:nvPr/>
        </p:nvSpPr>
        <p:spPr>
          <a:xfrm>
            <a:off x="1822590" y="433570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3" name="Connector 300062"/>
          <p:cNvCxnSpPr/>
          <p:nvPr/>
        </p:nvCxnSpPr>
        <p:spPr>
          <a:xfrm flipV="1">
            <a:off x="1836090" y="428945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>
            <a:off x="1886227" y="42894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5" name="TextBox 300064"/>
          <p:cNvSpPr txBox="1"/>
          <p:nvPr/>
        </p:nvSpPr>
        <p:spPr>
          <a:xfrm>
            <a:off x="1586090" y="437920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6" name="Oval 300065"/>
          <p:cNvSpPr/>
          <p:nvPr/>
        </p:nvSpPr>
        <p:spPr>
          <a:xfrm>
            <a:off x="2203591" y="38856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7" name="Connector 300066"/>
          <p:cNvCxnSpPr/>
          <p:nvPr/>
        </p:nvCxnSpPr>
        <p:spPr>
          <a:xfrm flipV="1">
            <a:off x="2217091" y="38394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>
            <a:off x="2267228" y="383941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9" name="TextBox 300068"/>
          <p:cNvSpPr txBox="1"/>
          <p:nvPr/>
        </p:nvSpPr>
        <p:spPr>
          <a:xfrm>
            <a:off x="1967091" y="39291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0" name="Oval 300069"/>
          <p:cNvSpPr/>
          <p:nvPr/>
        </p:nvSpPr>
        <p:spPr>
          <a:xfrm>
            <a:off x="2865100" y="348762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1" name="Connector 300070"/>
          <p:cNvCxnSpPr/>
          <p:nvPr/>
        </p:nvCxnSpPr>
        <p:spPr>
          <a:xfrm flipV="1">
            <a:off x="2878600" y="3441377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>
            <a:off x="2928737" y="344137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TextBox 300072"/>
          <p:cNvSpPr txBox="1"/>
          <p:nvPr/>
        </p:nvSpPr>
        <p:spPr>
          <a:xfrm>
            <a:off x="2628600" y="353112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3609625" y="302448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 flipV="1">
            <a:off x="3623125" y="2978234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673262" y="297823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3664739" y="298839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TextBox 300077"/>
          <p:cNvSpPr txBox="1"/>
          <p:nvPr/>
        </p:nvSpPr>
        <p:spPr>
          <a:xfrm>
            <a:off x="3373125" y="306798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79" name="Oval 300078"/>
          <p:cNvSpPr/>
          <p:nvPr/>
        </p:nvSpPr>
        <p:spPr>
          <a:xfrm>
            <a:off x="3516122" y="433570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0" name="Connector 300079"/>
          <p:cNvCxnSpPr/>
          <p:nvPr/>
        </p:nvCxnSpPr>
        <p:spPr>
          <a:xfrm flipV="1">
            <a:off x="3529622" y="428945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>
            <a:off x="3579760" y="42894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2" name="TextBox 300081"/>
          <p:cNvSpPr txBox="1"/>
          <p:nvPr/>
        </p:nvSpPr>
        <p:spPr>
          <a:xfrm>
            <a:off x="3279622" y="437920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3" name="Oval 300082"/>
          <p:cNvSpPr/>
          <p:nvPr/>
        </p:nvSpPr>
        <p:spPr>
          <a:xfrm>
            <a:off x="1978136" y="56727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4" name="Connector 300083"/>
          <p:cNvCxnSpPr/>
          <p:nvPr/>
        </p:nvCxnSpPr>
        <p:spPr>
          <a:xfrm flipV="1">
            <a:off x="1991636" y="5626449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5" name="Connector 300084"/>
          <p:cNvCxnSpPr/>
          <p:nvPr/>
        </p:nvCxnSpPr>
        <p:spPr>
          <a:xfrm>
            <a:off x="2041774" y="562644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6" name="Connector 300085"/>
          <p:cNvCxnSpPr/>
          <p:nvPr/>
        </p:nvCxnSpPr>
        <p:spPr>
          <a:xfrm>
            <a:off x="2033250" y="563660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7" name="TextBox 300086"/>
          <p:cNvSpPr txBox="1"/>
          <p:nvPr/>
        </p:nvSpPr>
        <p:spPr>
          <a:xfrm>
            <a:off x="1741636" y="57162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88" name="Oval 300087"/>
          <p:cNvSpPr/>
          <p:nvPr/>
        </p:nvSpPr>
        <p:spPr>
          <a:xfrm>
            <a:off x="3558067" y="444056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9" name="Connector 300088"/>
          <p:cNvCxnSpPr/>
          <p:nvPr/>
        </p:nvCxnSpPr>
        <p:spPr>
          <a:xfrm flipV="1">
            <a:off x="3571567" y="4394315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>
            <a:off x="3621704" y="439431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>
            <a:off x="3613181" y="4404472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2" name="TextBox 300091"/>
          <p:cNvSpPr txBox="1"/>
          <p:nvPr/>
        </p:nvSpPr>
        <p:spPr>
          <a:xfrm>
            <a:off x="3321567" y="448406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4062282" y="360166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 flipV="1">
            <a:off x="4075782" y="3555415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4125919" y="355541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TextBox 300095"/>
          <p:cNvSpPr txBox="1"/>
          <p:nvPr/>
        </p:nvSpPr>
        <p:spPr>
          <a:xfrm>
            <a:off x="3825782" y="364516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97" name="Oval 300096"/>
          <p:cNvSpPr/>
          <p:nvPr/>
        </p:nvSpPr>
        <p:spPr>
          <a:xfrm>
            <a:off x="4579604" y="260940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8" name="Connector 300097"/>
          <p:cNvCxnSpPr/>
          <p:nvPr/>
        </p:nvCxnSpPr>
        <p:spPr>
          <a:xfrm flipV="1">
            <a:off x="4593104" y="2563154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9" name="Connector 300098"/>
          <p:cNvCxnSpPr/>
          <p:nvPr/>
        </p:nvCxnSpPr>
        <p:spPr>
          <a:xfrm>
            <a:off x="4643242" y="256315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0" name="TextBox 300099"/>
          <p:cNvSpPr txBox="1"/>
          <p:nvPr/>
        </p:nvSpPr>
        <p:spPr>
          <a:xfrm>
            <a:off x="4343104" y="265290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1" name="Oval 300100"/>
          <p:cNvSpPr/>
          <p:nvPr/>
        </p:nvSpPr>
        <p:spPr>
          <a:xfrm>
            <a:off x="4162033" y="393180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2" name="Connector 300101"/>
          <p:cNvCxnSpPr/>
          <p:nvPr/>
        </p:nvCxnSpPr>
        <p:spPr>
          <a:xfrm flipV="1">
            <a:off x="4175533" y="388555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3" name="Connector 300102"/>
          <p:cNvCxnSpPr/>
          <p:nvPr/>
        </p:nvCxnSpPr>
        <p:spPr>
          <a:xfrm>
            <a:off x="4225670" y="388555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4" name="TextBox 300103"/>
          <p:cNvSpPr txBox="1"/>
          <p:nvPr/>
        </p:nvSpPr>
        <p:spPr>
          <a:xfrm>
            <a:off x="3925533" y="397530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5" name="Oval 300104"/>
          <p:cNvSpPr/>
          <p:nvPr/>
        </p:nvSpPr>
        <p:spPr>
          <a:xfrm>
            <a:off x="4188991" y="492555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6" name="Connector 300105"/>
          <p:cNvCxnSpPr/>
          <p:nvPr/>
        </p:nvCxnSpPr>
        <p:spPr>
          <a:xfrm flipV="1">
            <a:off x="4202491" y="4879303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7" name="Connector 300106"/>
          <p:cNvCxnSpPr/>
          <p:nvPr/>
        </p:nvCxnSpPr>
        <p:spPr>
          <a:xfrm>
            <a:off x="4252628" y="4879303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8" name="Connector 300107"/>
          <p:cNvCxnSpPr/>
          <p:nvPr/>
        </p:nvCxnSpPr>
        <p:spPr>
          <a:xfrm>
            <a:off x="4244105" y="4889461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9" name="TextBox 300108"/>
          <p:cNvSpPr txBox="1"/>
          <p:nvPr/>
        </p:nvSpPr>
        <p:spPr>
          <a:xfrm>
            <a:off x="3952491" y="496905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0" name="Oval 300109"/>
          <p:cNvSpPr/>
          <p:nvPr/>
        </p:nvSpPr>
        <p:spPr>
          <a:xfrm>
            <a:off x="5028766" y="492555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1" name="Connector 300110"/>
          <p:cNvCxnSpPr/>
          <p:nvPr/>
        </p:nvCxnSpPr>
        <p:spPr>
          <a:xfrm flipV="1">
            <a:off x="5042266" y="4879303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2" name="Connector 300111"/>
          <p:cNvCxnSpPr/>
          <p:nvPr/>
        </p:nvCxnSpPr>
        <p:spPr>
          <a:xfrm>
            <a:off x="5092404" y="4879303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3" name="TextBox 300112"/>
          <p:cNvSpPr txBox="1"/>
          <p:nvPr/>
        </p:nvSpPr>
        <p:spPr>
          <a:xfrm>
            <a:off x="4792266" y="496905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14" name="Oval 300113"/>
          <p:cNvSpPr/>
          <p:nvPr/>
        </p:nvSpPr>
        <p:spPr>
          <a:xfrm>
            <a:off x="5241987" y="484253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5" name="Connector 300114"/>
          <p:cNvCxnSpPr/>
          <p:nvPr/>
        </p:nvCxnSpPr>
        <p:spPr>
          <a:xfrm flipV="1">
            <a:off x="5255487" y="479628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>
            <a:off x="5305624" y="479628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7" name="TextBox 300116"/>
          <p:cNvSpPr txBox="1"/>
          <p:nvPr/>
        </p:nvSpPr>
        <p:spPr>
          <a:xfrm>
            <a:off x="5005487" y="488603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18" name="Oval 300117"/>
          <p:cNvSpPr/>
          <p:nvPr/>
        </p:nvSpPr>
        <p:spPr>
          <a:xfrm>
            <a:off x="6093996" y="523140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9" name="Connector 300118"/>
          <p:cNvCxnSpPr/>
          <p:nvPr/>
        </p:nvCxnSpPr>
        <p:spPr>
          <a:xfrm flipV="1">
            <a:off x="6107496" y="5185152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0" name="Connector 300119"/>
          <p:cNvCxnSpPr/>
          <p:nvPr/>
        </p:nvCxnSpPr>
        <p:spPr>
          <a:xfrm>
            <a:off x="6157634" y="5185152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1" name="TextBox 300120"/>
          <p:cNvSpPr txBox="1"/>
          <p:nvPr/>
        </p:nvSpPr>
        <p:spPr>
          <a:xfrm>
            <a:off x="5857496" y="527490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2" name="Oval 300121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3" name="Connector 300122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4" name="Connector 300123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5" name="TextBox 300124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300126" name="Oval 300125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7" name="Connector 300126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8" name="Connector 300127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9" name="TextBox 300128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300130" name="Oval 300129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1" name="Oval 300130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2" name="TextBox 300131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3" name="Freeform 2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3" name="Connector 300132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4" name="TextBox 300133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6" name="TextBox 300135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300137" name="Oval 300136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8" name="Connector 300137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9" name="Connector 300138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0" name="Connector 300139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1" name="TextBox 300140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300142" name="Rectangle 300141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3" name="TextBox 300142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300144" name="TextBox 300143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2" name="Freeform 11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5" name="TextBox 300144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300146" name="Connector 300145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7" name="TextBox 300146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300148" name="TextBox 300147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49" name="TextBox 300148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300150" name="TextBox 300149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300151" name="Rectangle 300150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2" name="Rectangle 300151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3" name="Rectangle 300152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4" name="TextBox 300153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O-B · 方案 B · 精简 17 路（照明 3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 flipV="1">
            <a:off x="4227094" y="2605694"/>
            <a:ext cx="1094292" cy="6807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4510096" y="2978163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4510096" y="2978163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V="1">
            <a:off x="2923448" y="4687029"/>
            <a:ext cx="2322159" cy="181097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636204" y="579416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636204" y="579416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227094" y="1849197"/>
            <a:ext cx="248016" cy="1437218"/>
          </a:xfrm>
          <a:custGeom>
            <a:avLst/>
            <a:gdLst/>
            <a:ahLst/>
            <a:cxnLst/>
            <a:rect l="l" t="t" r="r" b="b"/>
            <a:pathLst>
              <a:path w="248016" h="1437218">
                <a:moveTo>
                  <a:pt x="0" y="1437218"/>
                </a:moveTo>
                <a:lnTo>
                  <a:pt x="45004" y="1351636"/>
                </a:lnTo>
                <a:lnTo>
                  <a:pt x="85516" y="1265489"/>
                </a:lnTo>
                <a:lnTo>
                  <a:pt x="121536" y="1178775"/>
                </a:lnTo>
                <a:lnTo>
                  <a:pt x="153066" y="1091496"/>
                </a:lnTo>
                <a:lnTo>
                  <a:pt x="180104" y="1003650"/>
                </a:lnTo>
                <a:lnTo>
                  <a:pt x="202651" y="915239"/>
                </a:lnTo>
                <a:lnTo>
                  <a:pt x="220707" y="826262"/>
                </a:lnTo>
                <a:lnTo>
                  <a:pt x="234271" y="736719"/>
                </a:lnTo>
                <a:lnTo>
                  <a:pt x="243344" y="646609"/>
                </a:lnTo>
                <a:lnTo>
                  <a:pt x="247925" y="555934"/>
                </a:lnTo>
                <a:lnTo>
                  <a:pt x="248016" y="464693"/>
                </a:lnTo>
                <a:lnTo>
                  <a:pt x="243615" y="372887"/>
                </a:lnTo>
                <a:lnTo>
                  <a:pt x="234723" y="280514"/>
                </a:lnTo>
                <a:lnTo>
                  <a:pt x="221339" y="187575"/>
                </a:lnTo>
                <a:lnTo>
                  <a:pt x="203464" y="94070"/>
                </a:lnTo>
                <a:lnTo>
                  <a:pt x="18109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192" y="1849197"/>
            <a:ext cx="913194" cy="756497"/>
          </a:xfrm>
          <a:custGeom>
            <a:avLst/>
            <a:gdLst/>
            <a:ahLst/>
            <a:cxnLst/>
            <a:rect l="l" t="t" r="r" b="b"/>
            <a:pathLst>
              <a:path w="913194" h="756497">
                <a:moveTo>
                  <a:pt x="913194" y="756497"/>
                </a:moveTo>
                <a:lnTo>
                  <a:pt x="873850" y="687813"/>
                </a:lnTo>
                <a:lnTo>
                  <a:pt x="832142" y="621983"/>
                </a:lnTo>
                <a:lnTo>
                  <a:pt x="788070" y="559006"/>
                </a:lnTo>
                <a:lnTo>
                  <a:pt x="741633" y="498883"/>
                </a:lnTo>
                <a:lnTo>
                  <a:pt x="692833" y="441614"/>
                </a:lnTo>
                <a:lnTo>
                  <a:pt x="641668" y="387199"/>
                </a:lnTo>
                <a:lnTo>
                  <a:pt x="588140" y="335637"/>
                </a:lnTo>
                <a:lnTo>
                  <a:pt x="532247" y="286929"/>
                </a:lnTo>
                <a:lnTo>
                  <a:pt x="473990" y="241075"/>
                </a:lnTo>
                <a:lnTo>
                  <a:pt x="413369" y="198074"/>
                </a:lnTo>
                <a:lnTo>
                  <a:pt x="350385" y="157927"/>
                </a:lnTo>
                <a:lnTo>
                  <a:pt x="285036" y="120634"/>
                </a:lnTo>
                <a:lnTo>
                  <a:pt x="217323" y="86195"/>
                </a:lnTo>
                <a:lnTo>
                  <a:pt x="147246" y="54609"/>
                </a:lnTo>
                <a:lnTo>
                  <a:pt x="74805" y="25878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321386" y="1817087"/>
            <a:ext cx="773839" cy="788607"/>
          </a:xfrm>
          <a:custGeom>
            <a:avLst/>
            <a:gdLst/>
            <a:ahLst/>
            <a:cxnLst/>
            <a:rect l="l" t="t" r="r" b="b"/>
            <a:pathLst>
              <a:path w="773839" h="788607">
                <a:moveTo>
                  <a:pt x="0" y="788607"/>
                </a:moveTo>
                <a:lnTo>
                  <a:pt x="66848" y="757456"/>
                </a:lnTo>
                <a:lnTo>
                  <a:pt x="131232" y="723887"/>
                </a:lnTo>
                <a:lnTo>
                  <a:pt x="193151" y="687899"/>
                </a:lnTo>
                <a:lnTo>
                  <a:pt x="252606" y="649493"/>
                </a:lnTo>
                <a:lnTo>
                  <a:pt x="309596" y="608669"/>
                </a:lnTo>
                <a:lnTo>
                  <a:pt x="364122" y="565427"/>
                </a:lnTo>
                <a:lnTo>
                  <a:pt x="416184" y="519766"/>
                </a:lnTo>
                <a:lnTo>
                  <a:pt x="465781" y="471687"/>
                </a:lnTo>
                <a:lnTo>
                  <a:pt x="512913" y="421190"/>
                </a:lnTo>
                <a:lnTo>
                  <a:pt x="557582" y="368275"/>
                </a:lnTo>
                <a:lnTo>
                  <a:pt x="599786" y="312941"/>
                </a:lnTo>
                <a:lnTo>
                  <a:pt x="639525" y="255190"/>
                </a:lnTo>
                <a:lnTo>
                  <a:pt x="676800" y="195020"/>
                </a:lnTo>
                <a:lnTo>
                  <a:pt x="711611" y="132431"/>
                </a:lnTo>
                <a:lnTo>
                  <a:pt x="743958" y="67425"/>
                </a:lnTo>
                <a:lnTo>
                  <a:pt x="77383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817267" y="3974842"/>
            <a:ext cx="366691" cy="558061"/>
          </a:xfrm>
          <a:custGeom>
            <a:avLst/>
            <a:gdLst/>
            <a:ahLst/>
            <a:cxnLst/>
            <a:rect l="l" t="t" r="r" b="b"/>
            <a:pathLst>
              <a:path w="366691" h="558061">
                <a:moveTo>
                  <a:pt x="366691" y="558061"/>
                </a:moveTo>
                <a:lnTo>
                  <a:pt x="356852" y="514588"/>
                </a:lnTo>
                <a:lnTo>
                  <a:pt x="345270" y="472261"/>
                </a:lnTo>
                <a:lnTo>
                  <a:pt x="331943" y="431080"/>
                </a:lnTo>
                <a:lnTo>
                  <a:pt x="316873" y="391044"/>
                </a:lnTo>
                <a:lnTo>
                  <a:pt x="300058" y="352155"/>
                </a:lnTo>
                <a:lnTo>
                  <a:pt x="281500" y="314411"/>
                </a:lnTo>
                <a:lnTo>
                  <a:pt x="261198" y="277813"/>
                </a:lnTo>
                <a:lnTo>
                  <a:pt x="239151" y="242361"/>
                </a:lnTo>
                <a:lnTo>
                  <a:pt x="215361" y="208055"/>
                </a:lnTo>
                <a:lnTo>
                  <a:pt x="189827" y="174895"/>
                </a:lnTo>
                <a:lnTo>
                  <a:pt x="162549" y="142881"/>
                </a:lnTo>
                <a:lnTo>
                  <a:pt x="133527" y="112013"/>
                </a:lnTo>
                <a:lnTo>
                  <a:pt x="102761" y="82291"/>
                </a:lnTo>
                <a:lnTo>
                  <a:pt x="70251" y="53715"/>
                </a:lnTo>
                <a:lnTo>
                  <a:pt x="35997" y="2628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694828" y="3932660"/>
            <a:ext cx="307794" cy="600243"/>
          </a:xfrm>
          <a:custGeom>
            <a:avLst/>
            <a:gdLst/>
            <a:ahLst/>
            <a:cxnLst/>
            <a:rect l="l" t="t" r="r" b="b"/>
            <a:pathLst>
              <a:path w="307794" h="600243">
                <a:moveTo>
                  <a:pt x="0" y="600243"/>
                </a:moveTo>
                <a:lnTo>
                  <a:pt x="33306" y="569942"/>
                </a:lnTo>
                <a:lnTo>
                  <a:pt x="64735" y="538679"/>
                </a:lnTo>
                <a:lnTo>
                  <a:pt x="94289" y="506454"/>
                </a:lnTo>
                <a:lnTo>
                  <a:pt x="121967" y="473267"/>
                </a:lnTo>
                <a:lnTo>
                  <a:pt x="147769" y="439118"/>
                </a:lnTo>
                <a:lnTo>
                  <a:pt x="171696" y="404008"/>
                </a:lnTo>
                <a:lnTo>
                  <a:pt x="193747" y="367935"/>
                </a:lnTo>
                <a:lnTo>
                  <a:pt x="213922" y="330901"/>
                </a:lnTo>
                <a:lnTo>
                  <a:pt x="232221" y="292905"/>
                </a:lnTo>
                <a:lnTo>
                  <a:pt x="248644" y="253947"/>
                </a:lnTo>
                <a:lnTo>
                  <a:pt x="263192" y="214027"/>
                </a:lnTo>
                <a:lnTo>
                  <a:pt x="275864" y="173145"/>
                </a:lnTo>
                <a:lnTo>
                  <a:pt x="286660" y="131302"/>
                </a:lnTo>
                <a:lnTo>
                  <a:pt x="295581" y="88496"/>
                </a:lnTo>
                <a:lnTo>
                  <a:pt x="302625" y="44729"/>
                </a:lnTo>
                <a:lnTo>
                  <a:pt x="30779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254818" y="3871449"/>
            <a:ext cx="365406" cy="304398"/>
          </a:xfrm>
          <a:custGeom>
            <a:avLst/>
            <a:gdLst/>
            <a:ahLst/>
            <a:cxnLst/>
            <a:rect l="l" t="t" r="r" b="b"/>
            <a:pathLst>
              <a:path w="365406" h="304398">
                <a:moveTo>
                  <a:pt x="0" y="0"/>
                </a:moveTo>
                <a:lnTo>
                  <a:pt x="15703" y="27589"/>
                </a:lnTo>
                <a:lnTo>
                  <a:pt x="32358" y="54036"/>
                </a:lnTo>
                <a:lnTo>
                  <a:pt x="49964" y="79341"/>
                </a:lnTo>
                <a:lnTo>
                  <a:pt x="68522" y="103505"/>
                </a:lnTo>
                <a:lnTo>
                  <a:pt x="88030" y="126526"/>
                </a:lnTo>
                <a:lnTo>
                  <a:pt x="108490" y="148406"/>
                </a:lnTo>
                <a:lnTo>
                  <a:pt x="129901" y="169144"/>
                </a:lnTo>
                <a:lnTo>
                  <a:pt x="152263" y="188739"/>
                </a:lnTo>
                <a:lnTo>
                  <a:pt x="175577" y="207193"/>
                </a:lnTo>
                <a:lnTo>
                  <a:pt x="199842" y="224505"/>
                </a:lnTo>
                <a:lnTo>
                  <a:pt x="225058" y="240675"/>
                </a:lnTo>
                <a:lnTo>
                  <a:pt x="251225" y="255704"/>
                </a:lnTo>
                <a:lnTo>
                  <a:pt x="278343" y="269590"/>
                </a:lnTo>
                <a:lnTo>
                  <a:pt x="306413" y="282334"/>
                </a:lnTo>
                <a:lnTo>
                  <a:pt x="335434" y="293937"/>
                </a:lnTo>
                <a:lnTo>
                  <a:pt x="365406" y="30439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23448" y="5252156"/>
            <a:ext cx="757784" cy="1245846"/>
          </a:xfrm>
          <a:custGeom>
            <a:avLst/>
            <a:gdLst/>
            <a:ahLst/>
            <a:cxnLst/>
            <a:rect l="l" t="t" r="r" b="b"/>
            <a:pathLst>
              <a:path w="757784" h="1245846">
                <a:moveTo>
                  <a:pt x="0" y="1245846"/>
                </a:moveTo>
                <a:lnTo>
                  <a:pt x="76561" y="1185741"/>
                </a:lnTo>
                <a:lnTo>
                  <a:pt x="149229" y="1123268"/>
                </a:lnTo>
                <a:lnTo>
                  <a:pt x="218003" y="1058427"/>
                </a:lnTo>
                <a:lnTo>
                  <a:pt x="282885" y="991218"/>
                </a:lnTo>
                <a:lnTo>
                  <a:pt x="343872" y="921641"/>
                </a:lnTo>
                <a:lnTo>
                  <a:pt x="400967" y="849696"/>
                </a:lnTo>
                <a:lnTo>
                  <a:pt x="454169" y="775382"/>
                </a:lnTo>
                <a:lnTo>
                  <a:pt x="503477" y="698701"/>
                </a:lnTo>
                <a:lnTo>
                  <a:pt x="548891" y="619652"/>
                </a:lnTo>
                <a:lnTo>
                  <a:pt x="590413" y="538234"/>
                </a:lnTo>
                <a:lnTo>
                  <a:pt x="628041" y="454449"/>
                </a:lnTo>
                <a:lnTo>
                  <a:pt x="661776" y="368295"/>
                </a:lnTo>
                <a:lnTo>
                  <a:pt x="691618" y="279773"/>
                </a:lnTo>
                <a:lnTo>
                  <a:pt x="717567" y="188883"/>
                </a:lnTo>
                <a:lnTo>
                  <a:pt x="739622" y="95626"/>
                </a:lnTo>
                <a:lnTo>
                  <a:pt x="75778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681232" y="4685685"/>
            <a:ext cx="1564375" cy="566471"/>
          </a:xfrm>
          <a:custGeom>
            <a:avLst/>
            <a:gdLst/>
            <a:ahLst/>
            <a:cxnLst/>
            <a:rect l="l" t="t" r="r" b="b"/>
            <a:pathLst>
              <a:path w="1564375" h="566471">
                <a:moveTo>
                  <a:pt x="1564375" y="1344"/>
                </a:moveTo>
                <a:lnTo>
                  <a:pt x="1453357" y="0"/>
                </a:lnTo>
                <a:lnTo>
                  <a:pt x="1344104" y="3544"/>
                </a:lnTo>
                <a:lnTo>
                  <a:pt x="1236618" y="11976"/>
                </a:lnTo>
                <a:lnTo>
                  <a:pt x="1130897" y="25298"/>
                </a:lnTo>
                <a:lnTo>
                  <a:pt x="1026943" y="43508"/>
                </a:lnTo>
                <a:lnTo>
                  <a:pt x="924754" y="66606"/>
                </a:lnTo>
                <a:lnTo>
                  <a:pt x="824331" y="94594"/>
                </a:lnTo>
                <a:lnTo>
                  <a:pt x="725675" y="127470"/>
                </a:lnTo>
                <a:lnTo>
                  <a:pt x="628785" y="165235"/>
                </a:lnTo>
                <a:lnTo>
                  <a:pt x="533660" y="207888"/>
                </a:lnTo>
                <a:lnTo>
                  <a:pt x="440302" y="255430"/>
                </a:lnTo>
                <a:lnTo>
                  <a:pt x="348709" y="307861"/>
                </a:lnTo>
                <a:lnTo>
                  <a:pt x="258883" y="365180"/>
                </a:lnTo>
                <a:lnTo>
                  <a:pt x="170823" y="427388"/>
                </a:lnTo>
                <a:lnTo>
                  <a:pt x="84528" y="494485"/>
                </a:lnTo>
                <a:lnTo>
                  <a:pt x="0" y="56647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923448" y="5754065"/>
            <a:ext cx="1887591" cy="743937"/>
          </a:xfrm>
          <a:custGeom>
            <a:avLst/>
            <a:gdLst/>
            <a:ahLst/>
            <a:cxnLst/>
            <a:rect l="l" t="t" r="r" b="b"/>
            <a:pathLst>
              <a:path w="1887591" h="743937">
                <a:moveTo>
                  <a:pt x="0" y="743937"/>
                </a:moveTo>
                <a:lnTo>
                  <a:pt x="135411" y="741681"/>
                </a:lnTo>
                <a:lnTo>
                  <a:pt x="268496" y="733527"/>
                </a:lnTo>
                <a:lnTo>
                  <a:pt x="399257" y="719474"/>
                </a:lnTo>
                <a:lnTo>
                  <a:pt x="527693" y="699522"/>
                </a:lnTo>
                <a:lnTo>
                  <a:pt x="653804" y="673671"/>
                </a:lnTo>
                <a:lnTo>
                  <a:pt x="777591" y="641922"/>
                </a:lnTo>
                <a:lnTo>
                  <a:pt x="899052" y="604274"/>
                </a:lnTo>
                <a:lnTo>
                  <a:pt x="1018189" y="560728"/>
                </a:lnTo>
                <a:lnTo>
                  <a:pt x="1135001" y="511282"/>
                </a:lnTo>
                <a:lnTo>
                  <a:pt x="1249488" y="455938"/>
                </a:lnTo>
                <a:lnTo>
                  <a:pt x="1361651" y="394695"/>
                </a:lnTo>
                <a:lnTo>
                  <a:pt x="1471488" y="327554"/>
                </a:lnTo>
                <a:lnTo>
                  <a:pt x="1579001" y="254513"/>
                </a:lnTo>
                <a:lnTo>
                  <a:pt x="1684189" y="175574"/>
                </a:lnTo>
                <a:lnTo>
                  <a:pt x="1787052" y="90737"/>
                </a:lnTo>
                <a:lnTo>
                  <a:pt x="188759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4811039" y="4687029"/>
            <a:ext cx="434568" cy="1067036"/>
          </a:xfrm>
          <a:custGeom>
            <a:avLst/>
            <a:gdLst/>
            <a:ahLst/>
            <a:cxnLst/>
            <a:rect l="l" t="t" r="r" b="b"/>
            <a:pathLst>
              <a:path w="434568" h="1067036">
                <a:moveTo>
                  <a:pt x="434568" y="0"/>
                </a:moveTo>
                <a:lnTo>
                  <a:pt x="382399" y="56505"/>
                </a:lnTo>
                <a:lnTo>
                  <a:pt x="333565" y="114367"/>
                </a:lnTo>
                <a:lnTo>
                  <a:pt x="288064" y="173588"/>
                </a:lnTo>
                <a:lnTo>
                  <a:pt x="245899" y="234167"/>
                </a:lnTo>
                <a:lnTo>
                  <a:pt x="207067" y="296103"/>
                </a:lnTo>
                <a:lnTo>
                  <a:pt x="171571" y="359398"/>
                </a:lnTo>
                <a:lnTo>
                  <a:pt x="139408" y="424051"/>
                </a:lnTo>
                <a:lnTo>
                  <a:pt x="110581" y="490061"/>
                </a:lnTo>
                <a:lnTo>
                  <a:pt x="85087" y="557430"/>
                </a:lnTo>
                <a:lnTo>
                  <a:pt x="62928" y="626157"/>
                </a:lnTo>
                <a:lnTo>
                  <a:pt x="44104" y="696242"/>
                </a:lnTo>
                <a:lnTo>
                  <a:pt x="28614" y="767684"/>
                </a:lnTo>
                <a:lnTo>
                  <a:pt x="16459" y="840485"/>
                </a:lnTo>
                <a:lnTo>
                  <a:pt x="7638" y="914644"/>
                </a:lnTo>
                <a:lnTo>
                  <a:pt x="2152" y="990161"/>
                </a:lnTo>
                <a:lnTo>
                  <a:pt x="0" y="10670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4323409" y="17644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4348250" y="1789255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4348250" y="1789255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4492975" y="16796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3596449" y="5167372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3621290" y="5192214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3621290" y="5192214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3766015" y="508258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2" name="Oval 300041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3" name="TextBox 300042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44" name="Oval 300043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5" name="Oval 300044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TextBox 300045"/>
          <p:cNvSpPr txBox="1"/>
          <p:nvPr/>
        </p:nvSpPr>
        <p:spPr>
          <a:xfrm>
            <a:off x="4895822" y="558449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47" name="Oval 300046"/>
          <p:cNvSpPr/>
          <p:nvPr/>
        </p:nvSpPr>
        <p:spPr>
          <a:xfrm>
            <a:off x="6010442" y="1732304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8" name="Connector 300047"/>
          <p:cNvCxnSpPr/>
          <p:nvPr/>
        </p:nvCxnSpPr>
        <p:spPr>
          <a:xfrm>
            <a:off x="6035284" y="175714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 flipV="1">
            <a:off x="6035284" y="175714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0" name="TextBox 300049"/>
          <p:cNvSpPr txBox="1"/>
          <p:nvPr/>
        </p:nvSpPr>
        <p:spPr>
          <a:xfrm>
            <a:off x="6180009" y="164752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51" name="Oval 300050"/>
          <p:cNvSpPr/>
          <p:nvPr/>
        </p:nvSpPr>
        <p:spPr>
          <a:xfrm>
            <a:off x="3563702" y="41193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2" name="Oval 300051"/>
          <p:cNvSpPr/>
          <p:nvPr/>
        </p:nvSpPr>
        <p:spPr>
          <a:xfrm>
            <a:off x="3602561" y="4158183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TextBox 300052"/>
          <p:cNvSpPr txBox="1"/>
          <p:nvPr/>
        </p:nvSpPr>
        <p:spPr>
          <a:xfrm>
            <a:off x="3705007" y="40062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054" name="Oval 300053"/>
          <p:cNvSpPr/>
          <p:nvPr/>
        </p:nvSpPr>
        <p:spPr>
          <a:xfrm>
            <a:off x="4767810" y="3925385"/>
            <a:ext cx="98913" cy="989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789005" y="3943048"/>
            <a:ext cx="56523" cy="52989"/>
          </a:xfrm>
          <a:custGeom>
            <a:avLst/>
            <a:gdLst/>
            <a:ahLst/>
            <a:cxnLst/>
            <a:rect l="l" t="t" r="r" b="b"/>
            <a:pathLst>
              <a:path w="56523" h="52989">
                <a:moveTo>
                  <a:pt x="28262" y="0"/>
                </a:moveTo>
                <a:lnTo>
                  <a:pt x="0" y="52989"/>
                </a:lnTo>
                <a:lnTo>
                  <a:pt x="56523" y="52989"/>
                </a:lnTo>
                <a:lnTo>
                  <a:pt x="28262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TextBox 300054"/>
          <p:cNvSpPr txBox="1"/>
          <p:nvPr/>
        </p:nvSpPr>
        <p:spPr>
          <a:xfrm>
            <a:off x="4902050" y="380527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56" name="Oval 300055"/>
          <p:cNvSpPr/>
          <p:nvPr/>
        </p:nvSpPr>
        <p:spPr>
          <a:xfrm>
            <a:off x="2669393" y="450746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7" name="Connector 300056"/>
          <p:cNvCxnSpPr/>
          <p:nvPr/>
        </p:nvCxnSpPr>
        <p:spPr>
          <a:xfrm flipV="1">
            <a:off x="2694828" y="442032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>
            <a:off x="2789291" y="442032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9" name="Rounded Rectangle 300058"/>
          <p:cNvSpPr/>
          <p:nvPr/>
        </p:nvSpPr>
        <p:spPr>
          <a:xfrm>
            <a:off x="2803421" y="428784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0" name="TextBox 300059"/>
          <p:cNvSpPr txBox="1"/>
          <p:nvPr/>
        </p:nvSpPr>
        <p:spPr>
          <a:xfrm>
            <a:off x="2803421" y="428784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1" name="Oval 300060"/>
          <p:cNvSpPr/>
          <p:nvPr/>
        </p:nvSpPr>
        <p:spPr>
          <a:xfrm>
            <a:off x="3229383" y="384601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2" name="Connector 300061"/>
          <p:cNvCxnSpPr/>
          <p:nvPr/>
        </p:nvCxnSpPr>
        <p:spPr>
          <a:xfrm flipV="1">
            <a:off x="3254818" y="375887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>
            <a:off x="3349280" y="375887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4" name="Rounded Rectangle 300063"/>
          <p:cNvSpPr/>
          <p:nvPr/>
        </p:nvSpPr>
        <p:spPr>
          <a:xfrm>
            <a:off x="3363411" y="362639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5" name="TextBox 300064"/>
          <p:cNvSpPr txBox="1"/>
          <p:nvPr/>
        </p:nvSpPr>
        <p:spPr>
          <a:xfrm>
            <a:off x="3363411" y="362639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66" name="Oval 300065"/>
          <p:cNvSpPr/>
          <p:nvPr/>
        </p:nvSpPr>
        <p:spPr>
          <a:xfrm>
            <a:off x="4201659" y="32609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7" name="Connector 300066"/>
          <p:cNvCxnSpPr/>
          <p:nvPr/>
        </p:nvCxnSpPr>
        <p:spPr>
          <a:xfrm flipV="1">
            <a:off x="4227094" y="31738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>
            <a:off x="4321557" y="31738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9" name="Rounded Rectangle 300068"/>
          <p:cNvSpPr/>
          <p:nvPr/>
        </p:nvSpPr>
        <p:spPr>
          <a:xfrm>
            <a:off x="4335687" y="30413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0" name="TextBox 300069"/>
          <p:cNvSpPr txBox="1"/>
          <p:nvPr/>
        </p:nvSpPr>
        <p:spPr>
          <a:xfrm>
            <a:off x="4335687" y="30413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1" name="Oval 300070"/>
          <p:cNvSpPr/>
          <p:nvPr/>
        </p:nvSpPr>
        <p:spPr>
          <a:xfrm>
            <a:off x="5295951" y="2580259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2" name="Connector 300071"/>
          <p:cNvCxnSpPr/>
          <p:nvPr/>
        </p:nvCxnSpPr>
        <p:spPr>
          <a:xfrm flipV="1">
            <a:off x="5321386" y="2493118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>
            <a:off x="5415849" y="2493118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4" name="Connector 300073"/>
          <p:cNvCxnSpPr/>
          <p:nvPr/>
        </p:nvCxnSpPr>
        <p:spPr>
          <a:xfrm>
            <a:off x="5399790" y="2512256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5" name="Rounded Rectangle 300074"/>
          <p:cNvSpPr/>
          <p:nvPr/>
        </p:nvSpPr>
        <p:spPr>
          <a:xfrm>
            <a:off x="5429979" y="2360637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6" name="TextBox 300075"/>
          <p:cNvSpPr txBox="1"/>
          <p:nvPr/>
        </p:nvSpPr>
        <p:spPr>
          <a:xfrm>
            <a:off x="5429979" y="2360637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77" name="Oval 300076"/>
          <p:cNvSpPr/>
          <p:nvPr/>
        </p:nvSpPr>
        <p:spPr>
          <a:xfrm>
            <a:off x="5158523" y="450746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8" name="Connector 300077"/>
          <p:cNvCxnSpPr/>
          <p:nvPr/>
        </p:nvCxnSpPr>
        <p:spPr>
          <a:xfrm flipV="1">
            <a:off x="5183958" y="4420327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5278420" y="442032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0" name="Rounded Rectangle 300079"/>
          <p:cNvSpPr/>
          <p:nvPr/>
        </p:nvSpPr>
        <p:spPr>
          <a:xfrm>
            <a:off x="5292551" y="428784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1" name="TextBox 300080"/>
          <p:cNvSpPr txBox="1"/>
          <p:nvPr/>
        </p:nvSpPr>
        <p:spPr>
          <a:xfrm>
            <a:off x="5292551" y="428784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2" name="Oval 300081"/>
          <p:cNvSpPr/>
          <p:nvPr/>
        </p:nvSpPr>
        <p:spPr>
          <a:xfrm>
            <a:off x="2898013" y="647256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3" name="Connector 300082"/>
          <p:cNvCxnSpPr/>
          <p:nvPr/>
        </p:nvCxnSpPr>
        <p:spPr>
          <a:xfrm flipV="1">
            <a:off x="2923448" y="6385426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>
            <a:off x="3017911" y="6385426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5" name="Connector 300084"/>
          <p:cNvCxnSpPr/>
          <p:nvPr/>
        </p:nvCxnSpPr>
        <p:spPr>
          <a:xfrm>
            <a:off x="3001852" y="6404564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6" name="Rounded Rectangle 300085"/>
          <p:cNvSpPr/>
          <p:nvPr/>
        </p:nvSpPr>
        <p:spPr>
          <a:xfrm>
            <a:off x="3032041" y="6252945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7" name="TextBox 300086"/>
          <p:cNvSpPr txBox="1"/>
          <p:nvPr/>
        </p:nvSpPr>
        <p:spPr>
          <a:xfrm>
            <a:off x="3032041" y="6252945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88" name="Oval 300087"/>
          <p:cNvSpPr/>
          <p:nvPr/>
        </p:nvSpPr>
        <p:spPr>
          <a:xfrm>
            <a:off x="5220172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9" name="Connector 300088"/>
          <p:cNvCxnSpPr/>
          <p:nvPr/>
        </p:nvCxnSpPr>
        <p:spPr>
          <a:xfrm flipV="1">
            <a:off x="5245607" y="4574453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>
            <a:off x="5340070" y="457445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>
            <a:off x="5324011" y="459359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2" name="Rounded Rectangle 300091"/>
          <p:cNvSpPr/>
          <p:nvPr/>
        </p:nvSpPr>
        <p:spPr>
          <a:xfrm>
            <a:off x="5354200" y="444197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3" name="TextBox 300092"/>
          <p:cNvSpPr txBox="1"/>
          <p:nvPr/>
        </p:nvSpPr>
        <p:spPr>
          <a:xfrm>
            <a:off x="5354200" y="444197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4" name="TextBox 300093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5" name="TextBox 300094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盥洗室入口墙垛正中（一门两用旁）</a:t>
            </a:r>
          </a:p>
        </p:txBody>
      </p:sp>
      <p:sp>
        <p:nvSpPr>
          <p:cNvPr id="300096" name="TextBox 300095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097" name="TextBox 300096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西卫生间隔墙端头旁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主卧床头板正中上方（h1360，与门口 S4 双控）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主卧门旁 · F 墙转角（离墙端 150）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衣帽间洞口旁 400 墙段正中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床头（C04 正上方，h850）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门旁（门西侧短墙，卧室2 一侧，锁侧）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3" name="Rectangle 300112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4" name="Rectangle 300113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5" name="TextBox 300114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O-B · 方案 B · 精简 17 路（照明 3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2598274" y="3454026"/>
            <a:ext cx="186235" cy="194583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2563456" y="4065068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2563456" y="4065068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H="1">
            <a:off x="2784509" y="5399859"/>
            <a:ext cx="123429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486798" y="532985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486798" y="532985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358627" y="1995616"/>
            <a:ext cx="430268" cy="468797"/>
          </a:xfrm>
          <a:custGeom>
            <a:avLst/>
            <a:gdLst/>
            <a:ahLst/>
            <a:cxnLst/>
            <a:rect l="l" t="t" r="r" b="b"/>
            <a:pathLst>
              <a:path w="430268" h="468797">
                <a:moveTo>
                  <a:pt x="0" y="0"/>
                </a:moveTo>
                <a:lnTo>
                  <a:pt x="15905" y="39384"/>
                </a:lnTo>
                <a:lnTo>
                  <a:pt x="33274" y="77424"/>
                </a:lnTo>
                <a:lnTo>
                  <a:pt x="52108" y="114119"/>
                </a:lnTo>
                <a:lnTo>
                  <a:pt x="72408" y="149469"/>
                </a:lnTo>
                <a:lnTo>
                  <a:pt x="94172" y="183475"/>
                </a:lnTo>
                <a:lnTo>
                  <a:pt x="117401" y="216136"/>
                </a:lnTo>
                <a:lnTo>
                  <a:pt x="142095" y="247453"/>
                </a:lnTo>
                <a:lnTo>
                  <a:pt x="168255" y="277425"/>
                </a:lnTo>
                <a:lnTo>
                  <a:pt x="195879" y="306053"/>
                </a:lnTo>
                <a:lnTo>
                  <a:pt x="224968" y="333336"/>
                </a:lnTo>
                <a:lnTo>
                  <a:pt x="255522" y="359274"/>
                </a:lnTo>
                <a:lnTo>
                  <a:pt x="287541" y="383868"/>
                </a:lnTo>
                <a:lnTo>
                  <a:pt x="321026" y="407117"/>
                </a:lnTo>
                <a:lnTo>
                  <a:pt x="355975" y="429022"/>
                </a:lnTo>
                <a:lnTo>
                  <a:pt x="392389" y="449582"/>
                </a:lnTo>
                <a:lnTo>
                  <a:pt x="430268" y="4687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243" y="3454026"/>
            <a:ext cx="314031" cy="222198"/>
          </a:xfrm>
          <a:custGeom>
            <a:avLst/>
            <a:gdLst/>
            <a:ahLst/>
            <a:cxnLst/>
            <a:rect l="l" t="t" r="r" b="b"/>
            <a:pathLst>
              <a:path w="314031" h="222198">
                <a:moveTo>
                  <a:pt x="314031" y="0"/>
                </a:moveTo>
                <a:lnTo>
                  <a:pt x="289196" y="6528"/>
                </a:lnTo>
                <a:lnTo>
                  <a:pt x="265056" y="14036"/>
                </a:lnTo>
                <a:lnTo>
                  <a:pt x="241610" y="22526"/>
                </a:lnTo>
                <a:lnTo>
                  <a:pt x="218858" y="31997"/>
                </a:lnTo>
                <a:lnTo>
                  <a:pt x="196801" y="42450"/>
                </a:lnTo>
                <a:lnTo>
                  <a:pt x="175438" y="53884"/>
                </a:lnTo>
                <a:lnTo>
                  <a:pt x="154770" y="66299"/>
                </a:lnTo>
                <a:lnTo>
                  <a:pt x="134796" y="79696"/>
                </a:lnTo>
                <a:lnTo>
                  <a:pt x="115516" y="94074"/>
                </a:lnTo>
                <a:lnTo>
                  <a:pt x="96931" y="109433"/>
                </a:lnTo>
                <a:lnTo>
                  <a:pt x="79040" y="125774"/>
                </a:lnTo>
                <a:lnTo>
                  <a:pt x="61843" y="143096"/>
                </a:lnTo>
                <a:lnTo>
                  <a:pt x="45341" y="161399"/>
                </a:lnTo>
                <a:lnTo>
                  <a:pt x="29533" y="180684"/>
                </a:lnTo>
                <a:lnTo>
                  <a:pt x="14419" y="200950"/>
                </a:lnTo>
                <a:lnTo>
                  <a:pt x="0" y="22219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09" y="5027390"/>
            <a:ext cx="481000" cy="372469"/>
          </a:xfrm>
          <a:custGeom>
            <a:avLst/>
            <a:gdLst/>
            <a:ahLst/>
            <a:cxnLst/>
            <a:rect l="l" t="t" r="r" b="b"/>
            <a:pathLst>
              <a:path w="481000" h="372469">
                <a:moveTo>
                  <a:pt x="481000" y="372469"/>
                </a:moveTo>
                <a:lnTo>
                  <a:pt x="459668" y="337916"/>
                </a:lnTo>
                <a:lnTo>
                  <a:pt x="437171" y="304866"/>
                </a:lnTo>
                <a:lnTo>
                  <a:pt x="413510" y="273320"/>
                </a:lnTo>
                <a:lnTo>
                  <a:pt x="388685" y="243276"/>
                </a:lnTo>
                <a:lnTo>
                  <a:pt x="362697" y="214736"/>
                </a:lnTo>
                <a:lnTo>
                  <a:pt x="335544" y="187699"/>
                </a:lnTo>
                <a:lnTo>
                  <a:pt x="307227" y="162165"/>
                </a:lnTo>
                <a:lnTo>
                  <a:pt x="277747" y="138134"/>
                </a:lnTo>
                <a:lnTo>
                  <a:pt x="247102" y="115606"/>
                </a:lnTo>
                <a:lnTo>
                  <a:pt x="215294" y="94582"/>
                </a:lnTo>
                <a:lnTo>
                  <a:pt x="182321" y="75060"/>
                </a:lnTo>
                <a:lnTo>
                  <a:pt x="148185" y="57042"/>
                </a:lnTo>
                <a:lnTo>
                  <a:pt x="112885" y="40527"/>
                </a:lnTo>
                <a:lnTo>
                  <a:pt x="76420" y="25514"/>
                </a:lnTo>
                <a:lnTo>
                  <a:pt x="38792" y="1200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92538" y="3676224"/>
            <a:ext cx="110971" cy="1351166"/>
          </a:xfrm>
          <a:custGeom>
            <a:avLst/>
            <a:gdLst/>
            <a:ahLst/>
            <a:cxnLst/>
            <a:rect l="l" t="t" r="r" b="b"/>
            <a:pathLst>
              <a:path w="110971" h="1351166">
                <a:moveTo>
                  <a:pt x="91705" y="0"/>
                </a:moveTo>
                <a:lnTo>
                  <a:pt x="69158" y="84786"/>
                </a:lnTo>
                <a:lnTo>
                  <a:pt x="49778" y="169527"/>
                </a:lnTo>
                <a:lnTo>
                  <a:pt x="33565" y="254224"/>
                </a:lnTo>
                <a:lnTo>
                  <a:pt x="20519" y="338875"/>
                </a:lnTo>
                <a:lnTo>
                  <a:pt x="10639" y="423481"/>
                </a:lnTo>
                <a:lnTo>
                  <a:pt x="3926" y="508041"/>
                </a:lnTo>
                <a:lnTo>
                  <a:pt x="380" y="592557"/>
                </a:lnTo>
                <a:lnTo>
                  <a:pt x="0" y="677027"/>
                </a:lnTo>
                <a:lnTo>
                  <a:pt x="2788" y="761453"/>
                </a:lnTo>
                <a:lnTo>
                  <a:pt x="8742" y="845833"/>
                </a:lnTo>
                <a:lnTo>
                  <a:pt x="17863" y="930168"/>
                </a:lnTo>
                <a:lnTo>
                  <a:pt x="30151" y="1014458"/>
                </a:lnTo>
                <a:lnTo>
                  <a:pt x="45606" y="1098702"/>
                </a:lnTo>
                <a:lnTo>
                  <a:pt x="64227" y="1182902"/>
                </a:lnTo>
                <a:lnTo>
                  <a:pt x="86016" y="1267056"/>
                </a:lnTo>
                <a:lnTo>
                  <a:pt x="110971" y="13511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744886" y="3939265"/>
            <a:ext cx="717777" cy="404191"/>
          </a:xfrm>
          <a:custGeom>
            <a:avLst/>
            <a:gdLst/>
            <a:ahLst/>
            <a:cxnLst/>
            <a:rect l="l" t="t" r="r" b="b"/>
            <a:pathLst>
              <a:path w="717777" h="404191">
                <a:moveTo>
                  <a:pt x="0" y="0"/>
                </a:moveTo>
                <a:lnTo>
                  <a:pt x="35388" y="42085"/>
                </a:lnTo>
                <a:lnTo>
                  <a:pt x="72039" y="81926"/>
                </a:lnTo>
                <a:lnTo>
                  <a:pt x="109953" y="119525"/>
                </a:lnTo>
                <a:lnTo>
                  <a:pt x="149130" y="154881"/>
                </a:lnTo>
                <a:lnTo>
                  <a:pt x="189570" y="187993"/>
                </a:lnTo>
                <a:lnTo>
                  <a:pt x="231274" y="218863"/>
                </a:lnTo>
                <a:lnTo>
                  <a:pt x="274240" y="247490"/>
                </a:lnTo>
                <a:lnTo>
                  <a:pt x="318470" y="273873"/>
                </a:lnTo>
                <a:lnTo>
                  <a:pt x="363962" y="298013"/>
                </a:lnTo>
                <a:lnTo>
                  <a:pt x="410718" y="319911"/>
                </a:lnTo>
                <a:lnTo>
                  <a:pt x="458737" y="339565"/>
                </a:lnTo>
                <a:lnTo>
                  <a:pt x="508019" y="356976"/>
                </a:lnTo>
                <a:lnTo>
                  <a:pt x="558564" y="372145"/>
                </a:lnTo>
                <a:lnTo>
                  <a:pt x="610372" y="385070"/>
                </a:lnTo>
                <a:lnTo>
                  <a:pt x="663443" y="395752"/>
                </a:lnTo>
                <a:lnTo>
                  <a:pt x="717777" y="4041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784509" y="5399859"/>
            <a:ext cx="1101998" cy="757782"/>
          </a:xfrm>
          <a:custGeom>
            <a:avLst/>
            <a:gdLst/>
            <a:ahLst/>
            <a:cxnLst/>
            <a:rect l="l" t="t" r="r" b="b"/>
            <a:pathLst>
              <a:path w="1101998" h="757782">
                <a:moveTo>
                  <a:pt x="0" y="0"/>
                </a:moveTo>
                <a:lnTo>
                  <a:pt x="51115" y="73189"/>
                </a:lnTo>
                <a:lnTo>
                  <a:pt x="104597" y="142935"/>
                </a:lnTo>
                <a:lnTo>
                  <a:pt x="160448" y="209237"/>
                </a:lnTo>
                <a:lnTo>
                  <a:pt x="218666" y="272095"/>
                </a:lnTo>
                <a:lnTo>
                  <a:pt x="279253" y="331510"/>
                </a:lnTo>
                <a:lnTo>
                  <a:pt x="342207" y="387481"/>
                </a:lnTo>
                <a:lnTo>
                  <a:pt x="407530" y="440008"/>
                </a:lnTo>
                <a:lnTo>
                  <a:pt x="475221" y="489091"/>
                </a:lnTo>
                <a:lnTo>
                  <a:pt x="545280" y="534730"/>
                </a:lnTo>
                <a:lnTo>
                  <a:pt x="617707" y="576926"/>
                </a:lnTo>
                <a:lnTo>
                  <a:pt x="692502" y="615678"/>
                </a:lnTo>
                <a:lnTo>
                  <a:pt x="769665" y="650987"/>
                </a:lnTo>
                <a:lnTo>
                  <a:pt x="849196" y="682851"/>
                </a:lnTo>
                <a:lnTo>
                  <a:pt x="931096" y="711272"/>
                </a:lnTo>
                <a:lnTo>
                  <a:pt x="1015363" y="736249"/>
                </a:lnTo>
                <a:lnTo>
                  <a:pt x="1101998" y="75778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862727" y="5399859"/>
            <a:ext cx="156072" cy="757782"/>
          </a:xfrm>
          <a:custGeom>
            <a:avLst/>
            <a:gdLst/>
            <a:ahLst/>
            <a:cxnLst/>
            <a:rect l="l" t="t" r="r" b="b"/>
            <a:pathLst>
              <a:path w="156072" h="757782">
                <a:moveTo>
                  <a:pt x="156072" y="0"/>
                </a:moveTo>
                <a:lnTo>
                  <a:pt x="130043" y="44261"/>
                </a:lnTo>
                <a:lnTo>
                  <a:pt x="106383" y="88935"/>
                </a:lnTo>
                <a:lnTo>
                  <a:pt x="85090" y="134022"/>
                </a:lnTo>
                <a:lnTo>
                  <a:pt x="66165" y="179524"/>
                </a:lnTo>
                <a:lnTo>
                  <a:pt x="49609" y="225438"/>
                </a:lnTo>
                <a:lnTo>
                  <a:pt x="35421" y="271766"/>
                </a:lnTo>
                <a:lnTo>
                  <a:pt x="23600" y="318507"/>
                </a:lnTo>
                <a:lnTo>
                  <a:pt x="14148" y="365662"/>
                </a:lnTo>
                <a:lnTo>
                  <a:pt x="7064" y="413230"/>
                </a:lnTo>
                <a:lnTo>
                  <a:pt x="2348" y="461212"/>
                </a:lnTo>
                <a:lnTo>
                  <a:pt x="0" y="509607"/>
                </a:lnTo>
                <a:lnTo>
                  <a:pt x="20" y="558415"/>
                </a:lnTo>
                <a:lnTo>
                  <a:pt x="2408" y="607637"/>
                </a:lnTo>
                <a:lnTo>
                  <a:pt x="7164" y="657272"/>
                </a:lnTo>
                <a:lnTo>
                  <a:pt x="14288" y="707320"/>
                </a:lnTo>
                <a:lnTo>
                  <a:pt x="23780" y="75778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332188" y="5221973"/>
            <a:ext cx="1049339" cy="134721"/>
          </a:xfrm>
          <a:custGeom>
            <a:avLst/>
            <a:gdLst/>
            <a:ahLst/>
            <a:cxnLst/>
            <a:rect l="l" t="t" r="r" b="b"/>
            <a:pathLst>
              <a:path w="1049339" h="134721">
                <a:moveTo>
                  <a:pt x="0" y="55870"/>
                </a:moveTo>
                <a:lnTo>
                  <a:pt x="66893" y="76972"/>
                </a:lnTo>
                <a:lnTo>
                  <a:pt x="133611" y="94794"/>
                </a:lnTo>
                <a:lnTo>
                  <a:pt x="200155" y="109338"/>
                </a:lnTo>
                <a:lnTo>
                  <a:pt x="266525" y="120603"/>
                </a:lnTo>
                <a:lnTo>
                  <a:pt x="332719" y="128588"/>
                </a:lnTo>
                <a:lnTo>
                  <a:pt x="398739" y="133294"/>
                </a:lnTo>
                <a:lnTo>
                  <a:pt x="464585" y="134721"/>
                </a:lnTo>
                <a:lnTo>
                  <a:pt x="530256" y="132869"/>
                </a:lnTo>
                <a:lnTo>
                  <a:pt x="595752" y="127737"/>
                </a:lnTo>
                <a:lnTo>
                  <a:pt x="661074" y="119327"/>
                </a:lnTo>
                <a:lnTo>
                  <a:pt x="726221" y="107637"/>
                </a:lnTo>
                <a:lnTo>
                  <a:pt x="791194" y="92668"/>
                </a:lnTo>
                <a:lnTo>
                  <a:pt x="855992" y="74420"/>
                </a:lnTo>
                <a:lnTo>
                  <a:pt x="920616" y="52892"/>
                </a:lnTo>
                <a:lnTo>
                  <a:pt x="985064" y="28086"/>
                </a:lnTo>
                <a:lnTo>
                  <a:pt x="104933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5582592" y="5849391"/>
            <a:ext cx="111681" cy="356415"/>
          </a:xfrm>
          <a:custGeom>
            <a:avLst/>
            <a:gdLst/>
            <a:ahLst/>
            <a:cxnLst/>
            <a:rect l="l" t="t" r="r" b="b"/>
            <a:pathLst>
              <a:path w="111681" h="356415">
                <a:moveTo>
                  <a:pt x="1867" y="0"/>
                </a:moveTo>
                <a:lnTo>
                  <a:pt x="376" y="24849"/>
                </a:lnTo>
                <a:lnTo>
                  <a:pt x="0" y="49356"/>
                </a:lnTo>
                <a:lnTo>
                  <a:pt x="738" y="73519"/>
                </a:lnTo>
                <a:lnTo>
                  <a:pt x="2589" y="97340"/>
                </a:lnTo>
                <a:lnTo>
                  <a:pt x="5554" y="120817"/>
                </a:lnTo>
                <a:lnTo>
                  <a:pt x="9633" y="143950"/>
                </a:lnTo>
                <a:lnTo>
                  <a:pt x="14826" y="166741"/>
                </a:lnTo>
                <a:lnTo>
                  <a:pt x="21132" y="189189"/>
                </a:lnTo>
                <a:lnTo>
                  <a:pt x="28553" y="211293"/>
                </a:lnTo>
                <a:lnTo>
                  <a:pt x="37087" y="233054"/>
                </a:lnTo>
                <a:lnTo>
                  <a:pt x="46735" y="254472"/>
                </a:lnTo>
                <a:lnTo>
                  <a:pt x="57496" y="275547"/>
                </a:lnTo>
                <a:lnTo>
                  <a:pt x="69372" y="296279"/>
                </a:lnTo>
                <a:lnTo>
                  <a:pt x="82361" y="316667"/>
                </a:lnTo>
                <a:lnTo>
                  <a:pt x="96464" y="336712"/>
                </a:lnTo>
                <a:lnTo>
                  <a:pt x="111681" y="3564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3801724" y="6072858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3826566" y="609770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3826566" y="609770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3971290" y="598807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2218725" y="4942606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2243567" y="4967448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2243567" y="4967448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2388292" y="4857823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2" name="Connector 300041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4" name="TextBox 300043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45" name="Oval 300044"/>
          <p:cNvSpPr/>
          <p:nvPr/>
        </p:nvSpPr>
        <p:spPr>
          <a:xfrm>
            <a:off x="5296744" y="513719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6" name="Connector 300045"/>
          <p:cNvCxnSpPr/>
          <p:nvPr/>
        </p:nvCxnSpPr>
        <p:spPr>
          <a:xfrm>
            <a:off x="5321585" y="5162031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5321585" y="5162031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8" name="TextBox 300047"/>
          <p:cNvSpPr txBox="1"/>
          <p:nvPr/>
        </p:nvSpPr>
        <p:spPr>
          <a:xfrm>
            <a:off x="5466310" y="505240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49" name="Oval 300048"/>
          <p:cNvSpPr/>
          <p:nvPr/>
        </p:nvSpPr>
        <p:spPr>
          <a:xfrm>
            <a:off x="3732373" y="240789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3771232" y="244675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TextBox 300050"/>
          <p:cNvSpPr txBox="1"/>
          <p:nvPr/>
        </p:nvSpPr>
        <p:spPr>
          <a:xfrm>
            <a:off x="3873678" y="229484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52" name="Oval 300051"/>
          <p:cNvSpPr/>
          <p:nvPr/>
        </p:nvSpPr>
        <p:spPr>
          <a:xfrm>
            <a:off x="5637751" y="614928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5676610" y="618814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TextBox 300053"/>
          <p:cNvSpPr txBox="1"/>
          <p:nvPr/>
        </p:nvSpPr>
        <p:spPr>
          <a:xfrm>
            <a:off x="5779056" y="60362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55" name="Oval 300054"/>
          <p:cNvSpPr/>
          <p:nvPr/>
        </p:nvSpPr>
        <p:spPr>
          <a:xfrm>
            <a:off x="2199460" y="359144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2224302" y="361628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2224302" y="361628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TextBox 300057"/>
          <p:cNvSpPr txBox="1"/>
          <p:nvPr/>
        </p:nvSpPr>
        <p:spPr>
          <a:xfrm>
            <a:off x="2369026" y="350665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59" name="Oval 300058"/>
          <p:cNvSpPr/>
          <p:nvPr/>
        </p:nvSpPr>
        <p:spPr>
          <a:xfrm>
            <a:off x="2572839" y="3428591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0" name="Connector 300059"/>
          <p:cNvCxnSpPr/>
          <p:nvPr/>
        </p:nvCxnSpPr>
        <p:spPr>
          <a:xfrm flipV="1">
            <a:off x="2598274" y="3341451"/>
            <a:ext cx="94462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2692736" y="3341451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2" name="Rounded Rectangle 300061"/>
          <p:cNvSpPr/>
          <p:nvPr/>
        </p:nvSpPr>
        <p:spPr>
          <a:xfrm>
            <a:off x="2706867" y="3208969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3" name="TextBox 300062"/>
          <p:cNvSpPr txBox="1"/>
          <p:nvPr/>
        </p:nvSpPr>
        <p:spPr>
          <a:xfrm>
            <a:off x="2706867" y="3208969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64" name="Oval 300063"/>
          <p:cNvSpPr/>
          <p:nvPr/>
        </p:nvSpPr>
        <p:spPr>
          <a:xfrm>
            <a:off x="3333192" y="1970181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3358627" y="1883040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453090" y="1883040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7" name="Rounded Rectangle 300066"/>
          <p:cNvSpPr/>
          <p:nvPr/>
        </p:nvSpPr>
        <p:spPr>
          <a:xfrm>
            <a:off x="3467220" y="17505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8" name="TextBox 300067"/>
          <p:cNvSpPr txBox="1"/>
          <p:nvPr/>
        </p:nvSpPr>
        <p:spPr>
          <a:xfrm>
            <a:off x="3467220" y="17505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719451" y="391383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744886" y="382668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839349" y="3826689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Rounded Rectangle 300071"/>
          <p:cNvSpPr/>
          <p:nvPr/>
        </p:nvSpPr>
        <p:spPr>
          <a:xfrm>
            <a:off x="2853479" y="369420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3" name="TextBox 300072"/>
          <p:cNvSpPr txBox="1"/>
          <p:nvPr/>
        </p:nvSpPr>
        <p:spPr>
          <a:xfrm>
            <a:off x="2853479" y="369420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2759074" y="537442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 flipV="1">
            <a:off x="2784509" y="5287283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2878972" y="528728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2862913" y="5306421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Rounded Rectangle 300077"/>
          <p:cNvSpPr/>
          <p:nvPr/>
        </p:nvSpPr>
        <p:spPr>
          <a:xfrm>
            <a:off x="2893102" y="515480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9" name="TextBox 300078"/>
          <p:cNvSpPr txBox="1"/>
          <p:nvPr/>
        </p:nvSpPr>
        <p:spPr>
          <a:xfrm>
            <a:off x="2893102" y="515480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993364" y="537442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 flipV="1">
            <a:off x="4018799" y="528728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4113261" y="528728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Rounded Rectangle 300082"/>
          <p:cNvSpPr/>
          <p:nvPr/>
        </p:nvSpPr>
        <p:spPr>
          <a:xfrm>
            <a:off x="4127392" y="515480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TextBox 300083"/>
          <p:cNvSpPr txBox="1"/>
          <p:nvPr/>
        </p:nvSpPr>
        <p:spPr>
          <a:xfrm>
            <a:off x="4127392" y="515480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085" name="Oval 300084"/>
          <p:cNvSpPr/>
          <p:nvPr/>
        </p:nvSpPr>
        <p:spPr>
          <a:xfrm>
            <a:off x="4306753" y="525240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6" name="Connector 300085"/>
          <p:cNvCxnSpPr/>
          <p:nvPr/>
        </p:nvCxnSpPr>
        <p:spPr>
          <a:xfrm flipV="1">
            <a:off x="4332188" y="5165267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426650" y="516526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8" name="Rounded Rectangle 300087"/>
          <p:cNvSpPr/>
          <p:nvPr/>
        </p:nvSpPr>
        <p:spPr>
          <a:xfrm>
            <a:off x="4440780" y="503278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440780" y="503278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5559024" y="582395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1" name="Connector 300090"/>
          <p:cNvCxnSpPr/>
          <p:nvPr/>
        </p:nvCxnSpPr>
        <p:spPr>
          <a:xfrm flipV="1">
            <a:off x="5584459" y="573681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678921" y="5736815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3" name="Rounded Rectangle 300092"/>
          <p:cNvSpPr/>
          <p:nvPr/>
        </p:nvSpPr>
        <p:spPr>
          <a:xfrm>
            <a:off x="5693051" y="5604334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4" name="TextBox 300093"/>
          <p:cNvSpPr txBox="1"/>
          <p:nvPr/>
        </p:nvSpPr>
        <p:spPr>
          <a:xfrm>
            <a:off x="5693051" y="5604334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095" name="TextBox 300094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6" name="TextBox 300095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300097" name="TextBox 300096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北卫生间门外（离门洞 150）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 · 卧室 4 门旁（离门口 350）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卧室 4 门旁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卧室 4 内 · 卫生间门左边（离门洞 100）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4" name="Rectangle 300113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5" name="Rectangle 300114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6" name="TextBox 300115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O-B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盥洗室入口墙垛正中（一门两用旁）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西卫生间隔墙端头旁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主卧床头板正中上方（h1360，与门口 S4 双控）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 · F 墙转角（离墙端 150）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衣帽间洞口旁 400 墙段正中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衣帽间吸顶灯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床头（C04 正上方，h850）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门旁（门西侧短墙，卧室2 一侧，锁侧）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北卫生间门外（离门洞 150）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 · 卧室 4 门旁（离门口 350）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卫生间门左边（离门洞 100）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O-B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衣帽间吸顶灯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