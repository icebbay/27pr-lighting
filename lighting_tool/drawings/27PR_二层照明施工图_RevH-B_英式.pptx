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84" r:id="rId17"/>
    <p:sldId id="285" r:id="rId18"/>
    <p:sldId id="286" r:id="rId19"/>
    <p:sldId id="287" r:id="rId20"/>
    <p:sldId id="28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BED4"/>
    <a:srgbClr val="469990"/>
    <a:srgbClr val="E6194B"/>
    <a:srgbClr val="AAFFC3"/>
    <a:srgbClr val="BFEF45"/>
    <a:srgbClr val="F032E6"/>
    <a:srgbClr val="4363D8"/>
    <a:srgbClr val="808000"/>
    <a:srgbClr val="800000"/>
    <a:srgbClr val="FFFA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>
        <p:scale>
          <a:sx n="125" d="100"/>
          <a:sy n="125" d="100"/>
        </p:scale>
        <p:origin x="-1152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2330475" y="1251603"/>
            <a:ext cx="3914435" cy="5164485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700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7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100006" name="Rectangle 100005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07" name="TextBox 100006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二层照明总平面（索引图）</a:t>
            </a:r>
          </a:p>
        </p:txBody>
      </p:sp>
      <p:sp>
        <p:nvSpPr>
          <p:cNvPr id="100008" name="TextBox 100007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— KEY PLAN</a:t>
            </a:r>
          </a:p>
        </p:txBody>
      </p:sp>
      <p:sp>
        <p:nvSpPr>
          <p:cNvPr id="100009" name="Rectangle 100008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10" name="TextBox 100009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100011" name="TextBox 100010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100012" name="Connector 100011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13" name="TextBox 100012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0014" name="TextBox 100013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二层照明总平面（索引图）</a:t>
            </a:r>
          </a:p>
        </p:txBody>
      </p:sp>
      <p:cxnSp>
        <p:nvCxnSpPr>
          <p:cNvPr id="100015" name="Connector 100014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16" name="TextBox 100015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00017" name="TextBox 100016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E-FF-00</a:t>
            </a:r>
          </a:p>
        </p:txBody>
      </p:sp>
      <p:cxnSp>
        <p:nvCxnSpPr>
          <p:cNvPr id="100018" name="Connector 100017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19" name="TextBox 100018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00020" name="TextBox 100019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H-B · 方案 B · 精简 17 路（照明 3 路）</a:t>
            </a:r>
          </a:p>
        </p:txBody>
      </p:sp>
      <p:cxnSp>
        <p:nvCxnSpPr>
          <p:cNvPr id="100021" name="Connector 100020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22" name="TextBox 100021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00023" name="TextBox 100022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v7（用户 2026-10-06 标注）；Blender v39</a:t>
            </a:r>
          </a:p>
        </p:txBody>
      </p:sp>
      <p:cxnSp>
        <p:nvCxnSpPr>
          <p:cNvPr id="100024" name="Connector 100023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25" name="Rectangle 100024"/>
          <p:cNvSpPr/>
          <p:nvPr/>
        </p:nvSpPr>
        <p:spPr>
          <a:xfrm>
            <a:off x="1629230" y="1843461"/>
            <a:ext cx="2699999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26" name="TextBox 100025"/>
          <p:cNvSpPr txBox="1"/>
          <p:nvPr/>
        </p:nvSpPr>
        <p:spPr>
          <a:xfrm>
            <a:off x="1669230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E-FF-01 放大图：主卧 · 盥洗室 · 西卫 · 衣帽间 · 卧室2</a:t>
            </a:r>
          </a:p>
        </p:txBody>
      </p:sp>
      <p:sp>
        <p:nvSpPr>
          <p:cNvPr id="100027" name="Rectangle 100026"/>
          <p:cNvSpPr/>
          <p:nvPr/>
        </p:nvSpPr>
        <p:spPr>
          <a:xfrm>
            <a:off x="3623076" y="1843461"/>
            <a:ext cx="3323076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28" name="TextBox 100027"/>
          <p:cNvSpPr txBox="1"/>
          <p:nvPr/>
        </p:nvSpPr>
        <p:spPr>
          <a:xfrm>
            <a:off x="3663076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E-FF-02 放大图：走廊 · 北卫 · 卧室3 · 楼梯 · 卧室 4 · 后卫</a:t>
            </a:r>
          </a:p>
        </p:txBody>
      </p:sp>
      <p:sp>
        <p:nvSpPr>
          <p:cNvPr id="100029" name="Oval 100028"/>
          <p:cNvSpPr/>
          <p:nvPr/>
        </p:nvSpPr>
        <p:spPr>
          <a:xfrm>
            <a:off x="4562348" y="5418629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30" name="Connector 100029"/>
          <p:cNvCxnSpPr/>
          <p:nvPr/>
        </p:nvCxnSpPr>
        <p:spPr>
          <a:xfrm>
            <a:off x="4572896" y="542917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1" name="Connector 100030"/>
          <p:cNvCxnSpPr/>
          <p:nvPr/>
        </p:nvCxnSpPr>
        <p:spPr>
          <a:xfrm flipV="1">
            <a:off x="4572896" y="542917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32" name="Oval 100031"/>
          <p:cNvSpPr/>
          <p:nvPr/>
        </p:nvSpPr>
        <p:spPr>
          <a:xfrm>
            <a:off x="3839233" y="4473315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33" name="Connector 100032"/>
          <p:cNvCxnSpPr/>
          <p:nvPr/>
        </p:nvCxnSpPr>
        <p:spPr>
          <a:xfrm>
            <a:off x="3849781" y="4483863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4" name="Connector 100033"/>
          <p:cNvCxnSpPr/>
          <p:nvPr/>
        </p:nvCxnSpPr>
        <p:spPr>
          <a:xfrm flipV="1">
            <a:off x="3849781" y="4483863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35" name="Oval 100034"/>
          <p:cNvSpPr/>
          <p:nvPr/>
        </p:nvSpPr>
        <p:spPr>
          <a:xfrm>
            <a:off x="2966028" y="2802236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36" name="Connector 100035"/>
          <p:cNvCxnSpPr/>
          <p:nvPr/>
        </p:nvCxnSpPr>
        <p:spPr>
          <a:xfrm>
            <a:off x="2976576" y="281278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7" name="Connector 100036"/>
          <p:cNvCxnSpPr/>
          <p:nvPr/>
        </p:nvCxnSpPr>
        <p:spPr>
          <a:xfrm flipV="1">
            <a:off x="2976576" y="281278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38" name="Oval 100037"/>
          <p:cNvSpPr/>
          <p:nvPr/>
        </p:nvSpPr>
        <p:spPr>
          <a:xfrm>
            <a:off x="2493495" y="4933640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39" name="Connector 100038"/>
          <p:cNvCxnSpPr/>
          <p:nvPr/>
        </p:nvCxnSpPr>
        <p:spPr>
          <a:xfrm>
            <a:off x="2504043" y="494418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0" name="Connector 100039"/>
          <p:cNvCxnSpPr/>
          <p:nvPr/>
        </p:nvCxnSpPr>
        <p:spPr>
          <a:xfrm flipV="1">
            <a:off x="2504043" y="494418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41" name="Oval 100040"/>
          <p:cNvSpPr/>
          <p:nvPr/>
        </p:nvSpPr>
        <p:spPr>
          <a:xfrm>
            <a:off x="4627887" y="4184309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42" name="Connector 100041"/>
          <p:cNvCxnSpPr/>
          <p:nvPr/>
        </p:nvCxnSpPr>
        <p:spPr>
          <a:xfrm>
            <a:off x="4638435" y="419485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3" name="Connector 100042"/>
          <p:cNvCxnSpPr/>
          <p:nvPr/>
        </p:nvCxnSpPr>
        <p:spPr>
          <a:xfrm flipV="1">
            <a:off x="4638435" y="419485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44" name="Oval 100043"/>
          <p:cNvSpPr/>
          <p:nvPr/>
        </p:nvSpPr>
        <p:spPr>
          <a:xfrm>
            <a:off x="6080887" y="480673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45" name="Connector 100044"/>
          <p:cNvCxnSpPr/>
          <p:nvPr/>
        </p:nvCxnSpPr>
        <p:spPr>
          <a:xfrm>
            <a:off x="6091435" y="481728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6" name="Connector 100045"/>
          <p:cNvCxnSpPr/>
          <p:nvPr/>
        </p:nvCxnSpPr>
        <p:spPr>
          <a:xfrm flipV="1">
            <a:off x="6091435" y="481728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47" name="Oval 100046"/>
          <p:cNvSpPr/>
          <p:nvPr/>
        </p:nvSpPr>
        <p:spPr>
          <a:xfrm>
            <a:off x="4774024" y="2982960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48" name="Oval 100047"/>
          <p:cNvSpPr/>
          <p:nvPr/>
        </p:nvSpPr>
        <p:spPr>
          <a:xfrm>
            <a:off x="4790524" y="2999460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49" name="Oval 100048"/>
          <p:cNvSpPr/>
          <p:nvPr/>
        </p:nvSpPr>
        <p:spPr>
          <a:xfrm>
            <a:off x="6289479" y="5473566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50" name="Oval 100049"/>
          <p:cNvSpPr/>
          <p:nvPr/>
        </p:nvSpPr>
        <p:spPr>
          <a:xfrm>
            <a:off x="6305979" y="5490066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51" name="Oval 100050"/>
          <p:cNvSpPr/>
          <p:nvPr/>
        </p:nvSpPr>
        <p:spPr>
          <a:xfrm>
            <a:off x="2021504" y="391681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52" name="Oval 100051"/>
          <p:cNvSpPr/>
          <p:nvPr/>
        </p:nvSpPr>
        <p:spPr>
          <a:xfrm>
            <a:off x="2038004" y="393331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53" name="Oval 100052"/>
          <p:cNvSpPr/>
          <p:nvPr/>
        </p:nvSpPr>
        <p:spPr>
          <a:xfrm>
            <a:off x="3208075" y="369746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54" name="Oval 100053"/>
          <p:cNvSpPr/>
          <p:nvPr/>
        </p:nvSpPr>
        <p:spPr>
          <a:xfrm>
            <a:off x="3224575" y="371396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55" name="Oval 100054"/>
          <p:cNvSpPr/>
          <p:nvPr/>
        </p:nvSpPr>
        <p:spPr>
          <a:xfrm>
            <a:off x="3311397" y="45780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56" name="Oval 100055"/>
          <p:cNvSpPr/>
          <p:nvPr/>
        </p:nvSpPr>
        <p:spPr>
          <a:xfrm>
            <a:off x="3327897" y="45945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57" name="Oval 100056"/>
          <p:cNvSpPr/>
          <p:nvPr/>
        </p:nvSpPr>
        <p:spPr>
          <a:xfrm>
            <a:off x="3333786" y="526375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58" name="Oval 100057"/>
          <p:cNvSpPr/>
          <p:nvPr/>
        </p:nvSpPr>
        <p:spPr>
          <a:xfrm>
            <a:off x="3350286" y="528025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59" name="Oval 100058"/>
          <p:cNvSpPr/>
          <p:nvPr/>
        </p:nvSpPr>
        <p:spPr>
          <a:xfrm>
            <a:off x="4113781" y="228877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60" name="Connector 100059"/>
          <p:cNvCxnSpPr/>
          <p:nvPr/>
        </p:nvCxnSpPr>
        <p:spPr>
          <a:xfrm>
            <a:off x="4124329" y="22993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1" name="Connector 100060"/>
          <p:cNvCxnSpPr/>
          <p:nvPr/>
        </p:nvCxnSpPr>
        <p:spPr>
          <a:xfrm flipV="1">
            <a:off x="4124329" y="22993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62" name="Oval 100061"/>
          <p:cNvSpPr/>
          <p:nvPr/>
        </p:nvSpPr>
        <p:spPr>
          <a:xfrm>
            <a:off x="2571035" y="3917548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63" name="Oval 100062"/>
          <p:cNvSpPr/>
          <p:nvPr/>
        </p:nvSpPr>
        <p:spPr>
          <a:xfrm>
            <a:off x="2587535" y="3934048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64" name="Oval 100063"/>
          <p:cNvSpPr/>
          <p:nvPr/>
        </p:nvSpPr>
        <p:spPr>
          <a:xfrm>
            <a:off x="3209459" y="4012126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65" name="Oval 100064"/>
          <p:cNvSpPr/>
          <p:nvPr/>
        </p:nvSpPr>
        <p:spPr>
          <a:xfrm>
            <a:off x="3225959" y="4028626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66" name="Oval 100065"/>
          <p:cNvSpPr/>
          <p:nvPr/>
        </p:nvSpPr>
        <p:spPr>
          <a:xfrm>
            <a:off x="3826166" y="345327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67" name="Connector 100066"/>
          <p:cNvCxnSpPr/>
          <p:nvPr/>
        </p:nvCxnSpPr>
        <p:spPr>
          <a:xfrm>
            <a:off x="3836714" y="34638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8" name="Connector 100067"/>
          <p:cNvCxnSpPr/>
          <p:nvPr/>
        </p:nvCxnSpPr>
        <p:spPr>
          <a:xfrm flipV="1">
            <a:off x="3836714" y="34638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69" name="Oval 100068"/>
          <p:cNvSpPr/>
          <p:nvPr/>
        </p:nvSpPr>
        <p:spPr>
          <a:xfrm>
            <a:off x="1927269" y="4363807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70" name="Connector 100069"/>
          <p:cNvCxnSpPr/>
          <p:nvPr/>
        </p:nvCxnSpPr>
        <p:spPr>
          <a:xfrm flipV="1">
            <a:off x="1940769" y="4317556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1" name="Connector 100070"/>
          <p:cNvCxnSpPr/>
          <p:nvPr/>
        </p:nvCxnSpPr>
        <p:spPr>
          <a:xfrm>
            <a:off x="1990906" y="431755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72" name="TextBox 100071"/>
          <p:cNvSpPr txBox="1"/>
          <p:nvPr/>
        </p:nvSpPr>
        <p:spPr>
          <a:xfrm>
            <a:off x="1690769" y="4407307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100073" name="Oval 100072"/>
          <p:cNvSpPr/>
          <p:nvPr/>
        </p:nvSpPr>
        <p:spPr>
          <a:xfrm>
            <a:off x="2226346" y="3906884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74" name="Connector 100073"/>
          <p:cNvCxnSpPr/>
          <p:nvPr/>
        </p:nvCxnSpPr>
        <p:spPr>
          <a:xfrm flipV="1">
            <a:off x="2239846" y="3860633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5" name="Connector 100074"/>
          <p:cNvCxnSpPr/>
          <p:nvPr/>
        </p:nvCxnSpPr>
        <p:spPr>
          <a:xfrm>
            <a:off x="2289983" y="386063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76" name="TextBox 100075"/>
          <p:cNvSpPr txBox="1"/>
          <p:nvPr/>
        </p:nvSpPr>
        <p:spPr>
          <a:xfrm>
            <a:off x="1989846" y="3950384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100077" name="Oval 100076"/>
          <p:cNvSpPr/>
          <p:nvPr/>
        </p:nvSpPr>
        <p:spPr>
          <a:xfrm>
            <a:off x="2803730" y="3441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78" name="Connector 100077"/>
          <p:cNvCxnSpPr/>
          <p:nvPr/>
        </p:nvCxnSpPr>
        <p:spPr>
          <a:xfrm flipV="1">
            <a:off x="2817230" y="3395402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9" name="Connector 100078"/>
          <p:cNvCxnSpPr/>
          <p:nvPr/>
        </p:nvCxnSpPr>
        <p:spPr>
          <a:xfrm>
            <a:off x="2867368" y="3395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80" name="TextBox 100079"/>
          <p:cNvSpPr txBox="1"/>
          <p:nvPr/>
        </p:nvSpPr>
        <p:spPr>
          <a:xfrm>
            <a:off x="2567230" y="3485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100081" name="Oval 100080"/>
          <p:cNvSpPr/>
          <p:nvPr/>
        </p:nvSpPr>
        <p:spPr>
          <a:xfrm>
            <a:off x="3563884" y="313842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82" name="Connector 100081"/>
          <p:cNvCxnSpPr/>
          <p:nvPr/>
        </p:nvCxnSpPr>
        <p:spPr>
          <a:xfrm flipV="1">
            <a:off x="3577384" y="3092171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83" name="Connector 100082"/>
          <p:cNvCxnSpPr/>
          <p:nvPr/>
        </p:nvCxnSpPr>
        <p:spPr>
          <a:xfrm>
            <a:off x="3627522" y="3092171"/>
            <a:ext cx="14937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84" name="Connector 100083"/>
          <p:cNvCxnSpPr/>
          <p:nvPr/>
        </p:nvCxnSpPr>
        <p:spPr>
          <a:xfrm>
            <a:off x="3618998" y="310232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85" name="TextBox 100084"/>
          <p:cNvSpPr txBox="1"/>
          <p:nvPr/>
        </p:nvSpPr>
        <p:spPr>
          <a:xfrm>
            <a:off x="3327384" y="318192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100086" name="Oval 100085"/>
          <p:cNvSpPr/>
          <p:nvPr/>
        </p:nvSpPr>
        <p:spPr>
          <a:xfrm>
            <a:off x="3410192" y="440950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87" name="Connector 100086"/>
          <p:cNvCxnSpPr/>
          <p:nvPr/>
        </p:nvCxnSpPr>
        <p:spPr>
          <a:xfrm flipV="1">
            <a:off x="3423692" y="4363248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88" name="Connector 100087"/>
          <p:cNvCxnSpPr/>
          <p:nvPr/>
        </p:nvCxnSpPr>
        <p:spPr>
          <a:xfrm>
            <a:off x="3473829" y="436324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89" name="TextBox 100088"/>
          <p:cNvSpPr txBox="1"/>
          <p:nvPr/>
        </p:nvSpPr>
        <p:spPr>
          <a:xfrm>
            <a:off x="3173692" y="445300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100090" name="Oval 100089"/>
          <p:cNvSpPr/>
          <p:nvPr/>
        </p:nvSpPr>
        <p:spPr>
          <a:xfrm>
            <a:off x="2031115" y="563073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91" name="Connector 100090"/>
          <p:cNvCxnSpPr/>
          <p:nvPr/>
        </p:nvCxnSpPr>
        <p:spPr>
          <a:xfrm flipV="1">
            <a:off x="2044615" y="5584479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92" name="Connector 100091"/>
          <p:cNvCxnSpPr/>
          <p:nvPr/>
        </p:nvCxnSpPr>
        <p:spPr>
          <a:xfrm>
            <a:off x="2094752" y="558447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93" name="Connector 100092"/>
          <p:cNvCxnSpPr/>
          <p:nvPr/>
        </p:nvCxnSpPr>
        <p:spPr>
          <a:xfrm>
            <a:off x="2086229" y="5594637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94" name="TextBox 100093"/>
          <p:cNvSpPr txBox="1"/>
          <p:nvPr/>
        </p:nvSpPr>
        <p:spPr>
          <a:xfrm>
            <a:off x="1794615" y="567423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100095" name="Oval 100094"/>
          <p:cNvSpPr/>
          <p:nvPr/>
        </p:nvSpPr>
        <p:spPr>
          <a:xfrm>
            <a:off x="3555576" y="4953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96" name="Connector 100095"/>
          <p:cNvCxnSpPr/>
          <p:nvPr/>
        </p:nvCxnSpPr>
        <p:spPr>
          <a:xfrm flipV="1">
            <a:off x="3569076" y="4907402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97" name="Connector 100096"/>
          <p:cNvCxnSpPr/>
          <p:nvPr/>
        </p:nvCxnSpPr>
        <p:spPr>
          <a:xfrm>
            <a:off x="3619214" y="4907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98" name="Connector 100097"/>
          <p:cNvCxnSpPr/>
          <p:nvPr/>
        </p:nvCxnSpPr>
        <p:spPr>
          <a:xfrm>
            <a:off x="3610690" y="491756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99" name="TextBox 100098"/>
          <p:cNvSpPr txBox="1"/>
          <p:nvPr/>
        </p:nvSpPr>
        <p:spPr>
          <a:xfrm>
            <a:off x="3319076" y="4997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100100" name="Oval 100099"/>
          <p:cNvSpPr/>
          <p:nvPr/>
        </p:nvSpPr>
        <p:spPr>
          <a:xfrm>
            <a:off x="4016653" y="3611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01" name="Connector 100100"/>
          <p:cNvCxnSpPr/>
          <p:nvPr/>
        </p:nvCxnSpPr>
        <p:spPr>
          <a:xfrm flipV="1">
            <a:off x="4030153" y="3565710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02" name="Connector 100101"/>
          <p:cNvCxnSpPr/>
          <p:nvPr/>
        </p:nvCxnSpPr>
        <p:spPr>
          <a:xfrm>
            <a:off x="4080291" y="3565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03" name="TextBox 100102"/>
          <p:cNvSpPr txBox="1"/>
          <p:nvPr/>
        </p:nvSpPr>
        <p:spPr>
          <a:xfrm>
            <a:off x="3780153" y="3655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100104" name="Oval 100103"/>
          <p:cNvSpPr/>
          <p:nvPr/>
        </p:nvSpPr>
        <p:spPr>
          <a:xfrm>
            <a:off x="4506807" y="2515346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05" name="Connector 100104"/>
          <p:cNvCxnSpPr/>
          <p:nvPr/>
        </p:nvCxnSpPr>
        <p:spPr>
          <a:xfrm flipV="1">
            <a:off x="4520307" y="2469094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06" name="Connector 100105"/>
          <p:cNvCxnSpPr/>
          <p:nvPr/>
        </p:nvCxnSpPr>
        <p:spPr>
          <a:xfrm>
            <a:off x="4570445" y="2469094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07" name="TextBox 100106"/>
          <p:cNvSpPr txBox="1"/>
          <p:nvPr/>
        </p:nvSpPr>
        <p:spPr>
          <a:xfrm>
            <a:off x="4270307" y="2558846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100108" name="Oval 100107"/>
          <p:cNvSpPr/>
          <p:nvPr/>
        </p:nvSpPr>
        <p:spPr>
          <a:xfrm>
            <a:off x="4162038" y="3931807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09" name="Connector 100108"/>
          <p:cNvCxnSpPr/>
          <p:nvPr/>
        </p:nvCxnSpPr>
        <p:spPr>
          <a:xfrm flipV="1">
            <a:off x="4175538" y="3885556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10" name="Connector 100109"/>
          <p:cNvCxnSpPr/>
          <p:nvPr/>
        </p:nvCxnSpPr>
        <p:spPr>
          <a:xfrm>
            <a:off x="4225675" y="388555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11" name="TextBox 100110"/>
          <p:cNvSpPr txBox="1"/>
          <p:nvPr/>
        </p:nvSpPr>
        <p:spPr>
          <a:xfrm>
            <a:off x="3925538" y="3975307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100112" name="Oval 100111"/>
          <p:cNvSpPr/>
          <p:nvPr/>
        </p:nvSpPr>
        <p:spPr>
          <a:xfrm>
            <a:off x="4274192" y="4995192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13" name="Connector 100112"/>
          <p:cNvCxnSpPr/>
          <p:nvPr/>
        </p:nvCxnSpPr>
        <p:spPr>
          <a:xfrm flipV="1">
            <a:off x="4287692" y="4948940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14" name="Connector 100113"/>
          <p:cNvCxnSpPr/>
          <p:nvPr/>
        </p:nvCxnSpPr>
        <p:spPr>
          <a:xfrm>
            <a:off x="4337829" y="4948940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15" name="Connector 100114"/>
          <p:cNvCxnSpPr/>
          <p:nvPr/>
        </p:nvCxnSpPr>
        <p:spPr>
          <a:xfrm>
            <a:off x="4329306" y="495909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16" name="TextBox 100115"/>
          <p:cNvSpPr txBox="1"/>
          <p:nvPr/>
        </p:nvSpPr>
        <p:spPr>
          <a:xfrm>
            <a:off x="4037692" y="5038692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100117" name="Oval 100116"/>
          <p:cNvSpPr/>
          <p:nvPr/>
        </p:nvSpPr>
        <p:spPr>
          <a:xfrm>
            <a:off x="4855730" y="497026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18" name="Connector 100117"/>
          <p:cNvCxnSpPr/>
          <p:nvPr/>
        </p:nvCxnSpPr>
        <p:spPr>
          <a:xfrm flipV="1">
            <a:off x="4869230" y="4924017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19" name="Connector 100118"/>
          <p:cNvCxnSpPr/>
          <p:nvPr/>
        </p:nvCxnSpPr>
        <p:spPr>
          <a:xfrm>
            <a:off x="4919368" y="49240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20" name="TextBox 100119"/>
          <p:cNvSpPr txBox="1"/>
          <p:nvPr/>
        </p:nvSpPr>
        <p:spPr>
          <a:xfrm>
            <a:off x="4619230" y="501376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100121" name="Oval 100120"/>
          <p:cNvSpPr/>
          <p:nvPr/>
        </p:nvSpPr>
        <p:spPr>
          <a:xfrm>
            <a:off x="5279423" y="487473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22" name="Connector 100121"/>
          <p:cNvCxnSpPr/>
          <p:nvPr/>
        </p:nvCxnSpPr>
        <p:spPr>
          <a:xfrm flipV="1">
            <a:off x="5292923" y="4828479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23" name="Connector 100122"/>
          <p:cNvCxnSpPr/>
          <p:nvPr/>
        </p:nvCxnSpPr>
        <p:spPr>
          <a:xfrm>
            <a:off x="5343060" y="482847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24" name="TextBox 100123"/>
          <p:cNvSpPr txBox="1"/>
          <p:nvPr/>
        </p:nvSpPr>
        <p:spPr>
          <a:xfrm>
            <a:off x="5042923" y="491823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100125" name="Oval 100124"/>
          <p:cNvSpPr/>
          <p:nvPr/>
        </p:nvSpPr>
        <p:spPr>
          <a:xfrm>
            <a:off x="5650951" y="5227034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26" name="Connector 100125"/>
          <p:cNvCxnSpPr/>
          <p:nvPr/>
        </p:nvCxnSpPr>
        <p:spPr>
          <a:xfrm flipV="1">
            <a:off x="5664451" y="5180783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27" name="Connector 100126"/>
          <p:cNvCxnSpPr/>
          <p:nvPr/>
        </p:nvCxnSpPr>
        <p:spPr>
          <a:xfrm>
            <a:off x="5714589" y="518078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28" name="TextBox 100127"/>
          <p:cNvSpPr txBox="1"/>
          <p:nvPr/>
        </p:nvSpPr>
        <p:spPr>
          <a:xfrm>
            <a:off x="5414451" y="5270534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100129" name="Oval 100128"/>
          <p:cNvSpPr/>
          <p:nvPr/>
        </p:nvSpPr>
        <p:spPr>
          <a:xfrm>
            <a:off x="8766000" y="328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30" name="Connector 100129"/>
          <p:cNvCxnSpPr/>
          <p:nvPr/>
        </p:nvCxnSpPr>
        <p:spPr>
          <a:xfrm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31" name="Connector 100130"/>
          <p:cNvCxnSpPr/>
          <p:nvPr/>
        </p:nvCxnSpPr>
        <p:spPr>
          <a:xfrm flipV="1"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32" name="TextBox 100131"/>
          <p:cNvSpPr txBox="1"/>
          <p:nvPr/>
        </p:nvSpPr>
        <p:spPr>
          <a:xfrm>
            <a:off x="8982000" y="33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吊灯 / 吸顶主灯</a:t>
            </a:r>
          </a:p>
        </p:txBody>
      </p:sp>
      <p:sp>
        <p:nvSpPr>
          <p:cNvPr id="100133" name="Oval 100132"/>
          <p:cNvSpPr/>
          <p:nvPr/>
        </p:nvSpPr>
        <p:spPr>
          <a:xfrm>
            <a:off x="8766000" y="502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34" name="Connector 100133"/>
          <p:cNvCxnSpPr/>
          <p:nvPr/>
        </p:nvCxnSpPr>
        <p:spPr>
          <a:xfrm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35" name="Connector 100134"/>
          <p:cNvCxnSpPr/>
          <p:nvPr/>
        </p:nvCxnSpPr>
        <p:spPr>
          <a:xfrm flipV="1"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36" name="TextBox 100135"/>
          <p:cNvSpPr txBox="1"/>
          <p:nvPr/>
        </p:nvSpPr>
        <p:spPr>
          <a:xfrm>
            <a:off x="8982000" y="50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主灯位（产品待选）</a:t>
            </a:r>
          </a:p>
        </p:txBody>
      </p:sp>
      <p:sp>
        <p:nvSpPr>
          <p:cNvPr id="100137" name="Oval 100136"/>
          <p:cNvSpPr/>
          <p:nvPr/>
        </p:nvSpPr>
        <p:spPr>
          <a:xfrm>
            <a:off x="8790000" y="700000"/>
            <a:ext cx="96000" cy="9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38" name="Oval 100137"/>
          <p:cNvSpPr/>
          <p:nvPr/>
        </p:nvSpPr>
        <p:spPr>
          <a:xfrm>
            <a:off x="8823000" y="733000"/>
            <a:ext cx="30000" cy="30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39" name="TextBox 100138"/>
          <p:cNvSpPr txBox="1"/>
          <p:nvPr/>
        </p:nvSpPr>
        <p:spPr>
          <a:xfrm>
            <a:off x="8982000" y="68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嵌入式筒灯 GU10</a:t>
            </a:r>
          </a:p>
        </p:txBody>
      </p:sp>
      <p:sp>
        <p:nvSpPr>
          <p:cNvPr id="2" name="Freeform 1"/>
          <p:cNvSpPr/>
          <p:nvPr/>
        </p:nvSpPr>
        <p:spPr>
          <a:xfrm>
            <a:off x="8778000" y="862000"/>
            <a:ext cx="120000" cy="60000"/>
          </a:xfrm>
          <a:custGeom>
            <a:avLst/>
            <a:gdLst/>
            <a:ahLst/>
            <a:cxnLst/>
            <a:rect l="l" t="t" r="r" b="b"/>
            <a:pathLst>
              <a:path w="120000" h="60000">
                <a:moveTo>
                  <a:pt x="120000" y="60000"/>
                </a:moveTo>
                <a:lnTo>
                  <a:pt x="118847" y="48294"/>
                </a:lnTo>
                <a:lnTo>
                  <a:pt x="115432" y="37038"/>
                </a:lnTo>
                <a:lnTo>
                  <a:pt x="109888" y="26665"/>
                </a:lnTo>
                <a:lnTo>
                  <a:pt x="102426" y="17573"/>
                </a:lnTo>
                <a:lnTo>
                  <a:pt x="93334" y="10111"/>
                </a:lnTo>
                <a:lnTo>
                  <a:pt x="82961" y="4567"/>
                </a:lnTo>
                <a:lnTo>
                  <a:pt x="71705" y="1152"/>
                </a:lnTo>
                <a:lnTo>
                  <a:pt x="60000" y="0"/>
                </a:lnTo>
                <a:lnTo>
                  <a:pt x="48294" y="1152"/>
                </a:lnTo>
                <a:lnTo>
                  <a:pt x="37038" y="4567"/>
                </a:lnTo>
                <a:lnTo>
                  <a:pt x="26665" y="10111"/>
                </a:lnTo>
                <a:lnTo>
                  <a:pt x="17573" y="17573"/>
                </a:lnTo>
                <a:lnTo>
                  <a:pt x="10111" y="26665"/>
                </a:lnTo>
                <a:lnTo>
                  <a:pt x="4567" y="37038"/>
                </a:lnTo>
                <a:lnTo>
                  <a:pt x="1152" y="48294"/>
                </a:lnTo>
                <a:lnTo>
                  <a:pt x="0" y="60000"/>
                </a:lnTo>
                <a:lnTo>
                  <a:pt x="120000" y="6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40" name="Connector 100139"/>
          <p:cNvCxnSpPr/>
          <p:nvPr/>
        </p:nvCxnSpPr>
        <p:spPr>
          <a:xfrm>
            <a:off x="8760000" y="922000"/>
            <a:ext cx="156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41" name="TextBox 100140"/>
          <p:cNvSpPr txBox="1"/>
          <p:nvPr/>
        </p:nvSpPr>
        <p:spPr>
          <a:xfrm>
            <a:off x="8982000" y="85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壁灯 / 户外墙灯</a:t>
            </a:r>
          </a:p>
        </p:txBody>
      </p:sp>
      <p:sp>
        <p:nvSpPr>
          <p:cNvPr id="100142" name="Oval 100141"/>
          <p:cNvSpPr/>
          <p:nvPr/>
        </p:nvSpPr>
        <p:spPr>
          <a:xfrm>
            <a:off x="8796000" y="1054000"/>
            <a:ext cx="84000" cy="8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8814000" y="1069000"/>
            <a:ext cx="48000" cy="45000"/>
          </a:xfrm>
          <a:custGeom>
            <a:avLst/>
            <a:gdLst/>
            <a:ahLst/>
            <a:cxnLst/>
            <a:rect l="l" t="t" r="r" b="b"/>
            <a:pathLst>
              <a:path w="48000" h="45000">
                <a:moveTo>
                  <a:pt x="24000" y="0"/>
                </a:moveTo>
                <a:lnTo>
                  <a:pt x="0" y="45000"/>
                </a:lnTo>
                <a:lnTo>
                  <a:pt x="48000" y="45000"/>
                </a:lnTo>
                <a:lnTo>
                  <a:pt x="24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43" name="TextBox 100142"/>
          <p:cNvSpPr txBox="1"/>
          <p:nvPr/>
        </p:nvSpPr>
        <p:spPr>
          <a:xfrm>
            <a:off x="8982000" y="1030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围栏地灯（户外）</a:t>
            </a:r>
          </a:p>
        </p:txBody>
      </p:sp>
      <p:sp>
        <p:nvSpPr>
          <p:cNvPr id="100144" name="Oval 100143"/>
          <p:cNvSpPr/>
          <p:nvPr/>
        </p:nvSpPr>
        <p:spPr>
          <a:xfrm>
            <a:off x="8763000" y="1291000"/>
            <a:ext cx="54000" cy="54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45" name="Connector 100144"/>
          <p:cNvCxnSpPr/>
          <p:nvPr/>
        </p:nvCxnSpPr>
        <p:spPr>
          <a:xfrm flipV="1">
            <a:off x="8790000" y="1198497"/>
            <a:ext cx="100274" cy="1195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46" name="Connector 100145"/>
          <p:cNvCxnSpPr/>
          <p:nvPr/>
        </p:nvCxnSpPr>
        <p:spPr>
          <a:xfrm>
            <a:off x="8890274" y="1198497"/>
            <a:ext cx="29876" cy="2506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47" name="Connector 100146"/>
          <p:cNvCxnSpPr/>
          <p:nvPr/>
        </p:nvCxnSpPr>
        <p:spPr>
          <a:xfrm>
            <a:off x="8873228" y="1218812"/>
            <a:ext cx="29875" cy="2506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48" name="TextBox 100147"/>
          <p:cNvSpPr txBox="1"/>
          <p:nvPr/>
        </p:nvSpPr>
        <p:spPr>
          <a:xfrm>
            <a:off x="8982000" y="120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开关（短划数 = 联数），S# = 开关编号</a:t>
            </a:r>
          </a:p>
        </p:txBody>
      </p:sp>
      <p:sp>
        <p:nvSpPr>
          <p:cNvPr id="100149" name="Rectangle 100148"/>
          <p:cNvSpPr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50" name="TextBox 100149"/>
          <p:cNvSpPr txBox="1"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100151" name="TextBox 100150"/>
          <p:cNvSpPr txBox="1"/>
          <p:nvPr/>
        </p:nvSpPr>
        <p:spPr>
          <a:xfrm>
            <a:off x="8982000" y="137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FCU 带保险丝开关</a:t>
            </a:r>
          </a:p>
        </p:txBody>
      </p:sp>
      <p:sp>
        <p:nvSpPr>
          <p:cNvPr id="4" name="Freeform 3"/>
          <p:cNvSpPr/>
          <p:nvPr/>
        </p:nvSpPr>
        <p:spPr>
          <a:xfrm>
            <a:off x="8742000" y="1648000"/>
            <a:ext cx="192000" cy="33600"/>
          </a:xfrm>
          <a:custGeom>
            <a:avLst/>
            <a:gdLst/>
            <a:ahLst/>
            <a:cxnLst/>
            <a:rect l="l" t="t" r="r" b="b"/>
            <a:pathLst>
              <a:path w="192000" h="33600">
                <a:moveTo>
                  <a:pt x="0" y="0"/>
                </a:moveTo>
                <a:lnTo>
                  <a:pt x="12000" y="7875"/>
                </a:lnTo>
                <a:lnTo>
                  <a:pt x="24000" y="14700"/>
                </a:lnTo>
                <a:lnTo>
                  <a:pt x="36000" y="20475"/>
                </a:lnTo>
                <a:lnTo>
                  <a:pt x="48000" y="25200"/>
                </a:lnTo>
                <a:lnTo>
                  <a:pt x="60000" y="28875"/>
                </a:lnTo>
                <a:lnTo>
                  <a:pt x="72000" y="31500"/>
                </a:lnTo>
                <a:lnTo>
                  <a:pt x="84000" y="33075"/>
                </a:lnTo>
                <a:lnTo>
                  <a:pt x="96000" y="33600"/>
                </a:lnTo>
                <a:lnTo>
                  <a:pt x="108000" y="33075"/>
                </a:lnTo>
                <a:lnTo>
                  <a:pt x="120000" y="31500"/>
                </a:lnTo>
                <a:lnTo>
                  <a:pt x="132000" y="28875"/>
                </a:lnTo>
                <a:lnTo>
                  <a:pt x="144000" y="25200"/>
                </a:lnTo>
                <a:lnTo>
                  <a:pt x="156000" y="20475"/>
                </a:lnTo>
                <a:lnTo>
                  <a:pt x="168000" y="14700"/>
                </a:lnTo>
                <a:lnTo>
                  <a:pt x="180000" y="7875"/>
                </a:lnTo>
                <a:lnTo>
                  <a:pt x="19200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52" name="TextBox 100151"/>
          <p:cNvSpPr txBox="1"/>
          <p:nvPr/>
        </p:nvSpPr>
        <p:spPr>
          <a:xfrm>
            <a:off x="8982000" y="155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开关线（只画到最近一盏灯）</a:t>
            </a:r>
          </a:p>
        </p:txBody>
      </p:sp>
      <p:cxnSp>
        <p:nvCxnSpPr>
          <p:cNvPr id="100153" name="Connector 100152"/>
          <p:cNvCxnSpPr/>
          <p:nvPr/>
        </p:nvCxnSpPr>
        <p:spPr>
          <a:xfrm>
            <a:off x="8742000" y="1792000"/>
            <a:ext cx="192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54" name="TextBox 100153"/>
          <p:cNvSpPr txBox="1"/>
          <p:nvPr/>
        </p:nvSpPr>
        <p:spPr>
          <a:xfrm>
            <a:off x="8982000" y="172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双控 / 三控联络线 3C+E</a:t>
            </a:r>
          </a:p>
        </p:txBody>
      </p:sp>
      <p:sp>
        <p:nvSpPr>
          <p:cNvPr id="100155" name="TextBox 100154"/>
          <p:cNvSpPr txBox="1"/>
          <p:nvPr/>
        </p:nvSpPr>
        <p:spPr>
          <a:xfrm>
            <a:off x="8808000" y="1893999"/>
            <a:ext cx="12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100156" name="TextBox 100155"/>
          <p:cNvSpPr txBox="1"/>
          <p:nvPr/>
        </p:nvSpPr>
        <p:spPr>
          <a:xfrm>
            <a:off x="8982000" y="1899999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a–u 回路字母（灯旁字母 = 控制它的键）</a:t>
            </a:r>
          </a:p>
        </p:txBody>
      </p:sp>
      <p:sp>
        <p:nvSpPr>
          <p:cNvPr id="100157" name="TextBox 100156"/>
          <p:cNvSpPr txBox="1"/>
          <p:nvPr/>
        </p:nvSpPr>
        <p:spPr>
          <a:xfrm>
            <a:off x="8730000" y="3450000"/>
            <a:ext cx="33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本图只表示位置与编号，接线见 E-FF-01~02 放大图。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开关面板逐键功能见 E-FF-04 开关面板表；回路见 E-FF-05。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开关中心离地 1200 mm，设在门开启侧（锁侧），距门框 150 mm。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楼梯吊灯 F06 三控：一层 S6（楼梯底）、二层 S12（楼梯顶）为两路开关，S11 键 2 为中途开关。</a:t>
            </a:r>
          </a:p>
        </p:txBody>
      </p:sp>
      <p:sp>
        <p:nvSpPr>
          <p:cNvPr id="100158" name="Rectangle 100157"/>
          <p:cNvSpPr/>
          <p:nvPr/>
        </p:nvSpPr>
        <p:spPr>
          <a:xfrm>
            <a:off x="400000" y="6480000"/>
            <a:ext cx="437000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59" name="Rectangle 100158"/>
          <p:cNvSpPr/>
          <p:nvPr/>
        </p:nvSpPr>
        <p:spPr>
          <a:xfrm>
            <a:off x="837000" y="6480000"/>
            <a:ext cx="437000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60" name="Rectangle 100159"/>
          <p:cNvSpPr/>
          <p:nvPr/>
        </p:nvSpPr>
        <p:spPr>
          <a:xfrm>
            <a:off x="1274000" y="6480000"/>
            <a:ext cx="437000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61" name="TextBox 100160"/>
          <p:cNvSpPr txBox="1"/>
          <p:nvPr/>
        </p:nvSpPr>
        <p:spPr>
          <a:xfrm>
            <a:off x="1751000" y="644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421468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100006" name="Rectangle 100005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07" name="Rectangle 100006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08" name="Rectangle 100007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09" name="Rectangle 100008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10" name="Rectangle 100009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11" name="TextBox 100010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二层照明放大图 1：主卧 · 盥洗室 · 西卫 · 衣帽间 · 卧室2</a:t>
            </a:r>
          </a:p>
        </p:txBody>
      </p:sp>
      <p:sp>
        <p:nvSpPr>
          <p:cNvPr id="100012" name="TextBox 100011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&amp; SWITCHING — ZONE 1</a:t>
            </a:r>
          </a:p>
        </p:txBody>
      </p:sp>
      <p:sp>
        <p:nvSpPr>
          <p:cNvPr id="100013" name="Rectangle 100012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14" name="TextBox 100013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100015" name="TextBox 100014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100016" name="Connector 100015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17" name="TextBox 100016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0018" name="TextBox 100017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二层照明放大图 1：主卧 · 盥洗室 · 西卫 · 衣帽间 · 卧室2</a:t>
            </a:r>
          </a:p>
        </p:txBody>
      </p:sp>
      <p:cxnSp>
        <p:nvCxnSpPr>
          <p:cNvPr id="100019" name="Connector 100018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20" name="TextBox 100019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00021" name="TextBox 100020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E-FF-01</a:t>
            </a:r>
          </a:p>
        </p:txBody>
      </p:sp>
      <p:cxnSp>
        <p:nvCxnSpPr>
          <p:cNvPr id="100022" name="Connector 100021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23" name="TextBox 100022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00024" name="TextBox 100023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H-B · 方案 B · 精简 17 路（照明 3 路）</a:t>
            </a:r>
          </a:p>
        </p:txBody>
      </p:sp>
      <p:cxnSp>
        <p:nvCxnSpPr>
          <p:cNvPr id="100025" name="Connector 100024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26" name="TextBox 100025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00027" name="TextBox 100026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v7（用户 2026-10-06 标注）；Blender v39</a:t>
            </a:r>
          </a:p>
        </p:txBody>
      </p:sp>
      <p:cxnSp>
        <p:nvCxnSpPr>
          <p:cNvPr id="100028" name="Connector 100027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29" name="Connector 100028"/>
          <p:cNvCxnSpPr/>
          <p:nvPr/>
        </p:nvCxnSpPr>
        <p:spPr>
          <a:xfrm flipV="1">
            <a:off x="4136894" y="2773157"/>
            <a:ext cx="1117263" cy="44568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30" name="Oval 100029"/>
          <p:cNvSpPr/>
          <p:nvPr/>
        </p:nvSpPr>
        <p:spPr>
          <a:xfrm>
            <a:off x="4427936" y="2992852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31" name="TextBox 100030"/>
          <p:cNvSpPr txBox="1"/>
          <p:nvPr/>
        </p:nvSpPr>
        <p:spPr>
          <a:xfrm>
            <a:off x="4427936" y="2992852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100032" name="Connector 100031"/>
          <p:cNvCxnSpPr/>
          <p:nvPr/>
        </p:nvCxnSpPr>
        <p:spPr>
          <a:xfrm flipV="1">
            <a:off x="3001315" y="5441157"/>
            <a:ext cx="2240632" cy="995158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33" name="Oval 100032"/>
          <p:cNvSpPr/>
          <p:nvPr/>
        </p:nvSpPr>
        <p:spPr>
          <a:xfrm>
            <a:off x="3685536" y="6018010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34" name="TextBox 100033"/>
          <p:cNvSpPr txBox="1"/>
          <p:nvPr/>
        </p:nvSpPr>
        <p:spPr>
          <a:xfrm>
            <a:off x="3685536" y="6018010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4136894" y="2312106"/>
            <a:ext cx="277332" cy="906736"/>
          </a:xfrm>
          <a:custGeom>
            <a:avLst/>
            <a:gdLst/>
            <a:ahLst/>
            <a:cxnLst/>
            <a:rect l="l" t="t" r="r" b="b"/>
            <a:pathLst>
              <a:path w="277332" h="906736">
                <a:moveTo>
                  <a:pt x="0" y="906736"/>
                </a:moveTo>
                <a:lnTo>
                  <a:pt x="38228" y="856431"/>
                </a:lnTo>
                <a:lnTo>
                  <a:pt x="73622" y="805277"/>
                </a:lnTo>
                <a:lnTo>
                  <a:pt x="106182" y="753274"/>
                </a:lnTo>
                <a:lnTo>
                  <a:pt x="135909" y="700423"/>
                </a:lnTo>
                <a:lnTo>
                  <a:pt x="162802" y="646722"/>
                </a:lnTo>
                <a:lnTo>
                  <a:pt x="186862" y="592173"/>
                </a:lnTo>
                <a:lnTo>
                  <a:pt x="208088" y="536776"/>
                </a:lnTo>
                <a:lnTo>
                  <a:pt x="226481" y="480529"/>
                </a:lnTo>
                <a:lnTo>
                  <a:pt x="242040" y="423434"/>
                </a:lnTo>
                <a:lnTo>
                  <a:pt x="254765" y="365489"/>
                </a:lnTo>
                <a:lnTo>
                  <a:pt x="264657" y="306696"/>
                </a:lnTo>
                <a:lnTo>
                  <a:pt x="271716" y="247055"/>
                </a:lnTo>
                <a:lnTo>
                  <a:pt x="275940" y="186564"/>
                </a:lnTo>
                <a:lnTo>
                  <a:pt x="277332" y="125225"/>
                </a:lnTo>
                <a:lnTo>
                  <a:pt x="275890" y="63037"/>
                </a:lnTo>
                <a:lnTo>
                  <a:pt x="271614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408508" y="2312106"/>
            <a:ext cx="845649" cy="461051"/>
          </a:xfrm>
          <a:custGeom>
            <a:avLst/>
            <a:gdLst/>
            <a:ahLst/>
            <a:cxnLst/>
            <a:rect l="l" t="t" r="r" b="b"/>
            <a:pathLst>
              <a:path w="845649" h="461051">
                <a:moveTo>
                  <a:pt x="845649" y="461051"/>
                </a:moveTo>
                <a:lnTo>
                  <a:pt x="803602" y="412416"/>
                </a:lnTo>
                <a:lnTo>
                  <a:pt x="760114" y="366423"/>
                </a:lnTo>
                <a:lnTo>
                  <a:pt x="715185" y="323072"/>
                </a:lnTo>
                <a:lnTo>
                  <a:pt x="668816" y="282365"/>
                </a:lnTo>
                <a:lnTo>
                  <a:pt x="621006" y="244300"/>
                </a:lnTo>
                <a:lnTo>
                  <a:pt x="571754" y="208877"/>
                </a:lnTo>
                <a:lnTo>
                  <a:pt x="521062" y="176098"/>
                </a:lnTo>
                <a:lnTo>
                  <a:pt x="468930" y="145961"/>
                </a:lnTo>
                <a:lnTo>
                  <a:pt x="415356" y="118466"/>
                </a:lnTo>
                <a:lnTo>
                  <a:pt x="360342" y="93614"/>
                </a:lnTo>
                <a:lnTo>
                  <a:pt x="303887" y="71405"/>
                </a:lnTo>
                <a:lnTo>
                  <a:pt x="245991" y="51839"/>
                </a:lnTo>
                <a:lnTo>
                  <a:pt x="186654" y="34915"/>
                </a:lnTo>
                <a:lnTo>
                  <a:pt x="125877" y="20634"/>
                </a:lnTo>
                <a:lnTo>
                  <a:pt x="63659" y="899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5254157" y="1557430"/>
            <a:ext cx="841301" cy="1215727"/>
          </a:xfrm>
          <a:custGeom>
            <a:avLst/>
            <a:gdLst/>
            <a:ahLst/>
            <a:cxnLst/>
            <a:rect l="l" t="t" r="r" b="b"/>
            <a:pathLst>
              <a:path w="841301" h="1215727">
                <a:moveTo>
                  <a:pt x="0" y="1215727"/>
                </a:moveTo>
                <a:lnTo>
                  <a:pt x="81075" y="1159462"/>
                </a:lnTo>
                <a:lnTo>
                  <a:pt x="158351" y="1100568"/>
                </a:lnTo>
                <a:lnTo>
                  <a:pt x="231828" y="1039045"/>
                </a:lnTo>
                <a:lnTo>
                  <a:pt x="301505" y="974893"/>
                </a:lnTo>
                <a:lnTo>
                  <a:pt x="367383" y="908112"/>
                </a:lnTo>
                <a:lnTo>
                  <a:pt x="429462" y="838702"/>
                </a:lnTo>
                <a:lnTo>
                  <a:pt x="487742" y="766662"/>
                </a:lnTo>
                <a:lnTo>
                  <a:pt x="542223" y="691994"/>
                </a:lnTo>
                <a:lnTo>
                  <a:pt x="592905" y="614696"/>
                </a:lnTo>
                <a:lnTo>
                  <a:pt x="639788" y="534770"/>
                </a:lnTo>
                <a:lnTo>
                  <a:pt x="682871" y="452214"/>
                </a:lnTo>
                <a:lnTo>
                  <a:pt x="722155" y="367030"/>
                </a:lnTo>
                <a:lnTo>
                  <a:pt x="757640" y="279216"/>
                </a:lnTo>
                <a:lnTo>
                  <a:pt x="789326" y="188773"/>
                </a:lnTo>
                <a:lnTo>
                  <a:pt x="817213" y="95701"/>
                </a:lnTo>
                <a:lnTo>
                  <a:pt x="84130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4748661" y="4072747"/>
            <a:ext cx="279602" cy="568621"/>
          </a:xfrm>
          <a:custGeom>
            <a:avLst/>
            <a:gdLst/>
            <a:ahLst/>
            <a:cxnLst/>
            <a:rect l="l" t="t" r="r" b="b"/>
            <a:pathLst>
              <a:path w="279602" h="568621">
                <a:moveTo>
                  <a:pt x="279602" y="568621"/>
                </a:moveTo>
                <a:lnTo>
                  <a:pt x="275454" y="526529"/>
                </a:lnTo>
                <a:lnTo>
                  <a:pt x="269529" y="485311"/>
                </a:lnTo>
                <a:lnTo>
                  <a:pt x="261827" y="444966"/>
                </a:lnTo>
                <a:lnTo>
                  <a:pt x="252348" y="405495"/>
                </a:lnTo>
                <a:lnTo>
                  <a:pt x="241092" y="366898"/>
                </a:lnTo>
                <a:lnTo>
                  <a:pt x="228059" y="329175"/>
                </a:lnTo>
                <a:lnTo>
                  <a:pt x="213249" y="292326"/>
                </a:lnTo>
                <a:lnTo>
                  <a:pt x="196663" y="256350"/>
                </a:lnTo>
                <a:lnTo>
                  <a:pt x="178299" y="221248"/>
                </a:lnTo>
                <a:lnTo>
                  <a:pt x="158159" y="187020"/>
                </a:lnTo>
                <a:lnTo>
                  <a:pt x="136241" y="153666"/>
                </a:lnTo>
                <a:lnTo>
                  <a:pt x="112547" y="121185"/>
                </a:lnTo>
                <a:lnTo>
                  <a:pt x="87075" y="89578"/>
                </a:lnTo>
                <a:lnTo>
                  <a:pt x="59827" y="58845"/>
                </a:lnTo>
                <a:lnTo>
                  <a:pt x="30802" y="28985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4746627" y="3610257"/>
            <a:ext cx="35704" cy="462490"/>
          </a:xfrm>
          <a:custGeom>
            <a:avLst/>
            <a:gdLst/>
            <a:ahLst/>
            <a:cxnLst/>
            <a:rect l="l" t="t" r="r" b="b"/>
            <a:pathLst>
              <a:path w="35704" h="462490">
                <a:moveTo>
                  <a:pt x="2034" y="462490"/>
                </a:moveTo>
                <a:lnTo>
                  <a:pt x="10036" y="433548"/>
                </a:lnTo>
                <a:lnTo>
                  <a:pt x="16955" y="404612"/>
                </a:lnTo>
                <a:lnTo>
                  <a:pt x="22790" y="375680"/>
                </a:lnTo>
                <a:lnTo>
                  <a:pt x="27540" y="346753"/>
                </a:lnTo>
                <a:lnTo>
                  <a:pt x="31207" y="317831"/>
                </a:lnTo>
                <a:lnTo>
                  <a:pt x="33790" y="288913"/>
                </a:lnTo>
                <a:lnTo>
                  <a:pt x="35289" y="260000"/>
                </a:lnTo>
                <a:lnTo>
                  <a:pt x="35704" y="231092"/>
                </a:lnTo>
                <a:lnTo>
                  <a:pt x="35035" y="202189"/>
                </a:lnTo>
                <a:lnTo>
                  <a:pt x="33282" y="173291"/>
                </a:lnTo>
                <a:lnTo>
                  <a:pt x="30445" y="144397"/>
                </a:lnTo>
                <a:lnTo>
                  <a:pt x="26524" y="115508"/>
                </a:lnTo>
                <a:lnTo>
                  <a:pt x="21519" y="86624"/>
                </a:lnTo>
                <a:lnTo>
                  <a:pt x="15430" y="57744"/>
                </a:lnTo>
                <a:lnTo>
                  <a:pt x="8257" y="2887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2848684" y="3932660"/>
            <a:ext cx="164169" cy="641550"/>
          </a:xfrm>
          <a:custGeom>
            <a:avLst/>
            <a:gdLst/>
            <a:ahLst/>
            <a:cxnLst/>
            <a:rect l="l" t="t" r="r" b="b"/>
            <a:pathLst>
              <a:path w="164169" h="641550">
                <a:moveTo>
                  <a:pt x="0" y="641550"/>
                </a:moveTo>
                <a:lnTo>
                  <a:pt x="24657" y="605061"/>
                </a:lnTo>
                <a:lnTo>
                  <a:pt x="47310" y="568091"/>
                </a:lnTo>
                <a:lnTo>
                  <a:pt x="67958" y="530640"/>
                </a:lnTo>
                <a:lnTo>
                  <a:pt x="86601" y="492708"/>
                </a:lnTo>
                <a:lnTo>
                  <a:pt x="103239" y="454295"/>
                </a:lnTo>
                <a:lnTo>
                  <a:pt x="117872" y="415400"/>
                </a:lnTo>
                <a:lnTo>
                  <a:pt x="130500" y="376025"/>
                </a:lnTo>
                <a:lnTo>
                  <a:pt x="141124" y="336169"/>
                </a:lnTo>
                <a:lnTo>
                  <a:pt x="149743" y="295831"/>
                </a:lnTo>
                <a:lnTo>
                  <a:pt x="156357" y="255013"/>
                </a:lnTo>
                <a:lnTo>
                  <a:pt x="160966" y="213713"/>
                </a:lnTo>
                <a:lnTo>
                  <a:pt x="163570" y="171933"/>
                </a:lnTo>
                <a:lnTo>
                  <a:pt x="164169" y="129671"/>
                </a:lnTo>
                <a:lnTo>
                  <a:pt x="162764" y="86928"/>
                </a:lnTo>
                <a:lnTo>
                  <a:pt x="159353" y="43705"/>
                </a:lnTo>
                <a:lnTo>
                  <a:pt x="15393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3288263" y="3902631"/>
            <a:ext cx="522051" cy="68887"/>
          </a:xfrm>
          <a:custGeom>
            <a:avLst/>
            <a:gdLst/>
            <a:ahLst/>
            <a:cxnLst/>
            <a:rect l="l" t="t" r="r" b="b"/>
            <a:pathLst>
              <a:path w="522051" h="68887">
                <a:moveTo>
                  <a:pt x="0" y="0"/>
                </a:moveTo>
                <a:lnTo>
                  <a:pt x="31899" y="14180"/>
                </a:lnTo>
                <a:lnTo>
                  <a:pt x="63895" y="26728"/>
                </a:lnTo>
                <a:lnTo>
                  <a:pt x="95989" y="37645"/>
                </a:lnTo>
                <a:lnTo>
                  <a:pt x="128180" y="46931"/>
                </a:lnTo>
                <a:lnTo>
                  <a:pt x="160468" y="54585"/>
                </a:lnTo>
                <a:lnTo>
                  <a:pt x="192853" y="60607"/>
                </a:lnTo>
                <a:lnTo>
                  <a:pt x="225335" y="64999"/>
                </a:lnTo>
                <a:lnTo>
                  <a:pt x="257915" y="67758"/>
                </a:lnTo>
                <a:lnTo>
                  <a:pt x="290592" y="68887"/>
                </a:lnTo>
                <a:lnTo>
                  <a:pt x="323366" y="68384"/>
                </a:lnTo>
                <a:lnTo>
                  <a:pt x="356237" y="66250"/>
                </a:lnTo>
                <a:lnTo>
                  <a:pt x="389205" y="62484"/>
                </a:lnTo>
                <a:lnTo>
                  <a:pt x="422271" y="57087"/>
                </a:lnTo>
                <a:lnTo>
                  <a:pt x="455434" y="50058"/>
                </a:lnTo>
                <a:lnTo>
                  <a:pt x="488694" y="41398"/>
                </a:lnTo>
                <a:lnTo>
                  <a:pt x="522051" y="3110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3001315" y="5444812"/>
            <a:ext cx="712671" cy="991503"/>
          </a:xfrm>
          <a:custGeom>
            <a:avLst/>
            <a:gdLst/>
            <a:ahLst/>
            <a:cxnLst/>
            <a:rect l="l" t="t" r="r" b="b"/>
            <a:pathLst>
              <a:path w="712671" h="991503">
                <a:moveTo>
                  <a:pt x="0" y="991503"/>
                </a:moveTo>
                <a:lnTo>
                  <a:pt x="67781" y="946238"/>
                </a:lnTo>
                <a:lnTo>
                  <a:pt x="132462" y="898745"/>
                </a:lnTo>
                <a:lnTo>
                  <a:pt x="194046" y="849025"/>
                </a:lnTo>
                <a:lnTo>
                  <a:pt x="252531" y="797078"/>
                </a:lnTo>
                <a:lnTo>
                  <a:pt x="307917" y="742904"/>
                </a:lnTo>
                <a:lnTo>
                  <a:pt x="360205" y="686502"/>
                </a:lnTo>
                <a:lnTo>
                  <a:pt x="409395" y="627874"/>
                </a:lnTo>
                <a:lnTo>
                  <a:pt x="455486" y="567019"/>
                </a:lnTo>
                <a:lnTo>
                  <a:pt x="498479" y="503936"/>
                </a:lnTo>
                <a:lnTo>
                  <a:pt x="538373" y="438626"/>
                </a:lnTo>
                <a:lnTo>
                  <a:pt x="575169" y="371090"/>
                </a:lnTo>
                <a:lnTo>
                  <a:pt x="608866" y="301326"/>
                </a:lnTo>
                <a:lnTo>
                  <a:pt x="639465" y="229335"/>
                </a:lnTo>
                <a:lnTo>
                  <a:pt x="666965" y="155117"/>
                </a:lnTo>
                <a:lnTo>
                  <a:pt x="691367" y="78672"/>
                </a:lnTo>
                <a:lnTo>
                  <a:pt x="71267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3713986" y="5290188"/>
            <a:ext cx="1527961" cy="154624"/>
          </a:xfrm>
          <a:custGeom>
            <a:avLst/>
            <a:gdLst/>
            <a:ahLst/>
            <a:cxnLst/>
            <a:rect l="l" t="t" r="r" b="b"/>
            <a:pathLst>
              <a:path w="1527961" h="154624">
                <a:moveTo>
                  <a:pt x="1527961" y="150969"/>
                </a:moveTo>
                <a:lnTo>
                  <a:pt x="1432378" y="115386"/>
                </a:lnTo>
                <a:lnTo>
                  <a:pt x="1336806" y="84578"/>
                </a:lnTo>
                <a:lnTo>
                  <a:pt x="1241245" y="58544"/>
                </a:lnTo>
                <a:lnTo>
                  <a:pt x="1145696" y="37286"/>
                </a:lnTo>
                <a:lnTo>
                  <a:pt x="1050159" y="20802"/>
                </a:lnTo>
                <a:lnTo>
                  <a:pt x="954633" y="9093"/>
                </a:lnTo>
                <a:lnTo>
                  <a:pt x="859118" y="2159"/>
                </a:lnTo>
                <a:lnTo>
                  <a:pt x="763615" y="0"/>
                </a:lnTo>
                <a:lnTo>
                  <a:pt x="668123" y="2616"/>
                </a:lnTo>
                <a:lnTo>
                  <a:pt x="572643" y="10007"/>
                </a:lnTo>
                <a:lnTo>
                  <a:pt x="477174" y="22173"/>
                </a:lnTo>
                <a:lnTo>
                  <a:pt x="381716" y="39113"/>
                </a:lnTo>
                <a:lnTo>
                  <a:pt x="286270" y="60828"/>
                </a:lnTo>
                <a:lnTo>
                  <a:pt x="190835" y="87319"/>
                </a:lnTo>
                <a:lnTo>
                  <a:pt x="95412" y="118584"/>
                </a:lnTo>
                <a:lnTo>
                  <a:pt x="0" y="154624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3001315" y="5912370"/>
            <a:ext cx="1930080" cy="543320"/>
          </a:xfrm>
          <a:custGeom>
            <a:avLst/>
            <a:gdLst/>
            <a:ahLst/>
            <a:cxnLst/>
            <a:rect l="l" t="t" r="r" b="b"/>
            <a:pathLst>
              <a:path w="1930080" h="543320">
                <a:moveTo>
                  <a:pt x="0" y="523945"/>
                </a:moveTo>
                <a:lnTo>
                  <a:pt x="132910" y="536435"/>
                </a:lnTo>
                <a:lnTo>
                  <a:pt x="264183" y="542893"/>
                </a:lnTo>
                <a:lnTo>
                  <a:pt x="393818" y="543320"/>
                </a:lnTo>
                <a:lnTo>
                  <a:pt x="521816" y="537715"/>
                </a:lnTo>
                <a:lnTo>
                  <a:pt x="648177" y="526079"/>
                </a:lnTo>
                <a:lnTo>
                  <a:pt x="772900" y="508411"/>
                </a:lnTo>
                <a:lnTo>
                  <a:pt x="895986" y="484711"/>
                </a:lnTo>
                <a:lnTo>
                  <a:pt x="1017435" y="454981"/>
                </a:lnTo>
                <a:lnTo>
                  <a:pt x="1137246" y="419218"/>
                </a:lnTo>
                <a:lnTo>
                  <a:pt x="1255420" y="377424"/>
                </a:lnTo>
                <a:lnTo>
                  <a:pt x="1371956" y="329599"/>
                </a:lnTo>
                <a:lnTo>
                  <a:pt x="1486856" y="275742"/>
                </a:lnTo>
                <a:lnTo>
                  <a:pt x="1600118" y="215854"/>
                </a:lnTo>
                <a:lnTo>
                  <a:pt x="1711742" y="149934"/>
                </a:lnTo>
                <a:lnTo>
                  <a:pt x="1821730" y="77983"/>
                </a:lnTo>
                <a:lnTo>
                  <a:pt x="193008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4931395" y="5441157"/>
            <a:ext cx="310552" cy="471213"/>
          </a:xfrm>
          <a:custGeom>
            <a:avLst/>
            <a:gdLst/>
            <a:ahLst/>
            <a:cxnLst/>
            <a:rect l="l" t="t" r="r" b="b"/>
            <a:pathLst>
              <a:path w="310552" h="471213">
                <a:moveTo>
                  <a:pt x="310552" y="0"/>
                </a:moveTo>
                <a:lnTo>
                  <a:pt x="280098" y="22173"/>
                </a:lnTo>
                <a:lnTo>
                  <a:pt x="251117" y="45315"/>
                </a:lnTo>
                <a:lnTo>
                  <a:pt x="223609" y="69428"/>
                </a:lnTo>
                <a:lnTo>
                  <a:pt x="197573" y="94512"/>
                </a:lnTo>
                <a:lnTo>
                  <a:pt x="173009" y="120566"/>
                </a:lnTo>
                <a:lnTo>
                  <a:pt x="149919" y="147591"/>
                </a:lnTo>
                <a:lnTo>
                  <a:pt x="128300" y="175586"/>
                </a:lnTo>
                <a:lnTo>
                  <a:pt x="108155" y="204552"/>
                </a:lnTo>
                <a:lnTo>
                  <a:pt x="89481" y="234488"/>
                </a:lnTo>
                <a:lnTo>
                  <a:pt x="72281" y="265394"/>
                </a:lnTo>
                <a:lnTo>
                  <a:pt x="56552" y="297271"/>
                </a:lnTo>
                <a:lnTo>
                  <a:pt x="42297" y="330118"/>
                </a:lnTo>
                <a:lnTo>
                  <a:pt x="29514" y="363936"/>
                </a:lnTo>
                <a:lnTo>
                  <a:pt x="18203" y="398725"/>
                </a:lnTo>
                <a:lnTo>
                  <a:pt x="8365" y="434484"/>
                </a:lnTo>
                <a:lnTo>
                  <a:pt x="0" y="47121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4898489" y="4904547"/>
            <a:ext cx="92915" cy="1007823"/>
          </a:xfrm>
          <a:custGeom>
            <a:avLst/>
            <a:gdLst/>
            <a:ahLst/>
            <a:cxnLst/>
            <a:rect l="l" t="t" r="r" b="b"/>
            <a:pathLst>
              <a:path w="92915" h="1007823">
                <a:moveTo>
                  <a:pt x="32906" y="1007823"/>
                </a:moveTo>
                <a:lnTo>
                  <a:pt x="48565" y="944256"/>
                </a:lnTo>
                <a:lnTo>
                  <a:pt x="61862" y="880765"/>
                </a:lnTo>
                <a:lnTo>
                  <a:pt x="72797" y="817352"/>
                </a:lnTo>
                <a:lnTo>
                  <a:pt x="81369" y="754016"/>
                </a:lnTo>
                <a:lnTo>
                  <a:pt x="87580" y="690757"/>
                </a:lnTo>
                <a:lnTo>
                  <a:pt x="91429" y="627576"/>
                </a:lnTo>
                <a:lnTo>
                  <a:pt x="92915" y="564471"/>
                </a:lnTo>
                <a:lnTo>
                  <a:pt x="92039" y="501443"/>
                </a:lnTo>
                <a:lnTo>
                  <a:pt x="88802" y="438493"/>
                </a:lnTo>
                <a:lnTo>
                  <a:pt x="83202" y="375620"/>
                </a:lnTo>
                <a:lnTo>
                  <a:pt x="75240" y="312824"/>
                </a:lnTo>
                <a:lnTo>
                  <a:pt x="64916" y="250105"/>
                </a:lnTo>
                <a:lnTo>
                  <a:pt x="52230" y="187463"/>
                </a:lnTo>
                <a:lnTo>
                  <a:pt x="37182" y="124898"/>
                </a:lnTo>
                <a:lnTo>
                  <a:pt x="19772" y="6241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35" name="Oval 100034"/>
          <p:cNvSpPr/>
          <p:nvPr/>
        </p:nvSpPr>
        <p:spPr>
          <a:xfrm>
            <a:off x="4323725" y="222732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36" name="Connector 100035"/>
          <p:cNvCxnSpPr/>
          <p:nvPr/>
        </p:nvCxnSpPr>
        <p:spPr>
          <a:xfrm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7" name="Connector 100036"/>
          <p:cNvCxnSpPr/>
          <p:nvPr/>
        </p:nvCxnSpPr>
        <p:spPr>
          <a:xfrm flipV="1"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38" name="TextBox 100037"/>
          <p:cNvSpPr txBox="1"/>
          <p:nvPr/>
        </p:nvSpPr>
        <p:spPr>
          <a:xfrm>
            <a:off x="4493291" y="2142539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100039" name="Oval 100038"/>
          <p:cNvSpPr/>
          <p:nvPr/>
        </p:nvSpPr>
        <p:spPr>
          <a:xfrm>
            <a:off x="3629203" y="536002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40" name="Connector 100039"/>
          <p:cNvCxnSpPr/>
          <p:nvPr/>
        </p:nvCxnSpPr>
        <p:spPr>
          <a:xfrm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1" name="Connector 100040"/>
          <p:cNvCxnSpPr/>
          <p:nvPr/>
        </p:nvCxnSpPr>
        <p:spPr>
          <a:xfrm flipV="1"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42" name="TextBox 100041"/>
          <p:cNvSpPr txBox="1"/>
          <p:nvPr/>
        </p:nvSpPr>
        <p:spPr>
          <a:xfrm>
            <a:off x="3798769" y="5275245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100043" name="Oval 100042"/>
          <p:cNvSpPr/>
          <p:nvPr/>
        </p:nvSpPr>
        <p:spPr>
          <a:xfrm>
            <a:off x="2946100" y="387613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44" name="Oval 100043"/>
          <p:cNvSpPr/>
          <p:nvPr/>
        </p:nvSpPr>
        <p:spPr>
          <a:xfrm>
            <a:off x="2984959" y="391499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45" name="TextBox 100044"/>
          <p:cNvSpPr txBox="1"/>
          <p:nvPr/>
        </p:nvSpPr>
        <p:spPr>
          <a:xfrm>
            <a:off x="3087405" y="3763094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100046" name="Oval 100045"/>
          <p:cNvSpPr/>
          <p:nvPr/>
        </p:nvSpPr>
        <p:spPr>
          <a:xfrm>
            <a:off x="4690105" y="355373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47" name="Oval 100046"/>
          <p:cNvSpPr/>
          <p:nvPr/>
        </p:nvSpPr>
        <p:spPr>
          <a:xfrm>
            <a:off x="4728964" y="359259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48" name="TextBox 100047"/>
          <p:cNvSpPr txBox="1"/>
          <p:nvPr/>
        </p:nvSpPr>
        <p:spPr>
          <a:xfrm>
            <a:off x="4831410" y="3440691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100049" name="Oval 100048"/>
          <p:cNvSpPr/>
          <p:nvPr/>
        </p:nvSpPr>
        <p:spPr>
          <a:xfrm>
            <a:off x="4841967" y="48480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50" name="Oval 100049"/>
          <p:cNvSpPr/>
          <p:nvPr/>
        </p:nvSpPr>
        <p:spPr>
          <a:xfrm>
            <a:off x="4880826" y="488688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51" name="TextBox 100050"/>
          <p:cNvSpPr txBox="1"/>
          <p:nvPr/>
        </p:nvSpPr>
        <p:spPr>
          <a:xfrm>
            <a:off x="4983272" y="4734981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100052" name="Oval 100051"/>
          <p:cNvSpPr/>
          <p:nvPr/>
        </p:nvSpPr>
        <p:spPr>
          <a:xfrm>
            <a:off x="4874873" y="585584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53" name="Oval 100052"/>
          <p:cNvSpPr/>
          <p:nvPr/>
        </p:nvSpPr>
        <p:spPr>
          <a:xfrm>
            <a:off x="4913732" y="589470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54" name="TextBox 100053"/>
          <p:cNvSpPr txBox="1"/>
          <p:nvPr/>
        </p:nvSpPr>
        <p:spPr>
          <a:xfrm>
            <a:off x="5016178" y="5742804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100055" name="Oval 100054"/>
          <p:cNvSpPr/>
          <p:nvPr/>
        </p:nvSpPr>
        <p:spPr>
          <a:xfrm>
            <a:off x="6010675" y="1472647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56" name="Connector 100055"/>
          <p:cNvCxnSpPr/>
          <p:nvPr/>
        </p:nvCxnSpPr>
        <p:spPr>
          <a:xfrm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7" name="Connector 100056"/>
          <p:cNvCxnSpPr/>
          <p:nvPr/>
        </p:nvCxnSpPr>
        <p:spPr>
          <a:xfrm flipV="1"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58" name="TextBox 100057"/>
          <p:cNvSpPr txBox="1"/>
          <p:nvPr/>
        </p:nvSpPr>
        <p:spPr>
          <a:xfrm>
            <a:off x="6180241" y="1387864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100059" name="Oval 100058"/>
          <p:cNvSpPr/>
          <p:nvPr/>
        </p:nvSpPr>
        <p:spPr>
          <a:xfrm>
            <a:off x="3753792" y="387721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60" name="Oval 100059"/>
          <p:cNvSpPr/>
          <p:nvPr/>
        </p:nvSpPr>
        <p:spPr>
          <a:xfrm>
            <a:off x="3792651" y="391607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61" name="TextBox 100060"/>
          <p:cNvSpPr txBox="1"/>
          <p:nvPr/>
        </p:nvSpPr>
        <p:spPr>
          <a:xfrm>
            <a:off x="3895097" y="3764171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100062" name="Oval 100061"/>
          <p:cNvSpPr/>
          <p:nvPr/>
        </p:nvSpPr>
        <p:spPr>
          <a:xfrm>
            <a:off x="4692139" y="40162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63" name="Oval 100062"/>
          <p:cNvSpPr/>
          <p:nvPr/>
        </p:nvSpPr>
        <p:spPr>
          <a:xfrm>
            <a:off x="4730997" y="405508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64" name="TextBox 100063"/>
          <p:cNvSpPr txBox="1"/>
          <p:nvPr/>
        </p:nvSpPr>
        <p:spPr>
          <a:xfrm>
            <a:off x="4833444" y="390318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100065" name="Oval 100064"/>
          <p:cNvSpPr/>
          <p:nvPr/>
        </p:nvSpPr>
        <p:spPr>
          <a:xfrm>
            <a:off x="2823249" y="4548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66" name="Connector 100065"/>
          <p:cNvCxnSpPr/>
          <p:nvPr/>
        </p:nvCxnSpPr>
        <p:spPr>
          <a:xfrm flipV="1">
            <a:off x="2848684" y="4461634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7" name="Connector 100066"/>
          <p:cNvCxnSpPr/>
          <p:nvPr/>
        </p:nvCxnSpPr>
        <p:spPr>
          <a:xfrm>
            <a:off x="2943146" y="4461634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68" name="Rounded Rectangle 100067"/>
          <p:cNvSpPr/>
          <p:nvPr/>
        </p:nvSpPr>
        <p:spPr>
          <a:xfrm>
            <a:off x="2957277" y="4329153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69" name="TextBox 100068"/>
          <p:cNvSpPr txBox="1"/>
          <p:nvPr/>
        </p:nvSpPr>
        <p:spPr>
          <a:xfrm>
            <a:off x="2957277" y="4329153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100070" name="Oval 100069"/>
          <p:cNvSpPr/>
          <p:nvPr/>
        </p:nvSpPr>
        <p:spPr>
          <a:xfrm>
            <a:off x="3262828" y="3877196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71" name="Connector 100070"/>
          <p:cNvCxnSpPr/>
          <p:nvPr/>
        </p:nvCxnSpPr>
        <p:spPr>
          <a:xfrm flipV="1">
            <a:off x="3288263" y="3790055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2" name="Connector 100071"/>
          <p:cNvCxnSpPr/>
          <p:nvPr/>
        </p:nvCxnSpPr>
        <p:spPr>
          <a:xfrm>
            <a:off x="3382725" y="3790055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73" name="Rounded Rectangle 100072"/>
          <p:cNvSpPr/>
          <p:nvPr/>
        </p:nvSpPr>
        <p:spPr>
          <a:xfrm>
            <a:off x="3396856" y="3657574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74" name="TextBox 100073"/>
          <p:cNvSpPr txBox="1"/>
          <p:nvPr/>
        </p:nvSpPr>
        <p:spPr>
          <a:xfrm>
            <a:off x="3396856" y="3657574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100075" name="Oval 100074"/>
          <p:cNvSpPr/>
          <p:nvPr/>
        </p:nvSpPr>
        <p:spPr>
          <a:xfrm>
            <a:off x="4111459" y="3193407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76" name="Connector 100075"/>
          <p:cNvCxnSpPr/>
          <p:nvPr/>
        </p:nvCxnSpPr>
        <p:spPr>
          <a:xfrm flipV="1">
            <a:off x="4136894" y="3106266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7" name="Connector 100076"/>
          <p:cNvCxnSpPr/>
          <p:nvPr/>
        </p:nvCxnSpPr>
        <p:spPr>
          <a:xfrm>
            <a:off x="4231357" y="3106266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78" name="Rounded Rectangle 100077"/>
          <p:cNvSpPr/>
          <p:nvPr/>
        </p:nvSpPr>
        <p:spPr>
          <a:xfrm>
            <a:off x="4245487" y="2973784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79" name="TextBox 100078"/>
          <p:cNvSpPr txBox="1"/>
          <p:nvPr/>
        </p:nvSpPr>
        <p:spPr>
          <a:xfrm>
            <a:off x="4245487" y="2973784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100080" name="Oval 100079"/>
          <p:cNvSpPr/>
          <p:nvPr/>
        </p:nvSpPr>
        <p:spPr>
          <a:xfrm>
            <a:off x="5228722" y="2747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81" name="Connector 100080"/>
          <p:cNvCxnSpPr/>
          <p:nvPr/>
        </p:nvCxnSpPr>
        <p:spPr>
          <a:xfrm flipV="1">
            <a:off x="5254157" y="2660581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82" name="Connector 100081"/>
          <p:cNvCxnSpPr/>
          <p:nvPr/>
        </p:nvCxnSpPr>
        <p:spPr>
          <a:xfrm>
            <a:off x="5348620" y="2660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83" name="Connector 100082"/>
          <p:cNvCxnSpPr/>
          <p:nvPr/>
        </p:nvCxnSpPr>
        <p:spPr>
          <a:xfrm>
            <a:off x="5332561" y="2679719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84" name="Rounded Rectangle 100083"/>
          <p:cNvSpPr/>
          <p:nvPr/>
        </p:nvSpPr>
        <p:spPr>
          <a:xfrm>
            <a:off x="5362750" y="2528100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85" name="TextBox 100084"/>
          <p:cNvSpPr txBox="1"/>
          <p:nvPr/>
        </p:nvSpPr>
        <p:spPr>
          <a:xfrm>
            <a:off x="5362750" y="2528100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100086" name="Oval 100085"/>
          <p:cNvSpPr/>
          <p:nvPr/>
        </p:nvSpPr>
        <p:spPr>
          <a:xfrm>
            <a:off x="5002828" y="4615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87" name="Connector 100086"/>
          <p:cNvCxnSpPr/>
          <p:nvPr/>
        </p:nvCxnSpPr>
        <p:spPr>
          <a:xfrm flipV="1">
            <a:off x="5028263" y="4528792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88" name="Connector 100087"/>
          <p:cNvCxnSpPr/>
          <p:nvPr/>
        </p:nvCxnSpPr>
        <p:spPr>
          <a:xfrm>
            <a:off x="5122725" y="4528792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89" name="Rounded Rectangle 100088"/>
          <p:cNvSpPr/>
          <p:nvPr/>
        </p:nvSpPr>
        <p:spPr>
          <a:xfrm>
            <a:off x="5136856" y="439631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90" name="TextBox 100089"/>
          <p:cNvSpPr txBox="1"/>
          <p:nvPr/>
        </p:nvSpPr>
        <p:spPr>
          <a:xfrm>
            <a:off x="5136856" y="439631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100091" name="Oval 100090"/>
          <p:cNvSpPr/>
          <p:nvPr/>
        </p:nvSpPr>
        <p:spPr>
          <a:xfrm>
            <a:off x="2975880" y="6410880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92" name="Connector 100091"/>
          <p:cNvCxnSpPr/>
          <p:nvPr/>
        </p:nvCxnSpPr>
        <p:spPr>
          <a:xfrm flipV="1">
            <a:off x="3001315" y="6323739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93" name="Connector 100092"/>
          <p:cNvCxnSpPr/>
          <p:nvPr/>
        </p:nvCxnSpPr>
        <p:spPr>
          <a:xfrm>
            <a:off x="3095778" y="6323739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94" name="Connector 100093"/>
          <p:cNvCxnSpPr/>
          <p:nvPr/>
        </p:nvCxnSpPr>
        <p:spPr>
          <a:xfrm>
            <a:off x="3079719" y="6342877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95" name="Rounded Rectangle 100094"/>
          <p:cNvSpPr/>
          <p:nvPr/>
        </p:nvSpPr>
        <p:spPr>
          <a:xfrm>
            <a:off x="3109908" y="619125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96" name="TextBox 100095"/>
          <p:cNvSpPr txBox="1"/>
          <p:nvPr/>
        </p:nvSpPr>
        <p:spPr>
          <a:xfrm>
            <a:off x="3109908" y="619125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100097" name="Oval 100096"/>
          <p:cNvSpPr/>
          <p:nvPr/>
        </p:nvSpPr>
        <p:spPr>
          <a:xfrm>
            <a:off x="5216512" y="5415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98" name="Connector 100097"/>
          <p:cNvCxnSpPr/>
          <p:nvPr/>
        </p:nvCxnSpPr>
        <p:spPr>
          <a:xfrm flipV="1">
            <a:off x="5241947" y="5328581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99" name="Connector 100098"/>
          <p:cNvCxnSpPr/>
          <p:nvPr/>
        </p:nvCxnSpPr>
        <p:spPr>
          <a:xfrm>
            <a:off x="5336409" y="5328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00" name="Connector 100099"/>
          <p:cNvCxnSpPr/>
          <p:nvPr/>
        </p:nvCxnSpPr>
        <p:spPr>
          <a:xfrm>
            <a:off x="5320351" y="5347719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01" name="Rounded Rectangle 100100"/>
          <p:cNvSpPr/>
          <p:nvPr/>
        </p:nvSpPr>
        <p:spPr>
          <a:xfrm>
            <a:off x="5350540" y="5196100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02" name="TextBox 100101"/>
          <p:cNvSpPr txBox="1"/>
          <p:nvPr/>
        </p:nvSpPr>
        <p:spPr>
          <a:xfrm>
            <a:off x="5350540" y="5196100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100103" name="TextBox 100102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100104" name="TextBox 100103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1 联 · 盥洗室门旁</a:t>
            </a:r>
          </a:p>
        </p:txBody>
      </p:sp>
      <p:sp>
        <p:nvSpPr>
          <p:cNvPr id="100105" name="TextBox 100104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</a:t>
            </a:r>
          </a:p>
        </p:txBody>
      </p:sp>
      <p:sp>
        <p:nvSpPr>
          <p:cNvPr id="100106" name="TextBox 100105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1 联 · 西卫生间门外</a:t>
            </a:r>
          </a:p>
        </p:txBody>
      </p:sp>
      <p:sp>
        <p:nvSpPr>
          <p:cNvPr id="100107" name="TextBox 100106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键1=h</a:t>
            </a:r>
          </a:p>
        </p:txBody>
      </p:sp>
      <p:sp>
        <p:nvSpPr>
          <p:cNvPr id="100108" name="TextBox 100107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1 联 · 主卧门旁</a:t>
            </a:r>
          </a:p>
        </p:txBody>
      </p:sp>
      <p:sp>
        <p:nvSpPr>
          <p:cNvPr id="100109" name="TextBox 100108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</a:t>
            </a:r>
          </a:p>
        </p:txBody>
      </p:sp>
      <p:sp>
        <p:nvSpPr>
          <p:cNvPr id="100110" name="TextBox 100109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2 联 · 主卧东墙 · 床头侧</a:t>
            </a:r>
          </a:p>
        </p:txBody>
      </p:sp>
      <p:sp>
        <p:nvSpPr>
          <p:cNvPr id="100111" name="TextBox 100110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100112" name="TextBox 100111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1 联 · 衣帽间门旁</a:t>
            </a:r>
          </a:p>
        </p:txBody>
      </p:sp>
      <p:sp>
        <p:nvSpPr>
          <p:cNvPr id="100113" name="TextBox 100112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</a:t>
            </a:r>
          </a:p>
        </p:txBody>
      </p:sp>
      <p:sp>
        <p:nvSpPr>
          <p:cNvPr id="100114" name="TextBox 100113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2 联 · 卧室2 门旁</a:t>
            </a:r>
          </a:p>
        </p:txBody>
      </p:sp>
      <p:sp>
        <p:nvSpPr>
          <p:cNvPr id="100115" name="TextBox 100114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100116" name="TextBox 100115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2 联 · 卧室2 床头侧</a:t>
            </a:r>
          </a:p>
        </p:txBody>
      </p:sp>
      <p:sp>
        <p:nvSpPr>
          <p:cNvPr id="100117" name="TextBox 100116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100118" name="TextBox 100117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100119" name="TextBox 100118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W1：S3 ↔ S4  3C+E  回路 a</a:t>
            </a:r>
          </a:p>
        </p:txBody>
      </p:sp>
      <p:sp>
        <p:nvSpPr>
          <p:cNvPr id="100120" name="TextBox 100119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W2：S6 ↔ S7  3C+E  回路 i j</a:t>
            </a:r>
          </a:p>
        </p:txBody>
      </p:sp>
      <p:sp>
        <p:nvSpPr>
          <p:cNvPr id="100121" name="TextBox 100120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100122" name="Rectangle 100121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23" name="Rectangle 100122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24" name="TextBox 100123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3047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100006" name="Rectangle 100005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07" name="Rectangle 100006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08" name="Rectangle 100007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09" name="Rectangle 100008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10" name="Rectangle 100009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11" name="TextBox 100010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二层照明放大图 2：走廊 · 北卫 · 卧室3 · 楼梯 · 卧室 4 · 后卫</a:t>
            </a:r>
          </a:p>
        </p:txBody>
      </p:sp>
      <p:sp>
        <p:nvSpPr>
          <p:cNvPr id="100012" name="TextBox 100011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&amp; SWITCHING — ZONE 2</a:t>
            </a:r>
          </a:p>
        </p:txBody>
      </p:sp>
      <p:sp>
        <p:nvSpPr>
          <p:cNvPr id="100013" name="Rectangle 100012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14" name="TextBox 100013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100015" name="TextBox 100014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100016" name="Connector 100015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17" name="TextBox 100016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0018" name="TextBox 100017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二层照明放大图 2：走廊 · 北卫 · 卧室3 · 楼梯 · 卧室 4 · 后卫</a:t>
            </a:r>
          </a:p>
        </p:txBody>
      </p:sp>
      <p:cxnSp>
        <p:nvCxnSpPr>
          <p:cNvPr id="100019" name="Connector 100018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20" name="TextBox 100019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00021" name="TextBox 100020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E-FF-02</a:t>
            </a:r>
          </a:p>
        </p:txBody>
      </p:sp>
      <p:cxnSp>
        <p:nvCxnSpPr>
          <p:cNvPr id="100022" name="Connector 100021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23" name="TextBox 100022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00024" name="TextBox 100023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H-B · 方案 B · 精简 17 路（照明 3 路）</a:t>
            </a:r>
          </a:p>
        </p:txBody>
      </p:sp>
      <p:cxnSp>
        <p:nvCxnSpPr>
          <p:cNvPr id="100025" name="Connector 100024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26" name="TextBox 100025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00027" name="TextBox 100026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v7（用户 2026-10-06 标注）；Blender v39</a:t>
            </a:r>
          </a:p>
        </p:txBody>
      </p:sp>
      <p:cxnSp>
        <p:nvCxnSpPr>
          <p:cNvPr id="100028" name="Connector 100027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29" name="Connector 100028"/>
          <p:cNvCxnSpPr/>
          <p:nvPr/>
        </p:nvCxnSpPr>
        <p:spPr>
          <a:xfrm>
            <a:off x="2531210" y="3469157"/>
            <a:ext cx="378526" cy="2033053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30" name="Oval 100029"/>
          <p:cNvSpPr/>
          <p:nvPr/>
        </p:nvSpPr>
        <p:spPr>
          <a:xfrm>
            <a:off x="2563694" y="4110726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31" name="TextBox 100030"/>
          <p:cNvSpPr txBox="1"/>
          <p:nvPr/>
        </p:nvSpPr>
        <p:spPr>
          <a:xfrm>
            <a:off x="2563694" y="4110726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100032" name="Connector 100031"/>
          <p:cNvCxnSpPr/>
          <p:nvPr/>
        </p:nvCxnSpPr>
        <p:spPr>
          <a:xfrm flipH="1">
            <a:off x="2909736" y="5465578"/>
            <a:ext cx="854737" cy="3663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33" name="Oval 100032"/>
          <p:cNvSpPr/>
          <p:nvPr/>
        </p:nvSpPr>
        <p:spPr>
          <a:xfrm>
            <a:off x="3365315" y="5408400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34" name="TextBox 100033"/>
          <p:cNvSpPr txBox="1"/>
          <p:nvPr/>
        </p:nvSpPr>
        <p:spPr>
          <a:xfrm>
            <a:off x="3365315" y="5408400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3251631" y="1857368"/>
            <a:ext cx="408184" cy="702725"/>
          </a:xfrm>
          <a:custGeom>
            <a:avLst/>
            <a:gdLst/>
            <a:ahLst/>
            <a:cxnLst/>
            <a:rect l="l" t="t" r="r" b="b"/>
            <a:pathLst>
              <a:path w="408184" h="702725">
                <a:moveTo>
                  <a:pt x="0" y="0"/>
                </a:moveTo>
                <a:lnTo>
                  <a:pt x="9041" y="53487"/>
                </a:lnTo>
                <a:lnTo>
                  <a:pt x="20279" y="105699"/>
                </a:lnTo>
                <a:lnTo>
                  <a:pt x="33712" y="156635"/>
                </a:lnTo>
                <a:lnTo>
                  <a:pt x="49342" y="206295"/>
                </a:lnTo>
                <a:lnTo>
                  <a:pt x="67167" y="254680"/>
                </a:lnTo>
                <a:lnTo>
                  <a:pt x="87188" y="301789"/>
                </a:lnTo>
                <a:lnTo>
                  <a:pt x="109406" y="347623"/>
                </a:lnTo>
                <a:lnTo>
                  <a:pt x="133819" y="392181"/>
                </a:lnTo>
                <a:lnTo>
                  <a:pt x="160429" y="435464"/>
                </a:lnTo>
                <a:lnTo>
                  <a:pt x="189234" y="477470"/>
                </a:lnTo>
                <a:lnTo>
                  <a:pt x="220236" y="518202"/>
                </a:lnTo>
                <a:lnTo>
                  <a:pt x="253433" y="557658"/>
                </a:lnTo>
                <a:lnTo>
                  <a:pt x="288827" y="595838"/>
                </a:lnTo>
                <a:lnTo>
                  <a:pt x="326416" y="632743"/>
                </a:lnTo>
                <a:lnTo>
                  <a:pt x="366202" y="668372"/>
                </a:lnTo>
                <a:lnTo>
                  <a:pt x="408184" y="702725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284305" y="3268996"/>
            <a:ext cx="246905" cy="200161"/>
          </a:xfrm>
          <a:custGeom>
            <a:avLst/>
            <a:gdLst/>
            <a:ahLst/>
            <a:cxnLst/>
            <a:rect l="l" t="t" r="r" b="b"/>
            <a:pathLst>
              <a:path w="246905" h="200161">
                <a:moveTo>
                  <a:pt x="246905" y="200161"/>
                </a:moveTo>
                <a:lnTo>
                  <a:pt x="236165" y="181864"/>
                </a:lnTo>
                <a:lnTo>
                  <a:pt x="224799" y="164339"/>
                </a:lnTo>
                <a:lnTo>
                  <a:pt x="212808" y="147585"/>
                </a:lnTo>
                <a:lnTo>
                  <a:pt x="200191" y="131603"/>
                </a:lnTo>
                <a:lnTo>
                  <a:pt x="186948" y="116393"/>
                </a:lnTo>
                <a:lnTo>
                  <a:pt x="173081" y="101954"/>
                </a:lnTo>
                <a:lnTo>
                  <a:pt x="158587" y="88286"/>
                </a:lnTo>
                <a:lnTo>
                  <a:pt x="143469" y="75390"/>
                </a:lnTo>
                <a:lnTo>
                  <a:pt x="127724" y="63266"/>
                </a:lnTo>
                <a:lnTo>
                  <a:pt x="111354" y="51913"/>
                </a:lnTo>
                <a:lnTo>
                  <a:pt x="94359" y="41332"/>
                </a:lnTo>
                <a:lnTo>
                  <a:pt x="76738" y="31523"/>
                </a:lnTo>
                <a:lnTo>
                  <a:pt x="58492" y="22485"/>
                </a:lnTo>
                <a:lnTo>
                  <a:pt x="39620" y="14218"/>
                </a:lnTo>
                <a:lnTo>
                  <a:pt x="20123" y="6723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303510" y="4768232"/>
            <a:ext cx="606226" cy="733978"/>
          </a:xfrm>
          <a:custGeom>
            <a:avLst/>
            <a:gdLst/>
            <a:ahLst/>
            <a:cxnLst/>
            <a:rect l="l" t="t" r="r" b="b"/>
            <a:pathLst>
              <a:path w="606226" h="733978">
                <a:moveTo>
                  <a:pt x="606226" y="733978"/>
                </a:moveTo>
                <a:lnTo>
                  <a:pt x="585540" y="673896"/>
                </a:lnTo>
                <a:lnTo>
                  <a:pt x="562560" y="615708"/>
                </a:lnTo>
                <a:lnTo>
                  <a:pt x="537286" y="559415"/>
                </a:lnTo>
                <a:lnTo>
                  <a:pt x="509718" y="505017"/>
                </a:lnTo>
                <a:lnTo>
                  <a:pt x="479857" y="452512"/>
                </a:lnTo>
                <a:lnTo>
                  <a:pt x="447702" y="401903"/>
                </a:lnTo>
                <a:lnTo>
                  <a:pt x="413253" y="353187"/>
                </a:lnTo>
                <a:lnTo>
                  <a:pt x="376511" y="306367"/>
                </a:lnTo>
                <a:lnTo>
                  <a:pt x="337475" y="261440"/>
                </a:lnTo>
                <a:lnTo>
                  <a:pt x="296145" y="218408"/>
                </a:lnTo>
                <a:lnTo>
                  <a:pt x="252522" y="177271"/>
                </a:lnTo>
                <a:lnTo>
                  <a:pt x="206605" y="138028"/>
                </a:lnTo>
                <a:lnTo>
                  <a:pt x="158394" y="100679"/>
                </a:lnTo>
                <a:lnTo>
                  <a:pt x="107890" y="65225"/>
                </a:lnTo>
                <a:lnTo>
                  <a:pt x="55092" y="3166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2181465" y="3268996"/>
            <a:ext cx="122045" cy="1499236"/>
          </a:xfrm>
          <a:custGeom>
            <a:avLst/>
            <a:gdLst/>
            <a:ahLst/>
            <a:cxnLst/>
            <a:rect l="l" t="t" r="r" b="b"/>
            <a:pathLst>
              <a:path w="122045" h="1499236">
                <a:moveTo>
                  <a:pt x="102840" y="0"/>
                </a:moveTo>
                <a:lnTo>
                  <a:pt x="77686" y="94040"/>
                </a:lnTo>
                <a:lnTo>
                  <a:pt x="56047" y="188035"/>
                </a:lnTo>
                <a:lnTo>
                  <a:pt x="37921" y="281985"/>
                </a:lnTo>
                <a:lnTo>
                  <a:pt x="23309" y="375890"/>
                </a:lnTo>
                <a:lnTo>
                  <a:pt x="12211" y="469749"/>
                </a:lnTo>
                <a:lnTo>
                  <a:pt x="4627" y="563564"/>
                </a:lnTo>
                <a:lnTo>
                  <a:pt x="556" y="657334"/>
                </a:lnTo>
                <a:lnTo>
                  <a:pt x="0" y="751059"/>
                </a:lnTo>
                <a:lnTo>
                  <a:pt x="2957" y="844739"/>
                </a:lnTo>
                <a:lnTo>
                  <a:pt x="9428" y="938373"/>
                </a:lnTo>
                <a:lnTo>
                  <a:pt x="19413" y="1031963"/>
                </a:lnTo>
                <a:lnTo>
                  <a:pt x="32912" y="1125508"/>
                </a:lnTo>
                <a:lnTo>
                  <a:pt x="49925" y="1219007"/>
                </a:lnTo>
                <a:lnTo>
                  <a:pt x="70451" y="1312462"/>
                </a:lnTo>
                <a:lnTo>
                  <a:pt x="94491" y="1405872"/>
                </a:lnTo>
                <a:lnTo>
                  <a:pt x="122045" y="149923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2744894" y="3939263"/>
            <a:ext cx="717769" cy="404193"/>
          </a:xfrm>
          <a:custGeom>
            <a:avLst/>
            <a:gdLst/>
            <a:ahLst/>
            <a:cxnLst/>
            <a:rect l="l" t="t" r="r" b="b"/>
            <a:pathLst>
              <a:path w="717769" h="404193">
                <a:moveTo>
                  <a:pt x="0" y="0"/>
                </a:moveTo>
                <a:lnTo>
                  <a:pt x="35388" y="42084"/>
                </a:lnTo>
                <a:lnTo>
                  <a:pt x="72038" y="81926"/>
                </a:lnTo>
                <a:lnTo>
                  <a:pt x="109951" y="119525"/>
                </a:lnTo>
                <a:lnTo>
                  <a:pt x="149128" y="154881"/>
                </a:lnTo>
                <a:lnTo>
                  <a:pt x="189568" y="187993"/>
                </a:lnTo>
                <a:lnTo>
                  <a:pt x="231271" y="218863"/>
                </a:lnTo>
                <a:lnTo>
                  <a:pt x="274236" y="247490"/>
                </a:lnTo>
                <a:lnTo>
                  <a:pt x="318465" y="273873"/>
                </a:lnTo>
                <a:lnTo>
                  <a:pt x="363958" y="298014"/>
                </a:lnTo>
                <a:lnTo>
                  <a:pt x="410713" y="319911"/>
                </a:lnTo>
                <a:lnTo>
                  <a:pt x="458731" y="339566"/>
                </a:lnTo>
                <a:lnTo>
                  <a:pt x="508013" y="356977"/>
                </a:lnTo>
                <a:lnTo>
                  <a:pt x="558557" y="372146"/>
                </a:lnTo>
                <a:lnTo>
                  <a:pt x="610365" y="385071"/>
                </a:lnTo>
                <a:lnTo>
                  <a:pt x="663435" y="395754"/>
                </a:lnTo>
                <a:lnTo>
                  <a:pt x="717769" y="40419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2909736" y="5502210"/>
            <a:ext cx="456599" cy="655432"/>
          </a:xfrm>
          <a:custGeom>
            <a:avLst/>
            <a:gdLst/>
            <a:ahLst/>
            <a:cxnLst/>
            <a:rect l="l" t="t" r="r" b="b"/>
            <a:pathLst>
              <a:path w="456599" h="655432">
                <a:moveTo>
                  <a:pt x="0" y="0"/>
                </a:moveTo>
                <a:lnTo>
                  <a:pt x="13176" y="51666"/>
                </a:lnTo>
                <a:lnTo>
                  <a:pt x="28400" y="101905"/>
                </a:lnTo>
                <a:lnTo>
                  <a:pt x="45672" y="150718"/>
                </a:lnTo>
                <a:lnTo>
                  <a:pt x="64993" y="198103"/>
                </a:lnTo>
                <a:lnTo>
                  <a:pt x="86361" y="244061"/>
                </a:lnTo>
                <a:lnTo>
                  <a:pt x="109778" y="288593"/>
                </a:lnTo>
                <a:lnTo>
                  <a:pt x="135243" y="331698"/>
                </a:lnTo>
                <a:lnTo>
                  <a:pt x="162756" y="373376"/>
                </a:lnTo>
                <a:lnTo>
                  <a:pt x="192318" y="413627"/>
                </a:lnTo>
                <a:lnTo>
                  <a:pt x="223928" y="452451"/>
                </a:lnTo>
                <a:lnTo>
                  <a:pt x="257585" y="489849"/>
                </a:lnTo>
                <a:lnTo>
                  <a:pt x="293292" y="525819"/>
                </a:lnTo>
                <a:lnTo>
                  <a:pt x="331046" y="560363"/>
                </a:lnTo>
                <a:lnTo>
                  <a:pt x="370849" y="593479"/>
                </a:lnTo>
                <a:lnTo>
                  <a:pt x="412700" y="625169"/>
                </a:lnTo>
                <a:lnTo>
                  <a:pt x="456599" y="655432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3366335" y="5465578"/>
            <a:ext cx="398138" cy="692064"/>
          </a:xfrm>
          <a:custGeom>
            <a:avLst/>
            <a:gdLst/>
            <a:ahLst/>
            <a:cxnLst/>
            <a:rect l="l" t="t" r="r" b="b"/>
            <a:pathLst>
              <a:path w="398138" h="692064">
                <a:moveTo>
                  <a:pt x="398138" y="0"/>
                </a:moveTo>
                <a:lnTo>
                  <a:pt x="357034" y="33923"/>
                </a:lnTo>
                <a:lnTo>
                  <a:pt x="318093" y="69090"/>
                </a:lnTo>
                <a:lnTo>
                  <a:pt x="281315" y="105501"/>
                </a:lnTo>
                <a:lnTo>
                  <a:pt x="246699" y="143156"/>
                </a:lnTo>
                <a:lnTo>
                  <a:pt x="214246" y="182055"/>
                </a:lnTo>
                <a:lnTo>
                  <a:pt x="183955" y="222199"/>
                </a:lnTo>
                <a:lnTo>
                  <a:pt x="155828" y="263587"/>
                </a:lnTo>
                <a:lnTo>
                  <a:pt x="129863" y="306218"/>
                </a:lnTo>
                <a:lnTo>
                  <a:pt x="106060" y="350095"/>
                </a:lnTo>
                <a:lnTo>
                  <a:pt x="84421" y="395215"/>
                </a:lnTo>
                <a:lnTo>
                  <a:pt x="64944" y="441579"/>
                </a:lnTo>
                <a:lnTo>
                  <a:pt x="47630" y="489188"/>
                </a:lnTo>
                <a:lnTo>
                  <a:pt x="32478" y="538041"/>
                </a:lnTo>
                <a:lnTo>
                  <a:pt x="19489" y="588138"/>
                </a:lnTo>
                <a:lnTo>
                  <a:pt x="8663" y="639479"/>
                </a:lnTo>
                <a:lnTo>
                  <a:pt x="0" y="692064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4387210" y="5258293"/>
            <a:ext cx="1211050" cy="156824"/>
          </a:xfrm>
          <a:custGeom>
            <a:avLst/>
            <a:gdLst/>
            <a:ahLst/>
            <a:cxnLst/>
            <a:rect l="l" t="t" r="r" b="b"/>
            <a:pathLst>
              <a:path w="1211050" h="156824">
                <a:moveTo>
                  <a:pt x="0" y="66864"/>
                </a:moveTo>
                <a:lnTo>
                  <a:pt x="77258" y="91069"/>
                </a:lnTo>
                <a:lnTo>
                  <a:pt x="154307" y="111490"/>
                </a:lnTo>
                <a:lnTo>
                  <a:pt x="231147" y="128126"/>
                </a:lnTo>
                <a:lnTo>
                  <a:pt x="307778" y="140977"/>
                </a:lnTo>
                <a:lnTo>
                  <a:pt x="384199" y="150044"/>
                </a:lnTo>
                <a:lnTo>
                  <a:pt x="460413" y="155326"/>
                </a:lnTo>
                <a:lnTo>
                  <a:pt x="536417" y="156824"/>
                </a:lnTo>
                <a:lnTo>
                  <a:pt x="612212" y="154537"/>
                </a:lnTo>
                <a:lnTo>
                  <a:pt x="687798" y="148466"/>
                </a:lnTo>
                <a:lnTo>
                  <a:pt x="763175" y="138610"/>
                </a:lnTo>
                <a:lnTo>
                  <a:pt x="838343" y="124969"/>
                </a:lnTo>
                <a:lnTo>
                  <a:pt x="913303" y="107545"/>
                </a:lnTo>
                <a:lnTo>
                  <a:pt x="988053" y="86335"/>
                </a:lnTo>
                <a:lnTo>
                  <a:pt x="1062595" y="61341"/>
                </a:lnTo>
                <a:lnTo>
                  <a:pt x="1136927" y="32563"/>
                </a:lnTo>
                <a:lnTo>
                  <a:pt x="121105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4933278" y="5842969"/>
            <a:ext cx="953930" cy="377781"/>
          </a:xfrm>
          <a:custGeom>
            <a:avLst/>
            <a:gdLst/>
            <a:ahLst/>
            <a:cxnLst/>
            <a:rect l="l" t="t" r="r" b="b"/>
            <a:pathLst>
              <a:path w="953930" h="377781">
                <a:moveTo>
                  <a:pt x="0" y="0"/>
                </a:moveTo>
                <a:lnTo>
                  <a:pt x="50766" y="45969"/>
                </a:lnTo>
                <a:lnTo>
                  <a:pt x="102713" y="88957"/>
                </a:lnTo>
                <a:lnTo>
                  <a:pt x="155841" y="128964"/>
                </a:lnTo>
                <a:lnTo>
                  <a:pt x="210149" y="165990"/>
                </a:lnTo>
                <a:lnTo>
                  <a:pt x="265637" y="200035"/>
                </a:lnTo>
                <a:lnTo>
                  <a:pt x="322307" y="231099"/>
                </a:lnTo>
                <a:lnTo>
                  <a:pt x="380157" y="259182"/>
                </a:lnTo>
                <a:lnTo>
                  <a:pt x="439187" y="284284"/>
                </a:lnTo>
                <a:lnTo>
                  <a:pt x="499398" y="306404"/>
                </a:lnTo>
                <a:lnTo>
                  <a:pt x="560789" y="325544"/>
                </a:lnTo>
                <a:lnTo>
                  <a:pt x="623362" y="341703"/>
                </a:lnTo>
                <a:lnTo>
                  <a:pt x="687114" y="354881"/>
                </a:lnTo>
                <a:lnTo>
                  <a:pt x="752047" y="365077"/>
                </a:lnTo>
                <a:lnTo>
                  <a:pt x="818161" y="372293"/>
                </a:lnTo>
                <a:lnTo>
                  <a:pt x="885456" y="376527"/>
                </a:lnTo>
                <a:lnTo>
                  <a:pt x="953930" y="37778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35" name="Oval 100034"/>
          <p:cNvSpPr/>
          <p:nvPr/>
        </p:nvSpPr>
        <p:spPr>
          <a:xfrm>
            <a:off x="3281552" y="607285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36" name="Connector 100035"/>
          <p:cNvCxnSpPr/>
          <p:nvPr/>
        </p:nvCxnSpPr>
        <p:spPr>
          <a:xfrm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7" name="Connector 100036"/>
          <p:cNvCxnSpPr/>
          <p:nvPr/>
        </p:nvCxnSpPr>
        <p:spPr>
          <a:xfrm flipV="1"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38" name="TextBox 100037"/>
          <p:cNvSpPr txBox="1"/>
          <p:nvPr/>
        </p:nvSpPr>
        <p:spPr>
          <a:xfrm>
            <a:off x="3451118" y="5988076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100039" name="Oval 100038"/>
          <p:cNvSpPr/>
          <p:nvPr/>
        </p:nvSpPr>
        <p:spPr>
          <a:xfrm>
            <a:off x="2218727" y="468344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40" name="Connector 100039"/>
          <p:cNvCxnSpPr/>
          <p:nvPr/>
        </p:nvCxnSpPr>
        <p:spPr>
          <a:xfrm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1" name="Connector 100040"/>
          <p:cNvCxnSpPr/>
          <p:nvPr/>
        </p:nvCxnSpPr>
        <p:spPr>
          <a:xfrm flipV="1"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42" name="TextBox 100041"/>
          <p:cNvSpPr txBox="1"/>
          <p:nvPr/>
        </p:nvSpPr>
        <p:spPr>
          <a:xfrm>
            <a:off x="2388293" y="4598666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100043" name="Oval 100042"/>
          <p:cNvSpPr/>
          <p:nvPr/>
        </p:nvSpPr>
        <p:spPr>
          <a:xfrm>
            <a:off x="3377880" y="425867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44" name="Connector 100043"/>
          <p:cNvCxnSpPr/>
          <p:nvPr/>
        </p:nvCxnSpPr>
        <p:spPr>
          <a:xfrm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5" name="Connector 100044"/>
          <p:cNvCxnSpPr/>
          <p:nvPr/>
        </p:nvCxnSpPr>
        <p:spPr>
          <a:xfrm flipV="1"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46" name="TextBox 100045"/>
          <p:cNvSpPr txBox="1"/>
          <p:nvPr/>
        </p:nvSpPr>
        <p:spPr>
          <a:xfrm>
            <a:off x="3547446" y="417389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100047" name="Oval 100046"/>
          <p:cNvSpPr/>
          <p:nvPr/>
        </p:nvSpPr>
        <p:spPr>
          <a:xfrm>
            <a:off x="5513477" y="517350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48" name="Connector 100047"/>
          <p:cNvCxnSpPr/>
          <p:nvPr/>
        </p:nvCxnSpPr>
        <p:spPr>
          <a:xfrm>
            <a:off x="5538319" y="519835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9" name="Connector 100048"/>
          <p:cNvCxnSpPr/>
          <p:nvPr/>
        </p:nvCxnSpPr>
        <p:spPr>
          <a:xfrm flipV="1">
            <a:off x="5538319" y="519835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50" name="TextBox 100049"/>
          <p:cNvSpPr txBox="1"/>
          <p:nvPr/>
        </p:nvSpPr>
        <p:spPr>
          <a:xfrm>
            <a:off x="5683044" y="5088726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100051" name="Oval 100050"/>
          <p:cNvSpPr/>
          <p:nvPr/>
        </p:nvSpPr>
        <p:spPr>
          <a:xfrm>
            <a:off x="3603293" y="2503571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52" name="Oval 100051"/>
          <p:cNvSpPr/>
          <p:nvPr/>
        </p:nvSpPr>
        <p:spPr>
          <a:xfrm>
            <a:off x="3642151" y="2542430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53" name="TextBox 100052"/>
          <p:cNvSpPr txBox="1"/>
          <p:nvPr/>
        </p:nvSpPr>
        <p:spPr>
          <a:xfrm>
            <a:off x="3744598" y="2390527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100054" name="Oval 100053"/>
          <p:cNvSpPr/>
          <p:nvPr/>
        </p:nvSpPr>
        <p:spPr>
          <a:xfrm>
            <a:off x="5830686" y="616422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55" name="Oval 100054"/>
          <p:cNvSpPr/>
          <p:nvPr/>
        </p:nvSpPr>
        <p:spPr>
          <a:xfrm>
            <a:off x="5869545" y="620308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56" name="TextBox 100055"/>
          <p:cNvSpPr txBox="1"/>
          <p:nvPr/>
        </p:nvSpPr>
        <p:spPr>
          <a:xfrm>
            <a:off x="5971992" y="6051184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100057" name="Oval 100056"/>
          <p:cNvSpPr/>
          <p:nvPr/>
        </p:nvSpPr>
        <p:spPr>
          <a:xfrm>
            <a:off x="2199522" y="318421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58" name="Connector 100057"/>
          <p:cNvCxnSpPr/>
          <p:nvPr/>
        </p:nvCxnSpPr>
        <p:spPr>
          <a:xfrm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9" name="Connector 100058"/>
          <p:cNvCxnSpPr/>
          <p:nvPr/>
        </p:nvCxnSpPr>
        <p:spPr>
          <a:xfrm flipV="1"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60" name="TextBox 100059"/>
          <p:cNvSpPr txBox="1"/>
          <p:nvPr/>
        </p:nvSpPr>
        <p:spPr>
          <a:xfrm>
            <a:off x="2369088" y="309943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100061" name="Oval 100060"/>
          <p:cNvSpPr/>
          <p:nvPr/>
        </p:nvSpPr>
        <p:spPr>
          <a:xfrm>
            <a:off x="2505775" y="3443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62" name="Connector 100061"/>
          <p:cNvCxnSpPr/>
          <p:nvPr/>
        </p:nvCxnSpPr>
        <p:spPr>
          <a:xfrm flipV="1">
            <a:off x="2531210" y="3356581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3" name="Connector 100062"/>
          <p:cNvCxnSpPr/>
          <p:nvPr/>
        </p:nvCxnSpPr>
        <p:spPr>
          <a:xfrm>
            <a:off x="2625672" y="3356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64" name="Rounded Rectangle 100063"/>
          <p:cNvSpPr/>
          <p:nvPr/>
        </p:nvSpPr>
        <p:spPr>
          <a:xfrm>
            <a:off x="2639803" y="3224100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65" name="TextBox 100064"/>
          <p:cNvSpPr txBox="1"/>
          <p:nvPr/>
        </p:nvSpPr>
        <p:spPr>
          <a:xfrm>
            <a:off x="2639803" y="3224100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100066" name="Oval 100065"/>
          <p:cNvSpPr/>
          <p:nvPr/>
        </p:nvSpPr>
        <p:spPr>
          <a:xfrm>
            <a:off x="3226196" y="1831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67" name="Connector 100066"/>
          <p:cNvCxnSpPr/>
          <p:nvPr/>
        </p:nvCxnSpPr>
        <p:spPr>
          <a:xfrm flipV="1">
            <a:off x="3251631" y="1744792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8" name="Connector 100067"/>
          <p:cNvCxnSpPr/>
          <p:nvPr/>
        </p:nvCxnSpPr>
        <p:spPr>
          <a:xfrm>
            <a:off x="3346094" y="1744792"/>
            <a:ext cx="28143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69" name="Rounded Rectangle 100068"/>
          <p:cNvSpPr/>
          <p:nvPr/>
        </p:nvSpPr>
        <p:spPr>
          <a:xfrm>
            <a:off x="3360224" y="161231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70" name="TextBox 100069"/>
          <p:cNvSpPr txBox="1"/>
          <p:nvPr/>
        </p:nvSpPr>
        <p:spPr>
          <a:xfrm>
            <a:off x="3360224" y="161231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100071" name="Oval 100070"/>
          <p:cNvSpPr/>
          <p:nvPr/>
        </p:nvSpPr>
        <p:spPr>
          <a:xfrm>
            <a:off x="2719459" y="3913828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72" name="Connector 100071"/>
          <p:cNvCxnSpPr/>
          <p:nvPr/>
        </p:nvCxnSpPr>
        <p:spPr>
          <a:xfrm flipV="1">
            <a:off x="2744894" y="3826687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3" name="Connector 100072"/>
          <p:cNvCxnSpPr/>
          <p:nvPr/>
        </p:nvCxnSpPr>
        <p:spPr>
          <a:xfrm>
            <a:off x="2839357" y="3826687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74" name="Rounded Rectangle 100073"/>
          <p:cNvSpPr/>
          <p:nvPr/>
        </p:nvSpPr>
        <p:spPr>
          <a:xfrm>
            <a:off x="2853487" y="369420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75" name="TextBox 100074"/>
          <p:cNvSpPr txBox="1"/>
          <p:nvPr/>
        </p:nvSpPr>
        <p:spPr>
          <a:xfrm>
            <a:off x="2853487" y="369420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100076" name="Oval 100075"/>
          <p:cNvSpPr/>
          <p:nvPr/>
        </p:nvSpPr>
        <p:spPr>
          <a:xfrm>
            <a:off x="2884301" y="5476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77" name="Connector 100076"/>
          <p:cNvCxnSpPr/>
          <p:nvPr/>
        </p:nvCxnSpPr>
        <p:spPr>
          <a:xfrm flipV="1">
            <a:off x="2909736" y="5389634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8" name="Connector 100077"/>
          <p:cNvCxnSpPr/>
          <p:nvPr/>
        </p:nvCxnSpPr>
        <p:spPr>
          <a:xfrm>
            <a:off x="3004199" y="5389634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9" name="Connector 100078"/>
          <p:cNvCxnSpPr/>
          <p:nvPr/>
        </p:nvCxnSpPr>
        <p:spPr>
          <a:xfrm>
            <a:off x="2988140" y="5408772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80" name="Rounded Rectangle 100079"/>
          <p:cNvSpPr/>
          <p:nvPr/>
        </p:nvSpPr>
        <p:spPr>
          <a:xfrm>
            <a:off x="3018329" y="5257153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81" name="TextBox 100080"/>
          <p:cNvSpPr txBox="1"/>
          <p:nvPr/>
        </p:nvSpPr>
        <p:spPr>
          <a:xfrm>
            <a:off x="3018329" y="5257153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100082" name="Oval 100081"/>
          <p:cNvSpPr/>
          <p:nvPr/>
        </p:nvSpPr>
        <p:spPr>
          <a:xfrm>
            <a:off x="3739038" y="544014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83" name="Connector 100082"/>
          <p:cNvCxnSpPr/>
          <p:nvPr/>
        </p:nvCxnSpPr>
        <p:spPr>
          <a:xfrm flipV="1">
            <a:off x="3764473" y="5353003"/>
            <a:ext cx="94463" cy="11257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84" name="Connector 100083"/>
          <p:cNvCxnSpPr/>
          <p:nvPr/>
        </p:nvCxnSpPr>
        <p:spPr>
          <a:xfrm>
            <a:off x="3858936" y="5353003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85" name="Rounded Rectangle 100084"/>
          <p:cNvSpPr/>
          <p:nvPr/>
        </p:nvSpPr>
        <p:spPr>
          <a:xfrm>
            <a:off x="3873066" y="5220521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86" name="TextBox 100085"/>
          <p:cNvSpPr txBox="1"/>
          <p:nvPr/>
        </p:nvSpPr>
        <p:spPr>
          <a:xfrm>
            <a:off x="3873066" y="5220521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100087" name="Oval 100086"/>
          <p:cNvSpPr/>
          <p:nvPr/>
        </p:nvSpPr>
        <p:spPr>
          <a:xfrm>
            <a:off x="4361775" y="5299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88" name="Connector 100087"/>
          <p:cNvCxnSpPr/>
          <p:nvPr/>
        </p:nvCxnSpPr>
        <p:spPr>
          <a:xfrm flipV="1">
            <a:off x="4387210" y="5212581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89" name="Connector 100088"/>
          <p:cNvCxnSpPr/>
          <p:nvPr/>
        </p:nvCxnSpPr>
        <p:spPr>
          <a:xfrm>
            <a:off x="4481672" y="5212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90" name="Rounded Rectangle 100089"/>
          <p:cNvSpPr/>
          <p:nvPr/>
        </p:nvSpPr>
        <p:spPr>
          <a:xfrm>
            <a:off x="4495803" y="5080100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91" name="TextBox 100090"/>
          <p:cNvSpPr txBox="1"/>
          <p:nvPr/>
        </p:nvSpPr>
        <p:spPr>
          <a:xfrm>
            <a:off x="4495803" y="5080100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100092" name="Oval 100091"/>
          <p:cNvSpPr/>
          <p:nvPr/>
        </p:nvSpPr>
        <p:spPr>
          <a:xfrm>
            <a:off x="4907843" y="581753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93" name="Connector 100092"/>
          <p:cNvCxnSpPr/>
          <p:nvPr/>
        </p:nvCxnSpPr>
        <p:spPr>
          <a:xfrm flipV="1">
            <a:off x="4933278" y="5730393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94" name="Connector 100093"/>
          <p:cNvCxnSpPr/>
          <p:nvPr/>
        </p:nvCxnSpPr>
        <p:spPr>
          <a:xfrm>
            <a:off x="5027740" y="5730393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95" name="Rounded Rectangle 100094"/>
          <p:cNvSpPr/>
          <p:nvPr/>
        </p:nvSpPr>
        <p:spPr>
          <a:xfrm>
            <a:off x="5041870" y="5597912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96" name="TextBox 100095"/>
          <p:cNvSpPr txBox="1"/>
          <p:nvPr/>
        </p:nvSpPr>
        <p:spPr>
          <a:xfrm>
            <a:off x="5041870" y="5597912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100097" name="TextBox 100096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100098" name="TextBox 100097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1 联 · 走廊北端</a:t>
            </a:r>
          </a:p>
        </p:txBody>
      </p:sp>
      <p:sp>
        <p:nvSpPr>
          <p:cNvPr id="100099" name="TextBox 100098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</a:t>
            </a:r>
          </a:p>
        </p:txBody>
      </p:sp>
      <p:sp>
        <p:nvSpPr>
          <p:cNvPr id="100100" name="TextBox 100099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1 联 · 北卫生间门外</a:t>
            </a:r>
          </a:p>
        </p:txBody>
      </p:sp>
      <p:sp>
        <p:nvSpPr>
          <p:cNvPr id="100101" name="TextBox 100100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</a:t>
            </a:r>
          </a:p>
        </p:txBody>
      </p:sp>
      <p:sp>
        <p:nvSpPr>
          <p:cNvPr id="100102" name="TextBox 100101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1 联 · 卧室3 门旁</a:t>
            </a:r>
          </a:p>
        </p:txBody>
      </p:sp>
      <p:sp>
        <p:nvSpPr>
          <p:cNvPr id="100103" name="TextBox 100102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键1=e</a:t>
            </a:r>
          </a:p>
        </p:txBody>
      </p:sp>
      <p:sp>
        <p:nvSpPr>
          <p:cNvPr id="100104" name="TextBox 100103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2 联 · 走廊南端 · 楼梯口</a:t>
            </a:r>
          </a:p>
        </p:txBody>
      </p:sp>
      <p:sp>
        <p:nvSpPr>
          <p:cNvPr id="100105" name="TextBox 100104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  键2=k</a:t>
            </a:r>
          </a:p>
        </p:txBody>
      </p:sp>
      <p:sp>
        <p:nvSpPr>
          <p:cNvPr id="100106" name="TextBox 100105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1 联 · 楼梯顶</a:t>
            </a:r>
          </a:p>
        </p:txBody>
      </p:sp>
      <p:sp>
        <p:nvSpPr>
          <p:cNvPr id="100107" name="TextBox 100106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键1=k</a:t>
            </a:r>
          </a:p>
        </p:txBody>
      </p:sp>
      <p:sp>
        <p:nvSpPr>
          <p:cNvPr id="100108" name="TextBox 100107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1 联 · 卧室 4 门旁</a:t>
            </a:r>
          </a:p>
        </p:txBody>
      </p:sp>
      <p:sp>
        <p:nvSpPr>
          <p:cNvPr id="100109" name="TextBox 100108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键1=l</a:t>
            </a:r>
          </a:p>
        </p:txBody>
      </p:sp>
      <p:sp>
        <p:nvSpPr>
          <p:cNvPr id="100110" name="TextBox 100109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1 联 · 卧室 4 内 · 卫生间门南侧（隔墙短墙）</a:t>
            </a:r>
          </a:p>
        </p:txBody>
      </p:sp>
      <p:sp>
        <p:nvSpPr>
          <p:cNvPr id="100111" name="TextBox 100110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键1=m</a:t>
            </a:r>
          </a:p>
        </p:txBody>
      </p:sp>
      <p:sp>
        <p:nvSpPr>
          <p:cNvPr id="100112" name="TextBox 100111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100113" name="TextBox 100112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W1：S8 ↔ S11  3C+E  回路 d</a:t>
            </a:r>
          </a:p>
        </p:txBody>
      </p:sp>
      <p:sp>
        <p:nvSpPr>
          <p:cNvPr id="100114" name="TextBox 100113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W2：S12 ↔ S11  3C+E  回路 k</a:t>
            </a:r>
          </a:p>
        </p:txBody>
      </p:sp>
      <p:sp>
        <p:nvSpPr>
          <p:cNvPr id="100115" name="TextBox 100114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100116" name="Rectangle 100115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17" name="Rectangle 100116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18" name="TextBox 100117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二层开关面板表（逐键）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SWITCH PLATE SCHEDULE — GANGS NUMBERED LEFT TO 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二层开关面板表（逐键）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H-B · 方案 B · 精简 17 路（照明 3 路）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v7（用户 2026-10-06 标注）；Blender v39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780000"/>
          <a:ext cx="8200000" cy="307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150000"/>
                <a:gridCol w="620000"/>
                <a:gridCol w="1250000"/>
                <a:gridCol w="1250000"/>
                <a:gridCol w="1250000"/>
                <a:gridCol w="1250000"/>
                <a:gridCol w="10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面板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双控 / 三控对端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盥洗室筒灯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西卫生间筒灯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a↔S4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主卧东墙 · 床头侧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主卧主灯位（待选）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a↔S3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衣帽间筒灯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i↔S7，j↔S7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床头侧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i↔S6，j↔S6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走廊北端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北卫生间筒灯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卧室3 主灯 F22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走廊南端 · 楼梯口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联（含中途开关）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d↔S8，k↔S12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楼梯顶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卧室 4 主灯 F23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内 · 卫生间门南侧（隔墙短墙）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后卫生间筒灯（套卫）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8730000" y="400000"/>
            <a:ext cx="3300000" cy="4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键 1 → 键 4 为面板上从左到右的顺序（按 PPT 标注顺序）。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字母 = 回路，见 E-FF-05；位置见 E-FF-00~02。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开关中心离地 1200 mm；FCU 在台面上 150 mm。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双控每对开关之间需敷设联络线 3C+E；三控回路需两只两路开关 + 一只中途开关（intermediate）。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S2 原图标为“6+”，按常理作为西卫生间筒灯的独立单联开关，装在门外。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面板统一 NAB 古铜系列；联数与本表一致。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二层照明回路表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CIRCUIT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二层照明回路表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H-B · 方案 B · 精简 17 路（照明 3 路）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v7（用户 2026-10-06 标注）；Blender v39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800000"/>
          <a:ext cx="7870000" cy="329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0000"/>
                <a:gridCol w="450000"/>
                <a:gridCol w="2900000"/>
                <a:gridCol w="450000"/>
                <a:gridCol w="2500000"/>
                <a:gridCol w="550000"/>
                <a:gridCol w="600000"/>
              </a:tblGrid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灯数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开关（编号-键）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方式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图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S3-键1，S4-键1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主卧主灯位（待选）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S4-键2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S9-键1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S8-键1，S11-键1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卧室3 主灯 F22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S10-键1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S6-键1，S7-键1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卧室2 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S6-键2，S7-键2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S11-键2，S12-键1，一层 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主灯 F23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后卫生间筒灯（套卫）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1769</Words>
  <Application>Microsoft Office PowerPoint</Application>
  <PresentationFormat>Widescreen</PresentationFormat>
  <Paragraphs>550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12</cp:revision>
  <dcterms:created xsi:type="dcterms:W3CDTF">2013-01-27T09:14:16Z</dcterms:created>
  <dcterms:modified xsi:type="dcterms:W3CDTF">2026-10-03T09:40:53Z</dcterms:modified>
  <cp:category/>
</cp:coreProperties>
</file>